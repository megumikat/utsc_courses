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53" r:id="rId3"/>
  </p:sldMasterIdLst>
  <p:notesMasterIdLst>
    <p:notesMasterId r:id="rId17"/>
  </p:notesMasterIdLst>
  <p:sldIdLst>
    <p:sldId id="280" r:id="rId4"/>
    <p:sldId id="281" r:id="rId5"/>
    <p:sldId id="283" r:id="rId6"/>
    <p:sldId id="287" r:id="rId7"/>
    <p:sldId id="288" r:id="rId8"/>
    <p:sldId id="289" r:id="rId9"/>
    <p:sldId id="285" r:id="rId10"/>
    <p:sldId id="292" r:id="rId11"/>
    <p:sldId id="299" r:id="rId12"/>
    <p:sldId id="300" r:id="rId13"/>
    <p:sldId id="294" r:id="rId14"/>
    <p:sldId id="298" r:id="rId15"/>
    <p:sldId id="301"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255" userDrawn="1">
          <p15:clr>
            <a:srgbClr val="A4A3A4"/>
          </p15:clr>
        </p15:guide>
        <p15:guide id="4" orient="horz" pos="4065" userDrawn="1">
          <p15:clr>
            <a:srgbClr val="A4A3A4"/>
          </p15:clr>
        </p15:guide>
        <p15:guide id="5" pos="257" userDrawn="1">
          <p15:clr>
            <a:srgbClr val="A4A3A4"/>
          </p15:clr>
        </p15:guide>
        <p15:guide id="6" pos="7423" userDrawn="1">
          <p15:clr>
            <a:srgbClr val="A4A3A4"/>
          </p15:clr>
        </p15:guide>
        <p15:guide id="7" orient="horz" pos="595" userDrawn="1">
          <p15:clr>
            <a:srgbClr val="A4A3A4"/>
          </p15:clr>
        </p15:guide>
        <p15:guide id="8" pos="529" userDrawn="1">
          <p15:clr>
            <a:srgbClr val="A4A3A4"/>
          </p15:clr>
        </p15:guide>
        <p15:guide id="9" orient="horz" pos="3793" userDrawn="1">
          <p15:clr>
            <a:srgbClr val="A4A3A4"/>
          </p15:clr>
        </p15:guide>
        <p15:guide id="10" pos="6698" userDrawn="1">
          <p15:clr>
            <a:srgbClr val="A4A3A4"/>
          </p15:clr>
        </p15:guide>
        <p15:guide id="11" orient="horz" pos="3113" userDrawn="1">
          <p15:clr>
            <a:srgbClr val="A4A3A4"/>
          </p15:clr>
        </p15:guide>
        <p15:guide id="12" pos="5269" userDrawn="1">
          <p15:clr>
            <a:srgbClr val="A4A3A4"/>
          </p15:clr>
        </p15:guide>
        <p15:guide id="13" pos="2389" userDrawn="1">
          <p15:clr>
            <a:srgbClr val="A4A3A4"/>
          </p15:clr>
        </p15:guide>
        <p15:guide id="14" pos="715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85"/>
    <p:restoredTop sz="87080"/>
  </p:normalViewPr>
  <p:slideViewPr>
    <p:cSldViewPr snapToGrid="0" snapToObjects="1" showGuides="1">
      <p:cViewPr>
        <p:scale>
          <a:sx n="117" d="100"/>
          <a:sy n="117" d="100"/>
        </p:scale>
        <p:origin x="320" y="176"/>
      </p:cViewPr>
      <p:guideLst>
        <p:guide orient="horz" pos="2160"/>
        <p:guide pos="3840"/>
        <p:guide orient="horz" pos="255"/>
        <p:guide orient="horz" pos="4065"/>
        <p:guide pos="257"/>
        <p:guide pos="7423"/>
        <p:guide orient="horz" pos="595"/>
        <p:guide pos="529"/>
        <p:guide orient="horz" pos="3793"/>
        <p:guide pos="6698"/>
        <p:guide orient="horz" pos="3113"/>
        <p:guide pos="5269"/>
        <p:guide pos="2389"/>
        <p:guide pos="7151"/>
      </p:guideLst>
    </p:cSldViewPr>
  </p:slideViewPr>
  <p:notesTextViewPr>
    <p:cViewPr>
      <p:scale>
        <a:sx n="1" d="1"/>
        <a:sy n="1" d="1"/>
      </p:scale>
      <p:origin x="0" y="0"/>
    </p:cViewPr>
  </p:notesTextViewPr>
  <p:sorterViewPr>
    <p:cViewPr>
      <p:scale>
        <a:sx n="118" d="100"/>
        <a:sy n="118"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4F202D-56AB-AD46-8B88-A20FB594FC05}" type="datetimeFigureOut">
              <a:rPr kumimoji="1" lang="zh-CN" altLang="en-US" smtClean="0"/>
              <a:t>2025/3/4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B5C9AC-9A58-5B43-8EE4-456B288E9FAA}" type="slidenum">
              <a:rPr kumimoji="1" lang="zh-CN" altLang="en-US" smtClean="0"/>
              <a:t>‹#›</a:t>
            </a:fld>
            <a:endParaRPr kumimoji="1" lang="zh-CN" altLang="en-US"/>
          </a:p>
        </p:txBody>
      </p:sp>
    </p:spTree>
    <p:extLst>
      <p:ext uri="{BB962C8B-B14F-4D97-AF65-F5344CB8AC3E}">
        <p14:creationId xmlns:p14="http://schemas.microsoft.com/office/powerpoint/2010/main" val="140000123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altLang="zh-CN" dirty="0"/>
              <a:t>Aaron Swartz was a programmer, writer, and activist who strongly believed in free access to knowledge. In 2010, he downloaded around 4.8 million academic papers from JSTOR using MIT’s network, intending to make them freely available to the public. Swartz argued that research, often funded by taxpayers, should not be locked behind expensive paywalls. However, he was arrested in 2011 and charged under the Computer Fraud and Abuse Act (CFAA), facing up to 35 years in prison. Under immense pressure, he tragically took his own life in 2013. His death sparked global debates on open access, legal reforms, and digital rights, inspiring movements like Sci-Hub and policy changes promoting open knowledge.</a:t>
            </a:r>
          </a:p>
          <a:p>
            <a:endParaRPr kumimoji="1" lang="zh-CN" altLang="en-US" dirty="0"/>
          </a:p>
        </p:txBody>
      </p:sp>
    </p:spTree>
    <p:extLst>
      <p:ext uri="{BB962C8B-B14F-4D97-AF65-F5344CB8AC3E}">
        <p14:creationId xmlns:p14="http://schemas.microsoft.com/office/powerpoint/2010/main" val="423983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A" altLang="zh-CN" dirty="0"/>
              <a:t>Knowledge is one of the most powerful tools we have. It drives innovation, fuels progress, and helps solve some of the world’s biggest challenges. But right now, access to knowledge is treated as a privilege rather than a fundamental right.</a:t>
            </a:r>
          </a:p>
          <a:p>
            <a:br>
              <a:rPr lang="en-CA" altLang="zh-CN" dirty="0"/>
            </a:br>
            <a:endParaRPr lang="en-CA" altLang="zh-CN" dirty="0"/>
          </a:p>
          <a:p>
            <a:r>
              <a:rPr lang="en-CA" altLang="zh-CN" dirty="0"/>
              <a:t>Academic paywalls create barriers, preventing millions of students, researchers, and independent learners from accessing critical research. This not only slows scientific progress but also reinforces inequality—those with financial resources can learn and innovate, while others are left behind.</a:t>
            </a:r>
          </a:p>
          <a:p>
            <a:br>
              <a:rPr lang="en-CA" altLang="zh-CN" dirty="0"/>
            </a:br>
            <a:endParaRPr lang="en-CA" altLang="zh-CN" dirty="0"/>
          </a:p>
          <a:p>
            <a:r>
              <a:rPr lang="en-CA" altLang="zh-CN" dirty="0"/>
              <a:t>Aaron Swartz recognized this injustice. He believed that knowledge should be open to all, not locked away for profit. His activism for open access was about creating a fairer, more informed society where everyone has the opportunity to learn and contribute.</a:t>
            </a:r>
          </a:p>
          <a:p>
            <a:br>
              <a:rPr lang="en-CA" altLang="zh-CN" dirty="0"/>
            </a:br>
            <a:endParaRPr lang="en-CA" altLang="zh-CN" dirty="0"/>
          </a:p>
          <a:p>
            <a:r>
              <a:rPr lang="en-CA" altLang="zh-CN" dirty="0"/>
              <a:t>Today, I will explain why I support his vision of free and open access to academic research and why it is crucial for the future of education, science, and global equality.</a:t>
            </a:r>
          </a:p>
          <a:p>
            <a:endParaRPr kumimoji="1" lang="zh-CN" altLang="en-US" dirty="0"/>
          </a:p>
        </p:txBody>
      </p:sp>
    </p:spTree>
    <p:extLst>
      <p:ext uri="{BB962C8B-B14F-4D97-AF65-F5344CB8AC3E}">
        <p14:creationId xmlns:p14="http://schemas.microsoft.com/office/powerpoint/2010/main" val="3655170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A" altLang="zh-CN" dirty="0"/>
              <a:t>Information is a public good—it benefits society as a whole, not just those who can afford it. Yet, academic publishers treat knowledge as a commodity, locking vital research behind expensive paywalls. This restricts access for students, independent researchers, and those in underfunded institutions, limiting opportunities for learning and discovery.</a:t>
            </a:r>
          </a:p>
          <a:p>
            <a:br>
              <a:rPr lang="en-CA" altLang="zh-CN" dirty="0"/>
            </a:br>
            <a:endParaRPr lang="en-CA" altLang="zh-CN" dirty="0"/>
          </a:p>
          <a:p>
            <a:r>
              <a:rPr lang="en-CA" altLang="zh-CN" dirty="0"/>
              <a:t>Researchers don’t publish for profit; they publish to share ideas and advance human understanding. But instead of reaching the widest possible audience, their work is often hidden behind costly subscriptions. Wealthy universities can afford these fees, while others—especially in developing regions—are left without access. This deepens global inequality, as only privileged institutions can fully participate in academic progress.</a:t>
            </a:r>
          </a:p>
          <a:p>
            <a:br>
              <a:rPr lang="en-CA" altLang="zh-CN" dirty="0"/>
            </a:br>
            <a:endParaRPr lang="en-CA" altLang="zh-CN" dirty="0"/>
          </a:p>
          <a:p>
            <a:r>
              <a:rPr lang="en-CA" altLang="zh-CN" dirty="0"/>
              <a:t>If we believe in fairness and progress, then we must ensure knowledge is freely accessible. Open access is not just a convenience—it is an ethical necessity.</a:t>
            </a:r>
          </a:p>
          <a:p>
            <a:endParaRPr kumimoji="1" lang="zh-CN" altLang="en-US" dirty="0"/>
          </a:p>
        </p:txBody>
      </p:sp>
    </p:spTree>
    <p:extLst>
      <p:ext uri="{BB962C8B-B14F-4D97-AF65-F5344CB8AC3E}">
        <p14:creationId xmlns:p14="http://schemas.microsoft.com/office/powerpoint/2010/main" val="787000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A" altLang="zh-CN" dirty="0"/>
              <a:t>The current academic publishing model is deeply flawed. Journals charge high fees for access to research, yet much of this research is publicly funded. This means taxpayers pay for the studies, but then must pay again to read the results. Large publishers like Elsevier operate with profit margins higher than major tech companies, prioritizing revenue over knowledge sharing.</a:t>
            </a:r>
          </a:p>
          <a:p>
            <a:br>
              <a:rPr lang="en-CA" altLang="zh-CN" dirty="0"/>
            </a:br>
            <a:endParaRPr lang="en-CA" altLang="zh-CN" dirty="0"/>
          </a:p>
          <a:p>
            <a:r>
              <a:rPr lang="en-CA" altLang="zh-CN" dirty="0"/>
              <a:t>What’s worse, the authors who produce this research—and the peer reviewers who ensure its quality—are not paid for their work. Despite this, journals charge universities and individuals thousands of dollars in subscription fees.</a:t>
            </a:r>
          </a:p>
          <a:p>
            <a:br>
              <a:rPr lang="en-CA" altLang="zh-CN" dirty="0"/>
            </a:br>
            <a:endParaRPr lang="en-CA" altLang="zh-CN" dirty="0"/>
          </a:p>
          <a:p>
            <a:r>
              <a:rPr lang="en-CA" altLang="zh-CN" dirty="0"/>
              <a:t>This model does not serve researchers, students, or the public. It benefits corporations while restricting access to knowledge. Instead of supporting academic progress, it creates unnecessary barriers, limiting innovation and collaboration. This is why open access is a necessary alternative.</a:t>
            </a:r>
          </a:p>
          <a:p>
            <a:endParaRPr kumimoji="1" lang="zh-CN" altLang="en-US" dirty="0"/>
          </a:p>
        </p:txBody>
      </p:sp>
    </p:spTree>
    <p:extLst>
      <p:ext uri="{BB962C8B-B14F-4D97-AF65-F5344CB8AC3E}">
        <p14:creationId xmlns:p14="http://schemas.microsoft.com/office/powerpoint/2010/main" val="3606694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A" altLang="zh-CN" dirty="0"/>
              <a:t>Open access has a profound impact on academic research and society. Studies show that openly available papers receive more citations and greater visibility, allowing new ideas to spread faster. When research is accessible, scholars across institutions and countries can collaborate more effectively, breaking down barriers between disciplines and regions.</a:t>
            </a:r>
          </a:p>
          <a:p>
            <a:br>
              <a:rPr lang="en-CA" altLang="zh-CN" dirty="0"/>
            </a:br>
            <a:endParaRPr lang="en-CA" altLang="zh-CN" dirty="0"/>
          </a:p>
          <a:p>
            <a:r>
              <a:rPr lang="en-CA" altLang="zh-CN" dirty="0"/>
              <a:t>Beyond academia, open access fuels real-world innovation. In fields like medicine, technology, and social sciences, freely available research accelerates discoveries that improve lives. For example, medical breakthroughs can reach doctors and scientists worldwide, leading to faster treatment developments.</a:t>
            </a:r>
          </a:p>
          <a:p>
            <a:br>
              <a:rPr lang="en-CA" altLang="zh-CN" dirty="0"/>
            </a:br>
            <a:endParaRPr lang="en-CA" altLang="zh-CN" dirty="0"/>
          </a:p>
          <a:p>
            <a:r>
              <a:rPr lang="en-CA" altLang="zh-CN" dirty="0"/>
              <a:t>This is especially crucial for developing countries, where many institutions cannot afford expensive journal subscriptions. By removing financial barriers, open access allows researchers in these regions to contribute to global knowledge, ensuring that talent and innovation are not limited by economic constraints.</a:t>
            </a:r>
          </a:p>
          <a:p>
            <a:br>
              <a:rPr lang="en-CA" altLang="zh-CN" dirty="0"/>
            </a:br>
            <a:endParaRPr lang="en-CA" altLang="zh-CN" dirty="0"/>
          </a:p>
          <a:p>
            <a:r>
              <a:rPr lang="en-CA" altLang="zh-CN" dirty="0"/>
              <a:t>Ultimately, when research is open, progress is faster, collaboration is stronger, and knowledge benefits everyone—not just those who can afford it.</a:t>
            </a:r>
          </a:p>
          <a:p>
            <a:endParaRPr kumimoji="1" lang="zh-CN" altLang="en-US" dirty="0"/>
          </a:p>
        </p:txBody>
      </p:sp>
    </p:spTree>
    <p:extLst>
      <p:ext uri="{BB962C8B-B14F-4D97-AF65-F5344CB8AC3E}">
        <p14:creationId xmlns:p14="http://schemas.microsoft.com/office/powerpoint/2010/main" val="3157717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A" altLang="zh-CN" dirty="0"/>
              <a:t>One common argument is that journals need revenue to sustain their operations. However, alternative models already exist. Many open-access journals operate through institutional funding, government subsidies, or Article Processing Charges (APCs), proving that knowledge can be shared without restricting access.</a:t>
            </a:r>
          </a:p>
          <a:p>
            <a:br>
              <a:rPr lang="en-CA" altLang="zh-CN" dirty="0"/>
            </a:br>
            <a:endParaRPr lang="en-CA" altLang="zh-CN" dirty="0"/>
          </a:p>
          <a:p>
            <a:r>
              <a:rPr lang="en-CA" altLang="zh-CN" dirty="0"/>
              <a:t>Some claim that making research freely available is piracy. But is it truly piracy to share publicly funded knowledge for the benefit of society? The moral duty to advance learning and innovation outweighs outdated business models that prioritize profit over access.</a:t>
            </a:r>
          </a:p>
          <a:p>
            <a:br>
              <a:rPr lang="en-CA" altLang="zh-CN" dirty="0"/>
            </a:br>
            <a:endParaRPr lang="en-CA" altLang="zh-CN" dirty="0"/>
          </a:p>
          <a:p>
            <a:r>
              <a:rPr lang="en-CA" altLang="zh-CN" dirty="0"/>
              <a:t>Another concern is that authors might lose out if their work is freely available. In reality, most researchers don’t earn money from journal publications. Instead, their impact grows when more people can read, cite, and build upon their work. Open access ensures that research reaches the widest possible audience, benefiting both the authors and the global academic community.</a:t>
            </a:r>
          </a:p>
          <a:p>
            <a:br>
              <a:rPr lang="en-CA" altLang="zh-CN" dirty="0"/>
            </a:br>
            <a:endParaRPr lang="en-CA" altLang="zh-CN" dirty="0"/>
          </a:p>
          <a:p>
            <a:r>
              <a:rPr lang="en-CA" altLang="zh-CN" dirty="0"/>
              <a:t>Restricting knowledge benefits publishers—not researchers, students, or society. Open access is not only possible; it is necessary for a fairer and more efficient system of knowledge sharing.</a:t>
            </a:r>
          </a:p>
          <a:p>
            <a:endParaRPr kumimoji="1" lang="zh-CN" altLang="en-US" dirty="0"/>
          </a:p>
        </p:txBody>
      </p:sp>
    </p:spTree>
    <p:extLst>
      <p:ext uri="{BB962C8B-B14F-4D97-AF65-F5344CB8AC3E}">
        <p14:creationId xmlns:p14="http://schemas.microsoft.com/office/powerpoint/2010/main" val="1193125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altLang="zh-CN" dirty="0"/>
              <a:t>In recent years, open-access advocacy has led to major legal and policy changes.</a:t>
            </a:r>
          </a:p>
          <a:p>
            <a:endParaRPr lang="en-US" altLang="zh-CN" dirty="0"/>
          </a:p>
          <a:p>
            <a:r>
              <a:rPr lang="en-CA" altLang="zh-CN" dirty="0"/>
              <a:t>In Europe, </a:t>
            </a:r>
            <a:r>
              <a:rPr lang="en-CA" altLang="zh-CN" b="1" dirty="0"/>
              <a:t>Plan S</a:t>
            </a:r>
            <a:r>
              <a:rPr lang="en-CA" altLang="zh-CN" dirty="0"/>
              <a:t> mandates that all publicly funded research must be freely accessible, preventing taxpayer-funded studies from being locked behind paywalls.</a:t>
            </a:r>
          </a:p>
          <a:p>
            <a:br>
              <a:rPr lang="en-CA" altLang="zh-CN" dirty="0"/>
            </a:br>
            <a:endParaRPr lang="en-CA" altLang="zh-CN" dirty="0"/>
          </a:p>
          <a:p>
            <a:r>
              <a:rPr lang="en-CA" altLang="zh-CN" dirty="0"/>
              <a:t>In the U.S., the </a:t>
            </a:r>
            <a:r>
              <a:rPr lang="en-CA" altLang="zh-CN" b="1" dirty="0"/>
              <a:t>OSTP</a:t>
            </a:r>
            <a:r>
              <a:rPr lang="en-CA" altLang="zh-CN" dirty="0"/>
              <a:t> has ordered that by 2025, all federally funded research must be open access, ensuring public access to scientific discoveries.</a:t>
            </a:r>
          </a:p>
          <a:p>
            <a:br>
              <a:rPr lang="en-CA" altLang="zh-CN" dirty="0"/>
            </a:br>
            <a:endParaRPr lang="en-CA" altLang="zh-CN" dirty="0"/>
          </a:p>
          <a:p>
            <a:r>
              <a:rPr lang="en-CA" altLang="zh-CN" dirty="0"/>
              <a:t>Beyond policies, platforms like </a:t>
            </a:r>
            <a:r>
              <a:rPr lang="en-CA" altLang="zh-CN" b="1" dirty="0"/>
              <a:t>Sci-Hub and </a:t>
            </a:r>
            <a:r>
              <a:rPr lang="en-CA" altLang="zh-CN" b="1" dirty="0" err="1"/>
              <a:t>Unpaywall</a:t>
            </a:r>
            <a:r>
              <a:rPr lang="en-CA" altLang="zh-CN" dirty="0"/>
              <a:t> provide access where journals fail, helping students and researchers worldwide.</a:t>
            </a:r>
          </a:p>
          <a:p>
            <a:br>
              <a:rPr lang="en-CA" altLang="zh-CN" dirty="0"/>
            </a:br>
            <a:endParaRPr lang="en-CA" altLang="zh-CN" dirty="0"/>
          </a:p>
          <a:p>
            <a:r>
              <a:rPr lang="en-CA" altLang="zh-CN" dirty="0"/>
              <a:t>These efforts prove that open access is not just possible—it’s becoming a global standard. But more action is needed to make free knowledge the norm, not the exception.</a:t>
            </a:r>
          </a:p>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A" altLang="zh-CN" dirty="0"/>
              <a:t>To truly change the system, we must </a:t>
            </a:r>
            <a:r>
              <a:rPr lang="en-CA" altLang="zh-CN" b="1" dirty="0"/>
              <a:t>support open-access initiatives</a:t>
            </a:r>
            <a:r>
              <a:rPr lang="en-CA" altLang="zh-CN" dirty="0"/>
              <a:t> and push for policies that prioritize knowledge sharing over profit. Governments and institutions are already moving in this direction, but public support is crucial to drive further change.</a:t>
            </a:r>
          </a:p>
          <a:p>
            <a:br>
              <a:rPr lang="en-CA" altLang="zh-CN" dirty="0"/>
            </a:br>
            <a:endParaRPr lang="en-CA" altLang="zh-CN" dirty="0"/>
          </a:p>
          <a:p>
            <a:r>
              <a:rPr lang="en-CA" altLang="zh-CN" dirty="0"/>
              <a:t>We must also </a:t>
            </a:r>
            <a:r>
              <a:rPr lang="en-CA" altLang="zh-CN" b="1" dirty="0"/>
              <a:t>challenge restrictive publishing models</a:t>
            </a:r>
            <a:r>
              <a:rPr lang="en-CA" altLang="zh-CN" dirty="0"/>
              <a:t> that keep research locked behind paywalls. Alternative funding methods, such as institutional funding and article processing charges, have already proven effective in sustaining open-access publishing.</a:t>
            </a:r>
          </a:p>
          <a:p>
            <a:br>
              <a:rPr lang="en-CA" altLang="zh-CN" dirty="0"/>
            </a:br>
            <a:endParaRPr lang="en-CA" altLang="zh-CN" dirty="0"/>
          </a:p>
          <a:p>
            <a:r>
              <a:rPr lang="en-CA" altLang="zh-CN" dirty="0"/>
              <a:t>If you are a researcher, you have the power to make a difference. </a:t>
            </a:r>
            <a:r>
              <a:rPr lang="en-CA" altLang="zh-CN" b="1" dirty="0"/>
              <a:t>Choose open-access journals</a:t>
            </a:r>
            <a:r>
              <a:rPr lang="en-CA" altLang="zh-CN" dirty="0"/>
              <a:t> when possible, ensuring that your work reaches the widest audience and contributes to the global exchange of knowledge.</a:t>
            </a:r>
          </a:p>
          <a:p>
            <a:br>
              <a:rPr lang="en-CA" altLang="zh-CN" dirty="0"/>
            </a:br>
            <a:endParaRPr lang="en-CA" altLang="zh-CN" dirty="0"/>
          </a:p>
          <a:p>
            <a:r>
              <a:rPr lang="en-CA" altLang="zh-CN" dirty="0"/>
              <a:t>The future of knowledge should not be limited to those who can afford it. Open access is not just a convenience—it is a necessity for progress, equity, and innovation. It’s time to make knowledge truly accessible to all.</a:t>
            </a:r>
          </a:p>
          <a:p>
            <a:endParaRPr kumimoji="1" lang="zh-CN" altLang="en-US" dirty="0"/>
          </a:p>
        </p:txBody>
      </p:sp>
    </p:spTree>
    <p:extLst>
      <p:ext uri="{BB962C8B-B14F-4D97-AF65-F5344CB8AC3E}">
        <p14:creationId xmlns:p14="http://schemas.microsoft.com/office/powerpoint/2010/main" val="2102822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A" altLang="zh-CN" dirty="0"/>
              <a:t>His fight for open access was about </a:t>
            </a:r>
            <a:r>
              <a:rPr lang="en-CA" altLang="zh-CN" b="1" dirty="0"/>
              <a:t>fairness</a:t>
            </a:r>
            <a:r>
              <a:rPr lang="en-CA" altLang="zh-CN" dirty="0"/>
              <a:t>—ensuring that everyone, regardless of wealth or status, has access to the information they need to learn, innovate, and contribute to society.</a:t>
            </a:r>
          </a:p>
          <a:p>
            <a:br>
              <a:rPr lang="en-CA" altLang="zh-CN" dirty="0"/>
            </a:br>
            <a:endParaRPr lang="en-CA" altLang="zh-CN" dirty="0"/>
          </a:p>
          <a:p>
            <a:r>
              <a:rPr lang="en-CA" altLang="zh-CN" dirty="0"/>
              <a:t>Free access to academic research doesn’t just benefit students and researchers—it accelerates </a:t>
            </a:r>
            <a:r>
              <a:rPr lang="en-CA" altLang="zh-CN" b="1" dirty="0"/>
              <a:t>scientific discovery, technological advancements, and global progress</a:t>
            </a:r>
            <a:r>
              <a:rPr lang="en-CA" altLang="zh-CN" dirty="0"/>
              <a:t>. It allows knowledge to be shared across borders, leading to greater collaboration and innovation.</a:t>
            </a:r>
          </a:p>
          <a:p>
            <a:br>
              <a:rPr lang="en-CA" altLang="zh-CN" dirty="0"/>
            </a:br>
            <a:endParaRPr lang="en-CA" altLang="zh-CN" dirty="0"/>
          </a:p>
          <a:p>
            <a:r>
              <a:rPr lang="en-CA" altLang="zh-CN" dirty="0"/>
              <a:t>But achieving true open access requires ongoing effort. We must </a:t>
            </a:r>
            <a:r>
              <a:rPr lang="en-CA" altLang="zh-CN" b="1" dirty="0"/>
              <a:t>continue challenging restrictive publishing models</a:t>
            </a:r>
            <a:r>
              <a:rPr lang="en-CA" altLang="zh-CN" dirty="0"/>
              <a:t> and advocating for policies that prioritize knowledge sharing over corporate profits.</a:t>
            </a:r>
          </a:p>
          <a:p>
            <a:br>
              <a:rPr lang="en-CA" altLang="zh-CN" dirty="0"/>
            </a:br>
            <a:endParaRPr lang="en-CA" altLang="zh-CN" dirty="0"/>
          </a:p>
          <a:p>
            <a:r>
              <a:rPr lang="en-CA" altLang="zh-CN" dirty="0"/>
              <a:t>As Aaron Swartz once said, </a:t>
            </a:r>
            <a:r>
              <a:rPr lang="en-CA" altLang="zh-CN" i="1" dirty="0"/>
              <a:t>“Information is power. But like all power, there are those who want to keep it for themselves.”</a:t>
            </a:r>
            <a:r>
              <a:rPr lang="en-CA" altLang="zh-CN" dirty="0"/>
              <a:t> It’s up to us to ensure that knowledge remains open, accessible, and used for the benefit of all.</a:t>
            </a:r>
          </a:p>
          <a:p>
            <a:endParaRPr kumimoji="1" lang="zh-CN" altLang="en-US" dirty="0"/>
          </a:p>
        </p:txBody>
      </p:sp>
    </p:spTree>
    <p:extLst>
      <p:ext uri="{BB962C8B-B14F-4D97-AF65-F5344CB8AC3E}">
        <p14:creationId xmlns:p14="http://schemas.microsoft.com/office/powerpoint/2010/main" val="9620957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74D82C0C-C644-4A82-88A5-DF470663871D}" type="datetimeFigureOut">
              <a:rPr kumimoji="1" lang="zh-CN" altLang="en-US" smtClean="0"/>
              <a:t>2025/3/4</a:t>
            </a:fld>
            <a:endParaRPr kumimoji="1" lang="zh-CN" altLang="en-US"/>
          </a:p>
        </p:txBody>
      </p:sp>
      <p:sp>
        <p:nvSpPr>
          <p:cNvPr id="3" name="Footer Placeholder 2"/>
          <p:cNvSpPr>
            <a:spLocks noGrp="1"/>
          </p:cNvSpPr>
          <p:nvPr>
            <p:ph type="ftr" sz="quarter" idx="1"/>
          </p:nvPr>
        </p:nvSpPr>
        <p:spPr/>
        <p:txBody>
          <a:bodyPr/>
          <a:lstStyle/>
          <a:p>
            <a:endParaRPr kumimoji="1" lang="zh-CN" altLang="en-US"/>
          </a:p>
        </p:txBody>
      </p:sp>
      <p:sp>
        <p:nvSpPr>
          <p:cNvPr id="4" name="Slide Number Placeholder 3"/>
          <p:cNvSpPr>
            <a:spLocks noGrp="1"/>
          </p:cNvSpPr>
          <p:nvPr>
            <p:ph type="sldNum" sz="quarter" idx="2"/>
          </p:nvPr>
        </p:nvSpPr>
        <p:spPr/>
        <p:txBody>
          <a:bodyPr/>
          <a:lstStyle/>
          <a:p>
            <a:fld id="{93AE1883-0942-4AA3-9DB2-9C7C3A0314B1}" type="slidenum">
              <a:rPr kumimoji="1"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9pPr>
          </a:lstStyle>
          <a:p>
            <a:r>
              <a:rPr lang="zh-CN" altLang="en-US"/>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5F7596E7-3A35-364D-89E6-9FEF85698C7F}" type="datetimeFigureOut">
              <a:rPr kumimoji="1" lang="zh-CN" altLang="en-US" smtClean="0"/>
              <a:t>2025/3/4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E7246954-FD34-F94F-A008-7A5046FE25DC}" type="slidenum">
              <a:rPr kumimoji="1" lang="zh-CN" altLang="en-US" smtClean="0"/>
              <a:t>‹#›</a:t>
            </a:fld>
            <a:endParaRPr kumimoji="1" lang="zh-CN" altLang="en-US"/>
          </a:p>
        </p:txBody>
      </p:sp>
    </p:spTree>
  </p:cSld>
  <p:clrMapOvr>
    <a:masterClrMapping/>
  </p:clrMapOvr>
  <p:transition spd="slow">
    <p:fade/>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7596E7-3A35-364D-89E6-9FEF85698C7F}" type="datetimeFigureOut">
              <a:rPr kumimoji="1" lang="zh-CN" altLang="en-US" smtClean="0"/>
              <a:t>2025/3/4</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246954-FD34-F94F-A008-7A5046FE25DC}"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slow">
    <p:fade/>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image" Target="../media/image15.emf"/></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obamawhitehouse.archives.gov/sites/default/files/microsites/ostp/ostp_public_access_memo_2013.pdf" TargetMode="External"/><Relationship Id="rId13" Type="http://schemas.openxmlformats.org/officeDocument/2006/relationships/hyperlink" Target="https://doi.org/10.7551/mitpress/9286.001.0001" TargetMode="External"/><Relationship Id="rId3" Type="http://schemas.openxmlformats.org/officeDocument/2006/relationships/hyperlink" Target="https://doi.org/10.1002/asi.22963" TargetMode="External"/><Relationship Id="rId7" Type="http://schemas.openxmlformats.org/officeDocument/2006/relationships/hyperlink" Target="https://doi.org/10.1038/35074210" TargetMode="External"/><Relationship Id="rId12" Type="http://schemas.openxmlformats.org/officeDocument/2006/relationships/hyperlink" Target="https://doi.org/10.7717/peerj.4375" TargetMode="External"/><Relationship Id="rId2" Type="http://schemas.openxmlformats.org/officeDocument/2006/relationships/hyperlink" Target="https://doi.org/10.1073/pnas.1403006111" TargetMode="External"/><Relationship Id="rId1" Type="http://schemas.openxmlformats.org/officeDocument/2006/relationships/slideLayout" Target="../slideLayouts/slideLayout2.xml"/><Relationship Id="rId6" Type="http://schemas.openxmlformats.org/officeDocument/2006/relationships/hyperlink" Target="https://www.coalition-s.org/" TargetMode="External"/><Relationship Id="rId11" Type="http://schemas.openxmlformats.org/officeDocument/2006/relationships/hyperlink" Target="https://doi.org/10.4159/9780674369542" TargetMode="External"/><Relationship Id="rId5" Type="http://schemas.openxmlformats.org/officeDocument/2006/relationships/hyperlink" Target="https://doi.org/10.1371/journal.pmed.1001016" TargetMode="External"/><Relationship Id="rId10" Type="http://schemas.openxmlformats.org/officeDocument/2006/relationships/hyperlink" Target="https://doi.org/10.1371/journal.pone.0127502" TargetMode="External"/><Relationship Id="rId4" Type="http://schemas.openxmlformats.org/officeDocument/2006/relationships/hyperlink" Target="https://doi.org/10.1080/01972243.2016.1153012" TargetMode="External"/><Relationship Id="rId9" Type="http://schemas.openxmlformats.org/officeDocument/2006/relationships/hyperlink" Target="https://doi.org/10.1016/S0313-5926(09)50020-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p:nvPr/>
        </p:nvSpPr>
        <p:spPr>
          <a:xfrm>
            <a:off x="407986" y="424515"/>
            <a:ext cx="11376028" cy="60286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 name="组合 2">
            <a:extLst>
              <a:ext uri="{FF2B5EF4-FFF2-40B4-BE49-F238E27FC236}">
                <a16:creationId xmlns:a16="http://schemas.microsoft.com/office/drawing/2014/main" id="{1A2BE742-570A-652E-84AF-B648206502F0}"/>
              </a:ext>
            </a:extLst>
          </p:cNvPr>
          <p:cNvGrpSpPr/>
          <p:nvPr/>
        </p:nvGrpSpPr>
        <p:grpSpPr>
          <a:xfrm>
            <a:off x="9711301" y="448125"/>
            <a:ext cx="2072713" cy="2056478"/>
            <a:chOff x="6473736" y="1499330"/>
            <a:chExt cx="3300348" cy="3300348"/>
          </a:xfrm>
        </p:grpSpPr>
        <p:pic>
          <p:nvPicPr>
            <p:cNvPr id="5" name="图片 4"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PicPr>
              <a:picLocks noChangeAspect="1"/>
            </p:cNvPicPr>
            <p:nvPr/>
          </p:nvPicPr>
          <p:blipFill>
            <a:blip r:embed="rId2"/>
            <a:stretch>
              <a:fillRect/>
            </a:stretch>
          </p:blipFill>
          <p:spPr>
            <a:xfrm>
              <a:off x="6473736" y="1499330"/>
              <a:ext cx="3300348" cy="3300348"/>
            </a:xfrm>
            <a:prstGeom prst="rect">
              <a:avLst/>
            </a:prstGeom>
          </p:spPr>
        </p:pic>
        <p:pic>
          <p:nvPicPr>
            <p:cNvPr id="7" name="图片 6"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PicPr>
              <a:picLocks noChangeAspect="1"/>
            </p:cNvPicPr>
            <p:nvPr/>
          </p:nvPicPr>
          <p:blipFill>
            <a:blip r:embed="rId3"/>
            <a:stretch>
              <a:fillRect/>
            </a:stretch>
          </p:blipFill>
          <p:spPr>
            <a:xfrm>
              <a:off x="7012857" y="2084025"/>
              <a:ext cx="2268878" cy="2219554"/>
            </a:xfrm>
            <a:prstGeom prst="rect">
              <a:avLst/>
            </a:prstGeom>
          </p:spPr>
        </p:pic>
      </p:grpSp>
      <p:sp>
        <p:nvSpPr>
          <p:cNvPr id="8" name="文本框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3990165" y="4117993"/>
            <a:ext cx="4479353" cy="349776"/>
          </a:xfrm>
          <a:prstGeom prst="rect">
            <a:avLst/>
          </a:prstGeom>
          <a:noFill/>
        </p:spPr>
        <p:txBody>
          <a:bodyPr wrap="square" rtlCol="0">
            <a:spAutoFit/>
          </a:bodyPr>
          <a:lstStyle/>
          <a:p>
            <a:pPr>
              <a:lnSpc>
                <a:spcPct val="130000"/>
              </a:lnSpc>
            </a:pPr>
            <a:r>
              <a:rPr kumimoji="1" lang="en-US" altLang="en-US" sz="1400" spc="200" dirty="0" err="1">
                <a:solidFill>
                  <a:schemeClr val="tx1">
                    <a:lumMod val="85000"/>
                    <a:lumOff val="15000"/>
                  </a:schemeClr>
                </a:solidFill>
                <a:latin typeface="Corbel" panose="020B0503020204020204" pitchFamily="34" charset="0"/>
                <a:ea typeface="Josefin Sans" charset="0"/>
                <a:cs typeface="Times New Roman" panose="02020603050405020304" pitchFamily="18" charset="0"/>
              </a:rPr>
              <a:t>Changze</a:t>
            </a:r>
            <a:r>
              <a:rPr kumimoji="1" lang="en-US" altLang="en-US" sz="1400" spc="200" dirty="0">
                <a:solidFill>
                  <a:schemeClr val="tx1">
                    <a:lumMod val="85000"/>
                    <a:lumOff val="15000"/>
                  </a:schemeClr>
                </a:solidFill>
                <a:latin typeface="Corbel" panose="020B0503020204020204" pitchFamily="34" charset="0"/>
                <a:ea typeface="Josefin Sans" charset="0"/>
                <a:cs typeface="Times New Roman" panose="02020603050405020304" pitchFamily="18" charset="0"/>
              </a:rPr>
              <a:t> Wu &amp;&amp; Daniel </a:t>
            </a:r>
            <a:r>
              <a:rPr kumimoji="1" lang="en-US" altLang="en-US" sz="1400" spc="200" dirty="0" err="1">
                <a:solidFill>
                  <a:schemeClr val="tx1">
                    <a:lumMod val="85000"/>
                    <a:lumOff val="15000"/>
                  </a:schemeClr>
                </a:solidFill>
                <a:latin typeface="Corbel" panose="020B0503020204020204" pitchFamily="34" charset="0"/>
                <a:ea typeface="Josefin Sans" charset="0"/>
                <a:cs typeface="Times New Roman" panose="02020603050405020304" pitchFamily="18" charset="0"/>
              </a:rPr>
              <a:t>Grishanov</a:t>
            </a:r>
            <a:endParaRPr kumimoji="1" lang="zh-CN" altLang="en-US" sz="1400" spc="200" dirty="0">
              <a:solidFill>
                <a:schemeClr val="tx1">
                  <a:lumMod val="85000"/>
                  <a:lumOff val="15000"/>
                </a:schemeClr>
              </a:solidFill>
              <a:latin typeface="Corbel" panose="020B0503020204020204" pitchFamily="34" charset="0"/>
              <a:ea typeface="Josefin Sans" charset="0"/>
              <a:cs typeface="Times New Roman" panose="02020603050405020304" pitchFamily="18" charset="0"/>
            </a:endParaRPr>
          </a:p>
        </p:txBody>
      </p:sp>
      <p:sp>
        <p:nvSpPr>
          <p:cNvPr id="12" name="文本框 11"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2296449" y="2231277"/>
            <a:ext cx="7240580" cy="1384995"/>
          </a:xfrm>
          <a:prstGeom prst="rect">
            <a:avLst/>
          </a:prstGeom>
          <a:noFill/>
        </p:spPr>
        <p:txBody>
          <a:bodyPr wrap="square" rtlCol="0">
            <a:spAutoFit/>
          </a:bodyPr>
          <a:lstStyle/>
          <a:p>
            <a:pPr algn="ctr"/>
            <a:r>
              <a:rPr kumimoji="1" lang="en-US" altLang="en-US" sz="2800" b="1" spc="800" dirty="0">
                <a:solidFill>
                  <a:srgbClr val="C00000"/>
                </a:solidFill>
                <a:latin typeface="Times New Roman" panose="02020603050405020304" pitchFamily="18" charset="0"/>
                <a:ea typeface="Josefin Sans" charset="0"/>
                <a:cs typeface="Times New Roman" panose="02020603050405020304" pitchFamily="18" charset="0"/>
              </a:rPr>
              <a:t>Was</a:t>
            </a:r>
            <a:r>
              <a:rPr kumimoji="1" lang="en-US" altLang="en-US" sz="2800" b="1" spc="800" dirty="0">
                <a:solidFill>
                  <a:schemeClr val="tx1">
                    <a:lumMod val="85000"/>
                    <a:lumOff val="15000"/>
                  </a:schemeClr>
                </a:solidFill>
                <a:latin typeface="Times New Roman" panose="02020603050405020304" pitchFamily="18" charset="0"/>
                <a:ea typeface="Josefin Sans" charset="0"/>
                <a:cs typeface="Times New Roman" panose="02020603050405020304" pitchFamily="18" charset="0"/>
              </a:rPr>
              <a:t> Aaron Swartz </a:t>
            </a:r>
            <a:r>
              <a:rPr kumimoji="1" lang="en-US" altLang="en-US" sz="2800" b="1" spc="800" dirty="0">
                <a:solidFill>
                  <a:srgbClr val="C00000"/>
                </a:solidFill>
                <a:latin typeface="Times New Roman" panose="02020603050405020304" pitchFamily="18" charset="0"/>
                <a:ea typeface="Josefin Sans" charset="0"/>
                <a:cs typeface="Times New Roman" panose="02020603050405020304" pitchFamily="18" charset="0"/>
              </a:rPr>
              <a:t>Right to Freely Distribute</a:t>
            </a:r>
            <a:r>
              <a:rPr kumimoji="1" lang="en-US" altLang="en-US" sz="2800" b="1" spc="800" dirty="0">
                <a:solidFill>
                  <a:schemeClr val="tx1">
                    <a:lumMod val="85000"/>
                    <a:lumOff val="15000"/>
                  </a:schemeClr>
                </a:solidFill>
                <a:latin typeface="Times New Roman" panose="02020603050405020304" pitchFamily="18" charset="0"/>
                <a:ea typeface="Josefin Sans" charset="0"/>
                <a:cs typeface="Times New Roman" panose="02020603050405020304" pitchFamily="18" charset="0"/>
              </a:rPr>
              <a:t> </a:t>
            </a:r>
            <a:r>
              <a:rPr kumimoji="1" lang="en-US" altLang="en-US" sz="2800" b="1" spc="800" dirty="0">
                <a:latin typeface="Times New Roman" panose="02020603050405020304" pitchFamily="18" charset="0"/>
                <a:ea typeface="Josefin Sans" charset="0"/>
                <a:cs typeface="Times New Roman" panose="02020603050405020304" pitchFamily="18" charset="0"/>
              </a:rPr>
              <a:t>Academic Papers</a:t>
            </a:r>
            <a:r>
              <a:rPr kumimoji="1" lang="zh-CN" altLang="en-US" sz="2800" b="1" spc="800" dirty="0">
                <a:solidFill>
                  <a:schemeClr val="tx1">
                    <a:lumMod val="85000"/>
                    <a:lumOff val="15000"/>
                  </a:schemeClr>
                </a:solidFill>
                <a:latin typeface="Times New Roman" panose="02020603050405020304" pitchFamily="18" charset="0"/>
                <a:ea typeface="Josefin Sans" charset="0"/>
                <a:cs typeface="Times New Roman" panose="02020603050405020304" pitchFamily="18" charset="0"/>
              </a:rPr>
              <a:t>？</a:t>
            </a:r>
          </a:p>
        </p:txBody>
      </p:sp>
      <p:sp>
        <p:nvSpPr>
          <p:cNvPr id="18" name="矩形 1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p:nvPr/>
        </p:nvSpPr>
        <p:spPr>
          <a:xfrm>
            <a:off x="407986" y="4941889"/>
            <a:ext cx="1150938" cy="1511300"/>
          </a:xfrm>
          <a:prstGeom prst="rect">
            <a:avLst/>
          </a:prstGeom>
          <a:pattFill prst="wdUpDiag">
            <a:fgClr>
              <a:schemeClr val="bg2">
                <a:lumMod val="1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rot="5400000">
            <a:off x="1673501" y="2607598"/>
            <a:ext cx="5923081" cy="707886"/>
          </a:xfrm>
          <a:prstGeom prst="rect">
            <a:avLst/>
          </a:prstGeom>
          <a:noFill/>
        </p:spPr>
        <p:txBody>
          <a:bodyPr wrap="square" rtlCol="0">
            <a:spAutoFit/>
          </a:bodyPr>
          <a:lstStyle/>
          <a:p>
            <a:pPr algn="ctr"/>
            <a:r>
              <a:rPr kumimoji="1" lang="en-US" altLang="zh-CN" sz="4000" b="1" dirty="0">
                <a:solidFill>
                  <a:schemeClr val="tx1">
                    <a:lumMod val="85000"/>
                    <a:lumOff val="15000"/>
                  </a:schemeClr>
                </a:solidFill>
                <a:latin typeface="Aharoni" pitchFamily="2" charset="-79"/>
                <a:ea typeface="Josefin Sans" charset="0"/>
                <a:cs typeface="Aharoni" pitchFamily="2" charset="-79"/>
              </a:rPr>
              <a:t>C   O   N   T   E   N   T</a:t>
            </a:r>
            <a:endParaRPr kumimoji="1" lang="zh-CN" altLang="en-US" sz="4000" b="1" dirty="0">
              <a:solidFill>
                <a:schemeClr val="tx1">
                  <a:lumMod val="85000"/>
                  <a:lumOff val="15000"/>
                </a:schemeClr>
              </a:solidFill>
              <a:latin typeface="Aharoni" pitchFamily="2" charset="-79"/>
              <a:ea typeface="Josefin Sans" charset="0"/>
              <a:cs typeface="Aharoni" pitchFamily="2" charset="-79"/>
            </a:endParaRPr>
          </a:p>
        </p:txBody>
      </p:sp>
      <p:sp>
        <p:nvSpPr>
          <p:cNvPr id="13" name="文本框 12"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5574911" y="647907"/>
            <a:ext cx="2040340" cy="677108"/>
          </a:xfrm>
          <a:prstGeom prst="rect">
            <a:avLst/>
          </a:prstGeom>
          <a:noFill/>
        </p:spPr>
        <p:txBody>
          <a:bodyPr wrap="square" rtlCol="0">
            <a:spAutoFit/>
          </a:bodyPr>
          <a:lstStyle/>
          <a:p>
            <a:r>
              <a:rPr kumimoji="1" lang="en-US" altLang="zh-CN" sz="2400" b="1" dirty="0">
                <a:solidFill>
                  <a:schemeClr val="tx1">
                    <a:lumMod val="75000"/>
                    <a:lumOff val="25000"/>
                  </a:schemeClr>
                </a:solidFill>
                <a:latin typeface="Josefin Sans" charset="0"/>
                <a:ea typeface="Josefin Sans" charset="0"/>
                <a:cs typeface="Josefin Sans" charset="0"/>
              </a:rPr>
              <a:t>Part.01</a:t>
            </a:r>
          </a:p>
          <a:p>
            <a:r>
              <a:rPr kumimoji="1" lang="en-US" altLang="zh-CN" sz="1400" dirty="0">
                <a:solidFill>
                  <a:schemeClr val="tx1">
                    <a:lumMod val="75000"/>
                    <a:lumOff val="25000"/>
                  </a:schemeClr>
                </a:solidFill>
                <a:latin typeface="Josefin Sans" charset="0"/>
                <a:ea typeface="Josefin Sans" charset="0"/>
                <a:cs typeface="Josefin Sans" charset="0"/>
              </a:rPr>
              <a:t>Basic information</a:t>
            </a:r>
            <a:endParaRPr kumimoji="1" lang="zh-CN" altLang="en-US" sz="1400" dirty="0">
              <a:solidFill>
                <a:schemeClr val="tx1">
                  <a:lumMod val="75000"/>
                  <a:lumOff val="25000"/>
                </a:schemeClr>
              </a:solidFill>
              <a:latin typeface="Josefin Sans" charset="0"/>
              <a:ea typeface="Josefin Sans" charset="0"/>
              <a:cs typeface="Josefin Sans" charset="0"/>
            </a:endParaRPr>
          </a:p>
        </p:txBody>
      </p:sp>
      <p:sp>
        <p:nvSpPr>
          <p:cNvPr id="14" name="文本框 13"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7203017" y="2751891"/>
            <a:ext cx="2040340" cy="677108"/>
          </a:xfrm>
          <a:prstGeom prst="rect">
            <a:avLst/>
          </a:prstGeom>
          <a:noFill/>
        </p:spPr>
        <p:txBody>
          <a:bodyPr wrap="square" rtlCol="0">
            <a:spAutoFit/>
          </a:bodyPr>
          <a:lstStyle/>
          <a:p>
            <a:r>
              <a:rPr kumimoji="1" lang="en-US" altLang="zh-CN" sz="2400" b="1" dirty="0">
                <a:solidFill>
                  <a:schemeClr val="tx1">
                    <a:lumMod val="75000"/>
                    <a:lumOff val="25000"/>
                  </a:schemeClr>
                </a:solidFill>
                <a:latin typeface="Josefin Sans" charset="0"/>
                <a:ea typeface="Josefin Sans" charset="0"/>
                <a:cs typeface="Josefin Sans" charset="0"/>
              </a:rPr>
              <a:t>Part.02</a:t>
            </a:r>
          </a:p>
          <a:p>
            <a:r>
              <a:rPr kumimoji="1" lang="en-US" altLang="zh-CN" sz="1400" dirty="0">
                <a:solidFill>
                  <a:schemeClr val="tx1">
                    <a:lumMod val="75000"/>
                    <a:lumOff val="25000"/>
                  </a:schemeClr>
                </a:solidFill>
                <a:latin typeface="Josefin Sans" charset="0"/>
                <a:ea typeface="Josefin Sans" charset="0"/>
                <a:cs typeface="Josefin Sans" charset="0"/>
              </a:rPr>
              <a:t>Support side reason</a:t>
            </a:r>
            <a:endParaRPr kumimoji="1" lang="zh-CN" altLang="en-US" sz="1400" dirty="0">
              <a:solidFill>
                <a:schemeClr val="tx1">
                  <a:lumMod val="75000"/>
                  <a:lumOff val="25000"/>
                </a:schemeClr>
              </a:solidFill>
              <a:latin typeface="Josefin Sans" charset="0"/>
              <a:ea typeface="Josefin Sans" charset="0"/>
              <a:cs typeface="Josefin Sans" charset="0"/>
            </a:endParaRPr>
          </a:p>
        </p:txBody>
      </p:sp>
      <p:pic>
        <p:nvPicPr>
          <p:cNvPr id="20" name="图片 19"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PicPr>
            <a:picLocks noChangeAspect="1"/>
          </p:cNvPicPr>
          <p:nvPr/>
        </p:nvPicPr>
        <p:blipFill>
          <a:blip r:embed="rId2"/>
          <a:stretch>
            <a:fillRect/>
          </a:stretch>
        </p:blipFill>
        <p:spPr>
          <a:xfrm>
            <a:off x="-3675055" y="-631780"/>
            <a:ext cx="7945003" cy="8121559"/>
          </a:xfrm>
          <a:prstGeom prst="rect">
            <a:avLst/>
          </a:prstGeom>
        </p:spPr>
      </p:pic>
      <p:sp>
        <p:nvSpPr>
          <p:cNvPr id="6"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sp>
        <p:nvSpPr>
          <p:cNvPr id="12" name="文本框 11"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896424BF-6629-E09D-BA95-ADC051C58978}"/>
              </a:ext>
            </a:extLst>
          </p:cNvPr>
          <p:cNvSpPr txBox="1"/>
          <p:nvPr/>
        </p:nvSpPr>
        <p:spPr>
          <a:xfrm>
            <a:off x="9243357" y="4669502"/>
            <a:ext cx="2040340" cy="677108"/>
          </a:xfrm>
          <a:prstGeom prst="rect">
            <a:avLst/>
          </a:prstGeom>
          <a:noFill/>
        </p:spPr>
        <p:txBody>
          <a:bodyPr wrap="square" rtlCol="0">
            <a:spAutoFit/>
          </a:bodyPr>
          <a:lstStyle/>
          <a:p>
            <a:r>
              <a:rPr kumimoji="1" lang="en-US" altLang="zh-CN" sz="2400" b="1" dirty="0">
                <a:solidFill>
                  <a:schemeClr val="tx1">
                    <a:lumMod val="75000"/>
                    <a:lumOff val="25000"/>
                  </a:schemeClr>
                </a:solidFill>
                <a:latin typeface="Josefin Sans" charset="0"/>
                <a:ea typeface="Josefin Sans" charset="0"/>
                <a:cs typeface="Josefin Sans" charset="0"/>
              </a:rPr>
              <a:t>Part.03</a:t>
            </a:r>
          </a:p>
          <a:p>
            <a:r>
              <a:rPr kumimoji="1" lang="en-US" altLang="zh-CN" sz="1400" dirty="0">
                <a:solidFill>
                  <a:schemeClr val="tx1">
                    <a:lumMod val="75000"/>
                    <a:lumOff val="25000"/>
                  </a:schemeClr>
                </a:solidFill>
                <a:latin typeface="Josefin Sans" charset="0"/>
                <a:ea typeface="Josefin Sans" charset="0"/>
                <a:cs typeface="Josefin Sans" charset="0"/>
              </a:rPr>
              <a:t>Other side reason</a:t>
            </a:r>
            <a:endParaRPr kumimoji="1" lang="zh-CN" altLang="en-US" sz="1400" dirty="0">
              <a:solidFill>
                <a:schemeClr val="tx1">
                  <a:lumMod val="75000"/>
                  <a:lumOff val="25000"/>
                </a:schemeClr>
              </a:solidFill>
              <a:latin typeface="Josefin Sans" charset="0"/>
              <a:ea typeface="Josefin Sans" charset="0"/>
              <a:cs typeface="Josefin Sans"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3">
            <a:extLst>
              <a:ext uri="{28A0092B-C50C-407E-A947-70E740481C1C}">
                <a14:useLocalDpi xmlns:a14="http://schemas.microsoft.com/office/drawing/2010/main" val="0"/>
              </a:ext>
            </a:extLst>
          </a:blip>
          <a:srcRect/>
          <a:stretch/>
        </p:blipFill>
        <p:spPr>
          <a:xfrm>
            <a:off x="7153855" y="600440"/>
            <a:ext cx="2473377" cy="3429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文本框 1"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145686" y="223898"/>
            <a:ext cx="4711195" cy="307777"/>
          </a:xfrm>
          <a:prstGeom prst="rect">
            <a:avLst/>
          </a:prstGeom>
          <a:noFill/>
        </p:spPr>
        <p:txBody>
          <a:bodyPr wrap="square" rtlCol="0">
            <a:spAutoFit/>
          </a:bodyPr>
          <a:lstStyle/>
          <a:p>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Part.01 Background Information</a:t>
            </a:r>
            <a:endParaRPr kumimoji="1" lang="zh-CN" altLang="en-US" sz="1400" spc="100" dirty="0">
              <a:solidFill>
                <a:schemeClr val="tx1">
                  <a:lumMod val="85000"/>
                  <a:lumOff val="15000"/>
                </a:schemeClr>
              </a:solidFill>
              <a:ea typeface="Playfair Display" panose="00000500000000000000" charset="0"/>
              <a:cs typeface="Playfair Display" panose="00000500000000000000" charset="0"/>
            </a:endParaRPr>
          </a:p>
        </p:txBody>
      </p:sp>
      <p:grpSp>
        <p:nvGrpSpPr>
          <p:cNvPr id="6" name="组合 5">
            <a:extLst>
              <a:ext uri="{FF2B5EF4-FFF2-40B4-BE49-F238E27FC236}">
                <a16:creationId xmlns:a16="http://schemas.microsoft.com/office/drawing/2014/main" id="{6D001CA3-CA04-7D6C-474A-0558DFD42385}"/>
              </a:ext>
            </a:extLst>
          </p:cNvPr>
          <p:cNvGrpSpPr/>
          <p:nvPr/>
        </p:nvGrpSpPr>
        <p:grpSpPr>
          <a:xfrm>
            <a:off x="699004" y="854429"/>
            <a:ext cx="4711195" cy="2498533"/>
            <a:chOff x="699004" y="854429"/>
            <a:chExt cx="4711195" cy="2498533"/>
          </a:xfrm>
        </p:grpSpPr>
        <p:sp>
          <p:nvSpPr>
            <p:cNvPr id="10" name="文本框 9"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699004" y="854429"/>
              <a:ext cx="4711195" cy="523220"/>
            </a:xfrm>
            <a:prstGeom prst="rect">
              <a:avLst/>
            </a:prstGeom>
            <a:noFill/>
          </p:spPr>
          <p:txBody>
            <a:bodyPr wrap="square" rtlCol="0">
              <a:spAutoFit/>
            </a:bodyPr>
            <a:lstStyle/>
            <a:p>
              <a:r>
                <a:rPr kumimoji="1" lang="en-US" altLang="zh-CN" sz="2800" b="1" dirty="0">
                  <a:solidFill>
                    <a:schemeClr val="tx1">
                      <a:lumMod val="85000"/>
                      <a:lumOff val="15000"/>
                    </a:schemeClr>
                  </a:solidFill>
                  <a:latin typeface="+mj-lt"/>
                  <a:ea typeface="Josefin Sans" charset="0"/>
                  <a:cs typeface="Josefin Sans" charset="0"/>
                </a:rPr>
                <a:t>1. Who Was </a:t>
              </a:r>
              <a:r>
                <a:rPr kumimoji="1" lang="en-US" altLang="zh-CN" sz="2800" b="1" dirty="0">
                  <a:solidFill>
                    <a:srgbClr val="C00000"/>
                  </a:solidFill>
                  <a:latin typeface="+mj-lt"/>
                  <a:ea typeface="Josefin Sans" charset="0"/>
                  <a:cs typeface="Josefin Sans" charset="0"/>
                </a:rPr>
                <a:t>Aaron Swartz</a:t>
              </a:r>
              <a:r>
                <a:rPr kumimoji="1" lang="en-US" altLang="zh-CN" sz="2800" b="1" dirty="0">
                  <a:solidFill>
                    <a:schemeClr val="tx1">
                      <a:lumMod val="85000"/>
                      <a:lumOff val="15000"/>
                    </a:schemeClr>
                  </a:solidFill>
                  <a:latin typeface="+mj-lt"/>
                  <a:ea typeface="Josefin Sans" charset="0"/>
                  <a:cs typeface="Josefin Sans" charset="0"/>
                </a:rPr>
                <a:t>?</a:t>
              </a:r>
              <a:endParaRPr kumimoji="1" lang="en-US" altLang="zh-CN" sz="1400" b="1" dirty="0">
                <a:solidFill>
                  <a:schemeClr val="tx1">
                    <a:lumMod val="85000"/>
                    <a:lumOff val="15000"/>
                  </a:schemeClr>
                </a:solidFill>
                <a:latin typeface="+mj-lt"/>
                <a:ea typeface="Josefin Sans" charset="0"/>
                <a:cs typeface="Josefin Sans" charset="0"/>
              </a:endParaRPr>
            </a:p>
          </p:txBody>
        </p:sp>
        <p:sp>
          <p:nvSpPr>
            <p:cNvPr id="11"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p:nvPr/>
          </p:nvSpPr>
          <p:spPr>
            <a:xfrm>
              <a:off x="789870" y="1516305"/>
              <a:ext cx="4080555" cy="1836657"/>
            </a:xfrm>
            <a:prstGeom prst="rect">
              <a:avLst/>
            </a:prstGeom>
          </p:spPr>
          <p:txBody>
            <a:bodyPr wrap="square">
              <a:spAutoFit/>
            </a:bodyPr>
            <a:lstStyle/>
            <a:p>
              <a:pPr marL="285750" indent="-285750">
                <a:lnSpc>
                  <a:spcPct val="110000"/>
                </a:lnSpc>
                <a:buFont typeface="Arial" panose="020B0604020202020204" pitchFamily="34" charset="0"/>
                <a:buChar char="•"/>
              </a:pPr>
              <a:r>
                <a:rPr lang="en-CA" altLang="zh-CN" sz="1400" dirty="0">
                  <a:solidFill>
                    <a:srgbClr val="C00000"/>
                  </a:solidFill>
                  <a:ea typeface="Josefin Sans" charset="0"/>
                  <a:cs typeface="Josefin Sans" charset="0"/>
                </a:rPr>
                <a:t>programmer</a:t>
              </a:r>
              <a:r>
                <a:rPr lang="en-CA" altLang="zh-CN" sz="1400" dirty="0">
                  <a:ea typeface="Josefin Sans" charset="0"/>
                  <a:cs typeface="Josefin Sans" charset="0"/>
                </a:rPr>
                <a:t>, </a:t>
              </a:r>
              <a:r>
                <a:rPr lang="en-CA" altLang="zh-CN" sz="1400" dirty="0">
                  <a:solidFill>
                    <a:srgbClr val="C00000"/>
                  </a:solidFill>
                  <a:ea typeface="Josefin Sans" charset="0"/>
                  <a:cs typeface="Josefin Sans" charset="0"/>
                </a:rPr>
                <a:t>writer</a:t>
              </a:r>
              <a:r>
                <a:rPr lang="en-CA" altLang="zh-CN" sz="1400" dirty="0">
                  <a:ea typeface="Josefin Sans" charset="0"/>
                  <a:cs typeface="Josefin Sans" charset="0"/>
                </a:rPr>
                <a:t>, and </a:t>
              </a:r>
              <a:r>
                <a:rPr lang="en-CA" altLang="zh-CN" sz="1400" dirty="0">
                  <a:solidFill>
                    <a:srgbClr val="C00000"/>
                  </a:solidFill>
                  <a:ea typeface="Josefin Sans" charset="0"/>
                  <a:cs typeface="Josefin Sans" charset="0"/>
                </a:rPr>
                <a:t>internet activist</a:t>
              </a:r>
            </a:p>
            <a:p>
              <a:pPr marL="285750" indent="-285750">
                <a:lnSpc>
                  <a:spcPct val="110000"/>
                </a:lnSpc>
                <a:buFont typeface="Arial" panose="020B0604020202020204" pitchFamily="34" charset="0"/>
                <a:buChar char="•"/>
              </a:pPr>
              <a:r>
                <a:rPr lang="en-CA" altLang="zh-CN" sz="1400" dirty="0">
                  <a:ea typeface="Josefin Sans" charset="0"/>
                  <a:cs typeface="Josefin Sans" charset="0"/>
                </a:rPr>
                <a:t>co-founded</a:t>
              </a:r>
              <a:r>
                <a:rPr lang="en-CA" altLang="zh-CN" sz="1400" dirty="0">
                  <a:solidFill>
                    <a:srgbClr val="C00000"/>
                  </a:solidFill>
                  <a:ea typeface="Josefin Sans" charset="0"/>
                  <a:cs typeface="Josefin Sans" charset="0"/>
                </a:rPr>
                <a:t> Reddit</a:t>
              </a:r>
              <a:endParaRPr lang="en-US" altLang="zh-CN" sz="1400" dirty="0">
                <a:ea typeface="Josefin Sans" charset="0"/>
                <a:cs typeface="Josefin Sans" charset="0"/>
              </a:endParaRPr>
            </a:p>
            <a:p>
              <a:pPr marL="285750" indent="-285750">
                <a:lnSpc>
                  <a:spcPct val="110000"/>
                </a:lnSpc>
                <a:buFont typeface="Arial" panose="020B0604020202020204" pitchFamily="34" charset="0"/>
                <a:buChar char="•"/>
              </a:pPr>
              <a:r>
                <a:rPr lang="en-CA" altLang="zh-CN" sz="1400" dirty="0">
                  <a:ea typeface="Josefin Sans" charset="0"/>
                  <a:cs typeface="Josefin Sans" charset="0"/>
                </a:rPr>
                <a:t>contributed to </a:t>
              </a:r>
              <a:r>
                <a:rPr lang="en-CA" altLang="zh-CN" sz="1400" dirty="0">
                  <a:solidFill>
                    <a:srgbClr val="C00000"/>
                  </a:solidFill>
                  <a:ea typeface="Josefin Sans" charset="0"/>
                  <a:cs typeface="Josefin Sans" charset="0"/>
                </a:rPr>
                <a:t>RSS</a:t>
              </a:r>
              <a:r>
                <a:rPr lang="en-CA" altLang="zh-CN" sz="1400" dirty="0">
                  <a:ea typeface="Josefin Sans" charset="0"/>
                  <a:cs typeface="Josefin Sans" charset="0"/>
                </a:rPr>
                <a:t> and Creative Commons</a:t>
              </a:r>
              <a:endParaRPr lang="en-US" altLang="zh-CN" sz="1400" dirty="0">
                <a:ea typeface="Josefin Sans" charset="0"/>
                <a:cs typeface="Josefin Sans" charset="0"/>
              </a:endParaRPr>
            </a:p>
            <a:p>
              <a:pPr marL="285750" indent="-285750">
                <a:lnSpc>
                  <a:spcPct val="110000"/>
                </a:lnSpc>
                <a:buFont typeface="Arial" panose="020B0604020202020204" pitchFamily="34" charset="0"/>
                <a:buChar char="•"/>
              </a:pPr>
              <a:r>
                <a:rPr lang="en-CA" altLang="zh-CN" sz="1400" b="1" dirty="0">
                  <a:ea typeface="Josefin Sans" charset="0"/>
                  <a:cs typeface="Josefin Sans" charset="0"/>
                </a:rPr>
                <a:t>downloading JSTOR academic papers to make them </a:t>
              </a:r>
              <a:r>
                <a:rPr lang="en-CA" altLang="zh-CN" sz="1400" b="1" dirty="0">
                  <a:solidFill>
                    <a:srgbClr val="C00000"/>
                  </a:solidFill>
                  <a:ea typeface="Josefin Sans" charset="0"/>
                  <a:cs typeface="Josefin Sans" charset="0"/>
                </a:rPr>
                <a:t>freely available</a:t>
              </a:r>
            </a:p>
            <a:p>
              <a:pPr marL="285750" indent="-285750">
                <a:lnSpc>
                  <a:spcPct val="110000"/>
                </a:lnSpc>
                <a:buFont typeface="Arial" panose="020B0604020202020204" pitchFamily="34" charset="0"/>
                <a:buChar char="•"/>
              </a:pPr>
              <a:endParaRPr lang="en-CA" altLang="zh-CN" sz="1400" dirty="0">
                <a:solidFill>
                  <a:srgbClr val="C00000"/>
                </a:solidFill>
                <a:ea typeface="Josefin Sans" charset="0"/>
                <a:cs typeface="Josefin Sans" charset="0"/>
              </a:endParaRPr>
            </a:p>
            <a:p>
              <a:pPr marL="342900" indent="-342900">
                <a:lnSpc>
                  <a:spcPct val="110000"/>
                </a:lnSpc>
                <a:buFont typeface="Arial" panose="020B0604020202020204" pitchFamily="34" charset="0"/>
                <a:buChar char="•"/>
              </a:pPr>
              <a:endParaRPr lang="en-US" sz="2000" dirty="0">
                <a:solidFill>
                  <a:srgbClr val="C00000"/>
                </a:solidFill>
                <a:ea typeface="Josefin Sans" charset="0"/>
                <a:cs typeface="Josefin Sans" charset="0"/>
              </a:endParaRPr>
            </a:p>
          </p:txBody>
        </p:sp>
      </p:grpSp>
      <p:sp>
        <p:nvSpPr>
          <p:cNvPr id="4"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pic>
        <p:nvPicPr>
          <p:cNvPr id="5" name="图片 4">
            <a:extLst>
              <a:ext uri="{FF2B5EF4-FFF2-40B4-BE49-F238E27FC236}">
                <a16:creationId xmlns:a16="http://schemas.microsoft.com/office/drawing/2014/main" id="{7E92D091-53FD-FFDC-3BCD-B7F9F2C2544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390543" y="3371126"/>
            <a:ext cx="3302062" cy="21838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7" name="组合 6">
            <a:extLst>
              <a:ext uri="{FF2B5EF4-FFF2-40B4-BE49-F238E27FC236}">
                <a16:creationId xmlns:a16="http://schemas.microsoft.com/office/drawing/2014/main" id="{E2910618-D9A3-0A6A-DAB1-E63D777ACBFF}"/>
              </a:ext>
            </a:extLst>
          </p:cNvPr>
          <p:cNvGrpSpPr/>
          <p:nvPr/>
        </p:nvGrpSpPr>
        <p:grpSpPr>
          <a:xfrm>
            <a:off x="699004" y="3064080"/>
            <a:ext cx="6176987" cy="2577851"/>
            <a:chOff x="699003" y="854429"/>
            <a:chExt cx="4983447" cy="2301985"/>
          </a:xfrm>
        </p:grpSpPr>
        <p:sp>
          <p:nvSpPr>
            <p:cNvPr id="8" name="文本框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566074CB-731A-0FBF-5E2B-18F1D52492CF}"/>
                </a:ext>
              </a:extLst>
            </p:cNvPr>
            <p:cNvSpPr txBox="1"/>
            <p:nvPr/>
          </p:nvSpPr>
          <p:spPr>
            <a:xfrm>
              <a:off x="699003" y="854429"/>
              <a:ext cx="4983447" cy="467228"/>
            </a:xfrm>
            <a:prstGeom prst="rect">
              <a:avLst/>
            </a:prstGeom>
            <a:noFill/>
          </p:spPr>
          <p:txBody>
            <a:bodyPr wrap="square" rtlCol="0">
              <a:spAutoFit/>
            </a:bodyPr>
            <a:lstStyle/>
            <a:p>
              <a:r>
                <a:rPr kumimoji="1" lang="en-US" altLang="zh-CN" sz="2800" b="1" dirty="0">
                  <a:solidFill>
                    <a:schemeClr val="tx1">
                      <a:lumMod val="85000"/>
                      <a:lumOff val="15000"/>
                    </a:schemeClr>
                  </a:solidFill>
                  <a:latin typeface="+mj-lt"/>
                  <a:ea typeface="Josefin Sans" charset="0"/>
                  <a:cs typeface="Josefin Sans" charset="0"/>
                </a:rPr>
                <a:t>2. About The </a:t>
              </a:r>
              <a:r>
                <a:rPr kumimoji="1" lang="en-US" altLang="zh-CN" sz="2800" b="1" dirty="0">
                  <a:solidFill>
                    <a:srgbClr val="C00000"/>
                  </a:solidFill>
                  <a:latin typeface="+mj-lt"/>
                  <a:ea typeface="Josefin Sans" charset="0"/>
                  <a:cs typeface="Josefin Sans" charset="0"/>
                </a:rPr>
                <a:t>Argue Topic</a:t>
              </a:r>
              <a:endParaRPr kumimoji="1" lang="en-US" altLang="zh-CN" sz="1400" b="1" dirty="0">
                <a:solidFill>
                  <a:srgbClr val="C00000"/>
                </a:solidFill>
                <a:latin typeface="+mj-lt"/>
                <a:ea typeface="Josefin Sans" charset="0"/>
                <a:cs typeface="Josefin Sans" charset="0"/>
              </a:endParaRPr>
            </a:p>
          </p:txBody>
        </p:sp>
        <p:sp>
          <p:nvSpPr>
            <p:cNvPr id="19"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792D4AF1-2A90-04EE-73C5-65771AE4C0F1}"/>
                </a:ext>
              </a:extLst>
            </p:cNvPr>
            <p:cNvSpPr/>
            <p:nvPr/>
          </p:nvSpPr>
          <p:spPr>
            <a:xfrm>
              <a:off x="789870" y="1516305"/>
              <a:ext cx="4456513" cy="1640109"/>
            </a:xfrm>
            <a:prstGeom prst="rect">
              <a:avLst/>
            </a:prstGeom>
          </p:spPr>
          <p:txBody>
            <a:bodyPr wrap="square">
              <a:spAutoFit/>
            </a:bodyPr>
            <a:lstStyle/>
            <a:p>
              <a:pPr marL="285750" indent="-285750">
                <a:lnSpc>
                  <a:spcPct val="110000"/>
                </a:lnSpc>
                <a:buFont typeface="Arial" panose="020B0604020202020204" pitchFamily="34" charset="0"/>
                <a:buChar char="•"/>
              </a:pPr>
              <a:r>
                <a:rPr lang="en-CA" altLang="zh-CN" sz="1400" dirty="0">
                  <a:ea typeface="Josefin Sans" charset="0"/>
                  <a:cs typeface="Josefin Sans" charset="0"/>
                </a:rPr>
                <a:t>Aaron Swartz believed knowledge should be </a:t>
              </a:r>
              <a:r>
                <a:rPr lang="en-CA" altLang="zh-CN" sz="1400" dirty="0">
                  <a:solidFill>
                    <a:srgbClr val="C00000"/>
                  </a:solidFill>
                  <a:ea typeface="Josefin Sans" charset="0"/>
                  <a:cs typeface="Josefin Sans" charset="0"/>
                </a:rPr>
                <a:t>free</a:t>
              </a:r>
            </a:p>
            <a:p>
              <a:pPr marL="285750" indent="-285750">
                <a:lnSpc>
                  <a:spcPct val="110000"/>
                </a:lnSpc>
                <a:buFont typeface="Arial" panose="020B0604020202020204" pitchFamily="34" charset="0"/>
                <a:buChar char="•"/>
              </a:pPr>
              <a:r>
                <a:rPr lang="en-CA" altLang="zh-CN" sz="1400" dirty="0">
                  <a:ea typeface="Josefin Sans" charset="0"/>
                  <a:cs typeface="Josefin Sans" charset="0"/>
                </a:rPr>
                <a:t>Arrested in 2011, charged under </a:t>
              </a:r>
              <a:r>
                <a:rPr lang="en-CA" altLang="zh-CN" sz="1400" dirty="0">
                  <a:solidFill>
                    <a:srgbClr val="C00000"/>
                  </a:solidFill>
                  <a:ea typeface="Josefin Sans" charset="0"/>
                  <a:cs typeface="Josefin Sans" charset="0"/>
                </a:rPr>
                <a:t>CFAA</a:t>
              </a:r>
            </a:p>
            <a:p>
              <a:pPr marL="285750" indent="-285750">
                <a:lnSpc>
                  <a:spcPct val="110000"/>
                </a:lnSpc>
                <a:buFont typeface="Arial" panose="020B0604020202020204" pitchFamily="34" charset="0"/>
                <a:buChar char="•"/>
              </a:pPr>
              <a:r>
                <a:rPr lang="en-CA" altLang="zh-CN" sz="1400" dirty="0">
                  <a:ea typeface="Josefin Sans" charset="0"/>
                  <a:cs typeface="Josefin Sans" charset="0"/>
                </a:rPr>
                <a:t>Faced up to </a:t>
              </a:r>
              <a:r>
                <a:rPr lang="en-CA" altLang="zh-CN" sz="1400" dirty="0">
                  <a:solidFill>
                    <a:srgbClr val="C00000"/>
                  </a:solidFill>
                  <a:ea typeface="Josefin Sans" charset="0"/>
                  <a:cs typeface="Josefin Sans" charset="0"/>
                </a:rPr>
                <a:t>35 years </a:t>
              </a:r>
              <a:r>
                <a:rPr lang="en-CA" altLang="zh-CN" sz="1400" dirty="0">
                  <a:ea typeface="Josefin Sans" charset="0"/>
                  <a:cs typeface="Josefin Sans" charset="0"/>
                </a:rPr>
                <a:t>in </a:t>
              </a:r>
              <a:r>
                <a:rPr lang="en-CA" altLang="zh-CN" sz="1400" dirty="0">
                  <a:solidFill>
                    <a:srgbClr val="C00000"/>
                  </a:solidFill>
                  <a:ea typeface="Josefin Sans" charset="0"/>
                  <a:cs typeface="Josefin Sans" charset="0"/>
                </a:rPr>
                <a:t>prison</a:t>
              </a:r>
              <a:r>
                <a:rPr lang="en-CA" altLang="zh-CN" sz="1400" dirty="0">
                  <a:ea typeface="Josefin Sans" charset="0"/>
                  <a:cs typeface="Josefin Sans" charset="0"/>
                </a:rPr>
                <a:t> </a:t>
              </a:r>
              <a:r>
                <a:rPr lang="en-CA" altLang="zh-CN" sz="1400" dirty="0">
                  <a:solidFill>
                    <a:srgbClr val="C00000"/>
                  </a:solidFill>
                  <a:ea typeface="Josefin Sans" charset="0"/>
                  <a:cs typeface="Josefin Sans" charset="0"/>
                </a:rPr>
                <a:t>and heavy fines</a:t>
              </a:r>
            </a:p>
            <a:p>
              <a:pPr marL="285750" indent="-285750">
                <a:lnSpc>
                  <a:spcPct val="110000"/>
                </a:lnSpc>
                <a:buFont typeface="Arial" panose="020B0604020202020204" pitchFamily="34" charset="0"/>
                <a:buChar char="•"/>
              </a:pPr>
              <a:r>
                <a:rPr lang="en-CA" altLang="zh-CN" sz="1400" dirty="0">
                  <a:ea typeface="Josefin Sans" charset="0"/>
                  <a:cs typeface="Josefin Sans" charset="0"/>
                </a:rPr>
                <a:t>Committed suicide in 2013 amid legal pressure</a:t>
              </a:r>
            </a:p>
            <a:p>
              <a:pPr marL="285750" indent="-285750">
                <a:lnSpc>
                  <a:spcPct val="110000"/>
                </a:lnSpc>
                <a:buFont typeface="Arial" panose="020B0604020202020204" pitchFamily="34" charset="0"/>
                <a:buChar char="•"/>
              </a:pPr>
              <a:r>
                <a:rPr lang="en-CA" altLang="zh-CN" sz="1400" dirty="0">
                  <a:ea typeface="Josefin Sans" charset="0"/>
                  <a:cs typeface="Josefin Sans" charset="0"/>
                </a:rPr>
                <a:t>Sparked </a:t>
              </a:r>
              <a:r>
                <a:rPr lang="en-CA" altLang="zh-CN" sz="1400" dirty="0">
                  <a:solidFill>
                    <a:srgbClr val="C00000"/>
                  </a:solidFill>
                  <a:ea typeface="Josefin Sans" charset="0"/>
                  <a:cs typeface="Josefin Sans" charset="0"/>
                </a:rPr>
                <a:t>global debates </a:t>
              </a:r>
              <a:r>
                <a:rPr lang="en-CA" altLang="zh-CN" sz="1400" dirty="0">
                  <a:ea typeface="Josefin Sans" charset="0"/>
                  <a:cs typeface="Josefin Sans" charset="0"/>
                </a:rPr>
                <a:t>on open access and internet freedom</a:t>
              </a:r>
            </a:p>
            <a:p>
              <a:pPr marL="285750" indent="-285750">
                <a:lnSpc>
                  <a:spcPct val="110000"/>
                </a:lnSpc>
                <a:buFont typeface="Arial" panose="020B0604020202020204" pitchFamily="34" charset="0"/>
                <a:buChar char="•"/>
              </a:pPr>
              <a:r>
                <a:rPr lang="en-CA" altLang="zh-CN" sz="1400" dirty="0">
                  <a:ea typeface="Josefin Sans" charset="0"/>
                  <a:cs typeface="Josefin Sans" charset="0"/>
                </a:rPr>
                <a:t>Inspired </a:t>
              </a:r>
              <a:r>
                <a:rPr lang="en-CA" altLang="zh-CN" sz="1400" dirty="0">
                  <a:solidFill>
                    <a:srgbClr val="C00000"/>
                  </a:solidFill>
                  <a:ea typeface="Josefin Sans" charset="0"/>
                  <a:cs typeface="Josefin Sans" charset="0"/>
                </a:rPr>
                <a:t>open-access movements </a:t>
              </a:r>
              <a:r>
                <a:rPr lang="en-CA" altLang="zh-CN" sz="1400" dirty="0">
                  <a:ea typeface="Josefin Sans" charset="0"/>
                  <a:cs typeface="Josefin Sans" charset="0"/>
                </a:rPr>
                <a:t>like Sci-Hub and legal reforms</a:t>
              </a:r>
            </a:p>
            <a:p>
              <a:pPr marL="342900" indent="-342900">
                <a:lnSpc>
                  <a:spcPct val="110000"/>
                </a:lnSpc>
                <a:buFont typeface="Arial" panose="020B0604020202020204" pitchFamily="34" charset="0"/>
                <a:buChar char="•"/>
              </a:pPr>
              <a:endParaRPr lang="en-US" sz="2000" dirty="0">
                <a:solidFill>
                  <a:srgbClr val="C00000"/>
                </a:solidFill>
                <a:ea typeface="Josefin Sans" charset="0"/>
                <a:cs typeface="Josefin Sans" charset="0"/>
              </a:endParaRPr>
            </a:p>
          </p:txBody>
        </p:sp>
      </p:gr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3">
            <a:extLst>
              <a:ext uri="{28A0092B-C50C-407E-A947-70E740481C1C}">
                <a14:useLocalDpi xmlns:a14="http://schemas.microsoft.com/office/drawing/2010/main" val="0"/>
              </a:ext>
            </a:extLst>
          </a:blip>
          <a:srcRect l="3562" r="14116"/>
          <a:stretch/>
        </p:blipFill>
        <p:spPr>
          <a:xfrm>
            <a:off x="6277856" y="4069029"/>
            <a:ext cx="5914144" cy="2416703"/>
          </a:xfrm>
          <a:prstGeom prst="rect">
            <a:avLst/>
          </a:prstGeom>
        </p:spPr>
      </p:pic>
      <p:sp>
        <p:nvSpPr>
          <p:cNvPr id="4"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sp>
        <p:nvSpPr>
          <p:cNvPr id="5" name="文本框 4"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595F656D-8972-97C8-501D-8921B59F51C5}"/>
              </a:ext>
            </a:extLst>
          </p:cNvPr>
          <p:cNvSpPr txBox="1"/>
          <p:nvPr/>
        </p:nvSpPr>
        <p:spPr>
          <a:xfrm>
            <a:off x="145687" y="223898"/>
            <a:ext cx="3544570" cy="307777"/>
          </a:xfrm>
          <a:prstGeom prst="rect">
            <a:avLst/>
          </a:prstGeom>
          <a:noFill/>
        </p:spPr>
        <p:txBody>
          <a:bodyPr wrap="square" rtlCol="0">
            <a:spAutoFit/>
          </a:bodyPr>
          <a:lstStyle/>
          <a:p>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Part.0</a:t>
            </a:r>
            <a:r>
              <a:rPr kumimoji="1" lang="en-US" altLang="zh-CN" sz="1400" spc="100" dirty="0">
                <a:solidFill>
                  <a:schemeClr val="tx1">
                    <a:lumMod val="85000"/>
                    <a:lumOff val="15000"/>
                  </a:schemeClr>
                </a:solidFill>
                <a:ea typeface="Playfair Display" panose="00000500000000000000" charset="0"/>
                <a:cs typeface="Playfair Display" panose="00000500000000000000" charset="0"/>
              </a:rPr>
              <a:t>2</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zh-CN"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Start the affirmative debate</a:t>
            </a:r>
            <a:endParaRPr kumimoji="1" lang="zh-CN" altLang="en-US" sz="1400" spc="100" dirty="0">
              <a:solidFill>
                <a:schemeClr val="tx1">
                  <a:lumMod val="85000"/>
                  <a:lumOff val="15000"/>
                </a:schemeClr>
              </a:solidFill>
              <a:ea typeface="Playfair Display" panose="00000500000000000000" charset="0"/>
              <a:cs typeface="Playfair Display" panose="00000500000000000000" charset="0"/>
            </a:endParaRPr>
          </a:p>
        </p:txBody>
      </p:sp>
      <p:grpSp>
        <p:nvGrpSpPr>
          <p:cNvPr id="28" name="组合 27">
            <a:extLst>
              <a:ext uri="{FF2B5EF4-FFF2-40B4-BE49-F238E27FC236}">
                <a16:creationId xmlns:a16="http://schemas.microsoft.com/office/drawing/2014/main" id="{72803F2E-FA0E-BB46-C6C8-666276A8874D}"/>
              </a:ext>
            </a:extLst>
          </p:cNvPr>
          <p:cNvGrpSpPr/>
          <p:nvPr/>
        </p:nvGrpSpPr>
        <p:grpSpPr>
          <a:xfrm>
            <a:off x="672361" y="1572937"/>
            <a:ext cx="6035791" cy="3519752"/>
            <a:chOff x="672361" y="1572937"/>
            <a:chExt cx="6035791" cy="3519752"/>
          </a:xfrm>
        </p:grpSpPr>
        <p:grpSp>
          <p:nvGrpSpPr>
            <p:cNvPr id="23" name="组合 22">
              <a:extLst>
                <a:ext uri="{FF2B5EF4-FFF2-40B4-BE49-F238E27FC236}">
                  <a16:creationId xmlns:a16="http://schemas.microsoft.com/office/drawing/2014/main" id="{B2ED36E0-B451-78BC-D744-D2112D5D98CF}"/>
                </a:ext>
              </a:extLst>
            </p:cNvPr>
            <p:cNvGrpSpPr/>
            <p:nvPr/>
          </p:nvGrpSpPr>
          <p:grpSpPr>
            <a:xfrm>
              <a:off x="672361" y="1572937"/>
              <a:ext cx="6035791" cy="2552823"/>
              <a:chOff x="672361" y="1572937"/>
              <a:chExt cx="6035791" cy="2552823"/>
            </a:xfrm>
          </p:grpSpPr>
          <p:grpSp>
            <p:nvGrpSpPr>
              <p:cNvPr id="6" name="组合 5">
                <a:extLst>
                  <a:ext uri="{FF2B5EF4-FFF2-40B4-BE49-F238E27FC236}">
                    <a16:creationId xmlns:a16="http://schemas.microsoft.com/office/drawing/2014/main" id="{66101BEE-9FDC-1799-BDF0-0ECF06DBC3D3}"/>
                  </a:ext>
                </a:extLst>
              </p:cNvPr>
              <p:cNvGrpSpPr/>
              <p:nvPr/>
            </p:nvGrpSpPr>
            <p:grpSpPr>
              <a:xfrm>
                <a:off x="672361" y="1572937"/>
                <a:ext cx="6035791" cy="1876812"/>
                <a:chOff x="672361" y="1572937"/>
                <a:chExt cx="6035791" cy="1876812"/>
              </a:xfrm>
            </p:grpSpPr>
            <p:sp>
              <p:nvSpPr>
                <p:cNvPr id="10" name="文本框 9"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672361" y="1572937"/>
                  <a:ext cx="6035791" cy="584775"/>
                </a:xfrm>
                <a:prstGeom prst="rect">
                  <a:avLst/>
                </a:prstGeom>
                <a:noFill/>
              </p:spPr>
              <p:txBody>
                <a:bodyPr wrap="square" rtlCol="0">
                  <a:spAutoFit/>
                </a:bodyPr>
                <a:lstStyle/>
                <a:p>
                  <a:r>
                    <a:rPr kumimoji="1" lang="en-US" altLang="zh-CN" sz="1600" b="1" spc="100" dirty="0">
                      <a:solidFill>
                        <a:schemeClr val="tx1">
                          <a:lumMod val="85000"/>
                          <a:lumOff val="15000"/>
                        </a:schemeClr>
                      </a:solidFill>
                      <a:ea typeface="Playfair Display" panose="00000500000000000000" charset="0"/>
                      <a:cs typeface="Playfair Display" panose="00000500000000000000" charset="0"/>
                    </a:rPr>
                    <a:t>1.</a:t>
                  </a:r>
                  <a:r>
                    <a:rPr kumimoji="1" lang="zh-CN" altLang="en-US" sz="1600" b="1"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600" b="1" spc="100" dirty="0">
                      <a:solidFill>
                        <a:schemeClr val="tx1">
                          <a:lumMod val="85000"/>
                          <a:lumOff val="15000"/>
                        </a:schemeClr>
                      </a:solidFill>
                      <a:ea typeface="Playfair Display" panose="00000500000000000000" charset="0"/>
                      <a:cs typeface="Playfair Display" panose="00000500000000000000" charset="0"/>
                    </a:rPr>
                    <a:t>Knowledge is a </a:t>
                  </a:r>
                  <a:r>
                    <a:rPr kumimoji="1" lang="en-US" altLang="en-US" sz="1600" b="1" spc="100" dirty="0">
                      <a:solidFill>
                        <a:srgbClr val="C00000"/>
                      </a:solidFill>
                      <a:ea typeface="Playfair Display" panose="00000500000000000000" charset="0"/>
                      <a:cs typeface="Playfair Display" panose="00000500000000000000" charset="0"/>
                    </a:rPr>
                    <a:t>fundamental human right</a:t>
                  </a:r>
                  <a:r>
                    <a:rPr kumimoji="1" lang="en-US" altLang="en-US" sz="1600" b="1" spc="100" dirty="0">
                      <a:solidFill>
                        <a:schemeClr val="tx1">
                          <a:lumMod val="85000"/>
                          <a:lumOff val="15000"/>
                        </a:schemeClr>
                      </a:solidFill>
                      <a:ea typeface="Playfair Display" panose="00000500000000000000" charset="0"/>
                      <a:cs typeface="Playfair Display" panose="00000500000000000000" charset="0"/>
                    </a:rPr>
                    <a:t>, not a </a:t>
                  </a:r>
                  <a:r>
                    <a:rPr kumimoji="1" lang="en-US" altLang="en-US" sz="1600" b="1" spc="100" dirty="0">
                      <a:solidFill>
                        <a:srgbClr val="C00000"/>
                      </a:solidFill>
                      <a:ea typeface="Playfair Display" panose="00000500000000000000" charset="0"/>
                      <a:cs typeface="Playfair Display" panose="00000500000000000000" charset="0"/>
                    </a:rPr>
                    <a:t>privilege.</a:t>
                  </a:r>
                  <a:endParaRPr kumimoji="1" lang="zh-CN" altLang="en-US" sz="1600" b="1" spc="100" dirty="0">
                    <a:solidFill>
                      <a:srgbClr val="C00000"/>
                    </a:solidFill>
                    <a:ea typeface="Playfair Display" panose="00000500000000000000" charset="0"/>
                    <a:cs typeface="Playfair Display" panose="00000500000000000000" charset="0"/>
                  </a:endParaRPr>
                </a:p>
              </p:txBody>
            </p:sp>
            <p:sp>
              <p:nvSpPr>
                <p:cNvPr id="13" name="文本框 12"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672361" y="2284822"/>
                  <a:ext cx="6035791" cy="584775"/>
                </a:xfrm>
                <a:prstGeom prst="rect">
                  <a:avLst/>
                </a:prstGeom>
                <a:noFill/>
              </p:spPr>
              <p:txBody>
                <a:bodyPr wrap="square" rtlCol="0">
                  <a:spAutoFit/>
                </a:bodyPr>
                <a:lstStyle/>
                <a:p>
                  <a:r>
                    <a:rPr kumimoji="1" lang="en-US" altLang="zh-CN" sz="1600" b="1" spc="100" dirty="0">
                      <a:solidFill>
                        <a:schemeClr val="tx1">
                          <a:lumMod val="85000"/>
                          <a:lumOff val="15000"/>
                        </a:schemeClr>
                      </a:solidFill>
                      <a:ea typeface="Playfair Display" panose="00000500000000000000" charset="0"/>
                      <a:cs typeface="Playfair Display" panose="00000500000000000000" charset="0"/>
                    </a:rPr>
                    <a:t>2.</a:t>
                  </a:r>
                  <a:r>
                    <a:rPr kumimoji="1" lang="zh-CN" altLang="en-US" sz="1600" b="1"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600" b="1" spc="100" dirty="0">
                      <a:solidFill>
                        <a:schemeClr val="tx1">
                          <a:lumMod val="85000"/>
                          <a:lumOff val="15000"/>
                        </a:schemeClr>
                      </a:solidFill>
                      <a:ea typeface="Playfair Display" panose="00000500000000000000" charset="0"/>
                      <a:cs typeface="Playfair Display" panose="00000500000000000000" charset="0"/>
                    </a:rPr>
                    <a:t>Paywalls block access to critical research, </a:t>
                  </a:r>
                  <a:r>
                    <a:rPr kumimoji="1" lang="en-US" altLang="en-US" sz="1600" b="1" spc="100" dirty="0">
                      <a:solidFill>
                        <a:srgbClr val="C00000"/>
                      </a:solidFill>
                      <a:ea typeface="Playfair Display" panose="00000500000000000000" charset="0"/>
                      <a:cs typeface="Playfair Display" panose="00000500000000000000" charset="0"/>
                    </a:rPr>
                    <a:t>slowing progress</a:t>
                  </a:r>
                  <a:r>
                    <a:rPr kumimoji="1" lang="en-US" altLang="en-US" sz="1600" b="1" spc="100" dirty="0">
                      <a:solidFill>
                        <a:schemeClr val="tx1">
                          <a:lumMod val="85000"/>
                          <a:lumOff val="15000"/>
                        </a:schemeClr>
                      </a:solidFill>
                      <a:ea typeface="Playfair Display" panose="00000500000000000000" charset="0"/>
                      <a:cs typeface="Playfair Display" panose="00000500000000000000" charset="0"/>
                    </a:rPr>
                    <a:t> and </a:t>
                  </a:r>
                  <a:r>
                    <a:rPr kumimoji="1" lang="en-US" altLang="en-US" sz="1600" b="1" spc="100" dirty="0">
                      <a:solidFill>
                        <a:srgbClr val="C00000"/>
                      </a:solidFill>
                      <a:ea typeface="Playfair Display" panose="00000500000000000000" charset="0"/>
                      <a:cs typeface="Playfair Display" panose="00000500000000000000" charset="0"/>
                    </a:rPr>
                    <a:t>reinforcing inequality</a:t>
                  </a:r>
                  <a:r>
                    <a:rPr kumimoji="1" lang="en-US" altLang="en-US" sz="1600" b="1" spc="100" dirty="0">
                      <a:solidFill>
                        <a:schemeClr val="tx1">
                          <a:lumMod val="85000"/>
                          <a:lumOff val="15000"/>
                        </a:schemeClr>
                      </a:solidFill>
                      <a:ea typeface="Playfair Display" panose="00000500000000000000" charset="0"/>
                      <a:cs typeface="Playfair Display" panose="00000500000000000000" charset="0"/>
                    </a:rPr>
                    <a:t>.</a:t>
                  </a:r>
                  <a:endParaRPr kumimoji="1" lang="zh-CN" altLang="en-US" sz="1600" b="1" spc="100" dirty="0">
                    <a:solidFill>
                      <a:schemeClr val="tx1">
                        <a:lumMod val="85000"/>
                        <a:lumOff val="15000"/>
                      </a:schemeClr>
                    </a:solidFill>
                    <a:ea typeface="Playfair Display" panose="00000500000000000000" charset="0"/>
                    <a:cs typeface="Playfair Display" panose="00000500000000000000" charset="0"/>
                  </a:endParaRPr>
                </a:p>
              </p:txBody>
            </p:sp>
            <p:sp>
              <p:nvSpPr>
                <p:cNvPr id="14"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p:nvPr/>
              </p:nvSpPr>
              <p:spPr>
                <a:xfrm>
                  <a:off x="880898" y="2960833"/>
                  <a:ext cx="5215101" cy="488916"/>
                </a:xfrm>
                <a:prstGeom prst="rect">
                  <a:avLst/>
                </a:prstGeom>
              </p:spPr>
              <p:txBody>
                <a:bodyPr wrap="square">
                  <a:spAutoFit/>
                </a:bodyPr>
                <a:lstStyle/>
                <a:p>
                  <a:pPr algn="just">
                    <a:lnSpc>
                      <a:spcPct val="110000"/>
                    </a:lnSpc>
                  </a:pPr>
                  <a:r>
                    <a:rPr lang="en-US" sz="1200" dirty="0">
                      <a:solidFill>
                        <a:schemeClr val="tx1">
                          <a:lumMod val="85000"/>
                          <a:lumOff val="15000"/>
                        </a:schemeClr>
                      </a:solidFill>
                      <a:ea typeface="Josefin Sans Light" charset="0"/>
                      <a:cs typeface="Josefin Sans Light" charset="0"/>
                    </a:rPr>
                    <a:t>Academic paywalls create barriers, preventing millions of students, researchers, and independent learners from accessing critical research. </a:t>
                  </a:r>
                  <a:endParaRPr lang="en-US" dirty="0">
                    <a:solidFill>
                      <a:schemeClr val="tx1">
                        <a:lumMod val="85000"/>
                        <a:lumOff val="15000"/>
                      </a:schemeClr>
                    </a:solidFill>
                    <a:ea typeface="Josefin Sans Light" charset="0"/>
                    <a:cs typeface="Josefin Sans Light" charset="0"/>
                  </a:endParaRPr>
                </a:p>
              </p:txBody>
            </p:sp>
          </p:grpSp>
          <p:sp>
            <p:nvSpPr>
              <p:cNvPr id="22" name="文本框 21"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F38C7C3B-90D0-6E1D-02B8-139CC5344D02}"/>
                  </a:ext>
                </a:extLst>
              </p:cNvPr>
              <p:cNvSpPr txBox="1"/>
              <p:nvPr/>
            </p:nvSpPr>
            <p:spPr>
              <a:xfrm>
                <a:off x="672361" y="3540985"/>
                <a:ext cx="6035791" cy="584775"/>
              </a:xfrm>
              <a:prstGeom prst="rect">
                <a:avLst/>
              </a:prstGeom>
              <a:noFill/>
            </p:spPr>
            <p:txBody>
              <a:bodyPr wrap="square" rtlCol="0">
                <a:spAutoFit/>
              </a:bodyPr>
              <a:lstStyle/>
              <a:p>
                <a:r>
                  <a:rPr kumimoji="1" lang="en-US" altLang="zh-CN" sz="1600" b="1" spc="100" dirty="0">
                    <a:solidFill>
                      <a:schemeClr val="tx1">
                        <a:lumMod val="85000"/>
                        <a:lumOff val="15000"/>
                      </a:schemeClr>
                    </a:solidFill>
                    <a:ea typeface="Playfair Display" panose="00000500000000000000" charset="0"/>
                    <a:cs typeface="Playfair Display" panose="00000500000000000000" charset="0"/>
                  </a:rPr>
                  <a:t>3.</a:t>
                </a:r>
                <a:r>
                  <a:rPr kumimoji="1" lang="zh-CN" altLang="en-US" sz="1600" b="1"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600" b="1" spc="100" dirty="0">
                    <a:solidFill>
                      <a:schemeClr val="tx1">
                        <a:lumMod val="85000"/>
                        <a:lumOff val="15000"/>
                      </a:schemeClr>
                    </a:solidFill>
                    <a:ea typeface="Playfair Display" panose="00000500000000000000" charset="0"/>
                    <a:cs typeface="Playfair Display" panose="00000500000000000000" charset="0"/>
                  </a:rPr>
                  <a:t>Aaron Swartz’s activism </a:t>
                </a:r>
                <a:r>
                  <a:rPr kumimoji="1" lang="en-US" altLang="en-US" sz="1600" b="1" spc="100" dirty="0">
                    <a:ea typeface="Playfair Display" panose="00000500000000000000" charset="0"/>
                    <a:cs typeface="Playfair Display" panose="00000500000000000000" charset="0"/>
                  </a:rPr>
                  <a:t>highlights</a:t>
                </a:r>
                <a:r>
                  <a:rPr kumimoji="1" lang="en-US" altLang="en-US" sz="1600" b="1" spc="100" dirty="0">
                    <a:solidFill>
                      <a:schemeClr val="tx1">
                        <a:lumMod val="85000"/>
                        <a:lumOff val="15000"/>
                      </a:schemeClr>
                    </a:solidFill>
                    <a:ea typeface="Playfair Display" panose="00000500000000000000" charset="0"/>
                    <a:cs typeface="Playfair Display" panose="00000500000000000000" charset="0"/>
                  </a:rPr>
                  <a:t> why </a:t>
                </a:r>
                <a:r>
                  <a:rPr kumimoji="1" lang="en-US" altLang="en-US" sz="1600" b="1" spc="100" dirty="0">
                    <a:solidFill>
                      <a:srgbClr val="C00000"/>
                    </a:solidFill>
                    <a:ea typeface="Playfair Display" panose="00000500000000000000" charset="0"/>
                    <a:cs typeface="Playfair Display" panose="00000500000000000000" charset="0"/>
                  </a:rPr>
                  <a:t>free access to academic papers is essential</a:t>
                </a:r>
                <a:r>
                  <a:rPr kumimoji="1" lang="en-US" altLang="en-US" sz="1600" b="1" spc="100" dirty="0">
                    <a:solidFill>
                      <a:schemeClr val="tx1">
                        <a:lumMod val="85000"/>
                        <a:lumOff val="15000"/>
                      </a:schemeClr>
                    </a:solidFill>
                    <a:ea typeface="Playfair Display" panose="00000500000000000000" charset="0"/>
                    <a:cs typeface="Playfair Display" panose="00000500000000000000" charset="0"/>
                  </a:rPr>
                  <a:t> for society.</a:t>
                </a:r>
                <a:endParaRPr kumimoji="1" lang="zh-CN" altLang="en-US" sz="1600" b="1" spc="100" dirty="0">
                  <a:solidFill>
                    <a:schemeClr val="tx1">
                      <a:lumMod val="85000"/>
                      <a:lumOff val="15000"/>
                    </a:schemeClr>
                  </a:solidFill>
                  <a:ea typeface="Playfair Display" panose="00000500000000000000" charset="0"/>
                  <a:cs typeface="Playfair Display" panose="00000500000000000000" charset="0"/>
                </a:endParaRPr>
              </a:p>
            </p:txBody>
          </p:sp>
        </p:grpSp>
        <p:sp>
          <p:nvSpPr>
            <p:cNvPr id="27"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91673131-4456-1D69-F293-EFE8242CF13C}"/>
                </a:ext>
              </a:extLst>
            </p:cNvPr>
            <p:cNvSpPr/>
            <p:nvPr/>
          </p:nvSpPr>
          <p:spPr>
            <a:xfrm>
              <a:off x="880898" y="4197508"/>
              <a:ext cx="5215101" cy="895181"/>
            </a:xfrm>
            <a:prstGeom prst="rect">
              <a:avLst/>
            </a:prstGeom>
          </p:spPr>
          <p:txBody>
            <a:bodyPr wrap="square">
              <a:spAutoFit/>
            </a:bodyPr>
            <a:lstStyle/>
            <a:p>
              <a:pPr algn="just">
                <a:lnSpc>
                  <a:spcPct val="110000"/>
                </a:lnSpc>
              </a:pPr>
              <a:r>
                <a:rPr lang="en-US" sz="1200" dirty="0">
                  <a:solidFill>
                    <a:schemeClr val="tx1">
                      <a:lumMod val="85000"/>
                      <a:lumOff val="15000"/>
                    </a:schemeClr>
                  </a:solidFill>
                  <a:ea typeface="Josefin Sans Light" charset="0"/>
                  <a:cs typeface="Josefin Sans Light" charset="0"/>
                </a:rPr>
                <a:t>He believed that knowledge should be open to all, not locked away for profit. His activism for open access was about creating a fairer, more informed society where everyone has the opportunity to learn and contribute.</a:t>
              </a:r>
              <a:endParaRPr lang="en-US" dirty="0">
                <a:solidFill>
                  <a:schemeClr val="tx1">
                    <a:lumMod val="85000"/>
                    <a:lumOff val="15000"/>
                  </a:schemeClr>
                </a:solidFill>
                <a:ea typeface="Josefin Sans Light" charset="0"/>
                <a:cs typeface="Josefin Sans Light" charset="0"/>
              </a:endParaRPr>
            </a:p>
          </p:txBody>
        </p:sp>
      </p:grpSp>
      <p:pic>
        <p:nvPicPr>
          <p:cNvPr id="29" name="图片 28">
            <a:extLst>
              <a:ext uri="{FF2B5EF4-FFF2-40B4-BE49-F238E27FC236}">
                <a16:creationId xmlns:a16="http://schemas.microsoft.com/office/drawing/2014/main" id="{2BF2E24D-B1E0-8423-AB88-4A6F109CF6A6}"/>
              </a:ext>
            </a:extLst>
          </p:cNvPr>
          <p:cNvPicPr>
            <a:picLocks noChangeAspect="1"/>
          </p:cNvPicPr>
          <p:nvPr/>
        </p:nvPicPr>
        <p:blipFill>
          <a:blip r:embed="rId4">
            <a:extLst>
              <a:ext uri="{28A0092B-C50C-407E-A947-70E740481C1C}">
                <a14:useLocalDpi xmlns:a14="http://schemas.microsoft.com/office/drawing/2010/main" val="0"/>
              </a:ext>
            </a:extLst>
          </a:blip>
          <a:srcRect l="20615" t="19353" r="22510" b="19353"/>
          <a:stretch/>
        </p:blipFill>
        <p:spPr>
          <a:xfrm>
            <a:off x="8232418" y="656972"/>
            <a:ext cx="3363686" cy="24167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p:nvPr/>
        </p:nvSpPr>
        <p:spPr>
          <a:xfrm>
            <a:off x="5671456" y="1733824"/>
            <a:ext cx="6240350" cy="3348609"/>
          </a:xfrm>
          <a:prstGeom prst="rect">
            <a:avLst/>
          </a:prstGeom>
        </p:spPr>
        <p:txBody>
          <a:bodyPr wrap="square">
            <a:spAutoFit/>
          </a:bodyPr>
          <a:lstStyle/>
          <a:p>
            <a:pPr marL="285750" indent="-285750" algn="l">
              <a:lnSpc>
                <a:spcPct val="150000"/>
              </a:lnSpc>
              <a:buFont typeface="Arial" panose="020B0604020202020204" pitchFamily="34" charset="0"/>
              <a:buChar char="•"/>
            </a:pPr>
            <a:r>
              <a:rPr lang="en-CA" altLang="zh-CN" sz="1600" b="0" i="0" u="none" strike="noStrike" dirty="0">
                <a:solidFill>
                  <a:srgbClr val="000000"/>
                </a:solidFill>
                <a:effectLst/>
              </a:rPr>
              <a:t>Information should be a </a:t>
            </a:r>
            <a:r>
              <a:rPr lang="en-CA" altLang="zh-CN" sz="1600" b="0" i="0" u="none" strike="noStrike" dirty="0">
                <a:solidFill>
                  <a:srgbClr val="C00000"/>
                </a:solidFill>
                <a:effectLst/>
              </a:rPr>
              <a:t>public good </a:t>
            </a:r>
            <a:r>
              <a:rPr lang="en-CA" altLang="zh-CN" sz="1600" b="0" i="0" u="none" strike="noStrike" dirty="0">
                <a:solidFill>
                  <a:srgbClr val="000000"/>
                </a:solidFill>
                <a:effectLst/>
              </a:rPr>
              <a:t>(Stiglitz, 1999).</a:t>
            </a:r>
          </a:p>
          <a:p>
            <a:pPr marL="285750" indent="-285750">
              <a:lnSpc>
                <a:spcPct val="150000"/>
              </a:lnSpc>
              <a:buFont typeface="Arial" panose="020B0604020202020204" pitchFamily="34" charset="0"/>
              <a:buChar char="•"/>
            </a:pPr>
            <a:r>
              <a:rPr lang="en-CA" altLang="zh-CN" sz="1600" b="0" i="0" u="none" strike="noStrike" dirty="0">
                <a:solidFill>
                  <a:srgbClr val="000000"/>
                </a:solidFill>
                <a:effectLst/>
              </a:rPr>
              <a:t>Researchers publish </a:t>
            </a:r>
            <a:r>
              <a:rPr lang="en-CA" altLang="zh-CN" sz="1600" b="0" i="0" u="none" strike="noStrike" dirty="0">
                <a:solidFill>
                  <a:srgbClr val="C00000"/>
                </a:solidFill>
                <a:effectLst/>
              </a:rPr>
              <a:t>for impact</a:t>
            </a:r>
            <a:r>
              <a:rPr lang="en-CA" altLang="zh-CN" sz="1600" b="0" i="0" u="none" strike="noStrike" dirty="0">
                <a:solidFill>
                  <a:srgbClr val="000000"/>
                </a:solidFill>
                <a:effectLst/>
              </a:rPr>
              <a:t>, </a:t>
            </a:r>
            <a:r>
              <a:rPr lang="en-CA" altLang="zh-CN" sz="1600" b="0" i="0" u="none" strike="noStrike" dirty="0">
                <a:solidFill>
                  <a:srgbClr val="C00000"/>
                </a:solidFill>
                <a:effectLst/>
              </a:rPr>
              <a:t>not for profit </a:t>
            </a:r>
            <a:r>
              <a:rPr lang="en-CA" altLang="zh-CN" sz="1600" b="0" i="0" u="none" strike="noStrike" dirty="0">
                <a:solidFill>
                  <a:srgbClr val="000000"/>
                </a:solidFill>
                <a:effectLst/>
              </a:rPr>
              <a:t>(Suber, 2012).</a:t>
            </a:r>
          </a:p>
          <a:p>
            <a:pPr marL="285750" indent="-285750">
              <a:lnSpc>
                <a:spcPct val="150000"/>
              </a:lnSpc>
              <a:buFont typeface="Arial" panose="020B0604020202020204" pitchFamily="34" charset="0"/>
              <a:buChar char="•"/>
            </a:pPr>
            <a:r>
              <a:rPr lang="en-CA" altLang="zh-CN" sz="1600" b="0" i="0" u="none" strike="noStrike" dirty="0">
                <a:solidFill>
                  <a:srgbClr val="000000"/>
                </a:solidFill>
                <a:effectLst/>
              </a:rPr>
              <a:t>Paywalls </a:t>
            </a:r>
            <a:r>
              <a:rPr lang="en-CA" altLang="zh-CN" sz="1600" b="0" i="0" u="none" strike="noStrike" dirty="0">
                <a:solidFill>
                  <a:srgbClr val="C00000"/>
                </a:solidFill>
                <a:effectLst/>
              </a:rPr>
              <a:t>limit education</a:t>
            </a:r>
            <a:r>
              <a:rPr lang="en-CA" altLang="zh-CN" sz="1600" b="0" i="0" u="none" strike="noStrike" dirty="0">
                <a:solidFill>
                  <a:srgbClr val="000000"/>
                </a:solidFill>
                <a:effectLst/>
              </a:rPr>
              <a:t>, especially for students and independent researchers (Piketty, 2014).</a:t>
            </a:r>
          </a:p>
          <a:p>
            <a:pPr marL="285750" indent="-285750">
              <a:lnSpc>
                <a:spcPct val="150000"/>
              </a:lnSpc>
              <a:buFont typeface="Arial" panose="020B0604020202020204" pitchFamily="34" charset="0"/>
              <a:buChar char="•"/>
            </a:pPr>
            <a:r>
              <a:rPr lang="en-CA" altLang="zh-CN" sz="1600" b="0" i="0" u="none" strike="noStrike" dirty="0">
                <a:solidFill>
                  <a:srgbClr val="000000"/>
                </a:solidFill>
                <a:effectLst/>
              </a:rPr>
              <a:t>Restricting access </a:t>
            </a:r>
            <a:r>
              <a:rPr lang="en-CA" altLang="zh-CN" sz="1600" b="0" i="0" u="none" strike="noStrike" dirty="0">
                <a:solidFill>
                  <a:srgbClr val="C00000"/>
                </a:solidFill>
                <a:effectLst/>
              </a:rPr>
              <a:t>exacerbates global inequalities</a:t>
            </a:r>
            <a:r>
              <a:rPr lang="en-CA" altLang="zh-CN" sz="1600" b="0" i="0" u="none" strike="noStrike" dirty="0">
                <a:solidFill>
                  <a:srgbClr val="000000"/>
                </a:solidFill>
                <a:effectLst/>
              </a:rPr>
              <a:t>—wealthy institutions can afford access, while others cannot (</a:t>
            </a:r>
            <a:r>
              <a:rPr lang="en-CA" altLang="zh-CN" sz="1600" b="0" i="0" u="none" strike="noStrike" dirty="0" err="1">
                <a:solidFill>
                  <a:srgbClr val="000000"/>
                </a:solidFill>
                <a:effectLst/>
              </a:rPr>
              <a:t>Larivière</a:t>
            </a:r>
            <a:r>
              <a:rPr lang="en-CA" altLang="zh-CN" sz="1600" b="0" i="0" u="none" strike="noStrike" dirty="0">
                <a:solidFill>
                  <a:srgbClr val="000000"/>
                </a:solidFill>
                <a:effectLst/>
              </a:rPr>
              <a:t> et al., 2015).</a:t>
            </a:r>
          </a:p>
          <a:p>
            <a:pPr marL="285750" indent="-285750" algn="l">
              <a:buFont typeface="Arial" panose="020B0604020202020204" pitchFamily="34" charset="0"/>
              <a:buChar char="•"/>
            </a:pPr>
            <a:endParaRPr lang="en-CA" altLang="zh-CN" sz="1600" b="0" i="0" u="none" strike="noStrike" dirty="0">
              <a:solidFill>
                <a:srgbClr val="000000"/>
              </a:solidFill>
              <a:effectLst/>
            </a:endParaRPr>
          </a:p>
          <a:p>
            <a:pPr marL="342900" indent="-342900">
              <a:lnSpc>
                <a:spcPct val="120000"/>
              </a:lnSpc>
              <a:buFont typeface="Arial" panose="020B0604020202020204" pitchFamily="34" charset="0"/>
              <a:buChar char="•"/>
            </a:pPr>
            <a:endParaRPr lang="en-US" sz="2400" dirty="0">
              <a:solidFill>
                <a:schemeClr val="tx1">
                  <a:lumMod val="85000"/>
                  <a:lumOff val="15000"/>
                </a:schemeClr>
              </a:solidFill>
              <a:latin typeface="Josefin Sans Light" charset="0"/>
              <a:ea typeface="Josefin Sans Light" charset="0"/>
              <a:cs typeface="Josefin Sans Light" charset="0"/>
            </a:endParaRPr>
          </a:p>
        </p:txBody>
      </p:sp>
      <p:sp>
        <p:nvSpPr>
          <p:cNvPr id="11" name="文本框 1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6088692" y="579588"/>
            <a:ext cx="5061097" cy="707886"/>
          </a:xfrm>
          <a:prstGeom prst="rect">
            <a:avLst/>
          </a:prstGeom>
          <a:noFill/>
        </p:spPr>
        <p:txBody>
          <a:bodyPr wrap="square" rtlCol="0">
            <a:spAutoFit/>
          </a:bodyPr>
          <a:lstStyle/>
          <a:p>
            <a:r>
              <a:rPr kumimoji="1" lang="en-US" altLang="en-US" sz="2000" b="1" i="1" spc="100" dirty="0">
                <a:solidFill>
                  <a:schemeClr val="tx1">
                    <a:lumMod val="85000"/>
                    <a:lumOff val="15000"/>
                  </a:schemeClr>
                </a:solidFill>
                <a:latin typeface="Josefin Sans" charset="0"/>
                <a:ea typeface="Josefin Sans" charset="0"/>
                <a:cs typeface="Josefin Sans" charset="0"/>
              </a:rPr>
              <a:t>“Knowledge should serve humanity, not corporate interests.”</a:t>
            </a:r>
            <a:endParaRPr kumimoji="1" lang="zh-CN" altLang="en-US" sz="2000" b="1" i="1" spc="100" dirty="0">
              <a:solidFill>
                <a:schemeClr val="tx1">
                  <a:lumMod val="85000"/>
                  <a:lumOff val="15000"/>
                </a:schemeClr>
              </a:solidFill>
              <a:latin typeface="Josefin Sans" charset="0"/>
              <a:ea typeface="Josefin Sans" charset="0"/>
              <a:cs typeface="Josefin Sans" charset="0"/>
            </a:endParaRPr>
          </a:p>
        </p:txBody>
      </p:sp>
      <p:sp>
        <p:nvSpPr>
          <p:cNvPr id="4"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sp>
        <p:nvSpPr>
          <p:cNvPr id="5" name="文本框 4"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664281ED-1011-A2F5-13A4-355045F3CEDC}"/>
              </a:ext>
            </a:extLst>
          </p:cNvPr>
          <p:cNvSpPr txBox="1"/>
          <p:nvPr/>
        </p:nvSpPr>
        <p:spPr>
          <a:xfrm>
            <a:off x="156573" y="271370"/>
            <a:ext cx="4665798" cy="307777"/>
          </a:xfrm>
          <a:prstGeom prst="rect">
            <a:avLst/>
          </a:prstGeom>
          <a:noFill/>
        </p:spPr>
        <p:txBody>
          <a:bodyPr wrap="square" rtlCol="0">
            <a:spAutoFit/>
          </a:bodyPr>
          <a:lstStyle/>
          <a:p>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Part.0</a:t>
            </a:r>
            <a:r>
              <a:rPr kumimoji="1" lang="en-US" altLang="zh-CN" sz="1400" spc="100" dirty="0">
                <a:solidFill>
                  <a:schemeClr val="tx1">
                    <a:lumMod val="85000"/>
                    <a:lumOff val="15000"/>
                  </a:schemeClr>
                </a:solidFill>
                <a:ea typeface="Playfair Display" panose="00000500000000000000" charset="0"/>
                <a:cs typeface="Playfair Display" panose="00000500000000000000" charset="0"/>
              </a:rPr>
              <a:t>2</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zh-CN"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The Ethical Argument for Free Access</a:t>
            </a:r>
            <a:endParaRPr kumimoji="1" lang="zh-CN" altLang="en-US" sz="1400" spc="100" dirty="0">
              <a:solidFill>
                <a:schemeClr val="tx1">
                  <a:lumMod val="85000"/>
                  <a:lumOff val="15000"/>
                </a:schemeClr>
              </a:solidFill>
              <a:ea typeface="Playfair Display" panose="00000500000000000000" charset="0"/>
              <a:cs typeface="Playfair Display" panose="00000500000000000000" charset="0"/>
            </a:endParaRPr>
          </a:p>
        </p:txBody>
      </p:sp>
      <p:grpSp>
        <p:nvGrpSpPr>
          <p:cNvPr id="13" name="组合 12">
            <a:extLst>
              <a:ext uri="{FF2B5EF4-FFF2-40B4-BE49-F238E27FC236}">
                <a16:creationId xmlns:a16="http://schemas.microsoft.com/office/drawing/2014/main" id="{4AAA544A-3BC8-83D2-BB75-936F93073697}"/>
              </a:ext>
            </a:extLst>
          </p:cNvPr>
          <p:cNvGrpSpPr/>
          <p:nvPr/>
        </p:nvGrpSpPr>
        <p:grpSpPr>
          <a:xfrm>
            <a:off x="280194" y="1405687"/>
            <a:ext cx="5826691" cy="4089022"/>
            <a:chOff x="280194" y="1405687"/>
            <a:chExt cx="5826691" cy="4089022"/>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rcRect/>
            <a:stretch/>
          </p:blipFill>
          <p:spPr>
            <a:xfrm>
              <a:off x="280194" y="1405687"/>
              <a:ext cx="5256212" cy="3504141"/>
            </a:xfrm>
            <a:prstGeom prst="rect">
              <a:avLst/>
            </a:prstGeom>
            <a:ln>
              <a:noFill/>
            </a:ln>
            <a:effectLst>
              <a:softEdge rad="112500"/>
            </a:effectLst>
          </p:spPr>
        </p:pic>
        <p:pic>
          <p:nvPicPr>
            <p:cNvPr id="12" name="图片 11" descr="文本&#10;&#10;AI 生成的内容可能不正确。">
              <a:extLst>
                <a:ext uri="{FF2B5EF4-FFF2-40B4-BE49-F238E27FC236}">
                  <a16:creationId xmlns:a16="http://schemas.microsoft.com/office/drawing/2014/main" id="{B10967FD-1D8C-5D1C-9965-FC473566F77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373" b="73018" l="10295" r="88391">
                          <a14:backgroundMark x1="14352" y1="18884" x2="29167" y2="15880"/>
                        </a14:backgroundRemoval>
                      </a14:imgEffect>
                    </a14:imgLayer>
                  </a14:imgProps>
                </a:ext>
                <a:ext uri="{28A0092B-C50C-407E-A947-70E740481C1C}">
                  <a14:useLocalDpi xmlns:a14="http://schemas.microsoft.com/office/drawing/2010/main" val="0"/>
                </a:ext>
              </a:extLst>
            </a:blip>
            <a:srcRect l="534" t="1417" r="1847" b="19026"/>
            <a:stretch/>
          </p:blipFill>
          <p:spPr>
            <a:xfrm rot="20572937">
              <a:off x="3810124" y="3484265"/>
              <a:ext cx="2296761" cy="2010444"/>
            </a:xfrm>
            <a:prstGeom prst="rect">
              <a:avLst/>
            </a:prstGeom>
          </p:spPr>
        </p:pic>
      </p:gr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rcRect l="1" r="21685"/>
          <a:stretch/>
        </p:blipFill>
        <p:spPr>
          <a:xfrm>
            <a:off x="8877300" y="3675907"/>
            <a:ext cx="2449173" cy="2345480"/>
          </a:xfrm>
          <a:prstGeom prst="rect">
            <a:avLst/>
          </a:prstGeom>
        </p:spPr>
      </p:pic>
      <p:pic>
        <p:nvPicPr>
          <p:cNvPr id="19" name="图片 18"/>
          <p:cNvPicPr>
            <a:picLocks noChangeAspect="1"/>
          </p:cNvPicPr>
          <p:nvPr/>
        </p:nvPicPr>
        <p:blipFill>
          <a:blip r:embed="rId4">
            <a:extLst>
              <a:ext uri="{28A0092B-C50C-407E-A947-70E740481C1C}">
                <a14:useLocalDpi xmlns:a14="http://schemas.microsoft.com/office/drawing/2010/main" val="0"/>
              </a:ext>
            </a:extLst>
          </a:blip>
          <a:srcRect/>
          <a:stretch/>
        </p:blipFill>
        <p:spPr>
          <a:xfrm>
            <a:off x="6296744" y="3675907"/>
            <a:ext cx="2125812" cy="2345480"/>
          </a:xfrm>
          <a:prstGeom prst="rect">
            <a:avLst/>
          </a:prstGeom>
        </p:spPr>
      </p:pic>
      <p:pic>
        <p:nvPicPr>
          <p:cNvPr id="17" name="图片 16"/>
          <p:cNvPicPr>
            <a:picLocks noChangeAspect="1"/>
          </p:cNvPicPr>
          <p:nvPr/>
        </p:nvPicPr>
        <p:blipFill>
          <a:blip r:embed="rId5">
            <a:extLst>
              <a:ext uri="{28A0092B-C50C-407E-A947-70E740481C1C}">
                <a14:useLocalDpi xmlns:a14="http://schemas.microsoft.com/office/drawing/2010/main" val="0"/>
              </a:ext>
            </a:extLst>
          </a:blip>
          <a:srcRect t="15687" b="15687"/>
          <a:stretch/>
        </p:blipFill>
        <p:spPr>
          <a:xfrm>
            <a:off x="6082960" y="908427"/>
            <a:ext cx="5243513" cy="2482005"/>
          </a:xfrm>
          <a:prstGeom prst="rect">
            <a:avLst/>
          </a:prstGeom>
        </p:spPr>
      </p:pic>
      <p:sp>
        <p:nvSpPr>
          <p:cNvPr id="14"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p:nvPr/>
        </p:nvSpPr>
        <p:spPr>
          <a:xfrm>
            <a:off x="743609" y="2149429"/>
            <a:ext cx="4775448" cy="2924903"/>
          </a:xfrm>
          <a:prstGeom prst="rect">
            <a:avLst/>
          </a:prstGeom>
        </p:spPr>
        <p:txBody>
          <a:bodyPr wrap="square">
            <a:spAutoFit/>
          </a:bodyPr>
          <a:lstStyle/>
          <a:p>
            <a:pPr marL="171450" indent="-171450">
              <a:lnSpc>
                <a:spcPct val="110000"/>
              </a:lnSpc>
              <a:buFont typeface="Arial" panose="020B0604020202020204" pitchFamily="34" charset="0"/>
              <a:buChar char="•"/>
            </a:pPr>
            <a:r>
              <a:rPr lang="en-US" sz="1400" dirty="0">
                <a:solidFill>
                  <a:schemeClr val="tx1">
                    <a:lumMod val="85000"/>
                    <a:lumOff val="15000"/>
                  </a:schemeClr>
                </a:solidFill>
                <a:ea typeface="Josefin Sans Light" charset="0"/>
                <a:cs typeface="Josefin Sans Light" charset="0"/>
              </a:rPr>
              <a:t>Academic journals make </a:t>
            </a:r>
            <a:r>
              <a:rPr lang="en-US" sz="1400" dirty="0">
                <a:solidFill>
                  <a:srgbClr val="C00000"/>
                </a:solidFill>
                <a:ea typeface="Josefin Sans Light" charset="0"/>
                <a:cs typeface="Josefin Sans Light" charset="0"/>
              </a:rPr>
              <a:t>huge profits </a:t>
            </a:r>
            <a:r>
              <a:rPr lang="en-US" sz="1400" dirty="0">
                <a:solidFill>
                  <a:schemeClr val="tx1">
                    <a:lumMod val="85000"/>
                    <a:lumOff val="15000"/>
                  </a:schemeClr>
                </a:solidFill>
                <a:ea typeface="Josefin Sans Light" charset="0"/>
                <a:cs typeface="Josefin Sans Light" charset="0"/>
              </a:rPr>
              <a:t>by charging high fees for research that is often publicly funded (</a:t>
            </a:r>
            <a:r>
              <a:rPr lang="en-US" sz="1400" dirty="0" err="1">
                <a:solidFill>
                  <a:schemeClr val="tx1">
                    <a:lumMod val="85000"/>
                    <a:lumOff val="15000"/>
                  </a:schemeClr>
                </a:solidFill>
                <a:ea typeface="Josefin Sans Light" charset="0"/>
                <a:cs typeface="Josefin Sans Light" charset="0"/>
              </a:rPr>
              <a:t>Larivière</a:t>
            </a:r>
            <a:r>
              <a:rPr lang="en-US" sz="1400" dirty="0">
                <a:solidFill>
                  <a:schemeClr val="tx1">
                    <a:lumMod val="85000"/>
                    <a:lumOff val="15000"/>
                  </a:schemeClr>
                </a:solidFill>
                <a:ea typeface="Josefin Sans Light" charset="0"/>
                <a:cs typeface="Josefin Sans Light" charset="0"/>
              </a:rPr>
              <a:t> et al., 2015).</a:t>
            </a:r>
          </a:p>
          <a:p>
            <a:pPr marL="171450" indent="-171450">
              <a:lnSpc>
                <a:spcPct val="110000"/>
              </a:lnSpc>
              <a:buFont typeface="Arial" panose="020B0604020202020204" pitchFamily="34" charset="0"/>
              <a:buChar char="•"/>
            </a:pPr>
            <a:endParaRPr lang="en-US" sz="1400" dirty="0">
              <a:solidFill>
                <a:schemeClr val="tx1">
                  <a:lumMod val="85000"/>
                  <a:lumOff val="15000"/>
                </a:schemeClr>
              </a:solidFill>
              <a:ea typeface="Josefin Sans Light" charset="0"/>
              <a:cs typeface="Josefin Sans Light" charset="0"/>
            </a:endParaRPr>
          </a:p>
          <a:p>
            <a:pPr marL="171450" indent="-171450">
              <a:lnSpc>
                <a:spcPct val="110000"/>
              </a:lnSpc>
              <a:buFont typeface="Arial" panose="020B0604020202020204" pitchFamily="34" charset="0"/>
              <a:buChar char="•"/>
            </a:pPr>
            <a:r>
              <a:rPr lang="en-US" sz="1400" b="1" dirty="0">
                <a:solidFill>
                  <a:schemeClr val="tx1">
                    <a:lumMod val="85000"/>
                    <a:lumOff val="15000"/>
                  </a:schemeClr>
                </a:solidFill>
                <a:ea typeface="Josefin Sans Light" charset="0"/>
                <a:cs typeface="Josefin Sans Light" charset="0"/>
              </a:rPr>
              <a:t>Example: </a:t>
            </a:r>
            <a:r>
              <a:rPr lang="en-US" sz="1400" dirty="0">
                <a:solidFill>
                  <a:schemeClr val="tx1">
                    <a:lumMod val="85000"/>
                    <a:lumOff val="15000"/>
                  </a:schemeClr>
                </a:solidFill>
                <a:ea typeface="Josefin Sans Light" charset="0"/>
                <a:cs typeface="Josefin Sans Light" charset="0"/>
              </a:rPr>
              <a:t>Elsevier, one of the largest publishers, has profit margins higher than tech giants (Bergstrom et al., 2014).</a:t>
            </a:r>
          </a:p>
          <a:p>
            <a:pPr marL="171450" indent="-171450">
              <a:lnSpc>
                <a:spcPct val="110000"/>
              </a:lnSpc>
              <a:buFont typeface="Arial" panose="020B0604020202020204" pitchFamily="34" charset="0"/>
              <a:buChar char="•"/>
            </a:pPr>
            <a:endParaRPr lang="en-US" sz="1400" dirty="0">
              <a:solidFill>
                <a:schemeClr val="tx1">
                  <a:lumMod val="85000"/>
                  <a:lumOff val="15000"/>
                </a:schemeClr>
              </a:solidFill>
              <a:ea typeface="Josefin Sans Light" charset="0"/>
              <a:cs typeface="Josefin Sans Light" charset="0"/>
            </a:endParaRPr>
          </a:p>
          <a:p>
            <a:pPr marL="171450" indent="-171450">
              <a:lnSpc>
                <a:spcPct val="110000"/>
              </a:lnSpc>
              <a:buFont typeface="Arial" panose="020B0604020202020204" pitchFamily="34" charset="0"/>
              <a:buChar char="•"/>
            </a:pPr>
            <a:r>
              <a:rPr lang="en-US" sz="1400" dirty="0">
                <a:solidFill>
                  <a:schemeClr val="tx1">
                    <a:lumMod val="85000"/>
                    <a:lumOff val="15000"/>
                  </a:schemeClr>
                </a:solidFill>
                <a:ea typeface="Josefin Sans Light" charset="0"/>
                <a:cs typeface="Josefin Sans Light" charset="0"/>
              </a:rPr>
              <a:t>Authors and peer reviewers are </a:t>
            </a:r>
            <a:r>
              <a:rPr lang="en-US" sz="1400" dirty="0">
                <a:solidFill>
                  <a:srgbClr val="C00000"/>
                </a:solidFill>
                <a:ea typeface="Josefin Sans Light" charset="0"/>
                <a:cs typeface="Josefin Sans Light" charset="0"/>
              </a:rPr>
              <a:t>unpaid</a:t>
            </a:r>
            <a:r>
              <a:rPr lang="en-US" sz="1400" dirty="0">
                <a:solidFill>
                  <a:schemeClr val="tx1">
                    <a:lumMod val="85000"/>
                    <a:lumOff val="15000"/>
                  </a:schemeClr>
                </a:solidFill>
                <a:ea typeface="Josefin Sans Light" charset="0"/>
                <a:cs typeface="Josefin Sans Light" charset="0"/>
              </a:rPr>
              <a:t>, yet journals charge thousands for access.</a:t>
            </a:r>
          </a:p>
          <a:p>
            <a:pPr marL="171450" indent="-171450">
              <a:lnSpc>
                <a:spcPct val="110000"/>
              </a:lnSpc>
              <a:buFont typeface="Arial" panose="020B0604020202020204" pitchFamily="34" charset="0"/>
              <a:buChar char="•"/>
            </a:pPr>
            <a:endParaRPr lang="en-US" sz="1400" dirty="0">
              <a:solidFill>
                <a:schemeClr val="tx1">
                  <a:lumMod val="85000"/>
                  <a:lumOff val="15000"/>
                </a:schemeClr>
              </a:solidFill>
              <a:ea typeface="Josefin Sans Light" charset="0"/>
              <a:cs typeface="Josefin Sans Light" charset="0"/>
            </a:endParaRPr>
          </a:p>
          <a:p>
            <a:pPr marL="171450" indent="-171450">
              <a:lnSpc>
                <a:spcPct val="110000"/>
              </a:lnSpc>
              <a:buFont typeface="Arial" panose="020B0604020202020204" pitchFamily="34" charset="0"/>
              <a:buChar char="•"/>
            </a:pPr>
            <a:r>
              <a:rPr lang="en-US" sz="1400" dirty="0">
                <a:solidFill>
                  <a:schemeClr val="tx1">
                    <a:lumMod val="85000"/>
                    <a:lumOff val="15000"/>
                  </a:schemeClr>
                </a:solidFill>
                <a:ea typeface="Josefin Sans Light" charset="0"/>
                <a:cs typeface="Josefin Sans Light" charset="0"/>
              </a:rPr>
              <a:t>This model benefits </a:t>
            </a:r>
            <a:r>
              <a:rPr lang="en-US" sz="1400" dirty="0">
                <a:solidFill>
                  <a:srgbClr val="C00000"/>
                </a:solidFill>
                <a:ea typeface="Josefin Sans Light" charset="0"/>
                <a:cs typeface="Josefin Sans Light" charset="0"/>
              </a:rPr>
              <a:t>corporations</a:t>
            </a:r>
            <a:r>
              <a:rPr lang="en-US" sz="1400" dirty="0">
                <a:solidFill>
                  <a:schemeClr val="tx1">
                    <a:lumMod val="85000"/>
                    <a:lumOff val="15000"/>
                  </a:schemeClr>
                </a:solidFill>
                <a:ea typeface="Josefin Sans Light" charset="0"/>
                <a:cs typeface="Josefin Sans Light" charset="0"/>
              </a:rPr>
              <a:t>, not </a:t>
            </a:r>
            <a:r>
              <a:rPr lang="en-US" sz="1400" dirty="0">
                <a:solidFill>
                  <a:srgbClr val="C00000"/>
                </a:solidFill>
                <a:ea typeface="Josefin Sans Light" charset="0"/>
                <a:cs typeface="Josefin Sans Light" charset="0"/>
              </a:rPr>
              <a:t>knowledge dissemination.</a:t>
            </a:r>
            <a:endParaRPr lang="en-US" sz="2000" dirty="0">
              <a:solidFill>
                <a:srgbClr val="C00000"/>
              </a:solidFill>
              <a:ea typeface="Josefin Sans Light" charset="0"/>
              <a:cs typeface="Josefin Sans Light" charset="0"/>
            </a:endParaRPr>
          </a:p>
        </p:txBody>
      </p:sp>
      <p:sp>
        <p:nvSpPr>
          <p:cNvPr id="4"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sp>
        <p:nvSpPr>
          <p:cNvPr id="10" name="文本框 9"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EFC0B0DE-6864-7443-2A85-1C857093F74B}"/>
              </a:ext>
            </a:extLst>
          </p:cNvPr>
          <p:cNvSpPr txBox="1"/>
          <p:nvPr/>
        </p:nvSpPr>
        <p:spPr>
          <a:xfrm>
            <a:off x="192710" y="156742"/>
            <a:ext cx="5696461" cy="307777"/>
          </a:xfrm>
          <a:prstGeom prst="rect">
            <a:avLst/>
          </a:prstGeom>
          <a:noFill/>
        </p:spPr>
        <p:txBody>
          <a:bodyPr wrap="square" rtlCol="0">
            <a:spAutoFit/>
          </a:bodyPr>
          <a:lstStyle/>
          <a:p>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Part.0</a:t>
            </a:r>
            <a:r>
              <a:rPr kumimoji="1" lang="en-US" altLang="zh-CN" sz="1400" spc="100" dirty="0">
                <a:solidFill>
                  <a:schemeClr val="tx1">
                    <a:lumMod val="85000"/>
                    <a:lumOff val="15000"/>
                  </a:schemeClr>
                </a:solidFill>
                <a:ea typeface="Playfair Display" panose="00000500000000000000" charset="0"/>
                <a:cs typeface="Playfair Display" panose="00000500000000000000" charset="0"/>
              </a:rPr>
              <a:t>2</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zh-CN"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The Harmful Business Model of Academic Publishing</a:t>
            </a:r>
            <a:endParaRPr kumimoji="1" lang="zh-CN" altLang="en-US" sz="1400" spc="100" dirty="0">
              <a:solidFill>
                <a:schemeClr val="tx1">
                  <a:lumMod val="85000"/>
                  <a:lumOff val="15000"/>
                </a:schemeClr>
              </a:solidFill>
              <a:ea typeface="Playfair Display" panose="00000500000000000000" charset="0"/>
              <a:cs typeface="Playfair Display" panose="00000500000000000000" charset="0"/>
            </a:endParaRPr>
          </a:p>
        </p:txBody>
      </p:sp>
      <p:sp>
        <p:nvSpPr>
          <p:cNvPr id="11" name="文本框 1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D814598F-3AC4-2D22-EDB4-11E93ECBA585}"/>
              </a:ext>
            </a:extLst>
          </p:cNvPr>
          <p:cNvSpPr txBox="1"/>
          <p:nvPr/>
        </p:nvSpPr>
        <p:spPr>
          <a:xfrm>
            <a:off x="743609" y="1185926"/>
            <a:ext cx="5061097" cy="707886"/>
          </a:xfrm>
          <a:prstGeom prst="rect">
            <a:avLst/>
          </a:prstGeom>
          <a:noFill/>
        </p:spPr>
        <p:txBody>
          <a:bodyPr wrap="square" rtlCol="0">
            <a:spAutoFit/>
          </a:bodyPr>
          <a:lstStyle/>
          <a:p>
            <a:r>
              <a:rPr kumimoji="1" lang="en-US" altLang="en-US" sz="2000" b="1" i="1" spc="100" dirty="0">
                <a:solidFill>
                  <a:schemeClr val="tx1">
                    <a:lumMod val="85000"/>
                    <a:lumOff val="15000"/>
                  </a:schemeClr>
                </a:solidFill>
                <a:latin typeface="Josefin Sans" charset="0"/>
                <a:ea typeface="Josefin Sans" charset="0"/>
                <a:cs typeface="Josefin Sans" charset="0"/>
              </a:rPr>
              <a:t>“Academic publishing should serve knowledge, not corporate profits.”</a:t>
            </a:r>
            <a:endParaRPr kumimoji="1" lang="zh-CN" altLang="en-US" sz="2000" b="1" i="1" spc="100" dirty="0">
              <a:solidFill>
                <a:schemeClr val="tx1">
                  <a:lumMod val="85000"/>
                  <a:lumOff val="15000"/>
                </a:schemeClr>
              </a:solidFill>
              <a:latin typeface="Josefin Sans" charset="0"/>
              <a:ea typeface="Josefin Sans" charset="0"/>
              <a:cs typeface="Josefin Sans" charset="0"/>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PicPr>
            <a:picLocks noChangeAspect="1"/>
          </p:cNvPicPr>
          <p:nvPr/>
        </p:nvPicPr>
        <p:blipFill>
          <a:blip r:embed="rId3"/>
          <a:stretch>
            <a:fillRect/>
          </a:stretch>
        </p:blipFill>
        <p:spPr>
          <a:xfrm>
            <a:off x="3880805" y="4638449"/>
            <a:ext cx="4016731" cy="4105992"/>
          </a:xfrm>
          <a:prstGeom prst="rect">
            <a:avLst/>
          </a:prstGeom>
        </p:spPr>
      </p:pic>
      <p:sp>
        <p:nvSpPr>
          <p:cNvPr id="4"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sp>
        <p:nvSpPr>
          <p:cNvPr id="5" name="文本框 4"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074B5A57-48C5-D4A0-7BBA-175E2B71762C}"/>
              </a:ext>
            </a:extLst>
          </p:cNvPr>
          <p:cNvSpPr txBox="1"/>
          <p:nvPr/>
        </p:nvSpPr>
        <p:spPr>
          <a:xfrm>
            <a:off x="192710" y="156742"/>
            <a:ext cx="5696461" cy="307777"/>
          </a:xfrm>
          <a:prstGeom prst="rect">
            <a:avLst/>
          </a:prstGeom>
          <a:noFill/>
        </p:spPr>
        <p:txBody>
          <a:bodyPr wrap="square" rtlCol="0">
            <a:spAutoFit/>
          </a:bodyPr>
          <a:lstStyle/>
          <a:p>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Part.0</a:t>
            </a:r>
            <a:r>
              <a:rPr kumimoji="1" lang="en-US" altLang="zh-CN" sz="1400" spc="100" dirty="0">
                <a:solidFill>
                  <a:schemeClr val="tx1">
                    <a:lumMod val="85000"/>
                    <a:lumOff val="15000"/>
                  </a:schemeClr>
                </a:solidFill>
                <a:ea typeface="Playfair Display" panose="00000500000000000000" charset="0"/>
                <a:cs typeface="Playfair Display" panose="00000500000000000000" charset="0"/>
              </a:rPr>
              <a:t>2</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zh-CN"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The Positive Impact of Open Access</a:t>
            </a:r>
            <a:endParaRPr kumimoji="1" lang="zh-CN" altLang="en-US" sz="1400" spc="100" dirty="0">
              <a:solidFill>
                <a:schemeClr val="tx1">
                  <a:lumMod val="85000"/>
                  <a:lumOff val="15000"/>
                </a:schemeClr>
              </a:solidFill>
              <a:ea typeface="Playfair Display" panose="00000500000000000000" charset="0"/>
              <a:cs typeface="Playfair Display" panose="00000500000000000000" charset="0"/>
            </a:endParaRPr>
          </a:p>
        </p:txBody>
      </p:sp>
      <p:sp>
        <p:nvSpPr>
          <p:cNvPr id="6" name="文本框 5"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854999D7-DDE2-BC0B-656A-735FB5C74444}"/>
              </a:ext>
            </a:extLst>
          </p:cNvPr>
          <p:cNvSpPr txBox="1"/>
          <p:nvPr/>
        </p:nvSpPr>
        <p:spPr>
          <a:xfrm>
            <a:off x="2389730" y="889171"/>
            <a:ext cx="7834334" cy="400110"/>
          </a:xfrm>
          <a:prstGeom prst="rect">
            <a:avLst/>
          </a:prstGeom>
          <a:noFill/>
        </p:spPr>
        <p:txBody>
          <a:bodyPr wrap="square" rtlCol="0">
            <a:spAutoFit/>
          </a:bodyPr>
          <a:lstStyle/>
          <a:p>
            <a:r>
              <a:rPr kumimoji="1" lang="en-US" altLang="en-US" sz="2000" b="1" i="1" spc="100" dirty="0">
                <a:solidFill>
                  <a:schemeClr val="tx1">
                    <a:lumMod val="85000"/>
                    <a:lumOff val="15000"/>
                  </a:schemeClr>
                </a:solidFill>
                <a:latin typeface="Josefin Sans" charset="0"/>
                <a:ea typeface="Josefin Sans" charset="0"/>
                <a:cs typeface="Josefin Sans" charset="0"/>
              </a:rPr>
              <a:t>“When knowledge is freely available, innovation thrives.”</a:t>
            </a:r>
            <a:endParaRPr kumimoji="1" lang="zh-CN" altLang="en-US" sz="2000" b="1" i="1" spc="100" dirty="0">
              <a:solidFill>
                <a:schemeClr val="tx1">
                  <a:lumMod val="85000"/>
                  <a:lumOff val="15000"/>
                </a:schemeClr>
              </a:solidFill>
              <a:latin typeface="Josefin Sans" charset="0"/>
              <a:ea typeface="Josefin Sans" charset="0"/>
              <a:cs typeface="Josefin Sans" charset="0"/>
            </a:endParaRPr>
          </a:p>
        </p:txBody>
      </p:sp>
      <p:sp>
        <p:nvSpPr>
          <p:cNvPr id="18"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E10BF249-853C-6114-5B39-5CC85A0C0348}"/>
              </a:ext>
            </a:extLst>
          </p:cNvPr>
          <p:cNvSpPr/>
          <p:nvPr/>
        </p:nvSpPr>
        <p:spPr>
          <a:xfrm>
            <a:off x="743609" y="2118651"/>
            <a:ext cx="4111420" cy="1255728"/>
          </a:xfrm>
          <a:prstGeom prst="rect">
            <a:avLst/>
          </a:prstGeom>
        </p:spPr>
        <p:txBody>
          <a:bodyPr wrap="square">
            <a:spAutoFit/>
          </a:bodyPr>
          <a:lstStyle/>
          <a:p>
            <a:pPr marL="285750" indent="-285750" algn="l">
              <a:lnSpc>
                <a:spcPct val="150000"/>
              </a:lnSpc>
              <a:buFont typeface="Arial" panose="020B0604020202020204" pitchFamily="34" charset="0"/>
              <a:buChar char="•"/>
            </a:pPr>
            <a:r>
              <a:rPr lang="en-CA" altLang="zh-CN" sz="1600" b="0" i="0" u="none" strike="noStrike" dirty="0">
                <a:solidFill>
                  <a:srgbClr val="000000"/>
                </a:solidFill>
                <a:effectLst/>
              </a:rPr>
              <a:t>Open access increases </a:t>
            </a:r>
            <a:r>
              <a:rPr lang="en-CA" altLang="zh-CN" sz="1600" b="0" i="0" u="none" strike="noStrike" dirty="0">
                <a:solidFill>
                  <a:srgbClr val="C00000"/>
                </a:solidFill>
                <a:effectLst/>
              </a:rPr>
              <a:t>citation rates </a:t>
            </a:r>
            <a:r>
              <a:rPr lang="en-CA" altLang="zh-CN" sz="1600" b="0" i="0" u="none" strike="noStrike" dirty="0">
                <a:solidFill>
                  <a:srgbClr val="000000"/>
                </a:solidFill>
                <a:effectLst/>
              </a:rPr>
              <a:t>and </a:t>
            </a:r>
            <a:r>
              <a:rPr lang="en-CA" altLang="zh-CN" sz="1600" b="0" i="0" u="none" strike="noStrike" dirty="0">
                <a:solidFill>
                  <a:srgbClr val="C00000"/>
                </a:solidFill>
                <a:effectLst/>
              </a:rPr>
              <a:t>research visibility </a:t>
            </a:r>
            <a:r>
              <a:rPr lang="en-CA" altLang="zh-CN" sz="1600" b="0" i="0" u="none" strike="noStrike" dirty="0">
                <a:solidFill>
                  <a:srgbClr val="000000"/>
                </a:solidFill>
                <a:effectLst/>
              </a:rPr>
              <a:t>(Piwowar et al., 2018).</a:t>
            </a:r>
          </a:p>
          <a:p>
            <a:pPr marL="342900" indent="-342900">
              <a:lnSpc>
                <a:spcPct val="120000"/>
              </a:lnSpc>
              <a:buFont typeface="Arial" panose="020B0604020202020204" pitchFamily="34" charset="0"/>
              <a:buChar char="•"/>
            </a:pPr>
            <a:endParaRPr lang="en-US" sz="2400" dirty="0">
              <a:solidFill>
                <a:schemeClr val="tx1">
                  <a:lumMod val="85000"/>
                  <a:lumOff val="15000"/>
                </a:schemeClr>
              </a:solidFill>
              <a:latin typeface="Josefin Sans Light" charset="0"/>
              <a:ea typeface="Josefin Sans Light" charset="0"/>
              <a:cs typeface="Josefin Sans Light" charset="0"/>
            </a:endParaRPr>
          </a:p>
        </p:txBody>
      </p:sp>
      <p:sp>
        <p:nvSpPr>
          <p:cNvPr id="19"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48DF2AAC-2E82-8D82-3C35-67E9ECE79E7D}"/>
              </a:ext>
            </a:extLst>
          </p:cNvPr>
          <p:cNvSpPr/>
          <p:nvPr/>
        </p:nvSpPr>
        <p:spPr>
          <a:xfrm>
            <a:off x="1147498" y="4035364"/>
            <a:ext cx="4111420" cy="798552"/>
          </a:xfrm>
          <a:prstGeom prst="rect">
            <a:avLst/>
          </a:prstGeom>
        </p:spPr>
        <p:txBody>
          <a:bodyPr wrap="square">
            <a:spAutoFit/>
          </a:bodyPr>
          <a:lstStyle/>
          <a:p>
            <a:pPr marL="285750" indent="-285750" algn="l">
              <a:lnSpc>
                <a:spcPct val="150000"/>
              </a:lnSpc>
              <a:buFont typeface="Arial" panose="020B0604020202020204" pitchFamily="34" charset="0"/>
              <a:buChar char="•"/>
            </a:pPr>
            <a:r>
              <a:rPr lang="en-CA" altLang="zh-CN" sz="1600" b="0" i="0" u="none" strike="noStrike" dirty="0">
                <a:solidFill>
                  <a:srgbClr val="C00000"/>
                </a:solidFill>
                <a:effectLst/>
              </a:rPr>
              <a:t>More collaboration </a:t>
            </a:r>
            <a:r>
              <a:rPr lang="en-CA" altLang="zh-CN" sz="1600" b="0" i="0" u="none" strike="noStrike" dirty="0">
                <a:solidFill>
                  <a:srgbClr val="000000"/>
                </a:solidFill>
                <a:effectLst/>
              </a:rPr>
              <a:t>across institutions and countries (</a:t>
            </a:r>
            <a:r>
              <a:rPr lang="en-CA" altLang="zh-CN" sz="1600" b="0" i="0" u="none" strike="noStrike" dirty="0" err="1">
                <a:solidFill>
                  <a:srgbClr val="000000"/>
                </a:solidFill>
                <a:effectLst/>
              </a:rPr>
              <a:t>Harnad</a:t>
            </a:r>
            <a:r>
              <a:rPr lang="en-CA" altLang="zh-CN" sz="1600" b="0" i="0" u="none" strike="noStrike" dirty="0">
                <a:solidFill>
                  <a:srgbClr val="000000"/>
                </a:solidFill>
                <a:effectLst/>
              </a:rPr>
              <a:t>, 2001).</a:t>
            </a:r>
            <a:endParaRPr lang="en-US" sz="2400" dirty="0">
              <a:solidFill>
                <a:schemeClr val="tx1">
                  <a:lumMod val="85000"/>
                  <a:lumOff val="15000"/>
                </a:schemeClr>
              </a:solidFill>
              <a:latin typeface="Josefin Sans Light" charset="0"/>
              <a:ea typeface="Josefin Sans Light" charset="0"/>
              <a:cs typeface="Josefin Sans Light" charset="0"/>
            </a:endParaRPr>
          </a:p>
        </p:txBody>
      </p:sp>
      <p:sp>
        <p:nvSpPr>
          <p:cNvPr id="20"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9C94068D-C5CD-1503-67C6-B38A3459C640}"/>
              </a:ext>
            </a:extLst>
          </p:cNvPr>
          <p:cNvSpPr/>
          <p:nvPr/>
        </p:nvSpPr>
        <p:spPr>
          <a:xfrm>
            <a:off x="7038369" y="2118651"/>
            <a:ext cx="4410022" cy="798552"/>
          </a:xfrm>
          <a:prstGeom prst="rect">
            <a:avLst/>
          </a:prstGeom>
        </p:spPr>
        <p:txBody>
          <a:bodyPr wrap="square">
            <a:spAutoFit/>
          </a:bodyPr>
          <a:lstStyle/>
          <a:p>
            <a:pPr marL="285750" indent="-285750" algn="l">
              <a:lnSpc>
                <a:spcPct val="150000"/>
              </a:lnSpc>
              <a:buFont typeface="Arial" panose="020B0604020202020204" pitchFamily="34" charset="0"/>
              <a:buChar char="•"/>
            </a:pPr>
            <a:r>
              <a:rPr lang="en-CA" altLang="zh-CN" sz="1600" b="0" i="0" u="none" strike="noStrike" dirty="0">
                <a:solidFill>
                  <a:srgbClr val="C00000"/>
                </a:solidFill>
                <a:effectLst/>
              </a:rPr>
              <a:t>Advances innovation </a:t>
            </a:r>
            <a:r>
              <a:rPr lang="en-CA" altLang="zh-CN" sz="1600" b="0" i="0" u="none" strike="noStrike" dirty="0">
                <a:effectLst/>
              </a:rPr>
              <a:t>in medicine, technology, and social sciences (Suber, 2012).</a:t>
            </a:r>
            <a:endParaRPr lang="en-US" sz="2400" dirty="0">
              <a:latin typeface="Josefin Sans Light" charset="0"/>
              <a:ea typeface="Josefin Sans Light" charset="0"/>
              <a:cs typeface="Josefin Sans Light" charset="0"/>
            </a:endParaRPr>
          </a:p>
        </p:txBody>
      </p:sp>
      <p:sp>
        <p:nvSpPr>
          <p:cNvPr id="21"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1923C272-6C77-1645-C97E-E077C30178D0}"/>
              </a:ext>
            </a:extLst>
          </p:cNvPr>
          <p:cNvSpPr/>
          <p:nvPr/>
        </p:nvSpPr>
        <p:spPr>
          <a:xfrm>
            <a:off x="6933084" y="4035364"/>
            <a:ext cx="4111420" cy="1167884"/>
          </a:xfrm>
          <a:prstGeom prst="rect">
            <a:avLst/>
          </a:prstGeom>
        </p:spPr>
        <p:txBody>
          <a:bodyPr wrap="square">
            <a:spAutoFit/>
          </a:bodyPr>
          <a:lstStyle/>
          <a:p>
            <a:pPr marL="285750" indent="-285750" algn="l">
              <a:lnSpc>
                <a:spcPct val="150000"/>
              </a:lnSpc>
              <a:buFont typeface="Arial" panose="020B0604020202020204" pitchFamily="34" charset="0"/>
              <a:buChar char="•"/>
            </a:pPr>
            <a:r>
              <a:rPr lang="en-CA" altLang="zh-CN" sz="1600" b="0" i="0" u="none" strike="noStrike" dirty="0">
                <a:solidFill>
                  <a:srgbClr val="C00000"/>
                </a:solidFill>
                <a:effectLst/>
              </a:rPr>
              <a:t>Developing countries </a:t>
            </a:r>
            <a:r>
              <a:rPr lang="en-CA" altLang="zh-CN" sz="1600" b="0" i="0" u="none" strike="noStrike" dirty="0">
                <a:solidFill>
                  <a:srgbClr val="000000"/>
                </a:solidFill>
                <a:effectLst/>
              </a:rPr>
              <a:t>gain access to knowledge they otherwise couldn’t afford (Chan et al., 2011).</a:t>
            </a:r>
            <a:endParaRPr lang="en-US" sz="2400" dirty="0">
              <a:solidFill>
                <a:schemeClr val="tx1">
                  <a:lumMod val="85000"/>
                  <a:lumOff val="15000"/>
                </a:schemeClr>
              </a:solidFill>
              <a:latin typeface="Josefin Sans Light" charset="0"/>
              <a:ea typeface="Josefin Sans Light" charset="0"/>
              <a:cs typeface="Josefin Sans Light" charset="0"/>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C33D305E-BC81-E6B2-ABCB-51D9DAD53766}"/>
              </a:ext>
            </a:extLst>
          </p:cNvPr>
          <p:cNvGrpSpPr/>
          <p:nvPr/>
        </p:nvGrpSpPr>
        <p:grpSpPr>
          <a:xfrm>
            <a:off x="1505440" y="1785772"/>
            <a:ext cx="9264053" cy="1542474"/>
            <a:chOff x="-1016853" y="2365375"/>
            <a:chExt cx="11784729" cy="2127250"/>
          </a:xfrm>
        </p:grpSpPr>
        <p:pic>
          <p:nvPicPr>
            <p:cNvPr id="10" name="图片 9"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PicPr>
              <a:picLocks noChangeAspect="1"/>
            </p:cNvPicPr>
            <p:nvPr/>
          </p:nvPicPr>
          <p:blipFill>
            <a:blip r:embed="rId3"/>
            <a:stretch>
              <a:fillRect/>
            </a:stretch>
          </p:blipFill>
          <p:spPr>
            <a:xfrm>
              <a:off x="-1016853" y="2365375"/>
              <a:ext cx="2127250" cy="2127250"/>
            </a:xfrm>
            <a:prstGeom prst="rect">
              <a:avLst/>
            </a:prstGeom>
          </p:spPr>
        </p:pic>
        <p:pic>
          <p:nvPicPr>
            <p:cNvPr id="11" name="图片 1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PicPr>
              <a:picLocks noChangeAspect="1"/>
            </p:cNvPicPr>
            <p:nvPr/>
          </p:nvPicPr>
          <p:blipFill>
            <a:blip r:embed="rId4"/>
            <a:stretch>
              <a:fillRect/>
            </a:stretch>
          </p:blipFill>
          <p:spPr>
            <a:xfrm>
              <a:off x="4256087" y="2652712"/>
              <a:ext cx="1552575" cy="1552575"/>
            </a:xfrm>
            <a:prstGeom prst="rect">
              <a:avLst/>
            </a:prstGeom>
          </p:spPr>
        </p:pic>
        <p:pic>
          <p:nvPicPr>
            <p:cNvPr id="12" name="图片 11"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PicPr>
              <a:picLocks noChangeAspect="1"/>
            </p:cNvPicPr>
            <p:nvPr/>
          </p:nvPicPr>
          <p:blipFill>
            <a:blip r:embed="rId5"/>
            <a:stretch>
              <a:fillRect/>
            </a:stretch>
          </p:blipFill>
          <p:spPr>
            <a:xfrm>
              <a:off x="9374153" y="2732138"/>
              <a:ext cx="1393723" cy="1393723"/>
            </a:xfrm>
            <a:prstGeom prst="rect">
              <a:avLst/>
            </a:prstGeom>
          </p:spPr>
        </p:pic>
      </p:grpSp>
      <p:sp>
        <p:nvSpPr>
          <p:cNvPr id="16" name="文本框 15"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522515" y="3702061"/>
            <a:ext cx="3690256" cy="1754326"/>
          </a:xfrm>
          <a:prstGeom prst="rect">
            <a:avLst/>
          </a:prstGeom>
          <a:noFill/>
        </p:spPr>
        <p:txBody>
          <a:bodyPr wrap="square" rtlCol="0">
            <a:spAutoFit/>
          </a:bodyPr>
          <a:lstStyle/>
          <a:p>
            <a:pPr algn="ctr"/>
            <a:r>
              <a:rPr kumimoji="1" lang="en-US" altLang="zh-CN" sz="2000" b="1" dirty="0">
                <a:solidFill>
                  <a:schemeClr val="tx1">
                    <a:lumMod val="75000"/>
                    <a:lumOff val="25000"/>
                  </a:schemeClr>
                </a:solidFill>
                <a:latin typeface="+mj-lt"/>
                <a:ea typeface="Josefin Sans" charset="0"/>
                <a:cs typeface="Josefin Sans" charset="0"/>
              </a:rPr>
              <a:t>“Journals need revenue”</a:t>
            </a:r>
          </a:p>
          <a:p>
            <a:pPr algn="ctr"/>
            <a:endParaRPr kumimoji="1" lang="en-US" altLang="zh-CN" sz="2000" b="1" dirty="0">
              <a:solidFill>
                <a:schemeClr val="tx1">
                  <a:lumMod val="75000"/>
                  <a:lumOff val="25000"/>
                </a:schemeClr>
              </a:solidFill>
              <a:latin typeface="Josefin Sans" charset="0"/>
              <a:ea typeface="Josefin Sans" charset="0"/>
              <a:cs typeface="Josefin Sans" charset="0"/>
            </a:endParaRPr>
          </a:p>
          <a:p>
            <a:pPr algn="ctr"/>
            <a:r>
              <a:rPr kumimoji="1" lang="en-US" altLang="zh-CN" sz="1400" dirty="0">
                <a:solidFill>
                  <a:schemeClr val="tx1">
                    <a:lumMod val="75000"/>
                    <a:lumOff val="25000"/>
                  </a:schemeClr>
                </a:solidFill>
                <a:ea typeface="Josefin Sans" charset="0"/>
                <a:cs typeface="Josefin Sans" charset="0"/>
              </a:rPr>
              <a:t>Alternative models exist, such as institutional funding, government subsidies, and Article Processing Charges (APCs) (Houghton &amp; Sheehan, 2009).</a:t>
            </a:r>
          </a:p>
          <a:p>
            <a:pPr algn="ctr"/>
            <a:endParaRPr kumimoji="1" lang="en-US" altLang="zh-CN" sz="1200" dirty="0">
              <a:solidFill>
                <a:schemeClr val="tx1">
                  <a:lumMod val="75000"/>
                  <a:lumOff val="25000"/>
                </a:schemeClr>
              </a:solidFill>
              <a:latin typeface="Josefin Sans" charset="0"/>
              <a:ea typeface="Josefin Sans" charset="0"/>
              <a:cs typeface="Josefin Sans" charset="0"/>
            </a:endParaRPr>
          </a:p>
        </p:txBody>
      </p:sp>
      <p:sp>
        <p:nvSpPr>
          <p:cNvPr id="17" name="文本框 16"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4865913" y="3702061"/>
            <a:ext cx="2852057" cy="1569660"/>
          </a:xfrm>
          <a:prstGeom prst="rect">
            <a:avLst/>
          </a:prstGeom>
          <a:noFill/>
        </p:spPr>
        <p:txBody>
          <a:bodyPr wrap="square" rtlCol="0">
            <a:spAutoFit/>
          </a:bodyPr>
          <a:lstStyle/>
          <a:p>
            <a:pPr algn="ctr"/>
            <a:r>
              <a:rPr kumimoji="1" lang="en-US" altLang="zh-CN" sz="2000" b="1" dirty="0">
                <a:solidFill>
                  <a:schemeClr val="tx1">
                    <a:lumMod val="75000"/>
                    <a:lumOff val="25000"/>
                  </a:schemeClr>
                </a:solidFill>
                <a:latin typeface="+mj-lt"/>
                <a:ea typeface="Josefin Sans" charset="0"/>
                <a:cs typeface="Josefin Sans" charset="0"/>
              </a:rPr>
              <a:t>“This is piracy”</a:t>
            </a:r>
          </a:p>
          <a:p>
            <a:pPr algn="ctr"/>
            <a:endParaRPr kumimoji="1" lang="en-US" altLang="zh-CN" sz="2000" b="1" dirty="0">
              <a:solidFill>
                <a:schemeClr val="tx1">
                  <a:lumMod val="75000"/>
                  <a:lumOff val="25000"/>
                </a:schemeClr>
              </a:solidFill>
              <a:latin typeface="Josefin Sans" charset="0"/>
              <a:ea typeface="Josefin Sans" charset="0"/>
              <a:cs typeface="Josefin Sans" charset="0"/>
            </a:endParaRPr>
          </a:p>
          <a:p>
            <a:pPr algn="ctr"/>
            <a:r>
              <a:rPr kumimoji="1" lang="en-US" altLang="zh-CN" sz="1400" dirty="0">
                <a:solidFill>
                  <a:schemeClr val="tx1">
                    <a:lumMod val="75000"/>
                    <a:lumOff val="25000"/>
                  </a:schemeClr>
                </a:solidFill>
                <a:ea typeface="Josefin Sans" charset="0"/>
                <a:cs typeface="Josefin Sans" charset="0"/>
              </a:rPr>
              <a:t>The moral duty to share knowledge outweighs restrictive business models (Björk et al., 2014).</a:t>
            </a:r>
            <a:endParaRPr kumimoji="1" lang="zh-CN" altLang="en-US" sz="1400" dirty="0">
              <a:solidFill>
                <a:schemeClr val="tx1">
                  <a:lumMod val="75000"/>
                  <a:lumOff val="25000"/>
                </a:schemeClr>
              </a:solidFill>
              <a:ea typeface="Josefin Sans" charset="0"/>
              <a:cs typeface="Josefin Sans" charset="0"/>
            </a:endParaRPr>
          </a:p>
        </p:txBody>
      </p:sp>
      <p:sp>
        <p:nvSpPr>
          <p:cNvPr id="19" name="文本框 18"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8773887" y="3702061"/>
            <a:ext cx="2895598" cy="1569660"/>
          </a:xfrm>
          <a:prstGeom prst="rect">
            <a:avLst/>
          </a:prstGeom>
          <a:noFill/>
        </p:spPr>
        <p:txBody>
          <a:bodyPr wrap="square" rtlCol="0">
            <a:spAutoFit/>
          </a:bodyPr>
          <a:lstStyle/>
          <a:p>
            <a:pPr algn="ctr"/>
            <a:r>
              <a:rPr kumimoji="1" lang="en-US" altLang="zh-CN" sz="2000" b="1" dirty="0">
                <a:solidFill>
                  <a:schemeClr val="tx1">
                    <a:lumMod val="75000"/>
                    <a:lumOff val="25000"/>
                  </a:schemeClr>
                </a:solidFill>
                <a:latin typeface="+mj-lt"/>
                <a:ea typeface="Josefin Sans" charset="0"/>
                <a:cs typeface="Josefin Sans" charset="0"/>
              </a:rPr>
              <a:t>“Authors lose”</a:t>
            </a:r>
          </a:p>
          <a:p>
            <a:pPr algn="ctr"/>
            <a:endParaRPr kumimoji="1" lang="en-US" altLang="zh-CN" sz="2000" b="1" dirty="0">
              <a:solidFill>
                <a:schemeClr val="tx1">
                  <a:lumMod val="75000"/>
                  <a:lumOff val="25000"/>
                </a:schemeClr>
              </a:solidFill>
              <a:latin typeface="Josefin Sans" charset="0"/>
              <a:ea typeface="Josefin Sans" charset="0"/>
              <a:cs typeface="Josefin Sans" charset="0"/>
            </a:endParaRPr>
          </a:p>
          <a:p>
            <a:pPr algn="ctr"/>
            <a:r>
              <a:rPr kumimoji="1" lang="en-US" altLang="zh-CN" sz="1400" dirty="0">
                <a:solidFill>
                  <a:schemeClr val="tx1">
                    <a:lumMod val="75000"/>
                    <a:lumOff val="25000"/>
                  </a:schemeClr>
                </a:solidFill>
                <a:ea typeface="Josefin Sans" charset="0"/>
                <a:cs typeface="Josefin Sans" charset="0"/>
              </a:rPr>
              <a:t>Most researchers don’t profit from journals but benefit from a wider readership and greater impact (Piwowar et al., 2018).</a:t>
            </a:r>
            <a:endParaRPr kumimoji="1" lang="zh-CN" altLang="en-US" sz="1400" dirty="0">
              <a:solidFill>
                <a:schemeClr val="tx1">
                  <a:lumMod val="75000"/>
                  <a:lumOff val="25000"/>
                </a:schemeClr>
              </a:solidFill>
              <a:ea typeface="Josefin Sans" charset="0"/>
              <a:cs typeface="Josefin Sans" charset="0"/>
            </a:endParaRPr>
          </a:p>
        </p:txBody>
      </p:sp>
      <p:sp>
        <p:nvSpPr>
          <p:cNvPr id="4"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sp>
        <p:nvSpPr>
          <p:cNvPr id="5" name="文本框 4"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F3CDCE45-332C-D375-F588-5699F2DDC766}"/>
              </a:ext>
            </a:extLst>
          </p:cNvPr>
          <p:cNvSpPr txBox="1"/>
          <p:nvPr/>
        </p:nvSpPr>
        <p:spPr>
          <a:xfrm>
            <a:off x="192710" y="156742"/>
            <a:ext cx="5696461" cy="307777"/>
          </a:xfrm>
          <a:prstGeom prst="rect">
            <a:avLst/>
          </a:prstGeom>
          <a:noFill/>
        </p:spPr>
        <p:txBody>
          <a:bodyPr wrap="square" rtlCol="0">
            <a:spAutoFit/>
          </a:bodyPr>
          <a:lstStyle/>
          <a:p>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Part.0</a:t>
            </a:r>
            <a:r>
              <a:rPr kumimoji="1" lang="en-US" altLang="zh-CN" sz="1400" spc="100" dirty="0">
                <a:solidFill>
                  <a:schemeClr val="tx1">
                    <a:lumMod val="85000"/>
                    <a:lumOff val="15000"/>
                  </a:schemeClr>
                </a:solidFill>
                <a:ea typeface="Playfair Display" panose="00000500000000000000" charset="0"/>
                <a:cs typeface="Playfair Display" panose="00000500000000000000" charset="0"/>
              </a:rPr>
              <a:t>2</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zh-CN"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Counterarguments and Rebuttals</a:t>
            </a:r>
            <a:endParaRPr kumimoji="1" lang="zh-CN" altLang="en-US" sz="1400" spc="100" dirty="0">
              <a:solidFill>
                <a:schemeClr val="tx1">
                  <a:lumMod val="85000"/>
                  <a:lumOff val="15000"/>
                </a:schemeClr>
              </a:solidFill>
              <a:ea typeface="Playfair Display" panose="00000500000000000000" charset="0"/>
              <a:cs typeface="Playfair Display" panose="00000500000000000000" charset="0"/>
            </a:endParaRPr>
          </a:p>
        </p:txBody>
      </p:sp>
      <p:sp>
        <p:nvSpPr>
          <p:cNvPr id="6" name="文本框 5"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3EEB88DB-99E7-6F73-078E-14370C8B46F2}"/>
              </a:ext>
            </a:extLst>
          </p:cNvPr>
          <p:cNvSpPr txBox="1"/>
          <p:nvPr/>
        </p:nvSpPr>
        <p:spPr>
          <a:xfrm>
            <a:off x="2235038" y="634215"/>
            <a:ext cx="7834334" cy="707886"/>
          </a:xfrm>
          <a:prstGeom prst="rect">
            <a:avLst/>
          </a:prstGeom>
          <a:noFill/>
        </p:spPr>
        <p:txBody>
          <a:bodyPr wrap="square" rtlCol="0">
            <a:spAutoFit/>
          </a:bodyPr>
          <a:lstStyle/>
          <a:p>
            <a:r>
              <a:rPr kumimoji="1" lang="en-US" altLang="en-US" sz="2000" b="1" i="1" spc="100" dirty="0">
                <a:solidFill>
                  <a:schemeClr val="tx1">
                    <a:lumMod val="85000"/>
                    <a:lumOff val="15000"/>
                  </a:schemeClr>
                </a:solidFill>
                <a:latin typeface="Josefin Sans" charset="0"/>
                <a:ea typeface="Josefin Sans" charset="0"/>
                <a:cs typeface="Josefin Sans" charset="0"/>
              </a:rPr>
              <a:t>“Some argue that paywalls are necessary</a:t>
            </a:r>
          </a:p>
          <a:p>
            <a:r>
              <a:rPr kumimoji="1" lang="en-US" altLang="zh-CN" sz="2000" b="1" i="1" spc="100" dirty="0">
                <a:solidFill>
                  <a:schemeClr val="tx1">
                    <a:lumMod val="85000"/>
                    <a:lumOff val="15000"/>
                  </a:schemeClr>
                </a:solidFill>
                <a:latin typeface="Josefin Sans" charset="0"/>
                <a:ea typeface="Josefin Sans" charset="0"/>
                <a:cs typeface="Josefin Sans" charset="0"/>
              </a:rPr>
              <a:t>		------</a:t>
            </a:r>
            <a:r>
              <a:rPr kumimoji="1" lang="zh-CN" altLang="en-US" sz="2000" b="1" i="1" spc="100" dirty="0">
                <a:solidFill>
                  <a:schemeClr val="tx1">
                    <a:lumMod val="85000"/>
                    <a:lumOff val="15000"/>
                  </a:schemeClr>
                </a:solidFill>
                <a:latin typeface="Josefin Sans" charset="0"/>
                <a:ea typeface="Josefin Sans" charset="0"/>
                <a:cs typeface="Josefin Sans" charset="0"/>
              </a:rPr>
              <a:t> </a:t>
            </a:r>
            <a:r>
              <a:rPr kumimoji="1" lang="en-US" altLang="en-US" sz="2000" b="1" i="1" spc="100" dirty="0">
                <a:solidFill>
                  <a:schemeClr val="tx1">
                    <a:lumMod val="85000"/>
                    <a:lumOff val="15000"/>
                  </a:schemeClr>
                </a:solidFill>
                <a:latin typeface="Josefin Sans" charset="0"/>
                <a:ea typeface="Josefin Sans" charset="0"/>
                <a:cs typeface="Josefin Sans" charset="0"/>
              </a:rPr>
              <a:t>but do they really benefit research?”</a:t>
            </a:r>
            <a:endParaRPr kumimoji="1" lang="zh-CN" altLang="en-US" sz="2000" b="1" i="1" spc="100" dirty="0">
              <a:solidFill>
                <a:schemeClr val="tx1">
                  <a:lumMod val="85000"/>
                  <a:lumOff val="15000"/>
                </a:schemeClr>
              </a:solidFill>
              <a:latin typeface="Josefin Sans" charset="0"/>
              <a:ea typeface="Josefin Sans" charset="0"/>
              <a:cs typeface="Josefin Sans" charset="0"/>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sp>
        <p:nvSpPr>
          <p:cNvPr id="5" name="TextBox 4"/>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文本框 5"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ADBC6E72-814A-E3A8-A846-D44E881F3655}"/>
              </a:ext>
            </a:extLst>
          </p:cNvPr>
          <p:cNvSpPr txBox="1"/>
          <p:nvPr/>
        </p:nvSpPr>
        <p:spPr>
          <a:xfrm>
            <a:off x="192710" y="156742"/>
            <a:ext cx="6959204" cy="307777"/>
          </a:xfrm>
          <a:prstGeom prst="rect">
            <a:avLst/>
          </a:prstGeom>
          <a:noFill/>
        </p:spPr>
        <p:txBody>
          <a:bodyPr wrap="square" rtlCol="0">
            <a:spAutoFit/>
          </a:bodyPr>
          <a:lstStyle/>
          <a:p>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Part.0</a:t>
            </a:r>
            <a:r>
              <a:rPr kumimoji="1" lang="en-US" altLang="zh-CN" sz="1400" spc="100" dirty="0">
                <a:solidFill>
                  <a:schemeClr val="tx1">
                    <a:lumMod val="85000"/>
                    <a:lumOff val="15000"/>
                  </a:schemeClr>
                </a:solidFill>
                <a:ea typeface="Playfair Display" panose="00000500000000000000" charset="0"/>
                <a:cs typeface="Playfair Display" panose="00000500000000000000" charset="0"/>
              </a:rPr>
              <a:t>2</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zh-CN"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Legal and Policy Changes Inspired by Open Access Movements</a:t>
            </a:r>
            <a:endParaRPr kumimoji="1" lang="zh-CN" altLang="en-US" sz="1400" spc="100" dirty="0">
              <a:solidFill>
                <a:schemeClr val="tx1">
                  <a:lumMod val="85000"/>
                  <a:lumOff val="15000"/>
                </a:schemeClr>
              </a:solidFill>
              <a:ea typeface="Playfair Display" panose="00000500000000000000" charset="0"/>
              <a:cs typeface="Playfair Display" panose="00000500000000000000" charset="0"/>
            </a:endParaRPr>
          </a:p>
        </p:txBody>
      </p:sp>
      <p:sp>
        <p:nvSpPr>
          <p:cNvPr id="13" name="文本框 12"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220305E5-B5D1-F36E-404E-957D9327F76B}"/>
              </a:ext>
            </a:extLst>
          </p:cNvPr>
          <p:cNvSpPr txBox="1"/>
          <p:nvPr/>
        </p:nvSpPr>
        <p:spPr>
          <a:xfrm>
            <a:off x="2006438" y="764322"/>
            <a:ext cx="7191991" cy="707886"/>
          </a:xfrm>
          <a:prstGeom prst="rect">
            <a:avLst/>
          </a:prstGeom>
          <a:noFill/>
        </p:spPr>
        <p:txBody>
          <a:bodyPr wrap="square" rtlCol="0">
            <a:spAutoFit/>
          </a:bodyPr>
          <a:lstStyle/>
          <a:p>
            <a:r>
              <a:rPr kumimoji="1" lang="en-US" altLang="en-US" sz="2000" b="1" i="1" spc="100" dirty="0">
                <a:solidFill>
                  <a:schemeClr val="tx1">
                    <a:lumMod val="85000"/>
                    <a:lumOff val="15000"/>
                  </a:schemeClr>
                </a:solidFill>
                <a:latin typeface="Josefin Sans" charset="0"/>
                <a:ea typeface="Josefin Sans" charset="0"/>
                <a:cs typeface="Josefin Sans" charset="0"/>
              </a:rPr>
              <a:t>“The fight for open access is not just an idea</a:t>
            </a:r>
          </a:p>
          <a:p>
            <a:r>
              <a:rPr kumimoji="1" lang="en-US" altLang="zh-CN" sz="2000" b="1" i="1" spc="100" dirty="0">
                <a:solidFill>
                  <a:schemeClr val="tx1">
                    <a:lumMod val="85000"/>
                    <a:lumOff val="15000"/>
                  </a:schemeClr>
                </a:solidFill>
                <a:latin typeface="Josefin Sans" charset="0"/>
                <a:ea typeface="Josefin Sans" charset="0"/>
                <a:cs typeface="Josefin Sans" charset="0"/>
              </a:rPr>
              <a:t>			------</a:t>
            </a:r>
            <a:r>
              <a:rPr kumimoji="1" lang="en-US" altLang="en-US" sz="2000" b="1" i="1" spc="100" dirty="0">
                <a:solidFill>
                  <a:schemeClr val="tx1">
                    <a:lumMod val="85000"/>
                    <a:lumOff val="15000"/>
                  </a:schemeClr>
                </a:solidFill>
                <a:latin typeface="Josefin Sans" charset="0"/>
                <a:ea typeface="Josefin Sans" charset="0"/>
                <a:cs typeface="Josefin Sans" charset="0"/>
              </a:rPr>
              <a:t>it’s shaping global policies.”</a:t>
            </a:r>
            <a:endParaRPr kumimoji="1" lang="zh-CN" altLang="en-US" sz="2000" b="1" i="1" spc="100" dirty="0">
              <a:solidFill>
                <a:schemeClr val="tx1">
                  <a:lumMod val="85000"/>
                  <a:lumOff val="15000"/>
                </a:schemeClr>
              </a:solidFill>
              <a:latin typeface="Josefin Sans" charset="0"/>
              <a:ea typeface="Josefin Sans" charset="0"/>
              <a:cs typeface="Josefin Sans" charset="0"/>
            </a:endParaRPr>
          </a:p>
        </p:txBody>
      </p:sp>
      <p:pic>
        <p:nvPicPr>
          <p:cNvPr id="15" name="图片 14" descr="图示&#10;&#10;AI 生成的内容可能不正确。">
            <a:extLst>
              <a:ext uri="{FF2B5EF4-FFF2-40B4-BE49-F238E27FC236}">
                <a16:creationId xmlns:a16="http://schemas.microsoft.com/office/drawing/2014/main" id="{3A0BA747-EBB9-144A-0174-2A625EC1E7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074" y="2133599"/>
            <a:ext cx="2991758" cy="2111829"/>
          </a:xfrm>
          <a:prstGeom prst="rect">
            <a:avLst/>
          </a:prstGeom>
          <a:ln>
            <a:noFill/>
          </a:ln>
          <a:effectLst>
            <a:softEdge rad="112500"/>
          </a:effectLst>
        </p:spPr>
      </p:pic>
      <p:pic>
        <p:nvPicPr>
          <p:cNvPr id="17" name="图片 16" descr="徽标&#10;&#10;AI 生成的内容可能不正确。">
            <a:extLst>
              <a:ext uri="{FF2B5EF4-FFF2-40B4-BE49-F238E27FC236}">
                <a16:creationId xmlns:a16="http://schemas.microsoft.com/office/drawing/2014/main" id="{84A77F29-A03A-6170-3D76-1626464D48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9715" y="3865983"/>
            <a:ext cx="2405742" cy="240574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9" name="图片 18" descr="雪地上有标志&#10;&#10;AI 生成的内容可能不正确。">
            <a:extLst>
              <a:ext uri="{FF2B5EF4-FFF2-40B4-BE49-F238E27FC236}">
                <a16:creationId xmlns:a16="http://schemas.microsoft.com/office/drawing/2014/main" id="{C6B9C5F8-3DA1-06CC-2FAE-715A16E7CE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30887" y="2133599"/>
            <a:ext cx="4305950" cy="1865912"/>
          </a:xfrm>
          <a:prstGeom prst="rect">
            <a:avLst/>
          </a:prstGeom>
          <a:ln>
            <a:noFill/>
          </a:ln>
          <a:effectLst>
            <a:softEdge rad="112500"/>
          </a:effectLst>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730F9510-856F-75E7-AFA1-921CF3694316}"/>
              </a:ext>
            </a:extLst>
          </p:cNvPr>
          <p:cNvSpPr txBox="1"/>
          <p:nvPr/>
        </p:nvSpPr>
        <p:spPr>
          <a:xfrm>
            <a:off x="192710" y="156742"/>
            <a:ext cx="6959204" cy="307777"/>
          </a:xfrm>
          <a:prstGeom prst="rect">
            <a:avLst/>
          </a:prstGeom>
          <a:noFill/>
        </p:spPr>
        <p:txBody>
          <a:bodyPr wrap="square" rtlCol="0">
            <a:spAutoFit/>
          </a:bodyPr>
          <a:lstStyle/>
          <a:p>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Part.0</a:t>
            </a:r>
            <a:r>
              <a:rPr kumimoji="1" lang="en-US" altLang="zh-CN" sz="1400" spc="100" dirty="0">
                <a:solidFill>
                  <a:schemeClr val="tx1">
                    <a:lumMod val="85000"/>
                    <a:lumOff val="15000"/>
                  </a:schemeClr>
                </a:solidFill>
                <a:ea typeface="Playfair Display" panose="00000500000000000000" charset="0"/>
                <a:cs typeface="Playfair Display" panose="00000500000000000000" charset="0"/>
              </a:rPr>
              <a:t>2</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zh-CN"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What can People do to Support </a:t>
            </a:r>
            <a:endParaRPr kumimoji="1" lang="zh-CN" altLang="en-US" sz="1400" spc="100" dirty="0">
              <a:solidFill>
                <a:schemeClr val="tx1">
                  <a:lumMod val="85000"/>
                  <a:lumOff val="15000"/>
                </a:schemeClr>
              </a:solidFill>
              <a:ea typeface="Playfair Display" panose="00000500000000000000" charset="0"/>
              <a:cs typeface="Playfair Display" panose="00000500000000000000" charset="0"/>
            </a:endParaRPr>
          </a:p>
        </p:txBody>
      </p:sp>
      <p:sp>
        <p:nvSpPr>
          <p:cNvPr id="5" name="文本框 4"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DC967E3C-F977-F830-470F-BC9E65641312}"/>
              </a:ext>
            </a:extLst>
          </p:cNvPr>
          <p:cNvSpPr txBox="1"/>
          <p:nvPr/>
        </p:nvSpPr>
        <p:spPr>
          <a:xfrm>
            <a:off x="1003219" y="1091530"/>
            <a:ext cx="10185562" cy="400110"/>
          </a:xfrm>
          <a:prstGeom prst="rect">
            <a:avLst/>
          </a:prstGeom>
          <a:noFill/>
        </p:spPr>
        <p:txBody>
          <a:bodyPr wrap="square" rtlCol="0">
            <a:spAutoFit/>
          </a:bodyPr>
          <a:lstStyle/>
          <a:p>
            <a:r>
              <a:rPr kumimoji="1" lang="en-US" altLang="en-US" sz="2000" b="1" i="1" spc="100" dirty="0">
                <a:solidFill>
                  <a:schemeClr val="tx1">
                    <a:lumMod val="85000"/>
                    <a:lumOff val="15000"/>
                  </a:schemeClr>
                </a:solidFill>
                <a:latin typeface="Josefin Sans" charset="0"/>
                <a:ea typeface="Josefin Sans" charset="0"/>
                <a:cs typeface="Josefin Sans" charset="0"/>
              </a:rPr>
              <a:t>“The fight for open access is not just about awareness—it’s about action.”</a:t>
            </a:r>
            <a:endParaRPr kumimoji="1" lang="zh-CN" altLang="en-US" sz="2000" b="1" i="1" spc="100" dirty="0">
              <a:solidFill>
                <a:schemeClr val="tx1">
                  <a:lumMod val="85000"/>
                  <a:lumOff val="15000"/>
                </a:schemeClr>
              </a:solidFill>
              <a:latin typeface="Josefin Sans" charset="0"/>
              <a:ea typeface="Josefin Sans" charset="0"/>
              <a:cs typeface="Josefin Sans" charset="0"/>
            </a:endParaRPr>
          </a:p>
        </p:txBody>
      </p:sp>
      <p:pic>
        <p:nvPicPr>
          <p:cNvPr id="6" name="图片 5"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1D249296-3827-1683-6B08-856D4B644BEC}"/>
              </a:ext>
            </a:extLst>
          </p:cNvPr>
          <p:cNvPicPr>
            <a:picLocks noChangeAspect="1"/>
          </p:cNvPicPr>
          <p:nvPr/>
        </p:nvPicPr>
        <p:blipFill>
          <a:blip r:embed="rId3"/>
          <a:stretch>
            <a:fillRect/>
          </a:stretch>
        </p:blipFill>
        <p:spPr>
          <a:xfrm>
            <a:off x="4797425" y="3023054"/>
            <a:ext cx="2597150" cy="2597150"/>
          </a:xfrm>
          <a:prstGeom prst="rect">
            <a:avLst/>
          </a:prstGeom>
        </p:spPr>
      </p:pic>
      <p:sp>
        <p:nvSpPr>
          <p:cNvPr id="7"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BBCD197D-F63A-BF3F-A814-62B7C781B520}"/>
              </a:ext>
            </a:extLst>
          </p:cNvPr>
          <p:cNvSpPr/>
          <p:nvPr/>
        </p:nvSpPr>
        <p:spPr>
          <a:xfrm>
            <a:off x="743609" y="2118651"/>
            <a:ext cx="4416220" cy="1167884"/>
          </a:xfrm>
          <a:prstGeom prst="rect">
            <a:avLst/>
          </a:prstGeom>
        </p:spPr>
        <p:txBody>
          <a:bodyPr wrap="square">
            <a:spAutoFit/>
          </a:bodyPr>
          <a:lstStyle/>
          <a:p>
            <a:pPr marL="285750" indent="-285750" algn="l">
              <a:lnSpc>
                <a:spcPct val="150000"/>
              </a:lnSpc>
              <a:buFont typeface="Arial" panose="020B0604020202020204" pitchFamily="34" charset="0"/>
              <a:buChar char="•"/>
            </a:pPr>
            <a:r>
              <a:rPr lang="en-CA" altLang="zh-CN" sz="1600" b="0" i="0" u="none" strike="noStrike" dirty="0">
                <a:solidFill>
                  <a:srgbClr val="C00000"/>
                </a:solidFill>
                <a:effectLst/>
              </a:rPr>
              <a:t>Support open-access initiatives </a:t>
            </a:r>
            <a:r>
              <a:rPr lang="en-CA" altLang="zh-CN" sz="1600" b="0" i="0" u="none" strike="noStrike" dirty="0">
                <a:solidFill>
                  <a:srgbClr val="000000"/>
                </a:solidFill>
                <a:effectLst/>
              </a:rPr>
              <a:t>and </a:t>
            </a:r>
            <a:r>
              <a:rPr lang="en-CA" altLang="zh-CN" sz="1600" b="0" i="0" u="none" strike="noStrike" dirty="0">
                <a:solidFill>
                  <a:srgbClr val="C00000"/>
                </a:solidFill>
                <a:effectLst/>
              </a:rPr>
              <a:t>advocate</a:t>
            </a:r>
            <a:r>
              <a:rPr lang="en-CA" altLang="zh-CN" sz="1600" b="0" i="0" u="none" strike="noStrike" dirty="0">
                <a:solidFill>
                  <a:srgbClr val="000000"/>
                </a:solidFill>
                <a:effectLst/>
              </a:rPr>
              <a:t> for policy changes (Suber, 2012; Piwowar et al., 2018).</a:t>
            </a:r>
            <a:endParaRPr lang="en-US" sz="2400" dirty="0">
              <a:solidFill>
                <a:schemeClr val="tx1">
                  <a:lumMod val="85000"/>
                  <a:lumOff val="15000"/>
                </a:schemeClr>
              </a:solidFill>
              <a:latin typeface="Josefin Sans Light" charset="0"/>
              <a:ea typeface="Josefin Sans Light" charset="0"/>
              <a:cs typeface="Josefin Sans Light" charset="0"/>
            </a:endParaRPr>
          </a:p>
        </p:txBody>
      </p:sp>
      <p:sp>
        <p:nvSpPr>
          <p:cNvPr id="8"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87BEC9BB-F978-DEDF-A374-F6390ABFDB6C}"/>
              </a:ext>
            </a:extLst>
          </p:cNvPr>
          <p:cNvSpPr/>
          <p:nvPr/>
        </p:nvSpPr>
        <p:spPr>
          <a:xfrm>
            <a:off x="686005" y="4846543"/>
            <a:ext cx="4111420" cy="1167884"/>
          </a:xfrm>
          <a:prstGeom prst="rect">
            <a:avLst/>
          </a:prstGeom>
        </p:spPr>
        <p:txBody>
          <a:bodyPr wrap="square">
            <a:spAutoFit/>
          </a:bodyPr>
          <a:lstStyle/>
          <a:p>
            <a:pPr marL="285750" indent="-285750" algn="l">
              <a:lnSpc>
                <a:spcPct val="150000"/>
              </a:lnSpc>
              <a:buFont typeface="Arial" panose="020B0604020202020204" pitchFamily="34" charset="0"/>
              <a:buChar char="•"/>
            </a:pPr>
            <a:r>
              <a:rPr lang="en-CA" altLang="zh-CN" sz="1600" b="0" i="0" u="none" strike="noStrike" dirty="0">
                <a:solidFill>
                  <a:srgbClr val="C00000"/>
                </a:solidFill>
                <a:effectLst/>
              </a:rPr>
              <a:t>Challenge restrictive publishing models </a:t>
            </a:r>
            <a:r>
              <a:rPr lang="en-CA" altLang="zh-CN" sz="1600" b="0" i="0" u="none" strike="noStrike" dirty="0">
                <a:solidFill>
                  <a:srgbClr val="000000"/>
                </a:solidFill>
                <a:effectLst/>
              </a:rPr>
              <a:t>and </a:t>
            </a:r>
            <a:r>
              <a:rPr lang="en-CA" altLang="zh-CN" sz="1600" b="0" i="0" u="none" strike="noStrike" dirty="0">
                <a:solidFill>
                  <a:srgbClr val="C00000"/>
                </a:solidFill>
                <a:effectLst/>
              </a:rPr>
              <a:t>promote alternative funding methods</a:t>
            </a:r>
            <a:r>
              <a:rPr lang="en-US" altLang="zh-CN" sz="1600" dirty="0">
                <a:solidFill>
                  <a:srgbClr val="C00000"/>
                </a:solidFill>
              </a:rPr>
              <a:t>.</a:t>
            </a:r>
            <a:endParaRPr lang="en-US" sz="2400" dirty="0">
              <a:solidFill>
                <a:srgbClr val="C00000"/>
              </a:solidFill>
              <a:latin typeface="Josefin Sans Light" charset="0"/>
              <a:ea typeface="Josefin Sans Light" charset="0"/>
              <a:cs typeface="Josefin Sans Light" charset="0"/>
            </a:endParaRPr>
          </a:p>
        </p:txBody>
      </p:sp>
      <p:sp>
        <p:nvSpPr>
          <p:cNvPr id="9"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E70D7CBF-C92B-A564-CC20-A25F10CD6AC3}"/>
              </a:ext>
            </a:extLst>
          </p:cNvPr>
          <p:cNvSpPr/>
          <p:nvPr/>
        </p:nvSpPr>
        <p:spPr>
          <a:xfrm>
            <a:off x="7336971" y="2118651"/>
            <a:ext cx="4111420" cy="1167884"/>
          </a:xfrm>
          <a:prstGeom prst="rect">
            <a:avLst/>
          </a:prstGeom>
        </p:spPr>
        <p:txBody>
          <a:bodyPr wrap="square">
            <a:spAutoFit/>
          </a:bodyPr>
          <a:lstStyle/>
          <a:p>
            <a:pPr marL="285750" indent="-285750" algn="l">
              <a:lnSpc>
                <a:spcPct val="150000"/>
              </a:lnSpc>
              <a:buFont typeface="Arial" panose="020B0604020202020204" pitchFamily="34" charset="0"/>
              <a:buChar char="•"/>
            </a:pPr>
            <a:r>
              <a:rPr lang="en-CA" altLang="zh-CN" sz="1600" b="0" i="0" u="none" strike="noStrike" dirty="0">
                <a:solidFill>
                  <a:srgbClr val="000000"/>
                </a:solidFill>
                <a:effectLst/>
              </a:rPr>
              <a:t>The future of knowledge should be </a:t>
            </a:r>
            <a:r>
              <a:rPr lang="en-CA" altLang="zh-CN" sz="1600" b="0" i="0" u="none" strike="noStrike" dirty="0">
                <a:solidFill>
                  <a:srgbClr val="C00000"/>
                </a:solidFill>
                <a:effectLst/>
              </a:rPr>
              <a:t>open to all</a:t>
            </a:r>
            <a:r>
              <a:rPr lang="en-CA" altLang="zh-CN" sz="1600" b="0" i="0" u="none" strike="noStrike" dirty="0">
                <a:solidFill>
                  <a:srgbClr val="000000"/>
                </a:solidFill>
                <a:effectLst/>
              </a:rPr>
              <a:t>, not just the </a:t>
            </a:r>
            <a:r>
              <a:rPr lang="en-CA" altLang="zh-CN" sz="1600" b="0" i="0" u="none" strike="noStrike" dirty="0">
                <a:solidFill>
                  <a:srgbClr val="C00000"/>
                </a:solidFill>
                <a:effectLst/>
              </a:rPr>
              <a:t>privileged</a:t>
            </a:r>
            <a:r>
              <a:rPr lang="en-CA" altLang="zh-CN" sz="1600" b="0" i="0" u="none" strike="noStrike" dirty="0">
                <a:solidFill>
                  <a:srgbClr val="000000"/>
                </a:solidFill>
                <a:effectLst/>
              </a:rPr>
              <a:t> few (Stiglitz, 1999).</a:t>
            </a:r>
            <a:r>
              <a:rPr lang="en-US" altLang="zh-CN" sz="1600" dirty="0">
                <a:solidFill>
                  <a:srgbClr val="000000"/>
                </a:solidFill>
              </a:rPr>
              <a:t>.</a:t>
            </a:r>
            <a:endParaRPr lang="en-US" sz="2400" dirty="0">
              <a:solidFill>
                <a:schemeClr val="tx1">
                  <a:lumMod val="85000"/>
                  <a:lumOff val="15000"/>
                </a:schemeClr>
              </a:solidFill>
              <a:latin typeface="Josefin Sans Light" charset="0"/>
              <a:ea typeface="Josefin Sans Light" charset="0"/>
              <a:cs typeface="Josefin Sans Light" charset="0"/>
            </a:endParaRPr>
          </a:p>
        </p:txBody>
      </p:sp>
      <p:sp>
        <p:nvSpPr>
          <p:cNvPr id="10"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7C1AD5DB-E754-29FC-BBEC-6DFF49EC5868}"/>
              </a:ext>
            </a:extLst>
          </p:cNvPr>
          <p:cNvSpPr/>
          <p:nvPr/>
        </p:nvSpPr>
        <p:spPr>
          <a:xfrm>
            <a:off x="7394575" y="4846543"/>
            <a:ext cx="4111420" cy="1167884"/>
          </a:xfrm>
          <a:prstGeom prst="rect">
            <a:avLst/>
          </a:prstGeom>
        </p:spPr>
        <p:txBody>
          <a:bodyPr wrap="square">
            <a:spAutoFit/>
          </a:bodyPr>
          <a:lstStyle/>
          <a:p>
            <a:pPr marL="285750" indent="-285750" algn="l">
              <a:lnSpc>
                <a:spcPct val="150000"/>
              </a:lnSpc>
              <a:buFont typeface="Arial" panose="020B0604020202020204" pitchFamily="34" charset="0"/>
              <a:buChar char="•"/>
            </a:pPr>
            <a:r>
              <a:rPr lang="en-CA" altLang="zh-CN" sz="1600" b="0" i="0" u="none" strike="noStrike" dirty="0">
                <a:solidFill>
                  <a:srgbClr val="000000"/>
                </a:solidFill>
                <a:effectLst/>
              </a:rPr>
              <a:t>If you are a researcher, </a:t>
            </a:r>
            <a:r>
              <a:rPr lang="en-CA" altLang="zh-CN" sz="1600" b="0" i="0" u="none" strike="noStrike" dirty="0">
                <a:solidFill>
                  <a:srgbClr val="C00000"/>
                </a:solidFill>
                <a:effectLst/>
              </a:rPr>
              <a:t>publish in open-access journals </a:t>
            </a:r>
            <a:r>
              <a:rPr lang="en-CA" altLang="zh-CN" sz="1600" b="0" i="0" u="none" strike="noStrike" dirty="0">
                <a:solidFill>
                  <a:srgbClr val="000000"/>
                </a:solidFill>
                <a:effectLst/>
              </a:rPr>
              <a:t>when possible (</a:t>
            </a:r>
            <a:r>
              <a:rPr lang="en-CA" altLang="zh-CN" sz="1600" b="0" i="0" u="none" strike="noStrike" dirty="0" err="1">
                <a:solidFill>
                  <a:srgbClr val="000000"/>
                </a:solidFill>
                <a:effectLst/>
              </a:rPr>
              <a:t>Harnad</a:t>
            </a:r>
            <a:r>
              <a:rPr lang="en-CA" altLang="zh-CN" sz="1600" b="0" i="0" u="none" strike="noStrike" dirty="0">
                <a:solidFill>
                  <a:srgbClr val="000000"/>
                </a:solidFill>
                <a:effectLst/>
              </a:rPr>
              <a:t>, 2001).</a:t>
            </a:r>
            <a:endParaRPr lang="en-US" sz="2400" dirty="0">
              <a:solidFill>
                <a:schemeClr val="tx1">
                  <a:lumMod val="85000"/>
                  <a:lumOff val="15000"/>
                </a:schemeClr>
              </a:solidFill>
              <a:latin typeface="Josefin Sans Light" charset="0"/>
              <a:ea typeface="Josefin Sans Light" charset="0"/>
              <a:cs typeface="Josefin Sans Light" charset="0"/>
            </a:endParaRPr>
          </a:p>
        </p:txBody>
      </p:sp>
    </p:spTree>
    <p:extLst>
      <p:ext uri="{BB962C8B-B14F-4D97-AF65-F5344CB8AC3E}">
        <p14:creationId xmlns:p14="http://schemas.microsoft.com/office/powerpoint/2010/main" val="1410875469"/>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PicPr>
            <a:picLocks noChangeAspect="1"/>
          </p:cNvPicPr>
          <p:nvPr/>
        </p:nvPicPr>
        <p:blipFill>
          <a:blip r:embed="rId3"/>
          <a:stretch>
            <a:fillRect/>
          </a:stretch>
        </p:blipFill>
        <p:spPr>
          <a:xfrm>
            <a:off x="3605131" y="-2427648"/>
            <a:ext cx="4981737" cy="4981737"/>
          </a:xfrm>
          <a:prstGeom prst="rect">
            <a:avLst/>
          </a:prstGeom>
        </p:spPr>
      </p:pic>
      <p:sp>
        <p:nvSpPr>
          <p:cNvPr id="4"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sp>
        <p:nvSpPr>
          <p:cNvPr id="5" name="文本框 4"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39E066BF-420A-7268-2BF0-BCD6914D7DD2}"/>
              </a:ext>
            </a:extLst>
          </p:cNvPr>
          <p:cNvSpPr txBox="1"/>
          <p:nvPr/>
        </p:nvSpPr>
        <p:spPr>
          <a:xfrm>
            <a:off x="192710" y="156742"/>
            <a:ext cx="6959204" cy="307777"/>
          </a:xfrm>
          <a:prstGeom prst="rect">
            <a:avLst/>
          </a:prstGeom>
          <a:noFill/>
        </p:spPr>
        <p:txBody>
          <a:bodyPr wrap="square" rtlCol="0">
            <a:spAutoFit/>
          </a:bodyPr>
          <a:lstStyle/>
          <a:p>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Part.0</a:t>
            </a:r>
            <a:r>
              <a:rPr kumimoji="1" lang="en-US" altLang="zh-CN" sz="1400" spc="100" dirty="0">
                <a:solidFill>
                  <a:schemeClr val="tx1">
                    <a:lumMod val="85000"/>
                    <a:lumOff val="15000"/>
                  </a:schemeClr>
                </a:solidFill>
                <a:ea typeface="Playfair Display" panose="00000500000000000000" charset="0"/>
                <a:cs typeface="Playfair Display" panose="00000500000000000000" charset="0"/>
              </a:rPr>
              <a:t>2</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zh-CN" altLang="en-US" sz="1400" spc="100" dirty="0">
                <a:solidFill>
                  <a:schemeClr val="tx1">
                    <a:lumMod val="85000"/>
                    <a:lumOff val="15000"/>
                  </a:schemeClr>
                </a:solidFill>
                <a:ea typeface="Playfair Display" panose="00000500000000000000" charset="0"/>
                <a:cs typeface="Playfair Display" panose="00000500000000000000" charset="0"/>
              </a:rPr>
              <a:t> </a:t>
            </a:r>
            <a:r>
              <a:rPr kumimoji="1" lang="en-US" altLang="en-US" sz="1400" spc="100" dirty="0">
                <a:solidFill>
                  <a:schemeClr val="tx1">
                    <a:lumMod val="85000"/>
                    <a:lumOff val="15000"/>
                  </a:schemeClr>
                </a:solidFill>
                <a:ea typeface="Playfair Display" panose="00000500000000000000" charset="0"/>
                <a:cs typeface="Playfair Display" panose="00000500000000000000" charset="0"/>
              </a:rPr>
              <a:t> Conclusion for my Part</a:t>
            </a:r>
            <a:endParaRPr kumimoji="1" lang="zh-CN" altLang="en-US" sz="1400" spc="100" dirty="0">
              <a:solidFill>
                <a:schemeClr val="tx1">
                  <a:lumMod val="85000"/>
                  <a:lumOff val="15000"/>
                </a:schemeClr>
              </a:solidFill>
              <a:ea typeface="Playfair Display" panose="00000500000000000000" charset="0"/>
              <a:cs typeface="Playfair Display" panose="00000500000000000000" charset="0"/>
            </a:endParaRPr>
          </a:p>
        </p:txBody>
      </p:sp>
      <p:sp>
        <p:nvSpPr>
          <p:cNvPr id="6" name="文本框 5"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3C9EAAA2-5AED-EC2B-E4F3-D31F11AA2277}"/>
              </a:ext>
            </a:extLst>
          </p:cNvPr>
          <p:cNvSpPr txBox="1"/>
          <p:nvPr/>
        </p:nvSpPr>
        <p:spPr>
          <a:xfrm>
            <a:off x="858572" y="3429000"/>
            <a:ext cx="4464544" cy="1323439"/>
          </a:xfrm>
          <a:prstGeom prst="rect">
            <a:avLst/>
          </a:prstGeom>
          <a:noFill/>
        </p:spPr>
        <p:txBody>
          <a:bodyPr wrap="square" rtlCol="0">
            <a:spAutoFit/>
          </a:bodyPr>
          <a:lstStyle/>
          <a:p>
            <a:pPr algn="ctr"/>
            <a:r>
              <a:rPr kumimoji="1" lang="en-US" altLang="en-US" sz="2000" b="1" i="1" spc="100" dirty="0">
                <a:solidFill>
                  <a:schemeClr val="tx1">
                    <a:lumMod val="85000"/>
                    <a:lumOff val="15000"/>
                  </a:schemeClr>
                </a:solidFill>
                <a:latin typeface="Josefin Sans" charset="0"/>
                <a:ea typeface="Josefin Sans" charset="0"/>
                <a:cs typeface="Josefin Sans" charset="0"/>
              </a:rPr>
              <a:t>“Aaron Swartz believed that knowledge should be free, and his vision remains more relevant than ever.”</a:t>
            </a:r>
          </a:p>
        </p:txBody>
      </p:sp>
      <p:sp>
        <p:nvSpPr>
          <p:cNvPr id="13"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9A32F4FF-5471-B14A-CD5E-5CC196786B81}"/>
              </a:ext>
            </a:extLst>
          </p:cNvPr>
          <p:cNvSpPr/>
          <p:nvPr/>
        </p:nvSpPr>
        <p:spPr>
          <a:xfrm>
            <a:off x="5747656" y="2648224"/>
            <a:ext cx="6240350" cy="3841052"/>
          </a:xfrm>
          <a:prstGeom prst="rect">
            <a:avLst/>
          </a:prstGeom>
        </p:spPr>
        <p:txBody>
          <a:bodyPr wrap="square">
            <a:spAutoFit/>
          </a:bodyPr>
          <a:lstStyle/>
          <a:p>
            <a:pPr marL="285750" indent="-285750" algn="l">
              <a:lnSpc>
                <a:spcPct val="150000"/>
              </a:lnSpc>
              <a:buFont typeface="Arial" panose="020B0604020202020204" pitchFamily="34" charset="0"/>
              <a:buChar char="•"/>
            </a:pPr>
            <a:r>
              <a:rPr lang="en-CA" altLang="zh-CN" sz="1600" b="0" i="0" u="none" strike="noStrike" dirty="0">
                <a:solidFill>
                  <a:srgbClr val="000000"/>
                </a:solidFill>
                <a:effectLst/>
              </a:rPr>
              <a:t>Aaron Swartz’s vision was about </a:t>
            </a:r>
            <a:r>
              <a:rPr lang="en-CA" altLang="zh-CN" sz="1600" b="0" i="0" u="none" strike="noStrike" dirty="0">
                <a:solidFill>
                  <a:srgbClr val="C00000"/>
                </a:solidFill>
                <a:effectLst/>
              </a:rPr>
              <a:t>fairness</a:t>
            </a:r>
            <a:r>
              <a:rPr lang="en-CA" altLang="zh-CN" sz="1600" b="0" i="0" u="none" strike="noStrike" dirty="0">
                <a:solidFill>
                  <a:srgbClr val="000000"/>
                </a:solidFill>
                <a:effectLst/>
              </a:rPr>
              <a:t> and the </a:t>
            </a:r>
            <a:r>
              <a:rPr lang="en-CA" altLang="zh-CN" sz="1600" b="0" i="0" u="none" strike="noStrike" dirty="0">
                <a:solidFill>
                  <a:srgbClr val="C00000"/>
                </a:solidFill>
                <a:effectLst/>
              </a:rPr>
              <a:t>right to knowledge</a:t>
            </a:r>
            <a:r>
              <a:rPr lang="en-CA" altLang="zh-CN" sz="1600" b="0" i="0" u="none" strike="noStrike" dirty="0">
                <a:solidFill>
                  <a:srgbClr val="000000"/>
                </a:solidFill>
                <a:effectLst/>
              </a:rPr>
              <a:t>.</a:t>
            </a:r>
          </a:p>
          <a:p>
            <a:pPr marL="285750" indent="-285750" algn="l">
              <a:lnSpc>
                <a:spcPct val="150000"/>
              </a:lnSpc>
              <a:buFont typeface="Arial" panose="020B0604020202020204" pitchFamily="34" charset="0"/>
              <a:buChar char="•"/>
            </a:pPr>
            <a:r>
              <a:rPr lang="en-CA" altLang="zh-CN" sz="1600" b="0" i="0" u="none" strike="noStrike" dirty="0">
                <a:solidFill>
                  <a:srgbClr val="000000"/>
                </a:solidFill>
                <a:effectLst/>
              </a:rPr>
              <a:t>Free access to academic research </a:t>
            </a:r>
            <a:r>
              <a:rPr lang="en-CA" altLang="zh-CN" sz="1600" b="0" i="0" u="none" strike="noStrike" dirty="0">
                <a:solidFill>
                  <a:srgbClr val="C00000"/>
                </a:solidFill>
                <a:effectLst/>
              </a:rPr>
              <a:t>benefits</a:t>
            </a:r>
            <a:r>
              <a:rPr lang="en-CA" altLang="zh-CN" sz="1600" b="0" i="0" u="none" strike="noStrike" dirty="0">
                <a:solidFill>
                  <a:srgbClr val="000000"/>
                </a:solidFill>
                <a:effectLst/>
              </a:rPr>
              <a:t> education, innovation, and global equality.</a:t>
            </a:r>
          </a:p>
          <a:p>
            <a:pPr marL="285750" indent="-285750" algn="l">
              <a:lnSpc>
                <a:spcPct val="150000"/>
              </a:lnSpc>
              <a:buFont typeface="Arial" panose="020B0604020202020204" pitchFamily="34" charset="0"/>
              <a:buChar char="•"/>
            </a:pPr>
            <a:r>
              <a:rPr lang="en-CA" altLang="zh-CN" sz="1600" b="0" i="0" u="none" strike="noStrike" dirty="0">
                <a:solidFill>
                  <a:srgbClr val="000000"/>
                </a:solidFill>
                <a:effectLst/>
              </a:rPr>
              <a:t>We </a:t>
            </a:r>
            <a:r>
              <a:rPr lang="en-CA" altLang="zh-CN" sz="1600" b="0" i="0" u="none" strike="noStrike" dirty="0">
                <a:solidFill>
                  <a:srgbClr val="C00000"/>
                </a:solidFill>
                <a:effectLst/>
              </a:rPr>
              <a:t>must</a:t>
            </a:r>
            <a:r>
              <a:rPr lang="en-CA" altLang="zh-CN" sz="1600" b="0" i="0" u="none" strike="noStrike" dirty="0">
                <a:solidFill>
                  <a:srgbClr val="000000"/>
                </a:solidFill>
                <a:effectLst/>
              </a:rPr>
              <a:t> continue pushing for a system that prioritizes knowledge sharing over corporate profits.</a:t>
            </a:r>
          </a:p>
          <a:p>
            <a:pPr marL="285750" indent="-285750" algn="l">
              <a:lnSpc>
                <a:spcPct val="150000"/>
              </a:lnSpc>
              <a:buFont typeface="Arial" panose="020B0604020202020204" pitchFamily="34" charset="0"/>
              <a:buChar char="•"/>
            </a:pPr>
            <a:endParaRPr lang="en-CA" altLang="zh-CN" sz="1600" b="0" i="0" u="none" strike="noStrike" dirty="0">
              <a:solidFill>
                <a:srgbClr val="000000"/>
              </a:solidFill>
              <a:effectLst/>
            </a:endParaRPr>
          </a:p>
          <a:p>
            <a:pPr marL="285750" indent="-285750" algn="l">
              <a:lnSpc>
                <a:spcPct val="150000"/>
              </a:lnSpc>
              <a:buFont typeface="Arial" panose="020B0604020202020204" pitchFamily="34" charset="0"/>
              <a:buChar char="•"/>
            </a:pPr>
            <a:r>
              <a:rPr lang="en-CA" altLang="zh-CN" sz="1600" b="1" i="0" u="none" strike="noStrike" dirty="0">
                <a:solidFill>
                  <a:srgbClr val="000000"/>
                </a:solidFill>
                <a:effectLst/>
              </a:rPr>
              <a:t>“Information is power. But like all power, there are those who want to keep it for themselves.”    		</a:t>
            </a:r>
            <a:r>
              <a:rPr lang="en-CA" altLang="zh-CN" sz="1600" b="0" i="0" u="none" strike="noStrike" dirty="0">
                <a:solidFill>
                  <a:srgbClr val="000000"/>
                </a:solidFill>
                <a:effectLst/>
              </a:rPr>
              <a:t>— Aaron Swartz.</a:t>
            </a:r>
          </a:p>
          <a:p>
            <a:pPr marL="342900" indent="-342900">
              <a:lnSpc>
                <a:spcPct val="120000"/>
              </a:lnSpc>
              <a:buFont typeface="Arial" panose="020B0604020202020204" pitchFamily="34" charset="0"/>
              <a:buChar char="•"/>
            </a:pPr>
            <a:endParaRPr lang="en-US" sz="2400" dirty="0">
              <a:solidFill>
                <a:schemeClr val="tx1">
                  <a:lumMod val="85000"/>
                  <a:lumOff val="15000"/>
                </a:schemeClr>
              </a:solidFill>
              <a:latin typeface="Josefin Sans Light" charset="0"/>
              <a:ea typeface="Josefin Sans Light" charset="0"/>
              <a:cs typeface="Josefin Sans Light" charset="0"/>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p:nvPr/>
        </p:nvSpPr>
        <p:spPr>
          <a:xfrm>
            <a:off x="839788" y="944563"/>
            <a:ext cx="10512425" cy="50768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10820134" y="6239592"/>
            <a:ext cx="659310" cy="307777"/>
          </a:xfrm>
          <a:prstGeom prst="rect">
            <a:avLst/>
          </a:prstGeom>
          <a:noFill/>
        </p:spPr>
        <p:txBody>
          <a:bodyPr wrap="square" rtlCol="0">
            <a:spAutoFit/>
          </a:bodyPr>
          <a:lstStyle/>
          <a:p>
            <a:pPr algn="r"/>
            <a:r>
              <a:rPr kumimoji="1" lang="en-US" altLang="en-US" sz="1400" spc="100">
                <a:solidFill>
                  <a:schemeClr val="tx1">
                    <a:lumMod val="85000"/>
                    <a:lumOff val="15000"/>
                  </a:schemeClr>
                </a:solidFill>
                <a:latin typeface="Playfair Display" panose="00000500000000000000" charset="0"/>
                <a:ea typeface="Playfair Display" panose="00000500000000000000" charset="0"/>
                <a:cs typeface="Playfair Display" panose="00000500000000000000" charset="0"/>
              </a:rPr>
              <a:t>19</a:t>
            </a:r>
            <a:endParaRPr kumimoji="1" lang="zh-CN" altLang="en-US" sz="1400" spc="100">
              <a:solidFill>
                <a:schemeClr val="tx1">
                  <a:lumMod val="85000"/>
                  <a:lumOff val="15000"/>
                </a:schemeClr>
              </a:solidFill>
              <a:latin typeface="Playfair Display" panose="00000500000000000000" charset="0"/>
              <a:ea typeface="Playfair Display" panose="00000500000000000000" charset="0"/>
              <a:cs typeface="Playfair Display" panose="00000500000000000000" charset="0"/>
            </a:endParaRPr>
          </a:p>
        </p:txBody>
      </p:sp>
      <p:pic>
        <p:nvPicPr>
          <p:cNvPr id="10" name="图片 9"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PicPr>
            <a:picLocks noChangeAspect="1"/>
          </p:cNvPicPr>
          <p:nvPr/>
        </p:nvPicPr>
        <p:blipFill>
          <a:blip r:embed="rId2"/>
          <a:stretch>
            <a:fillRect/>
          </a:stretch>
        </p:blipFill>
        <p:spPr>
          <a:xfrm>
            <a:off x="3524250" y="1422400"/>
            <a:ext cx="2376488" cy="2376488"/>
          </a:xfrm>
          <a:prstGeom prst="rect">
            <a:avLst/>
          </a:prstGeom>
        </p:spPr>
      </p:pic>
      <p:pic>
        <p:nvPicPr>
          <p:cNvPr id="11" name="图片 1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PicPr>
            <a:picLocks noChangeAspect="1"/>
          </p:cNvPicPr>
          <p:nvPr/>
        </p:nvPicPr>
        <p:blipFill>
          <a:blip r:embed="rId3"/>
          <a:stretch>
            <a:fillRect/>
          </a:stretch>
        </p:blipFill>
        <p:spPr>
          <a:xfrm>
            <a:off x="4712494" y="1354985"/>
            <a:ext cx="4248150" cy="4342554"/>
          </a:xfrm>
          <a:prstGeom prst="rect">
            <a:avLst/>
          </a:prstGeom>
        </p:spPr>
      </p:pic>
      <p:sp>
        <p:nvSpPr>
          <p:cNvPr id="13" name="文本框 12"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txBox="1"/>
          <p:nvPr/>
        </p:nvSpPr>
        <p:spPr>
          <a:xfrm>
            <a:off x="471867" y="2911442"/>
            <a:ext cx="5428871" cy="1015663"/>
          </a:xfrm>
          <a:prstGeom prst="rect">
            <a:avLst/>
          </a:prstGeom>
          <a:noFill/>
        </p:spPr>
        <p:txBody>
          <a:bodyPr wrap="square" rtlCol="0">
            <a:spAutoFit/>
          </a:bodyPr>
          <a:lstStyle/>
          <a:p>
            <a:pPr algn="ctr"/>
            <a:r>
              <a:rPr kumimoji="1" lang="en-US" altLang="en-US" sz="6000" b="1" spc="800" dirty="0">
                <a:solidFill>
                  <a:schemeClr val="tx1">
                    <a:lumMod val="85000"/>
                    <a:lumOff val="15000"/>
                  </a:schemeClr>
                </a:solidFill>
                <a:latin typeface="Josefin Sans" charset="0"/>
                <a:ea typeface="Josefin Sans" charset="0"/>
                <a:cs typeface="Josefin Sans" charset="0"/>
              </a:rPr>
              <a:t>Thanks</a:t>
            </a:r>
            <a:endParaRPr kumimoji="1" lang="zh-CN" altLang="en-US" sz="6000" b="1" spc="800" dirty="0">
              <a:solidFill>
                <a:schemeClr val="tx1">
                  <a:lumMod val="85000"/>
                  <a:lumOff val="15000"/>
                </a:schemeClr>
              </a:solidFill>
              <a:latin typeface="Josefin Sans" charset="0"/>
              <a:ea typeface="Josefin Sans" charset="0"/>
              <a:cs typeface="Josefin Sans" charset="0"/>
            </a:endParaRPr>
          </a:p>
        </p:txBody>
      </p:sp>
      <p:sp>
        <p:nvSpPr>
          <p:cNvPr id="18" name="矩形 1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p:cNvSpPr/>
          <p:nvPr/>
        </p:nvSpPr>
        <p:spPr>
          <a:xfrm>
            <a:off x="10633076" y="4941889"/>
            <a:ext cx="1150938" cy="1511300"/>
          </a:xfrm>
          <a:prstGeom prst="rect">
            <a:avLst/>
          </a:prstGeom>
          <a:pattFill prst="wdUpDiag">
            <a:fgClr>
              <a:schemeClr val="bg2">
                <a:lumMod val="1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e7d195523061f1c0" descr="e7d195523061f1c01d60fa9f1cfcbfb3d7dea265119d71e15FBB43640B43E9A75E03FE54C774D5D4779ED45933E78901D3CB0E69E39D04A9E1E9B25CF060C4BCA4D072860494D0D8E683C2FE58414E15A257B8C98CAC931B2A91D95E391D8F56A6B197C339044743E4A827576812018FE092D8F796C38DC487F641821CDDB0736DD3EE0F684ACE40" hidden="1"/>
          <p:cNvSpPr txBox="1"/>
          <p:nvPr/>
        </p:nvSpPr>
        <p:spPr>
          <a:xfrm>
            <a:off x="-355600" y="1803400"/>
            <a:ext cx="262251" cy="1016000"/>
          </a:xfrm>
          <a:prstGeom prst="rect">
            <a:avLst/>
          </a:prstGeom>
          <a:noFill/>
        </p:spPr>
        <p:txBody>
          <a:bodyPr vert="wordArtVert" rtlCol="0">
            <a:spAutoFit/>
          </a:bodyPr>
          <a:lstStyle/>
          <a:p>
            <a:r>
              <a:rPr lang="en-US" altLang="zh-CN" sz="100"/>
              <a:t>e7d195523061f1c01d60fa9f1cfcbfb3d7dea265119d71e15FBB43640B43E9A75E03FE54C774D5D4779ED45933E78901D3CB0E69E39D04A9E1E9B25CF060C4BCA4D072860494D0D8E683C2FE58414E15A257B8C98CAC931B2A91D95E391D8F56A6B197C339044743E4A827576812018FE092D8F796C38DC487F641821CDDB0736DD3EE0F684ACE40</a:t>
            </a:r>
            <a:endParaRPr lang="zh-CN" altLang="en-US" sz="100"/>
          </a:p>
        </p:txBody>
      </p:sp>
      <p:sp>
        <p:nvSpPr>
          <p:cNvPr id="5" name="文本框 4"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861A8960-31FA-73D1-737B-943CF3601746}"/>
              </a:ext>
            </a:extLst>
          </p:cNvPr>
          <p:cNvSpPr txBox="1"/>
          <p:nvPr/>
        </p:nvSpPr>
        <p:spPr>
          <a:xfrm>
            <a:off x="1421385" y="4034422"/>
            <a:ext cx="4479353" cy="349776"/>
          </a:xfrm>
          <a:prstGeom prst="rect">
            <a:avLst/>
          </a:prstGeom>
          <a:noFill/>
        </p:spPr>
        <p:txBody>
          <a:bodyPr wrap="square" rtlCol="0">
            <a:spAutoFit/>
          </a:bodyPr>
          <a:lstStyle/>
          <a:p>
            <a:pPr>
              <a:lnSpc>
                <a:spcPct val="130000"/>
              </a:lnSpc>
            </a:pPr>
            <a:r>
              <a:rPr kumimoji="1" lang="en-US" altLang="en-US" sz="1400" spc="200" dirty="0" err="1">
                <a:solidFill>
                  <a:schemeClr val="tx1">
                    <a:lumMod val="85000"/>
                    <a:lumOff val="15000"/>
                  </a:schemeClr>
                </a:solidFill>
                <a:latin typeface="Corbel" panose="020B0503020204020204" pitchFamily="34" charset="0"/>
                <a:ea typeface="Josefin Sans" charset="0"/>
                <a:cs typeface="Times New Roman" panose="02020603050405020304" pitchFamily="18" charset="0"/>
              </a:rPr>
              <a:t>Changze</a:t>
            </a:r>
            <a:r>
              <a:rPr kumimoji="1" lang="en-US" altLang="en-US" sz="1400" spc="200" dirty="0">
                <a:solidFill>
                  <a:schemeClr val="tx1">
                    <a:lumMod val="85000"/>
                    <a:lumOff val="15000"/>
                  </a:schemeClr>
                </a:solidFill>
                <a:latin typeface="Corbel" panose="020B0503020204020204" pitchFamily="34" charset="0"/>
                <a:ea typeface="Josefin Sans" charset="0"/>
                <a:cs typeface="Times New Roman" panose="02020603050405020304" pitchFamily="18" charset="0"/>
              </a:rPr>
              <a:t> Wu &amp;&amp; Daniel </a:t>
            </a:r>
            <a:r>
              <a:rPr kumimoji="1" lang="en-US" altLang="en-US" sz="1400" spc="200" dirty="0" err="1">
                <a:solidFill>
                  <a:schemeClr val="tx1">
                    <a:lumMod val="85000"/>
                    <a:lumOff val="15000"/>
                  </a:schemeClr>
                </a:solidFill>
                <a:latin typeface="Corbel" panose="020B0503020204020204" pitchFamily="34" charset="0"/>
                <a:ea typeface="Josefin Sans" charset="0"/>
                <a:cs typeface="Times New Roman" panose="02020603050405020304" pitchFamily="18" charset="0"/>
              </a:rPr>
              <a:t>Grishanov</a:t>
            </a:r>
            <a:endParaRPr kumimoji="1" lang="zh-CN" altLang="en-US" sz="1400" spc="200" dirty="0">
              <a:solidFill>
                <a:schemeClr val="tx1">
                  <a:lumMod val="85000"/>
                  <a:lumOff val="15000"/>
                </a:schemeClr>
              </a:solidFill>
              <a:latin typeface="Corbel" panose="020B0503020204020204" pitchFamily="34" charset="0"/>
              <a:ea typeface="Josefin Sans" charset="0"/>
              <a:cs typeface="Times New Roman" panose="02020603050405020304" pitchFamily="18" charset="0"/>
            </a:endParaRP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FFC68CF3-A4C6-21B4-578D-22B971EFA7E7}"/>
              </a:ext>
            </a:extLst>
          </p:cNvPr>
          <p:cNvSpPr txBox="1"/>
          <p:nvPr/>
        </p:nvSpPr>
        <p:spPr>
          <a:xfrm>
            <a:off x="286606" y="296560"/>
            <a:ext cx="5061097" cy="461665"/>
          </a:xfrm>
          <a:prstGeom prst="rect">
            <a:avLst/>
          </a:prstGeom>
          <a:noFill/>
        </p:spPr>
        <p:txBody>
          <a:bodyPr wrap="square" rtlCol="0">
            <a:spAutoFit/>
          </a:bodyPr>
          <a:lstStyle/>
          <a:p>
            <a:r>
              <a:rPr kumimoji="1" lang="en-US" altLang="en-US" sz="2400" b="1" spc="100" dirty="0">
                <a:solidFill>
                  <a:schemeClr val="tx1">
                    <a:lumMod val="85000"/>
                    <a:lumOff val="15000"/>
                  </a:schemeClr>
                </a:solidFill>
                <a:latin typeface="Times New Roman" panose="02020603050405020304" pitchFamily="18" charset="0"/>
                <a:ea typeface="Josefin Sans" charset="0"/>
                <a:cs typeface="Times New Roman" panose="02020603050405020304" pitchFamily="18" charset="0"/>
              </a:rPr>
              <a:t>Reference:</a:t>
            </a:r>
            <a:endParaRPr kumimoji="1" lang="zh-CN" altLang="en-US" sz="2400" b="1" spc="100" dirty="0">
              <a:solidFill>
                <a:schemeClr val="tx1">
                  <a:lumMod val="85000"/>
                  <a:lumOff val="15000"/>
                </a:schemeClr>
              </a:solidFill>
              <a:latin typeface="Times New Roman" panose="02020603050405020304" pitchFamily="18" charset="0"/>
              <a:ea typeface="Josefin Sans" charset="0"/>
              <a:cs typeface="Times New Roman" panose="02020603050405020304" pitchFamily="18" charset="0"/>
            </a:endParaRPr>
          </a:p>
        </p:txBody>
      </p:sp>
      <p:sp>
        <p:nvSpPr>
          <p:cNvPr id="5" name="Rectangle 7" descr="e7d195523061f1c01d60fa9f1cfcbfb3d7dea265119d71e15FBB43640B43E9A75E03FE54C774D5D4779ED45933E78901D3CB0E69E39D04A9E1E9B25CF060C4BCA4D072860494D0D8E683C2FE58414E15A257B8C98CAC931B2A91D95E391D8F56A6B197C339044743E4A827576812018FE092D8F796C38DC487F641821CDDB0736DD3EE0F684ACE40">
            <a:extLst>
              <a:ext uri="{FF2B5EF4-FFF2-40B4-BE49-F238E27FC236}">
                <a16:creationId xmlns:a16="http://schemas.microsoft.com/office/drawing/2014/main" id="{8DB344F5-39F5-4A11-3FB3-3D8F9E9D6A02}"/>
              </a:ext>
            </a:extLst>
          </p:cNvPr>
          <p:cNvSpPr/>
          <p:nvPr/>
        </p:nvSpPr>
        <p:spPr>
          <a:xfrm>
            <a:off x="391884" y="841195"/>
            <a:ext cx="11582402" cy="3847207"/>
          </a:xfrm>
          <a:prstGeom prst="rect">
            <a:avLst/>
          </a:prstGeom>
        </p:spPr>
        <p:txBody>
          <a:bodyPr wrap="square">
            <a:spAutoFit/>
          </a:bodyPr>
          <a:lstStyle/>
          <a:p>
            <a:pPr marL="228600" indent="-228600">
              <a:buFont typeface="+mj-lt"/>
              <a:buAutoNum type="arabicPeriod"/>
            </a:pPr>
            <a:r>
              <a:rPr lang="en-CA" altLang="zh-CN" sz="1200" dirty="0">
                <a:latin typeface="Times New Roman" panose="02020603050405020304" pitchFamily="18" charset="0"/>
                <a:cs typeface="Times New Roman" panose="02020603050405020304" pitchFamily="18" charset="0"/>
              </a:rPr>
              <a:t>Bergstrom, T. C., Courant, P. N., McAfee, R. P., &amp; Williams, M. J. (2014). Evaluating big deal journal bundles. </a:t>
            </a:r>
            <a:r>
              <a:rPr lang="en-CA" altLang="zh-CN" sz="1200" i="1" dirty="0">
                <a:latin typeface="Times New Roman" panose="02020603050405020304" pitchFamily="18" charset="0"/>
                <a:cs typeface="Times New Roman" panose="02020603050405020304" pitchFamily="18" charset="0"/>
              </a:rPr>
              <a:t>Proceedings of the National Academy of Sciences, 111</a:t>
            </a:r>
            <a:r>
              <a:rPr lang="en-CA" altLang="zh-CN" sz="1200" dirty="0">
                <a:latin typeface="Times New Roman" panose="02020603050405020304" pitchFamily="18" charset="0"/>
                <a:cs typeface="Times New Roman" panose="02020603050405020304" pitchFamily="18" charset="0"/>
              </a:rPr>
              <a:t>(26), 9425-9430. </a:t>
            </a:r>
            <a:r>
              <a:rPr lang="en-CA" altLang="zh-CN" sz="1200" dirty="0">
                <a:latin typeface="Times New Roman" panose="02020603050405020304" pitchFamily="18" charset="0"/>
                <a:cs typeface="Times New Roman" panose="02020603050405020304" pitchFamily="18" charset="0"/>
                <a:hlinkClick r:id="rId2"/>
              </a:rPr>
              <a:t>https://doi.org/10.1073/pnas.1403006111</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a:latin typeface="Times New Roman" panose="02020603050405020304" pitchFamily="18" charset="0"/>
                <a:cs typeface="Times New Roman" panose="02020603050405020304" pitchFamily="18" charset="0"/>
              </a:rPr>
              <a:t>Björk, B. C., </a:t>
            </a:r>
            <a:r>
              <a:rPr lang="en-CA" altLang="zh-CN" sz="1200" dirty="0" err="1">
                <a:latin typeface="Times New Roman" panose="02020603050405020304" pitchFamily="18" charset="0"/>
                <a:cs typeface="Times New Roman" panose="02020603050405020304" pitchFamily="18" charset="0"/>
              </a:rPr>
              <a:t>Laakso</a:t>
            </a:r>
            <a:r>
              <a:rPr lang="en-CA" altLang="zh-CN" sz="1200" dirty="0">
                <a:latin typeface="Times New Roman" panose="02020603050405020304" pitchFamily="18" charset="0"/>
                <a:cs typeface="Times New Roman" panose="02020603050405020304" pitchFamily="18" charset="0"/>
              </a:rPr>
              <a:t>, M., Welling, P., &amp; </a:t>
            </a:r>
            <a:r>
              <a:rPr lang="en-CA" altLang="zh-CN" sz="1200" dirty="0" err="1">
                <a:latin typeface="Times New Roman" panose="02020603050405020304" pitchFamily="18" charset="0"/>
                <a:cs typeface="Times New Roman" panose="02020603050405020304" pitchFamily="18" charset="0"/>
              </a:rPr>
              <a:t>Paetau</a:t>
            </a:r>
            <a:r>
              <a:rPr lang="en-CA" altLang="zh-CN" sz="1200" dirty="0">
                <a:latin typeface="Times New Roman" panose="02020603050405020304" pitchFamily="18" charset="0"/>
                <a:cs typeface="Times New Roman" panose="02020603050405020304" pitchFamily="18" charset="0"/>
              </a:rPr>
              <a:t>, P. (2014). Anatomy of green open access. </a:t>
            </a:r>
            <a:r>
              <a:rPr lang="en-CA" altLang="zh-CN" sz="1200" i="1" dirty="0">
                <a:latin typeface="Times New Roman" panose="02020603050405020304" pitchFamily="18" charset="0"/>
                <a:cs typeface="Times New Roman" panose="02020603050405020304" pitchFamily="18" charset="0"/>
              </a:rPr>
              <a:t>Journal of the Association for Information Science and Technology, 65</a:t>
            </a:r>
            <a:r>
              <a:rPr lang="en-CA" altLang="zh-CN" sz="1200" dirty="0">
                <a:latin typeface="Times New Roman" panose="02020603050405020304" pitchFamily="18" charset="0"/>
                <a:cs typeface="Times New Roman" panose="02020603050405020304" pitchFamily="18" charset="0"/>
              </a:rPr>
              <a:t>(2), 237-250. </a:t>
            </a:r>
            <a:r>
              <a:rPr lang="en-CA" altLang="zh-CN" sz="1200" dirty="0">
                <a:latin typeface="Times New Roman" panose="02020603050405020304" pitchFamily="18" charset="0"/>
                <a:cs typeface="Times New Roman" panose="02020603050405020304" pitchFamily="18" charset="0"/>
                <a:hlinkClick r:id="rId3"/>
              </a:rPr>
              <a:t>https://doi.org/10.1002/asi.22963</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err="1">
                <a:latin typeface="Times New Roman" panose="02020603050405020304" pitchFamily="18" charset="0"/>
                <a:cs typeface="Times New Roman" panose="02020603050405020304" pitchFamily="18" charset="0"/>
              </a:rPr>
              <a:t>Bodó</a:t>
            </a:r>
            <a:r>
              <a:rPr lang="en-CA" altLang="zh-CN" sz="1200" dirty="0">
                <a:latin typeface="Times New Roman" panose="02020603050405020304" pitchFamily="18" charset="0"/>
                <a:cs typeface="Times New Roman" panose="02020603050405020304" pitchFamily="18" charset="0"/>
              </a:rPr>
              <a:t>, B. (2016). Pirate libraries: An ethnographic study of guerrilla open access. </a:t>
            </a:r>
            <a:r>
              <a:rPr lang="en-CA" altLang="zh-CN" sz="1200" i="1" dirty="0">
                <a:latin typeface="Times New Roman" panose="02020603050405020304" pitchFamily="18" charset="0"/>
                <a:cs typeface="Times New Roman" panose="02020603050405020304" pitchFamily="18" charset="0"/>
              </a:rPr>
              <a:t>Information Society, 32</a:t>
            </a:r>
            <a:r>
              <a:rPr lang="en-CA" altLang="zh-CN" sz="1200" dirty="0">
                <a:latin typeface="Times New Roman" panose="02020603050405020304" pitchFamily="18" charset="0"/>
                <a:cs typeface="Times New Roman" panose="02020603050405020304" pitchFamily="18" charset="0"/>
              </a:rPr>
              <a:t>(3), 1-10. </a:t>
            </a:r>
            <a:r>
              <a:rPr lang="en-CA" altLang="zh-CN" sz="1200" dirty="0">
                <a:latin typeface="Times New Roman" panose="02020603050405020304" pitchFamily="18" charset="0"/>
                <a:cs typeface="Times New Roman" panose="02020603050405020304" pitchFamily="18" charset="0"/>
                <a:hlinkClick r:id="rId4"/>
              </a:rPr>
              <a:t>https://doi.org/10.1080/01972243.2016.1153012</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a:latin typeface="Times New Roman" panose="02020603050405020304" pitchFamily="18" charset="0"/>
                <a:cs typeface="Times New Roman" panose="02020603050405020304" pitchFamily="18" charset="0"/>
              </a:rPr>
              <a:t>Chan, L., </a:t>
            </a:r>
            <a:r>
              <a:rPr lang="en-CA" altLang="zh-CN" sz="1200" dirty="0" err="1">
                <a:latin typeface="Times New Roman" panose="02020603050405020304" pitchFamily="18" charset="0"/>
                <a:cs typeface="Times New Roman" panose="02020603050405020304" pitchFamily="18" charset="0"/>
              </a:rPr>
              <a:t>Kirsop</a:t>
            </a:r>
            <a:r>
              <a:rPr lang="en-CA" altLang="zh-CN" sz="1200" dirty="0">
                <a:latin typeface="Times New Roman" panose="02020603050405020304" pitchFamily="18" charset="0"/>
                <a:cs typeface="Times New Roman" panose="02020603050405020304" pitchFamily="18" charset="0"/>
              </a:rPr>
              <a:t>, B., &amp; Arunachalam, S. (2011). Towards open and equitable access to research and knowledge for development. </a:t>
            </a:r>
            <a:r>
              <a:rPr lang="en-CA" altLang="zh-CN" sz="1200" i="1" dirty="0">
                <a:latin typeface="Times New Roman" panose="02020603050405020304" pitchFamily="18" charset="0"/>
                <a:cs typeface="Times New Roman" panose="02020603050405020304" pitchFamily="18" charset="0"/>
              </a:rPr>
              <a:t>PLOS Medicine, 8</a:t>
            </a:r>
            <a:r>
              <a:rPr lang="en-CA" altLang="zh-CN" sz="1200" dirty="0">
                <a:latin typeface="Times New Roman" panose="02020603050405020304" pitchFamily="18" charset="0"/>
                <a:cs typeface="Times New Roman" panose="02020603050405020304" pitchFamily="18" charset="0"/>
              </a:rPr>
              <a:t>(3), e1001016. </a:t>
            </a:r>
            <a:r>
              <a:rPr lang="en-CA" altLang="zh-CN" sz="1200" dirty="0">
                <a:latin typeface="Times New Roman" panose="02020603050405020304" pitchFamily="18" charset="0"/>
                <a:cs typeface="Times New Roman" panose="02020603050405020304" pitchFamily="18" charset="0"/>
                <a:hlinkClick r:id="rId5"/>
              </a:rPr>
              <a:t>https://doi.org/10.1371/journal.pmed.1001016</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a:latin typeface="Times New Roman" panose="02020603050405020304" pitchFamily="18" charset="0"/>
                <a:cs typeface="Times New Roman" panose="02020603050405020304" pitchFamily="18" charset="0"/>
              </a:rPr>
              <a:t>Coalition S. (2018). </a:t>
            </a:r>
            <a:r>
              <a:rPr lang="en-CA" altLang="zh-CN" sz="1200" i="1" dirty="0">
                <a:latin typeface="Times New Roman" panose="02020603050405020304" pitchFamily="18" charset="0"/>
                <a:cs typeface="Times New Roman" panose="02020603050405020304" pitchFamily="18" charset="0"/>
              </a:rPr>
              <a:t>Plan S: Making full and immediate open access a reality</a:t>
            </a:r>
            <a:r>
              <a:rPr lang="en-CA" altLang="zh-CN" sz="1200" dirty="0">
                <a:latin typeface="Times New Roman" panose="02020603050405020304" pitchFamily="18" charset="0"/>
                <a:cs typeface="Times New Roman" panose="02020603050405020304" pitchFamily="18" charset="0"/>
              </a:rPr>
              <a:t>. Retrieved from </a:t>
            </a:r>
            <a:r>
              <a:rPr lang="en-CA" altLang="zh-CN" sz="1200" dirty="0">
                <a:latin typeface="Times New Roman" panose="02020603050405020304" pitchFamily="18" charset="0"/>
                <a:cs typeface="Times New Roman" panose="02020603050405020304" pitchFamily="18" charset="0"/>
                <a:hlinkClick r:id="rId6"/>
              </a:rPr>
              <a:t>https://www.coalition-s.org/</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err="1">
                <a:latin typeface="Times New Roman" panose="02020603050405020304" pitchFamily="18" charset="0"/>
                <a:cs typeface="Times New Roman" panose="02020603050405020304" pitchFamily="18" charset="0"/>
              </a:rPr>
              <a:t>Harnad</a:t>
            </a:r>
            <a:r>
              <a:rPr lang="en-CA" altLang="zh-CN" sz="1200" dirty="0">
                <a:latin typeface="Times New Roman" panose="02020603050405020304" pitchFamily="18" charset="0"/>
                <a:cs typeface="Times New Roman" panose="02020603050405020304" pitchFamily="18" charset="0"/>
              </a:rPr>
              <a:t>, S. (2001). The self-archiving initiative. </a:t>
            </a:r>
            <a:r>
              <a:rPr lang="en-CA" altLang="zh-CN" sz="1200" i="1" dirty="0">
                <a:latin typeface="Times New Roman" panose="02020603050405020304" pitchFamily="18" charset="0"/>
                <a:cs typeface="Times New Roman" panose="02020603050405020304" pitchFamily="18" charset="0"/>
              </a:rPr>
              <a:t>Nature, 410</a:t>
            </a:r>
            <a:r>
              <a:rPr lang="en-CA" altLang="zh-CN" sz="1200" dirty="0">
                <a:latin typeface="Times New Roman" panose="02020603050405020304" pitchFamily="18" charset="0"/>
                <a:cs typeface="Times New Roman" panose="02020603050405020304" pitchFamily="18" charset="0"/>
              </a:rPr>
              <a:t>(6832), 1024-1025. </a:t>
            </a:r>
            <a:r>
              <a:rPr lang="en-CA" altLang="zh-CN" sz="1200" dirty="0">
                <a:latin typeface="Times New Roman" panose="02020603050405020304" pitchFamily="18" charset="0"/>
                <a:cs typeface="Times New Roman" panose="02020603050405020304" pitchFamily="18" charset="0"/>
                <a:hlinkClick r:id="rId7"/>
              </a:rPr>
              <a:t>https://doi.org/10.1038/35074210</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a:latin typeface="Times New Roman" panose="02020603050405020304" pitchFamily="18" charset="0"/>
                <a:cs typeface="Times New Roman" panose="02020603050405020304" pitchFamily="18" charset="0"/>
              </a:rPr>
              <a:t>Holdren, J. P. (2013). </a:t>
            </a:r>
            <a:r>
              <a:rPr lang="en-CA" altLang="zh-CN" sz="1200" i="1" dirty="0">
                <a:latin typeface="Times New Roman" panose="02020603050405020304" pitchFamily="18" charset="0"/>
                <a:cs typeface="Times New Roman" panose="02020603050405020304" pitchFamily="18" charset="0"/>
              </a:rPr>
              <a:t>Increasing access to the results of federally funded scientific research</a:t>
            </a:r>
            <a:r>
              <a:rPr lang="en-CA" altLang="zh-CN" sz="1200" dirty="0">
                <a:latin typeface="Times New Roman" panose="02020603050405020304" pitchFamily="18" charset="0"/>
                <a:cs typeface="Times New Roman" panose="02020603050405020304" pitchFamily="18" charset="0"/>
              </a:rPr>
              <a:t>. Office of Science and Technology Policy. </a:t>
            </a:r>
            <a:r>
              <a:rPr lang="en-CA" altLang="zh-CN" sz="1200" dirty="0">
                <a:latin typeface="Times New Roman" panose="02020603050405020304" pitchFamily="18" charset="0"/>
                <a:cs typeface="Times New Roman" panose="02020603050405020304" pitchFamily="18" charset="0"/>
                <a:hlinkClick r:id="rId8"/>
              </a:rPr>
              <a:t>https://obamawhitehouse.archives.gov/sites/default/files/microsites/ostp/ostp_public_access_memo_2013.pdf</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a:latin typeface="Times New Roman" panose="02020603050405020304" pitchFamily="18" charset="0"/>
                <a:cs typeface="Times New Roman" panose="02020603050405020304" pitchFamily="18" charset="0"/>
              </a:rPr>
              <a:t>Houghton, J., &amp; Sheehan, P. (2009). Estimating the potential impacts of open access to research findings. </a:t>
            </a:r>
            <a:r>
              <a:rPr lang="en-CA" altLang="zh-CN" sz="1200" i="1" dirty="0">
                <a:latin typeface="Times New Roman" panose="02020603050405020304" pitchFamily="18" charset="0"/>
                <a:cs typeface="Times New Roman" panose="02020603050405020304" pitchFamily="18" charset="0"/>
              </a:rPr>
              <a:t>Economic Analysis and Policy, 39</a:t>
            </a:r>
            <a:r>
              <a:rPr lang="en-CA" altLang="zh-CN" sz="1200" dirty="0">
                <a:latin typeface="Times New Roman" panose="02020603050405020304" pitchFamily="18" charset="0"/>
                <a:cs typeface="Times New Roman" panose="02020603050405020304" pitchFamily="18" charset="0"/>
              </a:rPr>
              <a:t>(1), 127-142. </a:t>
            </a:r>
            <a:r>
              <a:rPr lang="en-CA" altLang="zh-CN" sz="1200" dirty="0">
                <a:latin typeface="Times New Roman" panose="02020603050405020304" pitchFamily="18" charset="0"/>
                <a:cs typeface="Times New Roman" panose="02020603050405020304" pitchFamily="18" charset="0"/>
                <a:hlinkClick r:id="rId9"/>
              </a:rPr>
              <a:t>https://doi.org/10.1016/S0313-5926(09)50020-1</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err="1">
                <a:latin typeface="Times New Roman" panose="02020603050405020304" pitchFamily="18" charset="0"/>
                <a:cs typeface="Times New Roman" panose="02020603050405020304" pitchFamily="18" charset="0"/>
              </a:rPr>
              <a:t>Larivière</a:t>
            </a:r>
            <a:r>
              <a:rPr lang="en-CA" altLang="zh-CN" sz="1200" dirty="0">
                <a:latin typeface="Times New Roman" panose="02020603050405020304" pitchFamily="18" charset="0"/>
                <a:cs typeface="Times New Roman" panose="02020603050405020304" pitchFamily="18" charset="0"/>
              </a:rPr>
              <a:t>, V., </a:t>
            </a:r>
            <a:r>
              <a:rPr lang="en-CA" altLang="zh-CN" sz="1200" dirty="0" err="1">
                <a:latin typeface="Times New Roman" panose="02020603050405020304" pitchFamily="18" charset="0"/>
                <a:cs typeface="Times New Roman" panose="02020603050405020304" pitchFamily="18" charset="0"/>
              </a:rPr>
              <a:t>Haustein</a:t>
            </a:r>
            <a:r>
              <a:rPr lang="en-CA" altLang="zh-CN" sz="1200" dirty="0">
                <a:latin typeface="Times New Roman" panose="02020603050405020304" pitchFamily="18" charset="0"/>
                <a:cs typeface="Times New Roman" panose="02020603050405020304" pitchFamily="18" charset="0"/>
              </a:rPr>
              <a:t>, S., &amp; </a:t>
            </a:r>
            <a:r>
              <a:rPr lang="en-CA" altLang="zh-CN" sz="1200" dirty="0" err="1">
                <a:latin typeface="Times New Roman" panose="02020603050405020304" pitchFamily="18" charset="0"/>
                <a:cs typeface="Times New Roman" panose="02020603050405020304" pitchFamily="18" charset="0"/>
              </a:rPr>
              <a:t>Mongeon</a:t>
            </a:r>
            <a:r>
              <a:rPr lang="en-CA" altLang="zh-CN" sz="1200" dirty="0">
                <a:latin typeface="Times New Roman" panose="02020603050405020304" pitchFamily="18" charset="0"/>
                <a:cs typeface="Times New Roman" panose="02020603050405020304" pitchFamily="18" charset="0"/>
              </a:rPr>
              <a:t>, P. (2015). The oligopoly of academic publishers in the digital era. </a:t>
            </a:r>
            <a:r>
              <a:rPr lang="en-CA" altLang="zh-CN" sz="1200" i="1" dirty="0">
                <a:latin typeface="Times New Roman" panose="02020603050405020304" pitchFamily="18" charset="0"/>
                <a:cs typeface="Times New Roman" panose="02020603050405020304" pitchFamily="18" charset="0"/>
              </a:rPr>
              <a:t>PLOS One, 10</a:t>
            </a:r>
            <a:r>
              <a:rPr lang="en-CA" altLang="zh-CN" sz="1200" dirty="0">
                <a:latin typeface="Times New Roman" panose="02020603050405020304" pitchFamily="18" charset="0"/>
                <a:cs typeface="Times New Roman" panose="02020603050405020304" pitchFamily="18" charset="0"/>
              </a:rPr>
              <a:t>(6), e0127502. </a:t>
            </a:r>
            <a:r>
              <a:rPr lang="en-CA" altLang="zh-CN" sz="1200" dirty="0">
                <a:latin typeface="Times New Roman" panose="02020603050405020304" pitchFamily="18" charset="0"/>
                <a:cs typeface="Times New Roman" panose="02020603050405020304" pitchFamily="18" charset="0"/>
                <a:hlinkClick r:id="rId10"/>
              </a:rPr>
              <a:t>https://doi.org/10.1371/journal.pone.0127502</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a:latin typeface="Times New Roman" panose="02020603050405020304" pitchFamily="18" charset="0"/>
                <a:cs typeface="Times New Roman" panose="02020603050405020304" pitchFamily="18" charset="0"/>
              </a:rPr>
              <a:t>Piketty, T. (2014). </a:t>
            </a:r>
            <a:r>
              <a:rPr lang="en-CA" altLang="zh-CN" sz="1200" i="1" dirty="0">
                <a:latin typeface="Times New Roman" panose="02020603050405020304" pitchFamily="18" charset="0"/>
                <a:cs typeface="Times New Roman" panose="02020603050405020304" pitchFamily="18" charset="0"/>
              </a:rPr>
              <a:t>Capital in the twenty-first century</a:t>
            </a:r>
            <a:r>
              <a:rPr lang="en-CA" altLang="zh-CN" sz="1200" dirty="0">
                <a:latin typeface="Times New Roman" panose="02020603050405020304" pitchFamily="18" charset="0"/>
                <a:cs typeface="Times New Roman" panose="02020603050405020304" pitchFamily="18" charset="0"/>
              </a:rPr>
              <a:t>. Harvard University Press. </a:t>
            </a:r>
            <a:r>
              <a:rPr lang="en-CA" altLang="zh-CN" sz="1200" dirty="0">
                <a:latin typeface="Times New Roman" panose="02020603050405020304" pitchFamily="18" charset="0"/>
                <a:cs typeface="Times New Roman" panose="02020603050405020304" pitchFamily="18" charset="0"/>
                <a:hlinkClick r:id="rId11"/>
              </a:rPr>
              <a:t>https://doi.org/10.4159/9780674369542</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a:latin typeface="Times New Roman" panose="02020603050405020304" pitchFamily="18" charset="0"/>
                <a:cs typeface="Times New Roman" panose="02020603050405020304" pitchFamily="18" charset="0"/>
              </a:rPr>
              <a:t>Piwowar, H., </a:t>
            </a:r>
            <a:r>
              <a:rPr lang="en-CA" altLang="zh-CN" sz="1200" dirty="0" err="1">
                <a:latin typeface="Times New Roman" panose="02020603050405020304" pitchFamily="18" charset="0"/>
                <a:cs typeface="Times New Roman" panose="02020603050405020304" pitchFamily="18" charset="0"/>
              </a:rPr>
              <a:t>Priem</a:t>
            </a:r>
            <a:r>
              <a:rPr lang="en-CA" altLang="zh-CN" sz="1200" dirty="0">
                <a:latin typeface="Times New Roman" panose="02020603050405020304" pitchFamily="18" charset="0"/>
                <a:cs typeface="Times New Roman" panose="02020603050405020304" pitchFamily="18" charset="0"/>
              </a:rPr>
              <a:t>, J., </a:t>
            </a:r>
            <a:r>
              <a:rPr lang="en-CA" altLang="zh-CN" sz="1200" dirty="0" err="1">
                <a:latin typeface="Times New Roman" panose="02020603050405020304" pitchFamily="18" charset="0"/>
                <a:cs typeface="Times New Roman" panose="02020603050405020304" pitchFamily="18" charset="0"/>
              </a:rPr>
              <a:t>Larivière</a:t>
            </a:r>
            <a:r>
              <a:rPr lang="en-CA" altLang="zh-CN" sz="1200" dirty="0">
                <a:latin typeface="Times New Roman" panose="02020603050405020304" pitchFamily="18" charset="0"/>
                <a:cs typeface="Times New Roman" panose="02020603050405020304" pitchFamily="18" charset="0"/>
              </a:rPr>
              <a:t>, V., Alperin, J. P., Matthias, L., Norlander, B., … &amp; </a:t>
            </a:r>
            <a:r>
              <a:rPr lang="en-CA" altLang="zh-CN" sz="1200" dirty="0" err="1">
                <a:latin typeface="Times New Roman" panose="02020603050405020304" pitchFamily="18" charset="0"/>
                <a:cs typeface="Times New Roman" panose="02020603050405020304" pitchFamily="18" charset="0"/>
              </a:rPr>
              <a:t>Haustein</a:t>
            </a:r>
            <a:r>
              <a:rPr lang="en-CA" altLang="zh-CN" sz="1200" dirty="0">
                <a:latin typeface="Times New Roman" panose="02020603050405020304" pitchFamily="18" charset="0"/>
                <a:cs typeface="Times New Roman" panose="02020603050405020304" pitchFamily="18" charset="0"/>
              </a:rPr>
              <a:t>, S. (2018). The state of OA: A large-scale analysis of the prevalence and impact of open access articles. </a:t>
            </a:r>
            <a:r>
              <a:rPr lang="en-CA" altLang="zh-CN" sz="1200" i="1" dirty="0" err="1">
                <a:latin typeface="Times New Roman" panose="02020603050405020304" pitchFamily="18" charset="0"/>
                <a:cs typeface="Times New Roman" panose="02020603050405020304" pitchFamily="18" charset="0"/>
              </a:rPr>
              <a:t>PeerJ</a:t>
            </a:r>
            <a:r>
              <a:rPr lang="en-CA" altLang="zh-CN" sz="1200" i="1" dirty="0">
                <a:latin typeface="Times New Roman" panose="02020603050405020304" pitchFamily="18" charset="0"/>
                <a:cs typeface="Times New Roman" panose="02020603050405020304" pitchFamily="18" charset="0"/>
              </a:rPr>
              <a:t>, 6</a:t>
            </a:r>
            <a:r>
              <a:rPr lang="en-CA" altLang="zh-CN" sz="1200" dirty="0">
                <a:latin typeface="Times New Roman" panose="02020603050405020304" pitchFamily="18" charset="0"/>
                <a:cs typeface="Times New Roman" panose="02020603050405020304" pitchFamily="18" charset="0"/>
              </a:rPr>
              <a:t>, e4375. </a:t>
            </a:r>
            <a:r>
              <a:rPr lang="en-CA" altLang="zh-CN" sz="1200" dirty="0">
                <a:latin typeface="Times New Roman" panose="02020603050405020304" pitchFamily="18" charset="0"/>
                <a:cs typeface="Times New Roman" panose="02020603050405020304" pitchFamily="18" charset="0"/>
                <a:hlinkClick r:id="rId12"/>
              </a:rPr>
              <a:t>https://doi.org/10.7717/peerj.4375</a:t>
            </a:r>
            <a:endParaRPr lang="en-CA" altLang="zh-CN" sz="12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CA" altLang="zh-CN" sz="1200" dirty="0">
                <a:latin typeface="Times New Roman" panose="02020603050405020304" pitchFamily="18" charset="0"/>
                <a:cs typeface="Times New Roman" panose="02020603050405020304" pitchFamily="18" charset="0"/>
              </a:rPr>
              <a:t>Stiglitz, J. E. (1999). Knowledge as a global public good. In </a:t>
            </a:r>
            <a:r>
              <a:rPr lang="en-CA" altLang="zh-CN" sz="1200" i="1" dirty="0">
                <a:latin typeface="Times New Roman" panose="02020603050405020304" pitchFamily="18" charset="0"/>
                <a:cs typeface="Times New Roman" panose="02020603050405020304" pitchFamily="18" charset="0"/>
              </a:rPr>
              <a:t>Global public goods: International cooperation in the 21st century</a:t>
            </a:r>
            <a:r>
              <a:rPr lang="en-CA" altLang="zh-CN" sz="1200" dirty="0">
                <a:latin typeface="Times New Roman" panose="02020603050405020304" pitchFamily="18" charset="0"/>
                <a:cs typeface="Times New Roman" panose="02020603050405020304" pitchFamily="18" charset="0"/>
              </a:rPr>
              <a:t> (pp. 308-325). Oxford University Press.</a:t>
            </a:r>
          </a:p>
          <a:p>
            <a:pPr marL="228600" indent="-228600">
              <a:buFont typeface="+mj-lt"/>
              <a:buAutoNum type="arabicPeriod"/>
            </a:pPr>
            <a:r>
              <a:rPr lang="en-CA" altLang="zh-CN" sz="1200" dirty="0">
                <a:latin typeface="Times New Roman" panose="02020603050405020304" pitchFamily="18" charset="0"/>
                <a:cs typeface="Times New Roman" panose="02020603050405020304" pitchFamily="18" charset="0"/>
              </a:rPr>
              <a:t>Suber, P. (2012). </a:t>
            </a:r>
            <a:r>
              <a:rPr lang="en-CA" altLang="zh-CN" sz="1200" i="1" dirty="0">
                <a:latin typeface="Times New Roman" panose="02020603050405020304" pitchFamily="18" charset="0"/>
                <a:cs typeface="Times New Roman" panose="02020603050405020304" pitchFamily="18" charset="0"/>
              </a:rPr>
              <a:t>Open access</a:t>
            </a:r>
            <a:r>
              <a:rPr lang="en-CA" altLang="zh-CN" sz="1200" dirty="0">
                <a:latin typeface="Times New Roman" panose="02020603050405020304" pitchFamily="18" charset="0"/>
                <a:cs typeface="Times New Roman" panose="02020603050405020304" pitchFamily="18" charset="0"/>
              </a:rPr>
              <a:t>. MIT Press. </a:t>
            </a:r>
            <a:r>
              <a:rPr lang="en-CA" altLang="zh-CN" sz="1200" dirty="0">
                <a:latin typeface="Times New Roman" panose="02020603050405020304" pitchFamily="18" charset="0"/>
                <a:cs typeface="Times New Roman" panose="02020603050405020304" pitchFamily="18" charset="0"/>
                <a:hlinkClick r:id="rId13"/>
              </a:rPr>
              <a:t>https://doi.org/10.7551/mitpress/9286.001.0001</a:t>
            </a:r>
            <a:endParaRPr lang="en-US" altLang="zh-CN" sz="1200" dirty="0">
              <a:solidFill>
                <a:schemeClr val="tx1">
                  <a:lumMod val="85000"/>
                  <a:lumOff val="15000"/>
                </a:schemeClr>
              </a:solidFill>
              <a:latin typeface="Times New Roman" panose="02020603050405020304" pitchFamily="18" charset="0"/>
              <a:cs typeface="Times New Roman" panose="02020603050405020304" pitchFamily="18" charset="0"/>
            </a:endParaRPr>
          </a:p>
          <a:p>
            <a:endParaRPr lang="en-CA" altLang="zh-CN" sz="1600" dirty="0"/>
          </a:p>
        </p:txBody>
      </p:sp>
    </p:spTree>
    <p:extLst>
      <p:ext uri="{BB962C8B-B14F-4D97-AF65-F5344CB8AC3E}">
        <p14:creationId xmlns:p14="http://schemas.microsoft.com/office/powerpoint/2010/main" val="2051333688"/>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oZGlkIjoiMmMxNzY4NzliODJmOGYzMWEyZDdkODA0MWI0NTdiODcifQ=="/>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DengXian Light"/>
        <a:cs typeface="Arial"/>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DengXian"/>
        <a:cs typeface="Arial"/>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1496</TotalTime>
  <Words>2827</Words>
  <Application>Microsoft Macintosh PowerPoint</Application>
  <PresentationFormat>宽屏</PresentationFormat>
  <Paragraphs>161</Paragraphs>
  <Slides>13</Slides>
  <Notes>9</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13</vt:i4>
      </vt:variant>
    </vt:vector>
  </HeadingPairs>
  <TitlesOfParts>
    <vt:vector size="27" baseType="lpstr">
      <vt:lpstr>DengXian</vt:lpstr>
      <vt:lpstr>DengXian</vt:lpstr>
      <vt:lpstr>DengXian Light</vt:lpstr>
      <vt:lpstr>微软雅黑</vt:lpstr>
      <vt:lpstr>Aharoni</vt:lpstr>
      <vt:lpstr>Arial</vt:lpstr>
      <vt:lpstr>Corbel</vt:lpstr>
      <vt:lpstr>Josefin Sans</vt:lpstr>
      <vt:lpstr>Josefin Sans Light</vt:lpstr>
      <vt:lpstr>Playfair Display</vt:lpstr>
      <vt:lpstr>Times New Roman</vt:lpstr>
      <vt:lpstr>第一PPT，www.1ppt.com</vt:lpstr>
      <vt:lpstr>第一PPT，www.1ppt.com </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高端英文</dc:title>
  <dc:creator>第一PPT</dc:creator>
  <cp:keywords>www.1ppt.com</cp:keywords>
  <dc:description>www.1ppt.com</dc:description>
  <cp:lastModifiedBy>Changze Wu</cp:lastModifiedBy>
  <cp:revision>93</cp:revision>
  <dcterms:created xsi:type="dcterms:W3CDTF">2017-10-26T15:12:00Z</dcterms:created>
  <dcterms:modified xsi:type="dcterms:W3CDTF">2025-03-05T21:19:57Z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D8AA010714FB41278BEA10EBE0F4B0D0_12</vt:lpwstr>
  </property>
  <property fmtid="{D5CDD505-2E9C-101B-9397-08002B2CF9AE}" pid="3" name="KSOProductBuildVer">
    <vt:lpwstr>2052-12.1.0.18276</vt:lpwstr>
  </property>
</Properties>
</file>