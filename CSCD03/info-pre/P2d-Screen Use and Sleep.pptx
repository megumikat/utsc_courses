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6"/>
  </p:notesMasterIdLst>
  <p:handoutMasterIdLst>
    <p:handoutMasterId r:id="rId17"/>
  </p:handoutMasterIdLst>
  <p:sldIdLst>
    <p:sldId id="256" r:id="rId3"/>
    <p:sldId id="257" r:id="rId4"/>
    <p:sldId id="263" r:id="rId5"/>
    <p:sldId id="264" r:id="rId6"/>
    <p:sldId id="265" r:id="rId7"/>
    <p:sldId id="269" r:id="rId8"/>
    <p:sldId id="273" r:id="rId9"/>
    <p:sldId id="277" r:id="rId10"/>
    <p:sldId id="268" r:id="rId11"/>
    <p:sldId id="276" r:id="rId12"/>
    <p:sldId id="278" r:id="rId13"/>
    <p:sldId id="284" r:id="rId14"/>
    <p:sldId id="258"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EA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94" autoAdjust="0"/>
    <p:restoredTop sz="47336" autoAdjust="0"/>
  </p:normalViewPr>
  <p:slideViewPr>
    <p:cSldViewPr snapToGrid="0">
      <p:cViewPr varScale="1">
        <p:scale>
          <a:sx n="56" d="100"/>
          <a:sy n="56" d="100"/>
        </p:scale>
        <p:origin x="1728" y="184"/>
      </p:cViewPr>
      <p:guideLst>
        <p:guide orient="horz" pos="2160"/>
        <p:guide pos="3840"/>
      </p:guideLst>
    </p:cSldViewPr>
  </p:slideViewPr>
  <p:notesTextViewPr>
    <p:cViewPr>
      <p:scale>
        <a:sx n="1" d="1"/>
        <a:sy n="1" d="1"/>
      </p:scale>
      <p:origin x="0" y="0"/>
    </p:cViewPr>
  </p:notesTextViewPr>
  <p:sorterViewPr>
    <p:cViewPr>
      <p:scale>
        <a:sx n="100" d="100"/>
        <a:sy n="100" d="100"/>
      </p:scale>
      <p:origin x="0" y="-762"/>
    </p:cViewPr>
  </p:sorterViewPr>
  <p:notesViewPr>
    <p:cSldViewPr snapToGrid="0">
      <p:cViewPr varScale="1">
        <p:scale>
          <a:sx n="60" d="100"/>
          <a:sy n="60" d="100"/>
        </p:scale>
        <p:origin x="2496"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D9FADD0-F753-8A80-4D6C-1FD39484D75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B6F80B78-301D-25CC-92C6-D4AE659133B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77AAB20-9BA3-4335-B37F-047722B860B5}" type="datetimeFigureOut">
              <a:rPr lang="zh-CN" altLang="en-US" smtClean="0"/>
              <a:t>2026/3/21</a:t>
            </a:fld>
            <a:endParaRPr lang="zh-CN" altLang="en-US"/>
          </a:p>
        </p:txBody>
      </p:sp>
      <p:sp>
        <p:nvSpPr>
          <p:cNvPr id="4" name="页脚占位符 3">
            <a:extLst>
              <a:ext uri="{FF2B5EF4-FFF2-40B4-BE49-F238E27FC236}">
                <a16:creationId xmlns:a16="http://schemas.microsoft.com/office/drawing/2014/main" id="{41BB59E3-A7F1-7A8A-2663-D33D88B62D7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A9374156-EC94-3D44-CF6B-016D07EEE8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C673A7-09B1-41CC-9E9B-923DBE8B1702}" type="slidenum">
              <a:rPr lang="zh-CN" altLang="en-US" smtClean="0"/>
              <a:t>‹#›</a:t>
            </a:fld>
            <a:endParaRPr lang="zh-CN" altLang="en-US"/>
          </a:p>
        </p:txBody>
      </p:sp>
    </p:spTree>
    <p:extLst>
      <p:ext uri="{BB962C8B-B14F-4D97-AF65-F5344CB8AC3E}">
        <p14:creationId xmlns:p14="http://schemas.microsoft.com/office/powerpoint/2010/main" val="26226039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D5032E-64D3-423A-A580-3AB796CE47CC}" type="datetimeFigureOut">
              <a:rPr lang="zh-CN" altLang="en-US" smtClean="0"/>
              <a:t>2026/3/21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FE24FE-0CEC-45DB-8C12-71701C19468D}" type="slidenum">
              <a:rPr lang="zh-CN" altLang="en-US" smtClean="0"/>
              <a:t>‹#›</a:t>
            </a:fld>
            <a:endParaRPr lang="zh-CN" altLang="en-US"/>
          </a:p>
        </p:txBody>
      </p:sp>
    </p:spTree>
    <p:extLst>
      <p:ext uri="{BB962C8B-B14F-4D97-AF65-F5344CB8AC3E}">
        <p14:creationId xmlns:p14="http://schemas.microsoft.com/office/powerpoint/2010/main" val="3254899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Good [morning/afternoon], everyone. Today, I want to discuss a topic that affects us all—how electronic screens impact our sleep, particularly among teenagers and younger children. Sleep is fundamental for our physical health, mental well-being, and overall productivity. Yet, in this age of constant connectivity, electronic devices like smartphones, tablets, and laptops have disrupted this essential process.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For teenagers and children, this issue is even more significant due to their developing brains and bodies. We’ll explore how screens disrupt sleep, the specific effects on younger age groups, and the broader consequences of poor sleep. Finally, we’ll outline some practical solutions to mitigate these impacts.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C2FE24FE-0CEC-45DB-8C12-71701C19468D}" type="slidenum">
              <a:rPr lang="zh-CN" altLang="en-US" smtClean="0"/>
              <a:t>1</a:t>
            </a:fld>
            <a:endParaRPr lang="zh-CN" altLang="en-US"/>
          </a:p>
        </p:txBody>
      </p:sp>
    </p:spTree>
    <p:extLst>
      <p:ext uri="{BB962C8B-B14F-4D97-AF65-F5344CB8AC3E}">
        <p14:creationId xmlns:p14="http://schemas.microsoft.com/office/powerpoint/2010/main" val="469833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Sleep is more than just rest; it’s a cornerstone of our well-being. It helps our bodies heal and grow, strengthens our immune systems, and ensures we wake up ready to face the day. Beyond the physical benefits, sleep plays a critical role in cognitive functions like memory and learning. Think of it as your brain organizing a messy desk—it processes information, strengthens memories, and prepares us for new challenges.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en-US" altLang="zh-CN" sz="1800" dirty="0">
                <a:effectLst/>
                <a:latin typeface="DengXian" panose="02010600030101010101" pitchFamily="2" charset="-122"/>
                <a:cs typeface="Times New Roman" panose="02020603050405020304" pitchFamily="18" charset="0"/>
              </a:rPr>
              <a:t>But sleep isn’t automatic. It’s governed by our circadian rhythm and sleep-wake cycle. These systems, however, can be disrupted by factors like blue light exposure from screens, leading to poor sleep quality. As we explore the impacts of electronic screens on sleep, remember how vital these processes are to our overall health and success.</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C2FE24FE-0CEC-45DB-8C12-71701C19468D}" type="slidenum">
              <a:rPr lang="zh-CN" altLang="en-US" smtClean="0"/>
              <a:t>3</a:t>
            </a:fld>
            <a:endParaRPr lang="zh-CN" altLang="en-US"/>
          </a:p>
        </p:txBody>
      </p:sp>
    </p:spTree>
    <p:extLst>
      <p:ext uri="{BB962C8B-B14F-4D97-AF65-F5344CB8AC3E}">
        <p14:creationId xmlns:p14="http://schemas.microsoft.com/office/powerpoint/2010/main" val="563631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Electronic screens have become an integral part of our daily lives, spanning devices like smartphones, tablets, laptops, televisions, and gaming consoles. While these tools have brought unprecedented convenience, connectivity, and entertainment, one major issue stems from the blue light emitted by these devices. Blue light is a type of visible light with short wavelengths and high energy. While blue light naturally comes from the sun and helps regulate our wakefulness during the day, exposure to it at night can disrupt our sleep. This happens because blue light interferes with the brain’s production of melatonin—the hormone responsible for signaling that it’s time to rest.</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The impact is particularly concerning for teenagers and children, who are not only heavy users of these devices but are also more sensitive to the effects of blue light due to their still-developing brains.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C2FE24FE-0CEC-45DB-8C12-71701C19468D}" type="slidenum">
              <a:rPr lang="zh-CN" altLang="en-US" smtClean="0"/>
              <a:t>4</a:t>
            </a:fld>
            <a:endParaRPr lang="zh-CN" altLang="en-US"/>
          </a:p>
        </p:txBody>
      </p:sp>
    </p:spTree>
    <p:extLst>
      <p:ext uri="{BB962C8B-B14F-4D97-AF65-F5344CB8AC3E}">
        <p14:creationId xmlns:p14="http://schemas.microsoft.com/office/powerpoint/2010/main" val="42622872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Let’s explore how screens impact our sleep in three key ways.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First, screens disrupt our circadian rhythm. The blue light emitted by devices suppresses melatonin production, a hormone essential for regulating sleep. This tricks our brain into thinking it’s still daytime, delaying our natural sleep onset and shifting our biological clocks.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Second, screens reduce the quality of sleep. Engaging with screens late at night, whether it’s watching videos or scrolling through social media, shortens the duration and depth of sleep. This means less restorative deep sleep, leaving us feeling tired even after a full night in bed.</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Finally, screens provide behavioral stimulation. Whether it’s the thrill of a video game, the emotional draw of social media, or the suspense of a favorite show, these activities keep our brains active when they should be winding down. This heightened alertness makes it even harder to fall asleep.</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Understanding these impacts is crucial for improving our sleep hygiene in a screen-dominated world.</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C2FE24FE-0CEC-45DB-8C12-71701C19468D}" type="slidenum">
              <a:rPr lang="zh-CN" altLang="en-US" smtClean="0"/>
              <a:t>5</a:t>
            </a:fld>
            <a:endParaRPr lang="zh-CN" altLang="en-US"/>
          </a:p>
        </p:txBody>
      </p:sp>
    </p:spTree>
    <p:extLst>
      <p:ext uri="{BB962C8B-B14F-4D97-AF65-F5344CB8AC3E}">
        <p14:creationId xmlns:p14="http://schemas.microsoft.com/office/powerpoint/2010/main" val="3244759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One of the primary ways screens affect our sleep is by disrupting our circadian rhythm, which is our body’s internal clock regulating sleep and wake cycles. Let’s explore this in two critical aspects.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First, blue light emitted by electronic screens mimics daylight. This interferes with the body’s production of melatonin, a hormone essential for signaling to the brain that it’s time to sleep. When we use screens at night, the retina in our eyes detects this light and sends signals to the brain’s suprachiasmatic nucleus, or SCN, which governs our circadian rhythm. The SCN delays the release of melatonin, making the brain think it’s still daytime. This pushes back the body’s natural bedtime, leading to difficulty falling asleep.</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Second, using screens late at night, especially within one to two hours before bed, delays sleep onset. Studies, like the one conducted by Hale et al. (2024), have shown that nighttime exposure to screens suppresses melatonin levels. This results in not only falling asleep later but also shorter overall sleep duration.</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en-US" altLang="zh-CN" sz="1800" dirty="0">
                <a:effectLst/>
                <a:latin typeface="DengXian" panose="02010600030101010101" pitchFamily="2" charset="-122"/>
                <a:cs typeface="Times New Roman" panose="02020603050405020304" pitchFamily="18" charset="0"/>
              </a:rPr>
              <a:t>In essence, our screens aren’t just tools of convenience—they actively interfere with the natural signals that help us wind down, impacting our ability to rest effectively</a:t>
            </a:r>
            <a:r>
              <a:rPr lang="zh-CN" altLang="zh-CN" dirty="0">
                <a:effectLst/>
              </a:rPr>
              <a:t> </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C2FE24FE-0CEC-45DB-8C12-71701C19468D}" type="slidenum">
              <a:rPr lang="zh-CN" altLang="en-US" smtClean="0"/>
              <a:t>6</a:t>
            </a:fld>
            <a:endParaRPr lang="zh-CN" altLang="en-US"/>
          </a:p>
        </p:txBody>
      </p:sp>
    </p:spTree>
    <p:extLst>
      <p:ext uri="{BB962C8B-B14F-4D97-AF65-F5344CB8AC3E}">
        <p14:creationId xmlns:p14="http://schemas.microsoft.com/office/powerpoint/2010/main" val="290922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A" altLang="zh-CN" sz="2800" dirty="0"/>
              <a:t>One of the most critical impacts of screen use is its detrimental effect on sleep quality. Let me break this down into two key factors.</a:t>
            </a:r>
          </a:p>
          <a:p>
            <a:br>
              <a:rPr lang="en-CA" altLang="zh-CN" sz="2800" dirty="0"/>
            </a:br>
            <a:endParaRPr lang="en-CA" altLang="zh-CN" sz="2800" dirty="0"/>
          </a:p>
          <a:p>
            <a:r>
              <a:rPr lang="en-CA" altLang="zh-CN" sz="2800" dirty="0"/>
              <a:t>First, the suppression of melatonin. Research by Chang et al. (2015) found that using light-emitting devices, like phones or tablets, before bedtime delays melatonin production by around 90 minutes compared to reading non-illuminated materials. This delay disrupts our sleep-wake cycle, making it harder to fall asleep and reducing the overall quality of rest. Without sufficient melatonin, our bodies aren’t adequately prepared for restorative sleep, leaving us tired even after a full night in bed.</a:t>
            </a:r>
          </a:p>
          <a:p>
            <a:br>
              <a:rPr lang="en-CA" altLang="zh-CN" sz="2800" dirty="0"/>
            </a:br>
            <a:endParaRPr lang="en-CA" altLang="zh-CN" sz="2800" dirty="0"/>
          </a:p>
          <a:p>
            <a:r>
              <a:rPr lang="en-CA" altLang="zh-CN" sz="2800" dirty="0"/>
              <a:t>Second, the issue of increased cognitive stimulation. Carter et al. (2016) found that pre-bedtime screen use—whether it’s scrolling through social media, binge-watching shows, or gaming—keeps our minds alert and engaged. This heightened mental activity interrupts the natural process of winding down for sleep, often leading to bedtime procrastination and further delays in sleep onset.</a:t>
            </a:r>
          </a:p>
          <a:p>
            <a:br>
              <a:rPr lang="en-CA" altLang="zh-CN" sz="2800" dirty="0"/>
            </a:br>
            <a:endParaRPr lang="en-CA" altLang="zh-CN" sz="2800" dirty="0"/>
          </a:p>
          <a:p>
            <a:r>
              <a:rPr lang="en-CA" altLang="zh-CN" sz="2800" dirty="0"/>
              <a:t>Together, these biological and behavioral disruptions form a cycle that reduces both the quantity and quality of sleep. Addressing these challenges is essential for protecting our overall well-being and ensuring restful sleep.</a:t>
            </a:r>
          </a:p>
        </p:txBody>
      </p:sp>
      <p:sp>
        <p:nvSpPr>
          <p:cNvPr id="4" name="灯片编号占位符 3"/>
          <p:cNvSpPr>
            <a:spLocks noGrp="1"/>
          </p:cNvSpPr>
          <p:nvPr>
            <p:ph type="sldNum" sz="quarter" idx="5"/>
          </p:nvPr>
        </p:nvSpPr>
        <p:spPr/>
        <p:txBody>
          <a:bodyPr/>
          <a:lstStyle/>
          <a:p>
            <a:fld id="{C2FE24FE-0CEC-45DB-8C12-71701C19468D}" type="slidenum">
              <a:rPr lang="zh-CN" altLang="en-US" smtClean="0"/>
              <a:t>7</a:t>
            </a:fld>
            <a:endParaRPr lang="zh-CN" altLang="en-US"/>
          </a:p>
        </p:txBody>
      </p:sp>
    </p:spTree>
    <p:extLst>
      <p:ext uri="{BB962C8B-B14F-4D97-AF65-F5344CB8AC3E}">
        <p14:creationId xmlns:p14="http://schemas.microsoft.com/office/powerpoint/2010/main" val="231400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A" altLang="zh-CN" dirty="0"/>
              <a:t>Another way screens impact our sleep is through behavioral stimulation, which significantly delays bedtime and reduces sleep quality. This happens in two key ways.</a:t>
            </a:r>
          </a:p>
          <a:p>
            <a:br>
              <a:rPr lang="en-CA" altLang="zh-CN" dirty="0"/>
            </a:br>
            <a:endParaRPr lang="en-CA" altLang="zh-CN" dirty="0"/>
          </a:p>
          <a:p>
            <a:r>
              <a:rPr lang="en-CA" altLang="zh-CN" dirty="0"/>
              <a:t>First, increased alertness and cognitive stimulation. Late-night screen use for activities like gaming, browsing social media, or streaming videos keeps our brains in a state of heightened engagement. These activities make it difficult for the mind to transition into a restful state. Instead of winding down, the brain remains in “active mode,” delaying the natural process of falling asleep.</a:t>
            </a:r>
          </a:p>
          <a:p>
            <a:br>
              <a:rPr lang="en-CA" altLang="zh-CN" dirty="0"/>
            </a:br>
            <a:endParaRPr lang="en-CA" altLang="zh-CN" dirty="0"/>
          </a:p>
          <a:p>
            <a:r>
              <a:rPr lang="en-CA" altLang="zh-CN" dirty="0"/>
              <a:t>Second, the addictive nature of screen use. Devices are designed to trigger the brain’s reward system, releasing dopamine and encouraging prolonged engagement. Whether it’s scrolling through endless social media feeds, binge-watching a series, or finishing an intense game, we often lose track of time. This pushes bedtime further and compromises the restorative process of sleep.</a:t>
            </a:r>
          </a:p>
          <a:p>
            <a:br>
              <a:rPr lang="en-CA" altLang="zh-CN" dirty="0"/>
            </a:br>
            <a:endParaRPr lang="en-CA" altLang="zh-CN" dirty="0"/>
          </a:p>
          <a:p>
            <a:r>
              <a:rPr lang="en-CA" altLang="zh-CN" dirty="0"/>
              <a:t>Together, these factors disrupt our ability to prioritize and achieve sufficient rest, ultimately taking a toll on our physical and mental well-being. To combat this, we must create boundaries around screen use, especially in the hours leading up to bedtime.</a:t>
            </a:r>
          </a:p>
          <a:p>
            <a:endParaRPr kumimoji="1" lang="zh-CN" altLang="en-US" dirty="0"/>
          </a:p>
        </p:txBody>
      </p:sp>
      <p:sp>
        <p:nvSpPr>
          <p:cNvPr id="4" name="灯片编号占位符 3"/>
          <p:cNvSpPr>
            <a:spLocks noGrp="1"/>
          </p:cNvSpPr>
          <p:nvPr>
            <p:ph type="sldNum" sz="quarter" idx="5"/>
          </p:nvPr>
        </p:nvSpPr>
        <p:spPr/>
        <p:txBody>
          <a:bodyPr/>
          <a:lstStyle/>
          <a:p>
            <a:fld id="{C2FE24FE-0CEC-45DB-8C12-71701C19468D}" type="slidenum">
              <a:rPr lang="zh-CN" altLang="en-US" smtClean="0"/>
              <a:t>8</a:t>
            </a:fld>
            <a:endParaRPr lang="zh-CN" altLang="en-US"/>
          </a:p>
        </p:txBody>
      </p:sp>
    </p:spTree>
    <p:extLst>
      <p:ext uri="{BB962C8B-B14F-4D97-AF65-F5344CB8AC3E}">
        <p14:creationId xmlns:p14="http://schemas.microsoft.com/office/powerpoint/2010/main" val="332022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Let’s look at how screen use impacts teenagers and young children differently.</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For teenagers, their natural biological clock already leans toward staying up late, but excessive screen use makes this worse. Lopes (2024) highlighted how activities like social media or gaming disrupt sleep schedules, leading to delayed sleep phase syndrome. This results in poor academic performance, trouble concentrating, and even increased anxiety and mood swings.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For younger children, the issue is equally serious but manifests differently. Hale (2024) found that screen exposure reduces sleep by an average of 33 minutes per night, which is critical for kids under 10. This lack of rest affects growth, cognitive development, and attention spans, making it harder for children to learn and regulate emotions.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These effects highlight the importance of addressing screen use tailored to the needs of these specific groups.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C2FE24FE-0CEC-45DB-8C12-71701C19468D}" type="slidenum">
              <a:rPr lang="zh-CN" altLang="en-US" smtClean="0"/>
              <a:t>9</a:t>
            </a:fld>
            <a:endParaRPr lang="zh-CN" altLang="en-US"/>
          </a:p>
        </p:txBody>
      </p:sp>
    </p:spTree>
    <p:extLst>
      <p:ext uri="{BB962C8B-B14F-4D97-AF65-F5344CB8AC3E}">
        <p14:creationId xmlns:p14="http://schemas.microsoft.com/office/powerpoint/2010/main" val="978747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Poor sleep has far-reaching consequences, especially for young people, and can be broken down into three critical areas.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First, physical health risks: Sleep disruption, particularly caused by screens, alters hunger hormones, as noted by Christakis &amp; Hale (2025). This imbalance leads to overeating and increased risks of obesity, particularly among children and teens.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Second, mental health impacts: Takahashi &amp; Tsuchiya (2024) observed that children with ADHD who used screens at night experienced higher levels of anxiety and emotional instability compared to those who didn’t. Poor sleep leaves the brain unable to properly regulate emotions, exacerbating mental health challenges.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Lastly, academic and cognitive consequences: According to Christakis (2025), sleep deprivation directly impacts focus and memory. Students who lose sleep due to screen use often report poorer grades and struggle with attention during school hours.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This shows that addressing sleep issues is crucial for overall well-being, both physically and mentally.</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C2FE24FE-0CEC-45DB-8C12-71701C19468D}" type="slidenum">
              <a:rPr lang="zh-CN" altLang="en-US" smtClean="0"/>
              <a:t>10</a:t>
            </a:fld>
            <a:endParaRPr lang="zh-CN" altLang="en-US"/>
          </a:p>
        </p:txBody>
      </p:sp>
    </p:spTree>
    <p:extLst>
      <p:ext uri="{BB962C8B-B14F-4D97-AF65-F5344CB8AC3E}">
        <p14:creationId xmlns:p14="http://schemas.microsoft.com/office/powerpoint/2010/main" val="3157676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en-CA" altLang="zh-CN" dirty="0"/>
            </a:br>
            <a:endParaRPr lang="en-CA" altLang="zh-CN" dirty="0"/>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To minimize the negative impact of screens on sleep, we can follow three simple yet effective guidelines: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First, limit screen time. By creating no-screen zones and avoiding devices 1 to 2 hours before bed, we allow our brains to naturally wind down and prepare for sleep. Studies show that this small change can significantly improve sleep quality.</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Second, use blue light filters. Most devices today come with features like night mode or blue light filters. These settings reduce the emission of blue light, which suppresses melatonin production. While not a complete solution, they are an easy first step toward mitigating the effects of screen use.</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Finally, promote healthy sleep habits. Consistent bedtime routines, such as reading or meditating before bed, can signal the body to relax and prepare for restful sleep. These routines also help reduce screen dependency at night.</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By adopting these practices, we can create healthier habits that protect both our sleep and overall well-being.</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C2FE24FE-0CEC-45DB-8C12-71701C19468D}" type="slidenum">
              <a:rPr lang="zh-CN" altLang="en-US" smtClean="0"/>
              <a:t>11</a:t>
            </a:fld>
            <a:endParaRPr lang="zh-CN" altLang="en-US"/>
          </a:p>
        </p:txBody>
      </p:sp>
    </p:spTree>
    <p:extLst>
      <p:ext uri="{BB962C8B-B14F-4D97-AF65-F5344CB8AC3E}">
        <p14:creationId xmlns:p14="http://schemas.microsoft.com/office/powerpoint/2010/main" val="7587975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In conclusion, electronic screens have become an indispensable part of our daily lives, but their impact on sleep cannot be ignored. From disrupting circadian rhythms and reducing sleep quality to causing behavioral stimulation, the effects are particularly harmful to teenagers and younger children, who rely on quality sleep for their growth and development. Poor sleep doesn’t just affect rest; it has profound consequences on physical health, mental well-being, and cognitive performance.</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The good news is that we can take proactive steps to address this issue. By limiting screen time, using blue light filters, and fostering healthy bedtime routines, we can mitigate the negative effects of screen exposure and prioritize better sleep habits.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I encourage everyone to reflect on their screen usage and consider small changes that can lead to significant improvements in sleep and overall health. Together, we can balance technology and well-being to create a healthier future for ourselves and the next generation. Thank you.</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C2FE24FE-0CEC-45DB-8C12-71701C19468D}" type="slidenum">
              <a:rPr lang="zh-CN" altLang="en-US" smtClean="0"/>
              <a:t>12</a:t>
            </a:fld>
            <a:endParaRPr lang="zh-CN" altLang="en-US"/>
          </a:p>
        </p:txBody>
      </p:sp>
    </p:spTree>
    <p:extLst>
      <p:ext uri="{BB962C8B-B14F-4D97-AF65-F5344CB8AC3E}">
        <p14:creationId xmlns:p14="http://schemas.microsoft.com/office/powerpoint/2010/main" val="2375312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E9EAEC"/>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625AE381-0CBF-6B9A-2383-81FDCE88D8A9}"/>
              </a:ext>
            </a:extLst>
          </p:cNvPr>
          <p:cNvSpPr/>
          <p:nvPr userDrawn="1"/>
        </p:nvSpPr>
        <p:spPr>
          <a:xfrm>
            <a:off x="133351" y="125730"/>
            <a:ext cx="11925300" cy="660654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77608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EF75F-A19A-67FF-983C-112A5A00C57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A2B493A-21DA-1CBE-EFD7-133ADC724EE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557B5A5-127C-E71C-B1FF-DF332BFA03F0}"/>
              </a:ext>
            </a:extLst>
          </p:cNvPr>
          <p:cNvSpPr>
            <a:spLocks noGrp="1"/>
          </p:cNvSpPr>
          <p:nvPr>
            <p:ph type="dt" sz="half" idx="10"/>
          </p:nvPr>
        </p:nvSpPr>
        <p:spPr/>
        <p:txBody>
          <a:bodyPr/>
          <a:lstStyle/>
          <a:p>
            <a:fld id="{22F5EE30-12F6-4A9E-A864-405F152A0F8A}" type="datetimeFigureOut">
              <a:rPr lang="zh-CN" altLang="en-US" smtClean="0"/>
              <a:t>2026/3/21</a:t>
            </a:fld>
            <a:endParaRPr lang="zh-CN" altLang="en-US"/>
          </a:p>
        </p:txBody>
      </p:sp>
      <p:sp>
        <p:nvSpPr>
          <p:cNvPr id="5" name="页脚占位符 4">
            <a:extLst>
              <a:ext uri="{FF2B5EF4-FFF2-40B4-BE49-F238E27FC236}">
                <a16:creationId xmlns:a16="http://schemas.microsoft.com/office/drawing/2014/main" id="{0A75E031-DE54-DA62-7A55-0419397BC0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ECC621-E9DC-4AB6-C2CB-EC28EF070C9D}"/>
              </a:ext>
            </a:extLst>
          </p:cNvPr>
          <p:cNvSpPr>
            <a:spLocks noGrp="1"/>
          </p:cNvSpPr>
          <p:nvPr>
            <p:ph type="sldNum" sz="quarter" idx="12"/>
          </p:nvPr>
        </p:nvSpPr>
        <p:spPr/>
        <p:txBody>
          <a:bodyPr/>
          <a:lstStyle/>
          <a:p>
            <a:fld id="{AD41F490-DBDB-4726-B909-D5481FD1F035}" type="slidenum">
              <a:rPr lang="zh-CN" altLang="en-US" smtClean="0"/>
              <a:t>‹#›</a:t>
            </a:fld>
            <a:endParaRPr lang="zh-CN" altLang="en-US"/>
          </a:p>
        </p:txBody>
      </p:sp>
    </p:spTree>
    <p:extLst>
      <p:ext uri="{BB962C8B-B14F-4D97-AF65-F5344CB8AC3E}">
        <p14:creationId xmlns:p14="http://schemas.microsoft.com/office/powerpoint/2010/main" val="774721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FC367-5B63-7864-69A4-72833DE38167}"/>
              </a:ext>
            </a:extLst>
          </p:cNvPr>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6131FF6-1DB7-A061-A5D6-F936AFE24BE2}"/>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F106185-FC67-B3BF-15C0-43C67345976B}"/>
              </a:ext>
            </a:extLst>
          </p:cNvPr>
          <p:cNvSpPr>
            <a:spLocks noGrp="1"/>
          </p:cNvSpPr>
          <p:nvPr>
            <p:ph type="dt" sz="half" idx="10"/>
          </p:nvPr>
        </p:nvSpPr>
        <p:spPr/>
        <p:txBody>
          <a:bodyPr/>
          <a:lstStyle/>
          <a:p>
            <a:fld id="{22F5EE30-12F6-4A9E-A864-405F152A0F8A}" type="datetimeFigureOut">
              <a:rPr lang="zh-CN" altLang="en-US" smtClean="0"/>
              <a:t>2026/3/21</a:t>
            </a:fld>
            <a:endParaRPr lang="zh-CN" altLang="en-US"/>
          </a:p>
        </p:txBody>
      </p:sp>
      <p:sp>
        <p:nvSpPr>
          <p:cNvPr id="5" name="页脚占位符 4">
            <a:extLst>
              <a:ext uri="{FF2B5EF4-FFF2-40B4-BE49-F238E27FC236}">
                <a16:creationId xmlns:a16="http://schemas.microsoft.com/office/drawing/2014/main" id="{5BA6E2DF-C610-81B3-E95B-C0450BAF269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DBF9F4-E99C-8DEA-1A5C-D2DE1709012A}"/>
              </a:ext>
            </a:extLst>
          </p:cNvPr>
          <p:cNvSpPr>
            <a:spLocks noGrp="1"/>
          </p:cNvSpPr>
          <p:nvPr>
            <p:ph type="sldNum" sz="quarter" idx="12"/>
          </p:nvPr>
        </p:nvSpPr>
        <p:spPr/>
        <p:txBody>
          <a:bodyPr/>
          <a:lstStyle/>
          <a:p>
            <a:fld id="{AD41F490-DBDB-4726-B909-D5481FD1F035}" type="slidenum">
              <a:rPr lang="zh-CN" altLang="en-US" smtClean="0"/>
              <a:t>‹#›</a:t>
            </a:fld>
            <a:endParaRPr lang="zh-CN" altLang="en-US"/>
          </a:p>
        </p:txBody>
      </p:sp>
    </p:spTree>
    <p:extLst>
      <p:ext uri="{BB962C8B-B14F-4D97-AF65-F5344CB8AC3E}">
        <p14:creationId xmlns:p14="http://schemas.microsoft.com/office/powerpoint/2010/main" val="2998423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C6FE4C-5FD2-8425-02DE-085F092BF43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7360218-AEFA-2E4F-D244-2D17163F6BE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6DA1FFF-B4AE-827B-7B00-1FB2C619870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C7B1274-7306-37B1-A9C4-8B7A83BEB136}"/>
              </a:ext>
            </a:extLst>
          </p:cNvPr>
          <p:cNvSpPr>
            <a:spLocks noGrp="1"/>
          </p:cNvSpPr>
          <p:nvPr>
            <p:ph type="dt" sz="half" idx="10"/>
          </p:nvPr>
        </p:nvSpPr>
        <p:spPr/>
        <p:txBody>
          <a:bodyPr/>
          <a:lstStyle/>
          <a:p>
            <a:fld id="{22F5EE30-12F6-4A9E-A864-405F152A0F8A}" type="datetimeFigureOut">
              <a:rPr lang="zh-CN" altLang="en-US" smtClean="0"/>
              <a:t>2026/3/21</a:t>
            </a:fld>
            <a:endParaRPr lang="zh-CN" altLang="en-US"/>
          </a:p>
        </p:txBody>
      </p:sp>
      <p:sp>
        <p:nvSpPr>
          <p:cNvPr id="6" name="页脚占位符 5">
            <a:extLst>
              <a:ext uri="{FF2B5EF4-FFF2-40B4-BE49-F238E27FC236}">
                <a16:creationId xmlns:a16="http://schemas.microsoft.com/office/drawing/2014/main" id="{C98D0E7E-D57A-391F-2475-55075455D96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BF514F-4D48-00A2-1AD7-8B7B5F2AC1FD}"/>
              </a:ext>
            </a:extLst>
          </p:cNvPr>
          <p:cNvSpPr>
            <a:spLocks noGrp="1"/>
          </p:cNvSpPr>
          <p:nvPr>
            <p:ph type="sldNum" sz="quarter" idx="12"/>
          </p:nvPr>
        </p:nvSpPr>
        <p:spPr/>
        <p:txBody>
          <a:bodyPr/>
          <a:lstStyle/>
          <a:p>
            <a:fld id="{AD41F490-DBDB-4726-B909-D5481FD1F035}" type="slidenum">
              <a:rPr lang="zh-CN" altLang="en-US" smtClean="0"/>
              <a:t>‹#›</a:t>
            </a:fld>
            <a:endParaRPr lang="zh-CN" altLang="en-US"/>
          </a:p>
        </p:txBody>
      </p:sp>
    </p:spTree>
    <p:extLst>
      <p:ext uri="{BB962C8B-B14F-4D97-AF65-F5344CB8AC3E}">
        <p14:creationId xmlns:p14="http://schemas.microsoft.com/office/powerpoint/2010/main" val="159090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891CB9-8E05-366E-2D83-E5B87583380D}"/>
              </a:ext>
            </a:extLst>
          </p:cNvPr>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2A866D3-65C8-E914-F559-E29693834A06}"/>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2FC250E-E43E-5AD9-B58E-E243D6AC78E3}"/>
              </a:ext>
            </a:extLst>
          </p:cNvPr>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4CA6808-F660-42AD-6098-C06B0947DFAC}"/>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50A2089-023B-3227-9091-B09C901AF38F}"/>
              </a:ext>
            </a:extLst>
          </p:cNvPr>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1D46C1D-D00E-E7A1-6113-BDC6B96EEBBC}"/>
              </a:ext>
            </a:extLst>
          </p:cNvPr>
          <p:cNvSpPr>
            <a:spLocks noGrp="1"/>
          </p:cNvSpPr>
          <p:nvPr>
            <p:ph type="dt" sz="half" idx="10"/>
          </p:nvPr>
        </p:nvSpPr>
        <p:spPr/>
        <p:txBody>
          <a:bodyPr/>
          <a:lstStyle/>
          <a:p>
            <a:fld id="{22F5EE30-12F6-4A9E-A864-405F152A0F8A}" type="datetimeFigureOut">
              <a:rPr lang="zh-CN" altLang="en-US" smtClean="0"/>
              <a:t>2026/3/21</a:t>
            </a:fld>
            <a:endParaRPr lang="zh-CN" altLang="en-US"/>
          </a:p>
        </p:txBody>
      </p:sp>
      <p:sp>
        <p:nvSpPr>
          <p:cNvPr id="8" name="页脚占位符 7">
            <a:extLst>
              <a:ext uri="{FF2B5EF4-FFF2-40B4-BE49-F238E27FC236}">
                <a16:creationId xmlns:a16="http://schemas.microsoft.com/office/drawing/2014/main" id="{8649DAC0-093E-B5FD-3F58-19BCBFBA4DF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D88A42F-B033-C324-4498-10D85EBA6EFA}"/>
              </a:ext>
            </a:extLst>
          </p:cNvPr>
          <p:cNvSpPr>
            <a:spLocks noGrp="1"/>
          </p:cNvSpPr>
          <p:nvPr>
            <p:ph type="sldNum" sz="quarter" idx="12"/>
          </p:nvPr>
        </p:nvSpPr>
        <p:spPr/>
        <p:txBody>
          <a:bodyPr/>
          <a:lstStyle/>
          <a:p>
            <a:fld id="{AD41F490-DBDB-4726-B909-D5481FD1F035}" type="slidenum">
              <a:rPr lang="zh-CN" altLang="en-US" smtClean="0"/>
              <a:t>‹#›</a:t>
            </a:fld>
            <a:endParaRPr lang="zh-CN" altLang="en-US"/>
          </a:p>
        </p:txBody>
      </p:sp>
    </p:spTree>
    <p:extLst>
      <p:ext uri="{BB962C8B-B14F-4D97-AF65-F5344CB8AC3E}">
        <p14:creationId xmlns:p14="http://schemas.microsoft.com/office/powerpoint/2010/main" val="925768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2F03EB-681A-2DC8-DBDC-5F17B784CB3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944B5DA-3752-C018-F0FD-6AAFE64E84BF}"/>
              </a:ext>
            </a:extLst>
          </p:cNvPr>
          <p:cNvSpPr>
            <a:spLocks noGrp="1"/>
          </p:cNvSpPr>
          <p:nvPr>
            <p:ph type="dt" sz="half" idx="10"/>
          </p:nvPr>
        </p:nvSpPr>
        <p:spPr/>
        <p:txBody>
          <a:bodyPr/>
          <a:lstStyle/>
          <a:p>
            <a:fld id="{22F5EE30-12F6-4A9E-A864-405F152A0F8A}" type="datetimeFigureOut">
              <a:rPr lang="zh-CN" altLang="en-US" smtClean="0"/>
              <a:t>2026/3/21</a:t>
            </a:fld>
            <a:endParaRPr lang="zh-CN" altLang="en-US"/>
          </a:p>
        </p:txBody>
      </p:sp>
      <p:sp>
        <p:nvSpPr>
          <p:cNvPr id="4" name="页脚占位符 3">
            <a:extLst>
              <a:ext uri="{FF2B5EF4-FFF2-40B4-BE49-F238E27FC236}">
                <a16:creationId xmlns:a16="http://schemas.microsoft.com/office/drawing/2014/main" id="{D48A68AC-37AC-2DD6-3231-DCC2A9D2548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BA5D26F-9D0B-B226-868F-8E8E532B6660}"/>
              </a:ext>
            </a:extLst>
          </p:cNvPr>
          <p:cNvSpPr>
            <a:spLocks noGrp="1"/>
          </p:cNvSpPr>
          <p:nvPr>
            <p:ph type="sldNum" sz="quarter" idx="12"/>
          </p:nvPr>
        </p:nvSpPr>
        <p:spPr/>
        <p:txBody>
          <a:bodyPr/>
          <a:lstStyle/>
          <a:p>
            <a:fld id="{AD41F490-DBDB-4726-B909-D5481FD1F035}" type="slidenum">
              <a:rPr lang="zh-CN" altLang="en-US" smtClean="0"/>
              <a:t>‹#›</a:t>
            </a:fld>
            <a:endParaRPr lang="zh-CN" altLang="en-US"/>
          </a:p>
        </p:txBody>
      </p:sp>
    </p:spTree>
    <p:extLst>
      <p:ext uri="{BB962C8B-B14F-4D97-AF65-F5344CB8AC3E}">
        <p14:creationId xmlns:p14="http://schemas.microsoft.com/office/powerpoint/2010/main" val="504417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D548AA1-1B84-03DB-852C-D7F97277B072}"/>
              </a:ext>
            </a:extLst>
          </p:cNvPr>
          <p:cNvSpPr>
            <a:spLocks noGrp="1"/>
          </p:cNvSpPr>
          <p:nvPr>
            <p:ph type="dt" sz="half" idx="10"/>
          </p:nvPr>
        </p:nvSpPr>
        <p:spPr/>
        <p:txBody>
          <a:bodyPr/>
          <a:lstStyle/>
          <a:p>
            <a:fld id="{22F5EE30-12F6-4A9E-A864-405F152A0F8A}" type="datetimeFigureOut">
              <a:rPr lang="zh-CN" altLang="en-US" smtClean="0"/>
              <a:t>2026/3/21</a:t>
            </a:fld>
            <a:endParaRPr lang="zh-CN" altLang="en-US"/>
          </a:p>
        </p:txBody>
      </p:sp>
      <p:sp>
        <p:nvSpPr>
          <p:cNvPr id="3" name="页脚占位符 2">
            <a:extLst>
              <a:ext uri="{FF2B5EF4-FFF2-40B4-BE49-F238E27FC236}">
                <a16:creationId xmlns:a16="http://schemas.microsoft.com/office/drawing/2014/main" id="{F354571F-25EE-311D-82AB-5D3B77763C1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AB9D5E4-09DF-2AD0-ADB2-7538847C4E7B}"/>
              </a:ext>
            </a:extLst>
          </p:cNvPr>
          <p:cNvSpPr>
            <a:spLocks noGrp="1"/>
          </p:cNvSpPr>
          <p:nvPr>
            <p:ph type="sldNum" sz="quarter" idx="12"/>
          </p:nvPr>
        </p:nvSpPr>
        <p:spPr/>
        <p:txBody>
          <a:bodyPr/>
          <a:lstStyle/>
          <a:p>
            <a:fld id="{AD41F490-DBDB-4726-B909-D5481FD1F035}" type="slidenum">
              <a:rPr lang="zh-CN" altLang="en-US" smtClean="0"/>
              <a:t>‹#›</a:t>
            </a:fld>
            <a:endParaRPr lang="zh-CN" altLang="en-US"/>
          </a:p>
        </p:txBody>
      </p:sp>
    </p:spTree>
    <p:extLst>
      <p:ext uri="{BB962C8B-B14F-4D97-AF65-F5344CB8AC3E}">
        <p14:creationId xmlns:p14="http://schemas.microsoft.com/office/powerpoint/2010/main" val="212462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A484BF-2FFF-8D8B-1B23-8C905154FE6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19826D3-5150-56A4-ACA8-EFA23E0C29E4}"/>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43C0141-6F32-5190-F4EC-BF227D4CAD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4FCA693-C13D-73CC-1819-0B8365E41E05}"/>
              </a:ext>
            </a:extLst>
          </p:cNvPr>
          <p:cNvSpPr>
            <a:spLocks noGrp="1"/>
          </p:cNvSpPr>
          <p:nvPr>
            <p:ph type="dt" sz="half" idx="10"/>
          </p:nvPr>
        </p:nvSpPr>
        <p:spPr/>
        <p:txBody>
          <a:bodyPr/>
          <a:lstStyle/>
          <a:p>
            <a:fld id="{22F5EE30-12F6-4A9E-A864-405F152A0F8A}" type="datetimeFigureOut">
              <a:rPr lang="zh-CN" altLang="en-US" smtClean="0"/>
              <a:t>2026/3/21</a:t>
            </a:fld>
            <a:endParaRPr lang="zh-CN" altLang="en-US"/>
          </a:p>
        </p:txBody>
      </p:sp>
      <p:sp>
        <p:nvSpPr>
          <p:cNvPr id="6" name="页脚占位符 5">
            <a:extLst>
              <a:ext uri="{FF2B5EF4-FFF2-40B4-BE49-F238E27FC236}">
                <a16:creationId xmlns:a16="http://schemas.microsoft.com/office/drawing/2014/main" id="{692ED5A8-7882-915E-71DA-42C1B46D4CF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DF1AF60-47F2-71EE-C17E-79F4D2FAFCBA}"/>
              </a:ext>
            </a:extLst>
          </p:cNvPr>
          <p:cNvSpPr>
            <a:spLocks noGrp="1"/>
          </p:cNvSpPr>
          <p:nvPr>
            <p:ph type="sldNum" sz="quarter" idx="12"/>
          </p:nvPr>
        </p:nvSpPr>
        <p:spPr/>
        <p:txBody>
          <a:bodyPr/>
          <a:lstStyle/>
          <a:p>
            <a:fld id="{AD41F490-DBDB-4726-B909-D5481FD1F035}" type="slidenum">
              <a:rPr lang="zh-CN" altLang="en-US" smtClean="0"/>
              <a:t>‹#›</a:t>
            </a:fld>
            <a:endParaRPr lang="zh-CN" altLang="en-US"/>
          </a:p>
        </p:txBody>
      </p:sp>
    </p:spTree>
    <p:extLst>
      <p:ext uri="{BB962C8B-B14F-4D97-AF65-F5344CB8AC3E}">
        <p14:creationId xmlns:p14="http://schemas.microsoft.com/office/powerpoint/2010/main" val="1872006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8725A5-51B6-98CC-CAA9-A66A5A2E5A9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5DD6DB4-8136-7E0F-1D2A-1D0326C0DCA2}"/>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C2730BB-4B6B-2664-3F3D-393F753D73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213215D-63D8-6A8F-CD98-96C8B43307AB}"/>
              </a:ext>
            </a:extLst>
          </p:cNvPr>
          <p:cNvSpPr>
            <a:spLocks noGrp="1"/>
          </p:cNvSpPr>
          <p:nvPr>
            <p:ph type="dt" sz="half" idx="10"/>
          </p:nvPr>
        </p:nvSpPr>
        <p:spPr/>
        <p:txBody>
          <a:bodyPr/>
          <a:lstStyle/>
          <a:p>
            <a:fld id="{22F5EE30-12F6-4A9E-A864-405F152A0F8A}" type="datetimeFigureOut">
              <a:rPr lang="zh-CN" altLang="en-US" smtClean="0"/>
              <a:t>2026/3/21</a:t>
            </a:fld>
            <a:endParaRPr lang="zh-CN" altLang="en-US"/>
          </a:p>
        </p:txBody>
      </p:sp>
      <p:sp>
        <p:nvSpPr>
          <p:cNvPr id="6" name="页脚占位符 5">
            <a:extLst>
              <a:ext uri="{FF2B5EF4-FFF2-40B4-BE49-F238E27FC236}">
                <a16:creationId xmlns:a16="http://schemas.microsoft.com/office/drawing/2014/main" id="{736CD23C-4EE2-29FC-AB2E-931C86AEB64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ED71ED9-DF18-A25C-B387-0F727075CB74}"/>
              </a:ext>
            </a:extLst>
          </p:cNvPr>
          <p:cNvSpPr>
            <a:spLocks noGrp="1"/>
          </p:cNvSpPr>
          <p:nvPr>
            <p:ph type="sldNum" sz="quarter" idx="12"/>
          </p:nvPr>
        </p:nvSpPr>
        <p:spPr/>
        <p:txBody>
          <a:bodyPr/>
          <a:lstStyle/>
          <a:p>
            <a:fld id="{AD41F490-DBDB-4726-B909-D5481FD1F035}" type="slidenum">
              <a:rPr lang="zh-CN" altLang="en-US" smtClean="0"/>
              <a:t>‹#›</a:t>
            </a:fld>
            <a:endParaRPr lang="zh-CN" altLang="en-US"/>
          </a:p>
        </p:txBody>
      </p:sp>
    </p:spTree>
    <p:extLst>
      <p:ext uri="{BB962C8B-B14F-4D97-AF65-F5344CB8AC3E}">
        <p14:creationId xmlns:p14="http://schemas.microsoft.com/office/powerpoint/2010/main" val="888758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691273-FBF9-C49E-622B-BF1BAD25FBB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343B949-E659-2562-9736-9C0E1DDEFCF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461335C-5476-B39D-9973-4295B361A82B}"/>
              </a:ext>
            </a:extLst>
          </p:cNvPr>
          <p:cNvSpPr>
            <a:spLocks noGrp="1"/>
          </p:cNvSpPr>
          <p:nvPr>
            <p:ph type="dt" sz="half" idx="10"/>
          </p:nvPr>
        </p:nvSpPr>
        <p:spPr/>
        <p:txBody>
          <a:bodyPr/>
          <a:lstStyle/>
          <a:p>
            <a:fld id="{22F5EE30-12F6-4A9E-A864-405F152A0F8A}" type="datetimeFigureOut">
              <a:rPr lang="zh-CN" altLang="en-US" smtClean="0"/>
              <a:t>2026/3/21</a:t>
            </a:fld>
            <a:endParaRPr lang="zh-CN" altLang="en-US"/>
          </a:p>
        </p:txBody>
      </p:sp>
      <p:sp>
        <p:nvSpPr>
          <p:cNvPr id="5" name="页脚占位符 4">
            <a:extLst>
              <a:ext uri="{FF2B5EF4-FFF2-40B4-BE49-F238E27FC236}">
                <a16:creationId xmlns:a16="http://schemas.microsoft.com/office/drawing/2014/main" id="{7A3BC9AA-2C71-CB2E-99CB-79C4A725611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24219C0-C002-9FD5-CAA0-BC1C75E4D455}"/>
              </a:ext>
            </a:extLst>
          </p:cNvPr>
          <p:cNvSpPr>
            <a:spLocks noGrp="1"/>
          </p:cNvSpPr>
          <p:nvPr>
            <p:ph type="sldNum" sz="quarter" idx="12"/>
          </p:nvPr>
        </p:nvSpPr>
        <p:spPr/>
        <p:txBody>
          <a:bodyPr/>
          <a:lstStyle/>
          <a:p>
            <a:fld id="{AD41F490-DBDB-4726-B909-D5481FD1F035}" type="slidenum">
              <a:rPr lang="zh-CN" altLang="en-US" smtClean="0"/>
              <a:t>‹#›</a:t>
            </a:fld>
            <a:endParaRPr lang="zh-CN" altLang="en-US"/>
          </a:p>
        </p:txBody>
      </p:sp>
      <p:sp>
        <p:nvSpPr>
          <p:cNvPr id="7" name="TextBox 6"/>
          <p:cNvSpPr txBox="1"/>
          <p:nvPr userDrawn="1"/>
        </p:nvSpPr>
        <p:spPr>
          <a:xfrm>
            <a:off x="11651940" y="10325"/>
            <a:ext cx="540060" cy="118430"/>
          </a:xfrm>
          <a:prstGeom prst="rect">
            <a:avLst/>
          </a:prstGeom>
          <a:noFill/>
        </p:spPr>
        <p:txBody>
          <a:bodyPr wrap="square" rtlCol="0">
            <a:spAutoFit/>
          </a:bodyPr>
          <a:lstStyle/>
          <a:p>
            <a:pPr>
              <a:lnSpc>
                <a:spcPct val="200000"/>
              </a:lnSpc>
            </a:pPr>
            <a:r>
              <a:rPr lang="en-US" altLang="zh-CN" sz="100" dirty="0">
                <a:latin typeface="微软雅黑" panose="020B0503020204020204" pitchFamily="34" charset="-122"/>
                <a:ea typeface="微软雅黑" panose="020B0503020204020204" pitchFamily="34" charset="-122"/>
                <a:hlinkClick r:id="rId2"/>
              </a:rPr>
              <a:t>PPT</a:t>
            </a:r>
            <a:r>
              <a:rPr lang="zh-CN" altLang="en-US" sz="100" dirty="0">
                <a:latin typeface="微软雅黑" panose="020B0503020204020204" pitchFamily="34" charset="-122"/>
                <a:ea typeface="微软雅黑" panose="020B0503020204020204" pitchFamily="34" charset="-122"/>
                <a:hlinkClick r:id="rId2"/>
              </a:rPr>
              <a:t>模板</a:t>
            </a:r>
            <a:r>
              <a:rPr lang="zh-CN" altLang="en-US" sz="100" dirty="0">
                <a:latin typeface="微软雅黑" panose="020B0503020204020204" pitchFamily="34" charset="-122"/>
                <a:ea typeface="微软雅黑" panose="020B0503020204020204" pitchFamily="34" charset="-122"/>
              </a:rPr>
              <a:t> </a:t>
            </a:r>
            <a:r>
              <a:rPr lang="en-US" altLang="zh-CN" sz="100" dirty="0">
                <a:latin typeface="微软雅黑" panose="020B0503020204020204" pitchFamily="34" charset="-122"/>
                <a:ea typeface="微软雅黑" panose="020B0503020204020204" pitchFamily="34" charset="-122"/>
              </a:rPr>
              <a:t>http://www.1ppt.com/moban/</a:t>
            </a:r>
            <a:r>
              <a:rPr lang="zh-CN" altLang="en-US" sz="100" dirty="0">
                <a:latin typeface="微软雅黑" panose="020B0503020204020204" pitchFamily="34" charset="-122"/>
                <a:ea typeface="微软雅黑" panose="020B0503020204020204" pitchFamily="34" charset="-122"/>
              </a:rPr>
              <a:t> </a:t>
            </a:r>
            <a:endParaRPr lang="en-US" altLang="zh-CN" sz="1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39008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0776732-109D-39BA-9A8C-87BB3B6C146C}"/>
              </a:ext>
            </a:extLst>
          </p:cNvPr>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9137771-5C2B-9D1B-5230-755AD5FD2D0F}"/>
              </a:ext>
            </a:extLst>
          </p:cNvPr>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12EB1E-2464-8759-E53F-B5A4CC4034D4}"/>
              </a:ext>
            </a:extLst>
          </p:cNvPr>
          <p:cNvSpPr>
            <a:spLocks noGrp="1"/>
          </p:cNvSpPr>
          <p:nvPr>
            <p:ph type="dt" sz="half" idx="10"/>
          </p:nvPr>
        </p:nvSpPr>
        <p:spPr/>
        <p:txBody>
          <a:bodyPr/>
          <a:lstStyle/>
          <a:p>
            <a:fld id="{22F5EE30-12F6-4A9E-A864-405F152A0F8A}" type="datetimeFigureOut">
              <a:rPr lang="zh-CN" altLang="en-US" smtClean="0"/>
              <a:t>2026/3/21</a:t>
            </a:fld>
            <a:endParaRPr lang="zh-CN" altLang="en-US"/>
          </a:p>
        </p:txBody>
      </p:sp>
      <p:sp>
        <p:nvSpPr>
          <p:cNvPr id="5" name="页脚占位符 4">
            <a:extLst>
              <a:ext uri="{FF2B5EF4-FFF2-40B4-BE49-F238E27FC236}">
                <a16:creationId xmlns:a16="http://schemas.microsoft.com/office/drawing/2014/main" id="{3888A06D-51AD-8C03-1A5D-16523842B55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36FC91F-E2D8-8971-1399-466BE6167A38}"/>
              </a:ext>
            </a:extLst>
          </p:cNvPr>
          <p:cNvSpPr>
            <a:spLocks noGrp="1"/>
          </p:cNvSpPr>
          <p:nvPr>
            <p:ph type="sldNum" sz="quarter" idx="12"/>
          </p:nvPr>
        </p:nvSpPr>
        <p:spPr/>
        <p:txBody>
          <a:bodyPr/>
          <a:lstStyle/>
          <a:p>
            <a:fld id="{AD41F490-DBDB-4726-B909-D5481FD1F035}" type="slidenum">
              <a:rPr lang="zh-CN" altLang="en-US" smtClean="0"/>
              <a:t>‹#›</a:t>
            </a:fld>
            <a:endParaRPr lang="zh-CN" altLang="en-US"/>
          </a:p>
        </p:txBody>
      </p:sp>
    </p:spTree>
    <p:extLst>
      <p:ext uri="{BB962C8B-B14F-4D97-AF65-F5344CB8AC3E}">
        <p14:creationId xmlns:p14="http://schemas.microsoft.com/office/powerpoint/2010/main" val="7647048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pPr/>
              <a:t>2026/3/21</a:t>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990787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1"/>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1"/>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pPr/>
              <a:t>2026/3/21</a:t>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6426968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936043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25418B7-DD00-BED0-6048-3778796E03CD}"/>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08A0068-4A38-3B9E-EA90-056966D587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5E7F9B2-B180-2A5E-D1EB-9180B641C129}"/>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F5EE30-12F6-4A9E-A864-405F152A0F8A}" type="datetimeFigureOut">
              <a:rPr lang="zh-CN" altLang="en-US" smtClean="0"/>
              <a:t>2026/3/21</a:t>
            </a:fld>
            <a:endParaRPr lang="zh-CN" altLang="en-US"/>
          </a:p>
        </p:txBody>
      </p:sp>
      <p:sp>
        <p:nvSpPr>
          <p:cNvPr id="5" name="页脚占位符 4">
            <a:extLst>
              <a:ext uri="{FF2B5EF4-FFF2-40B4-BE49-F238E27FC236}">
                <a16:creationId xmlns:a16="http://schemas.microsoft.com/office/drawing/2014/main" id="{F8FCBF27-0522-5F74-D4A4-B7CC031A2F0B}"/>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CEEA3B4-7B7A-2741-D05E-8D9EA139598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41F490-DBDB-4726-B909-D5481FD1F035}" type="slidenum">
              <a:rPr lang="zh-CN" altLang="en-US" smtClean="0"/>
              <a:t>‹#›</a:t>
            </a:fld>
            <a:endParaRPr lang="zh-CN" altLang="en-US"/>
          </a:p>
        </p:txBody>
      </p:sp>
    </p:spTree>
    <p:extLst>
      <p:ext uri="{BB962C8B-B14F-4D97-AF65-F5344CB8AC3E}">
        <p14:creationId xmlns:p14="http://schemas.microsoft.com/office/powerpoint/2010/main" val="639253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33311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jp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gif"/></Relationships>
</file>

<file path=ppt/slides/_rels/slide7.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hyperlink" Target="https://bemoacademicconsulting.com/blog/maya-rodrigues-research-paper" TargetMode="External"/><Relationship Id="rId3" Type="http://schemas.openxmlformats.org/officeDocument/2006/relationships/hyperlink" Target="https://doi.org/10.1016/j.smrv.2016.02.006" TargetMode="External"/><Relationship Id="rId7" Type="http://schemas.openxmlformats.org/officeDocument/2006/relationships/hyperlink" Target="https://doi.org/10.xxxx/jcp2024" TargetMode="External"/><Relationship Id="rId12" Type="http://schemas.openxmlformats.org/officeDocument/2006/relationships/hyperlink" Target="https://ojs.southfloridapublishing.com/ojs/index.php/jhea/article/download/4756/3247"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doi.org/10.xxxx/jpsm2025" TargetMode="External"/><Relationship Id="rId11" Type="http://schemas.openxmlformats.org/officeDocument/2006/relationships/hyperlink" Target="https://books.google.com/books?hl=en&amp;id=jC82EQAAQBAJ&amp;pg=PA100" TargetMode="External"/><Relationship Id="rId5" Type="http://schemas.openxmlformats.org/officeDocument/2006/relationships/hyperlink" Target="https://doi.org/10.xxxx/psr2024" TargetMode="External"/><Relationship Id="rId10" Type="http://schemas.openxmlformats.org/officeDocument/2006/relationships/hyperlink" Target="https://www.tandfonline.com/doi/pdf/10.1080/24694193.2025.2454836" TargetMode="External"/><Relationship Id="rId4" Type="http://schemas.openxmlformats.org/officeDocument/2006/relationships/hyperlink" Target="https://doi.org/10.xxxx/jsch2024" TargetMode="External"/><Relationship Id="rId9" Type="http://schemas.openxmlformats.org/officeDocument/2006/relationships/hyperlink" Target="https://library.oapen.org/bitstream/handle/20.500.12657/96085/9783031693625.pdf?sequence=1#page=93" TargetMode="Externa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2669711D-26F3-03E0-ACAC-160DC167B087}"/>
              </a:ext>
            </a:extLst>
          </p:cNvPr>
          <p:cNvGrpSpPr/>
          <p:nvPr/>
        </p:nvGrpSpPr>
        <p:grpSpPr>
          <a:xfrm>
            <a:off x="2014444" y="3133008"/>
            <a:ext cx="8163112" cy="117680"/>
            <a:chOff x="2445258" y="3544488"/>
            <a:chExt cx="8163112" cy="117680"/>
          </a:xfrm>
        </p:grpSpPr>
        <p:cxnSp>
          <p:nvCxnSpPr>
            <p:cNvPr id="4" name="直接连接符 3"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41B31596-3866-31A8-8491-C3DE1C9DA2F9}"/>
                </a:ext>
              </a:extLst>
            </p:cNvPr>
            <p:cNvCxnSpPr>
              <a:cxnSpLocks/>
              <a:stCxn id="5" idx="3"/>
            </p:cNvCxnSpPr>
            <p:nvPr/>
          </p:nvCxnSpPr>
          <p:spPr>
            <a:xfrm>
              <a:off x="2562938" y="3603328"/>
              <a:ext cx="80454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矩形 4"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8FE24148-716C-1963-33E0-AF3997805C95}"/>
                </a:ext>
              </a:extLst>
            </p:cNvPr>
            <p:cNvSpPr/>
            <p:nvPr/>
          </p:nvSpPr>
          <p:spPr>
            <a:xfrm>
              <a:off x="2445258" y="3544488"/>
              <a:ext cx="117680" cy="117680"/>
            </a:xfrm>
            <a:prstGeom prst="rect">
              <a:avLst/>
            </a:prstGeom>
            <a:solidFill>
              <a:schemeClr val="tx1"/>
            </a:solidFill>
            <a:ln w="19050">
              <a:solidFill>
                <a:srgbClr val="113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13556"/>
                </a:solidFill>
                <a:latin typeface="Times New Roman"/>
                <a:ea typeface="微软雅黑"/>
                <a:cs typeface="+mn-ea"/>
                <a:sym typeface="Times New Roman"/>
              </a:endParaRPr>
            </a:p>
          </p:txBody>
        </p:sp>
      </p:grpSp>
      <p:cxnSp>
        <p:nvCxnSpPr>
          <p:cNvPr id="10" name="直接连接符 9">
            <a:extLst>
              <a:ext uri="{FF2B5EF4-FFF2-40B4-BE49-F238E27FC236}">
                <a16:creationId xmlns:a16="http://schemas.microsoft.com/office/drawing/2014/main" id="{B63A2D6C-0533-D7E0-3C5D-07001D17A996}"/>
              </a:ext>
            </a:extLst>
          </p:cNvPr>
          <p:cNvCxnSpPr/>
          <p:nvPr/>
        </p:nvCxnSpPr>
        <p:spPr>
          <a:xfrm>
            <a:off x="9357360" y="1828800"/>
            <a:ext cx="0" cy="3535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9164B31C-F08E-A696-E247-3D55CBD5654C}"/>
              </a:ext>
            </a:extLst>
          </p:cNvPr>
          <p:cNvSpPr txBox="1"/>
          <p:nvPr/>
        </p:nvSpPr>
        <p:spPr>
          <a:xfrm>
            <a:off x="1775811" y="1972003"/>
            <a:ext cx="7454919" cy="923330"/>
          </a:xfrm>
          <a:prstGeom prst="rect">
            <a:avLst/>
          </a:prstGeom>
          <a:noFill/>
          <a:effectLst/>
        </p:spPr>
        <p:txBody>
          <a:bodyPr wrap="square" rtlCol="0">
            <a:spAutoFit/>
          </a:bodyPr>
          <a:lstStyle/>
          <a:p>
            <a:pPr algn="r"/>
            <a:r>
              <a:rPr lang="en-CA" altLang="zh-CN" sz="5400" dirty="0">
                <a:latin typeface="阿里巴巴普惠体 Light" pitchFamily="18" charset="-122"/>
                <a:ea typeface="阿里巴巴普惠体 Light" pitchFamily="18" charset="-122"/>
                <a:cs typeface="阿里巴巴普惠体 Light" pitchFamily="18" charset="-122"/>
                <a:sym typeface="Times New Roman"/>
              </a:rPr>
              <a:t>Screen Use and Sleep</a:t>
            </a:r>
            <a:endParaRPr lang="zh-CN" altLang="en-US" sz="5400" dirty="0">
              <a:latin typeface="阿里巴巴普惠体 Light" pitchFamily="18" charset="-122"/>
              <a:ea typeface="阿里巴巴普惠体 Light" pitchFamily="18" charset="-122"/>
              <a:cs typeface="阿里巴巴普惠体 Light" pitchFamily="18" charset="-122"/>
              <a:sym typeface="Times New Roman"/>
            </a:endParaRPr>
          </a:p>
        </p:txBody>
      </p:sp>
      <p:sp>
        <p:nvSpPr>
          <p:cNvPr id="15" name="TextBox 14">
            <a:extLst>
              <a:ext uri="{FF2B5EF4-FFF2-40B4-BE49-F238E27FC236}">
                <a16:creationId xmlns:a16="http://schemas.microsoft.com/office/drawing/2014/main" id="{8AC0815F-4966-2C87-741F-BCDE50D6D275}"/>
              </a:ext>
            </a:extLst>
          </p:cNvPr>
          <p:cNvSpPr txBox="1"/>
          <p:nvPr/>
        </p:nvSpPr>
        <p:spPr>
          <a:xfrm>
            <a:off x="6261460" y="3522147"/>
            <a:ext cx="2319866" cy="369332"/>
          </a:xfrm>
          <a:prstGeom prst="rect">
            <a:avLst/>
          </a:prstGeom>
          <a:noFill/>
        </p:spPr>
        <p:txBody>
          <a:bodyPr wrap="none" rtlCol="0">
            <a:spAutoFit/>
          </a:bodyPr>
          <a:lstStyle/>
          <a:p>
            <a:pPr algn="r"/>
            <a:r>
              <a:rPr lang="en-US" altLang="zh-CN" dirty="0">
                <a:solidFill>
                  <a:schemeClr val="tx1">
                    <a:lumMod val="65000"/>
                    <a:lumOff val="35000"/>
                  </a:schemeClr>
                </a:solidFill>
                <a:latin typeface="Times New Roman"/>
                <a:ea typeface="微软雅黑"/>
                <a:cs typeface="+mn-ea"/>
                <a:sym typeface="Times New Roman"/>
              </a:rPr>
              <a:t>CSCD03 Info-Pre P2d</a:t>
            </a:r>
            <a:endParaRPr lang="zh-CN" altLang="en-US" dirty="0">
              <a:solidFill>
                <a:schemeClr val="tx1">
                  <a:lumMod val="65000"/>
                  <a:lumOff val="35000"/>
                </a:schemeClr>
              </a:solidFill>
              <a:latin typeface="Times New Roman"/>
              <a:ea typeface="微软雅黑"/>
              <a:cs typeface="+mn-ea"/>
              <a:sym typeface="Times New Roman"/>
            </a:endParaRPr>
          </a:p>
        </p:txBody>
      </p:sp>
      <p:sp>
        <p:nvSpPr>
          <p:cNvPr id="16" name="矩形 15">
            <a:extLst>
              <a:ext uri="{FF2B5EF4-FFF2-40B4-BE49-F238E27FC236}">
                <a16:creationId xmlns:a16="http://schemas.microsoft.com/office/drawing/2014/main" id="{35CA26C0-BE57-BDBA-41FA-B5185EFF7C74}"/>
              </a:ext>
            </a:extLst>
          </p:cNvPr>
          <p:cNvSpPr/>
          <p:nvPr/>
        </p:nvSpPr>
        <p:spPr>
          <a:xfrm>
            <a:off x="4323185" y="3932538"/>
            <a:ext cx="4265404" cy="400118"/>
          </a:xfrm>
          <a:prstGeom prst="rect">
            <a:avLst/>
          </a:prstGeom>
        </p:spPr>
        <p:txBody>
          <a:bodyPr wrap="square" lIns="91448" tIns="45724" rIns="91448" bIns="45724">
            <a:spAutoFit/>
          </a:bodyPr>
          <a:lstStyle/>
          <a:p>
            <a:pPr algn="r"/>
            <a:r>
              <a:rPr lang="en-US" altLang="zh-CN" sz="1000" dirty="0" err="1">
                <a:solidFill>
                  <a:schemeClr val="bg1">
                    <a:lumMod val="65000"/>
                  </a:schemeClr>
                </a:solidFill>
                <a:latin typeface="Times New Roman"/>
                <a:ea typeface="微软雅黑"/>
                <a:cs typeface="+mn-ea"/>
                <a:sym typeface="Times New Roman"/>
              </a:rPr>
              <a:t>Changze</a:t>
            </a:r>
            <a:r>
              <a:rPr lang="en-US" altLang="zh-CN" sz="1000" dirty="0">
                <a:solidFill>
                  <a:schemeClr val="bg1">
                    <a:lumMod val="65000"/>
                  </a:schemeClr>
                </a:solidFill>
                <a:latin typeface="Times New Roman"/>
                <a:ea typeface="微软雅黑"/>
                <a:cs typeface="+mn-ea"/>
                <a:sym typeface="Times New Roman"/>
              </a:rPr>
              <a:t> Wu </a:t>
            </a:r>
          </a:p>
          <a:p>
            <a:pPr algn="r"/>
            <a:r>
              <a:rPr lang="en-US" altLang="zh-CN" sz="1000" dirty="0">
                <a:solidFill>
                  <a:schemeClr val="bg1">
                    <a:lumMod val="65000"/>
                  </a:schemeClr>
                </a:solidFill>
                <a:latin typeface="Times New Roman"/>
                <a:ea typeface="微软雅黑"/>
                <a:cs typeface="+mn-ea"/>
                <a:sym typeface="Times New Roman"/>
              </a:rPr>
              <a:t>1008837840</a:t>
            </a:r>
          </a:p>
        </p:txBody>
      </p:sp>
      <p:sp>
        <p:nvSpPr>
          <p:cNvPr id="17" name="PA-文本框 8">
            <a:extLst>
              <a:ext uri="{FF2B5EF4-FFF2-40B4-BE49-F238E27FC236}">
                <a16:creationId xmlns:a16="http://schemas.microsoft.com/office/drawing/2014/main" id="{F4241F17-8DA5-4ED2-2B16-B6D46B003BB8}"/>
              </a:ext>
            </a:extLst>
          </p:cNvPr>
          <p:cNvSpPr txBox="1"/>
          <p:nvPr>
            <p:custDataLst>
              <p:tags r:id="rId1"/>
            </p:custDataLst>
          </p:nvPr>
        </p:nvSpPr>
        <p:spPr>
          <a:xfrm>
            <a:off x="10041612" y="6002532"/>
            <a:ext cx="1909667" cy="338554"/>
          </a:xfrm>
          <a:prstGeom prst="rect">
            <a:avLst/>
          </a:prstGeom>
          <a:noFill/>
        </p:spPr>
        <p:txBody>
          <a:bodyPr wrap="square" rtlCol="0">
            <a:spAutoFit/>
            <a:scene3d>
              <a:camera prst="orthographicFront"/>
              <a:lightRig rig="threePt" dir="t"/>
            </a:scene3d>
            <a:sp3d contourW="12700"/>
          </a:bodyPr>
          <a:lstStyle/>
          <a:p>
            <a:pPr algn="ctr"/>
            <a:r>
              <a:rPr lang="en-US" altLang="zh-CN" sz="1600" spc="300" dirty="0">
                <a:solidFill>
                  <a:schemeClr val="tx1">
                    <a:lumMod val="75000"/>
                    <a:lumOff val="25000"/>
                  </a:schemeClr>
                </a:solidFill>
                <a:latin typeface="Times New Roman"/>
                <a:ea typeface="微软雅黑"/>
                <a:cs typeface="+mn-ea"/>
                <a:sym typeface="Times New Roman"/>
              </a:rPr>
              <a:t>2025/01/24</a:t>
            </a:r>
            <a:endParaRPr lang="zh-CN" altLang="en-US" sz="1600" spc="300" dirty="0">
              <a:solidFill>
                <a:schemeClr val="tx1">
                  <a:lumMod val="75000"/>
                  <a:lumOff val="25000"/>
                </a:schemeClr>
              </a:solidFill>
              <a:latin typeface="Times New Roman"/>
              <a:ea typeface="微软雅黑"/>
              <a:cs typeface="+mn-ea"/>
              <a:sym typeface="Times New Roman"/>
            </a:endParaRPr>
          </a:p>
        </p:txBody>
      </p:sp>
    </p:spTree>
    <p:extLst>
      <p:ext uri="{BB962C8B-B14F-4D97-AF65-F5344CB8AC3E}">
        <p14:creationId xmlns:p14="http://schemas.microsoft.com/office/powerpoint/2010/main" val="879617525"/>
      </p:ext>
    </p:extLst>
  </p:cSld>
  <p:clrMapOvr>
    <a:masterClrMapping/>
  </p:clrMapOvr>
  <mc:AlternateContent xmlns:mc="http://schemas.openxmlformats.org/markup-compatibility/2006" xmlns:p14="http://schemas.microsoft.com/office/powerpoint/2010/main">
    <mc:Choice Requires="p14">
      <p:transition spd="slow" p14:dur="2000" advTm="58739"/>
    </mc:Choice>
    <mc:Fallback xmlns="">
      <p:transition spd="slow" advTm="587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1"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up)">
                                      <p:cBhvr>
                                        <p:cTn id="10" dur="500"/>
                                        <p:tgtEl>
                                          <p:spTgt spid="10"/>
                                        </p:tgtEl>
                                      </p:cBhvr>
                                    </p:animEffect>
                                  </p:childTnLst>
                                </p:cTn>
                              </p:par>
                            </p:childTnLst>
                          </p:cTn>
                        </p:par>
                        <p:par>
                          <p:cTn id="11" fill="hold">
                            <p:stCondLst>
                              <p:cond delay="500"/>
                            </p:stCondLst>
                            <p:childTnLst>
                              <p:par>
                                <p:cTn id="12" presetID="53" presetClass="entr" presetSubtype="16" fill="hold" grpId="0" nodeType="afterEffect">
                                  <p:stCondLst>
                                    <p:cond delay="0"/>
                                  </p:stCondLst>
                                  <p:iterate type="lt">
                                    <p:tmPct val="10000"/>
                                  </p:iterate>
                                  <p:childTnLst>
                                    <p:set>
                                      <p:cBhvr>
                                        <p:cTn id="13" dur="1" fill="hold">
                                          <p:stCondLst>
                                            <p:cond delay="0"/>
                                          </p:stCondLst>
                                        </p:cTn>
                                        <p:tgtEl>
                                          <p:spTgt spid="14"/>
                                        </p:tgtEl>
                                        <p:attrNameLst>
                                          <p:attrName>style.visibility</p:attrName>
                                        </p:attrNameLst>
                                      </p:cBhvr>
                                      <p:to>
                                        <p:strVal val="visible"/>
                                      </p:to>
                                    </p:set>
                                    <p:anim calcmode="lin" valueType="num">
                                      <p:cBhvr>
                                        <p:cTn id="14" dur="500" fill="hold"/>
                                        <p:tgtEl>
                                          <p:spTgt spid="14"/>
                                        </p:tgtEl>
                                        <p:attrNameLst>
                                          <p:attrName>ppt_w</p:attrName>
                                        </p:attrNameLst>
                                      </p:cBhvr>
                                      <p:tavLst>
                                        <p:tav tm="0">
                                          <p:val>
                                            <p:fltVal val="0"/>
                                          </p:val>
                                        </p:tav>
                                        <p:tav tm="100000">
                                          <p:val>
                                            <p:strVal val="#ppt_w"/>
                                          </p:val>
                                        </p:tav>
                                      </p:tavLst>
                                    </p:anim>
                                    <p:anim calcmode="lin" valueType="num">
                                      <p:cBhvr>
                                        <p:cTn id="15" dur="500" fill="hold"/>
                                        <p:tgtEl>
                                          <p:spTgt spid="14"/>
                                        </p:tgtEl>
                                        <p:attrNameLst>
                                          <p:attrName>ppt_h</p:attrName>
                                        </p:attrNameLst>
                                      </p:cBhvr>
                                      <p:tavLst>
                                        <p:tav tm="0">
                                          <p:val>
                                            <p:fltVal val="0"/>
                                          </p:val>
                                        </p:tav>
                                        <p:tav tm="100000">
                                          <p:val>
                                            <p:strVal val="#ppt_h"/>
                                          </p:val>
                                        </p:tav>
                                      </p:tavLst>
                                    </p:anim>
                                    <p:animEffect transition="in" filter="fade">
                                      <p:cBhvr>
                                        <p:cTn id="16" dur="500"/>
                                        <p:tgtEl>
                                          <p:spTgt spid="14"/>
                                        </p:tgtEl>
                                      </p:cBhvr>
                                    </p:animEffect>
                                  </p:childTnLst>
                                </p:cTn>
                              </p:par>
                            </p:childTnLst>
                          </p:cTn>
                        </p:par>
                        <p:par>
                          <p:cTn id="17" fill="hold">
                            <p:stCondLst>
                              <p:cond delay="1800"/>
                            </p:stCondLst>
                            <p:childTnLst>
                              <p:par>
                                <p:cTn id="18" presetID="22" presetClass="entr" presetSubtype="8" fill="hold" grpId="0"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left)">
                                      <p:cBhvr>
                                        <p:cTn id="20" dur="500"/>
                                        <p:tgtEl>
                                          <p:spTgt spid="15"/>
                                        </p:tgtEl>
                                      </p:cBhvr>
                                    </p:animEffect>
                                  </p:childTnLst>
                                </p:cTn>
                              </p:par>
                            </p:childTnLst>
                          </p:cTn>
                        </p:par>
                        <p:par>
                          <p:cTn id="21" fill="hold">
                            <p:stCondLst>
                              <p:cond delay="2300"/>
                            </p:stCondLst>
                            <p:childTnLst>
                              <p:par>
                                <p:cTn id="22" presetID="14" presetClass="entr" presetSubtype="10"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randombar(horizontal)">
                                      <p:cBhvr>
                                        <p:cTn id="24" dur="500"/>
                                        <p:tgtEl>
                                          <p:spTgt spid="16"/>
                                        </p:tgtEl>
                                      </p:cBhvr>
                                    </p:animEffect>
                                  </p:childTnLst>
                                </p:cTn>
                              </p:par>
                            </p:childTnLst>
                          </p:cTn>
                        </p:par>
                        <p:par>
                          <p:cTn id="25" fill="hold">
                            <p:stCondLst>
                              <p:cond delay="2800"/>
                            </p:stCondLst>
                            <p:childTnLst>
                              <p:par>
                                <p:cTn id="26" presetID="14" presetClass="entr" presetSubtype="10" fill="hold" grpId="0" nodeType="afterEffect">
                                  <p:stCondLst>
                                    <p:cond delay="0"/>
                                  </p:stCondLst>
                                  <p:iterate type="lt">
                                    <p:tmPct val="10000"/>
                                  </p:iterate>
                                  <p:childTnLst>
                                    <p:set>
                                      <p:cBhvr>
                                        <p:cTn id="27" dur="1" fill="hold">
                                          <p:stCondLst>
                                            <p:cond delay="0"/>
                                          </p:stCondLst>
                                        </p:cTn>
                                        <p:tgtEl>
                                          <p:spTgt spid="17"/>
                                        </p:tgtEl>
                                        <p:attrNameLst>
                                          <p:attrName>style.visibility</p:attrName>
                                        </p:attrNameLst>
                                      </p:cBhvr>
                                      <p:to>
                                        <p:strVal val="visible"/>
                                      </p:to>
                                    </p:set>
                                    <p:animEffect transition="in" filter="randombar(horizontal)">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53E6B264-7838-A881-E83A-87BB79A7ABA2}"/>
              </a:ext>
            </a:extLst>
          </p:cNvPr>
          <p:cNvCxnSpPr>
            <a:cxnSpLocks/>
          </p:cNvCxnSpPr>
          <p:nvPr/>
        </p:nvCxnSpPr>
        <p:spPr>
          <a:xfrm>
            <a:off x="4947601" y="1028781"/>
            <a:ext cx="0" cy="50919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矩形 7"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3B80C853-EF8C-1E6C-B6E2-B8FFB1D22978}"/>
              </a:ext>
            </a:extLst>
          </p:cNvPr>
          <p:cNvSpPr/>
          <p:nvPr/>
        </p:nvSpPr>
        <p:spPr>
          <a:xfrm>
            <a:off x="4888761" y="4311200"/>
            <a:ext cx="117680" cy="117680"/>
          </a:xfrm>
          <a:prstGeom prst="rect">
            <a:avLst/>
          </a:prstGeom>
          <a:solidFill>
            <a:schemeClr val="tx1"/>
          </a:solidFill>
          <a:ln w="19050">
            <a:solidFill>
              <a:srgbClr val="113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13556"/>
              </a:solidFill>
              <a:latin typeface="Times New Roman"/>
              <a:ea typeface="微软雅黑"/>
              <a:cs typeface="+mn-ea"/>
              <a:sym typeface="Times New Roman"/>
            </a:endParaRPr>
          </a:p>
        </p:txBody>
      </p:sp>
      <p:sp>
        <p:nvSpPr>
          <p:cNvPr id="2" name="文本框 1">
            <a:extLst>
              <a:ext uri="{FF2B5EF4-FFF2-40B4-BE49-F238E27FC236}">
                <a16:creationId xmlns:a16="http://schemas.microsoft.com/office/drawing/2014/main" id="{C86E07F2-27EF-14F3-09C6-39A4005D4915}"/>
              </a:ext>
            </a:extLst>
          </p:cNvPr>
          <p:cNvSpPr txBox="1"/>
          <p:nvPr/>
        </p:nvSpPr>
        <p:spPr>
          <a:xfrm>
            <a:off x="561975" y="2670678"/>
            <a:ext cx="4114800" cy="923330"/>
          </a:xfrm>
          <a:prstGeom prst="rect">
            <a:avLst/>
          </a:prstGeom>
          <a:noFill/>
          <a:effectLst/>
        </p:spPr>
        <p:txBody>
          <a:bodyPr wrap="square" rtlCol="0">
            <a:spAutoFit/>
          </a:bodyPr>
          <a:lstStyle/>
          <a:p>
            <a:pPr algn="r"/>
            <a:r>
              <a:rPr lang="en-US" altLang="zh-CN" sz="5400" b="1" dirty="0">
                <a:solidFill>
                  <a:prstClr val="black"/>
                </a:solidFill>
                <a:latin typeface="阿里巴巴普惠体 Light" pitchFamily="18" charset="-122"/>
                <a:ea typeface="阿里巴巴普惠体 Light" pitchFamily="18" charset="-122"/>
                <a:cs typeface="阿里巴巴普惠体 Light" pitchFamily="18" charset="-122"/>
                <a:sym typeface="Times New Roman"/>
              </a:rPr>
              <a:t>CONTENTS</a:t>
            </a:r>
          </a:p>
        </p:txBody>
      </p:sp>
      <p:grpSp>
        <p:nvGrpSpPr>
          <p:cNvPr id="31" name="组合 30">
            <a:extLst>
              <a:ext uri="{FF2B5EF4-FFF2-40B4-BE49-F238E27FC236}">
                <a16:creationId xmlns:a16="http://schemas.microsoft.com/office/drawing/2014/main" id="{94CC6B51-BE62-678C-97D6-F241FB9A5C18}"/>
              </a:ext>
            </a:extLst>
          </p:cNvPr>
          <p:cNvGrpSpPr/>
          <p:nvPr/>
        </p:nvGrpSpPr>
        <p:grpSpPr>
          <a:xfrm>
            <a:off x="6908099" y="919719"/>
            <a:ext cx="3386125" cy="923330"/>
            <a:chOff x="6885007" y="2303608"/>
            <a:chExt cx="3386125" cy="923330"/>
          </a:xfrm>
        </p:grpSpPr>
        <p:sp>
          <p:nvSpPr>
            <p:cNvPr id="32" name="文本框 31"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56CFBA8B-B856-2BD0-3A97-72822C505664}"/>
                </a:ext>
              </a:extLst>
            </p:cNvPr>
            <p:cNvSpPr txBox="1"/>
            <p:nvPr/>
          </p:nvSpPr>
          <p:spPr>
            <a:xfrm>
              <a:off x="6885007" y="2303608"/>
              <a:ext cx="530915" cy="923330"/>
            </a:xfrm>
            <a:prstGeom prst="rect">
              <a:avLst/>
            </a:prstGeom>
            <a:noFill/>
          </p:spPr>
          <p:txBody>
            <a:bodyPr wrap="none" rtlCol="0">
              <a:spAutoFit/>
            </a:bodyPr>
            <a:lstStyle/>
            <a:p>
              <a:r>
                <a:rPr lang="en-US" altLang="zh-CN" sz="5400" dirty="0">
                  <a:latin typeface="Times New Roman"/>
                  <a:ea typeface="微软雅黑"/>
                  <a:cs typeface="Calibri Light" panose="020F0302020204030204" pitchFamily="34" charset="0"/>
                  <a:sym typeface="Times New Roman"/>
                </a:rPr>
                <a:t>1</a:t>
              </a:r>
              <a:endParaRPr lang="zh-CN" altLang="en-US" sz="5400" dirty="0">
                <a:latin typeface="Times New Roman"/>
                <a:ea typeface="微软雅黑"/>
                <a:cs typeface="Calibri Light" panose="020F0302020204030204" pitchFamily="34" charset="0"/>
                <a:sym typeface="Times New Roman"/>
              </a:endParaRPr>
            </a:p>
          </p:txBody>
        </p:sp>
        <p:sp>
          <p:nvSpPr>
            <p:cNvPr id="33" name="任意多边形: 形状 32">
              <a:extLst>
                <a:ext uri="{FF2B5EF4-FFF2-40B4-BE49-F238E27FC236}">
                  <a16:creationId xmlns:a16="http://schemas.microsoft.com/office/drawing/2014/main" id="{D8B8A839-7D3A-9594-4F0C-8E2507A3D819}"/>
                </a:ext>
              </a:extLst>
            </p:cNvPr>
            <p:cNvSpPr/>
            <p:nvPr/>
          </p:nvSpPr>
          <p:spPr>
            <a:xfrm>
              <a:off x="7154561" y="2318486"/>
              <a:ext cx="3116571" cy="735307"/>
            </a:xfrm>
            <a:custGeom>
              <a:avLst/>
              <a:gdLst>
                <a:gd name="connsiteX0" fmla="*/ 1029653 w 5248275"/>
                <a:gd name="connsiteY0" fmla="*/ 1244918 h 1238250"/>
                <a:gd name="connsiteX1" fmla="*/ 5251133 w 5248275"/>
                <a:gd name="connsiteY1" fmla="*/ 1244918 h 1238250"/>
                <a:gd name="connsiteX2" fmla="*/ 5251133 w 5248275"/>
                <a:gd name="connsiteY2" fmla="*/ 0 h 1238250"/>
                <a:gd name="connsiteX3" fmla="*/ 0 w 5248275"/>
                <a:gd name="connsiteY3" fmla="*/ 0 h 1238250"/>
                <a:gd name="connsiteX4" fmla="*/ 0 w 5248275"/>
                <a:gd name="connsiteY4" fmla="*/ 214313 h 1238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8275" h="1238250">
                  <a:moveTo>
                    <a:pt x="1029653" y="1244918"/>
                  </a:moveTo>
                  <a:lnTo>
                    <a:pt x="5251133" y="1244918"/>
                  </a:lnTo>
                  <a:lnTo>
                    <a:pt x="5251133" y="0"/>
                  </a:lnTo>
                  <a:lnTo>
                    <a:pt x="0" y="0"/>
                  </a:lnTo>
                  <a:lnTo>
                    <a:pt x="0" y="214313"/>
                  </a:lnTo>
                </a:path>
              </a:pathLst>
            </a:custGeom>
            <a:noFill/>
            <a:ln w="19050" cap="flat">
              <a:solidFill>
                <a:schemeClr val="tx1"/>
              </a:solidFill>
              <a:prstDash val="solid"/>
              <a:miter/>
            </a:ln>
          </p:spPr>
          <p:txBody>
            <a:bodyPr rtlCol="0" anchor="ctr"/>
            <a:lstStyle/>
            <a:p>
              <a:endParaRPr lang="zh-CN" altLang="en-US">
                <a:solidFill>
                  <a:prstClr val="black"/>
                </a:solidFill>
                <a:latin typeface="Times New Roman"/>
                <a:ea typeface="微软雅黑"/>
                <a:sym typeface="Times New Roman"/>
              </a:endParaRPr>
            </a:p>
          </p:txBody>
        </p:sp>
        <p:sp>
          <p:nvSpPr>
            <p:cNvPr id="34" name="文本框 33"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ADC37E87-91F5-FC9F-30AC-D91C5ADDAB9D}"/>
                </a:ext>
              </a:extLst>
            </p:cNvPr>
            <p:cNvSpPr txBox="1"/>
            <p:nvPr/>
          </p:nvSpPr>
          <p:spPr>
            <a:xfrm>
              <a:off x="7431315" y="2505926"/>
              <a:ext cx="2502710" cy="369332"/>
            </a:xfrm>
            <a:prstGeom prst="rect">
              <a:avLst/>
            </a:prstGeom>
            <a:noFill/>
          </p:spPr>
          <p:txBody>
            <a:bodyPr wrap="square" rtlCol="0">
              <a:spAutoFit/>
            </a:bodyPr>
            <a:lstStyle/>
            <a:p>
              <a:pPr algn="ctr"/>
              <a:r>
                <a:rPr lang="en-US" altLang="zh-CN" dirty="0">
                  <a:latin typeface="Times New Roman"/>
                  <a:ea typeface="微软雅黑"/>
                  <a:sym typeface="Times New Roman"/>
                </a:rPr>
                <a:t>Basic Information</a:t>
              </a:r>
              <a:endParaRPr lang="zh-CN" altLang="en-US" dirty="0">
                <a:latin typeface="Times New Roman"/>
                <a:ea typeface="微软雅黑"/>
                <a:sym typeface="Times New Roman"/>
              </a:endParaRPr>
            </a:p>
          </p:txBody>
        </p:sp>
      </p:grpSp>
      <p:grpSp>
        <p:nvGrpSpPr>
          <p:cNvPr id="35" name="组合 34">
            <a:extLst>
              <a:ext uri="{FF2B5EF4-FFF2-40B4-BE49-F238E27FC236}">
                <a16:creationId xmlns:a16="http://schemas.microsoft.com/office/drawing/2014/main" id="{AC977FAD-E8E8-1644-54A1-9EF7E882D041}"/>
              </a:ext>
            </a:extLst>
          </p:cNvPr>
          <p:cNvGrpSpPr/>
          <p:nvPr/>
        </p:nvGrpSpPr>
        <p:grpSpPr>
          <a:xfrm>
            <a:off x="6908099" y="2069646"/>
            <a:ext cx="3386125" cy="923330"/>
            <a:chOff x="6885007" y="2303608"/>
            <a:chExt cx="3386125" cy="923330"/>
          </a:xfrm>
        </p:grpSpPr>
        <p:sp>
          <p:nvSpPr>
            <p:cNvPr id="36" name="文本框 35"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724352D0-C3AB-85A7-38F8-56F9CC62BFC7}"/>
                </a:ext>
              </a:extLst>
            </p:cNvPr>
            <p:cNvSpPr txBox="1"/>
            <p:nvPr/>
          </p:nvSpPr>
          <p:spPr>
            <a:xfrm>
              <a:off x="6885007" y="2303608"/>
              <a:ext cx="530915" cy="923330"/>
            </a:xfrm>
            <a:prstGeom prst="rect">
              <a:avLst/>
            </a:prstGeom>
            <a:noFill/>
          </p:spPr>
          <p:txBody>
            <a:bodyPr wrap="none" rtlCol="0">
              <a:spAutoFit/>
            </a:bodyPr>
            <a:lstStyle/>
            <a:p>
              <a:r>
                <a:rPr lang="en-US" altLang="zh-CN" sz="5400" dirty="0">
                  <a:latin typeface="Times New Roman"/>
                  <a:ea typeface="微软雅黑"/>
                  <a:cs typeface="Calibri Light" panose="020F0302020204030204" pitchFamily="34" charset="0"/>
                  <a:sym typeface="Times New Roman"/>
                </a:rPr>
                <a:t>2</a:t>
              </a:r>
              <a:endParaRPr lang="zh-CN" altLang="en-US" sz="5400" dirty="0">
                <a:latin typeface="Times New Roman"/>
                <a:ea typeface="微软雅黑"/>
                <a:cs typeface="Calibri Light" panose="020F0302020204030204" pitchFamily="34" charset="0"/>
                <a:sym typeface="Times New Roman"/>
              </a:endParaRPr>
            </a:p>
          </p:txBody>
        </p:sp>
        <p:sp>
          <p:nvSpPr>
            <p:cNvPr id="37" name="任意多边形: 形状 36">
              <a:extLst>
                <a:ext uri="{FF2B5EF4-FFF2-40B4-BE49-F238E27FC236}">
                  <a16:creationId xmlns:a16="http://schemas.microsoft.com/office/drawing/2014/main" id="{567A4C5A-8AF0-C9BE-8B07-85E895F69BB2}"/>
                </a:ext>
              </a:extLst>
            </p:cNvPr>
            <p:cNvSpPr/>
            <p:nvPr/>
          </p:nvSpPr>
          <p:spPr>
            <a:xfrm>
              <a:off x="7154561" y="2318486"/>
              <a:ext cx="3116571" cy="735307"/>
            </a:xfrm>
            <a:custGeom>
              <a:avLst/>
              <a:gdLst>
                <a:gd name="connsiteX0" fmla="*/ 1029653 w 5248275"/>
                <a:gd name="connsiteY0" fmla="*/ 1244918 h 1238250"/>
                <a:gd name="connsiteX1" fmla="*/ 5251133 w 5248275"/>
                <a:gd name="connsiteY1" fmla="*/ 1244918 h 1238250"/>
                <a:gd name="connsiteX2" fmla="*/ 5251133 w 5248275"/>
                <a:gd name="connsiteY2" fmla="*/ 0 h 1238250"/>
                <a:gd name="connsiteX3" fmla="*/ 0 w 5248275"/>
                <a:gd name="connsiteY3" fmla="*/ 0 h 1238250"/>
                <a:gd name="connsiteX4" fmla="*/ 0 w 5248275"/>
                <a:gd name="connsiteY4" fmla="*/ 214313 h 1238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8275" h="1238250">
                  <a:moveTo>
                    <a:pt x="1029653" y="1244918"/>
                  </a:moveTo>
                  <a:lnTo>
                    <a:pt x="5251133" y="1244918"/>
                  </a:lnTo>
                  <a:lnTo>
                    <a:pt x="5251133" y="0"/>
                  </a:lnTo>
                  <a:lnTo>
                    <a:pt x="0" y="0"/>
                  </a:lnTo>
                  <a:lnTo>
                    <a:pt x="0" y="214313"/>
                  </a:lnTo>
                </a:path>
              </a:pathLst>
            </a:custGeom>
            <a:noFill/>
            <a:ln w="19050" cap="flat">
              <a:solidFill>
                <a:schemeClr val="tx1"/>
              </a:solidFill>
              <a:prstDash val="solid"/>
              <a:miter/>
            </a:ln>
          </p:spPr>
          <p:txBody>
            <a:bodyPr rtlCol="0" anchor="ctr"/>
            <a:lstStyle/>
            <a:p>
              <a:endParaRPr lang="zh-CN" altLang="en-US">
                <a:solidFill>
                  <a:prstClr val="black"/>
                </a:solidFill>
                <a:latin typeface="Times New Roman"/>
                <a:ea typeface="微软雅黑"/>
                <a:sym typeface="Times New Roman"/>
              </a:endParaRPr>
            </a:p>
          </p:txBody>
        </p:sp>
        <p:sp>
          <p:nvSpPr>
            <p:cNvPr id="38" name="文本框 37"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B52281FB-26A6-AAFF-4C4B-EEB78191D559}"/>
                </a:ext>
              </a:extLst>
            </p:cNvPr>
            <p:cNvSpPr txBox="1"/>
            <p:nvPr/>
          </p:nvSpPr>
          <p:spPr>
            <a:xfrm>
              <a:off x="7263972" y="2505926"/>
              <a:ext cx="3007159" cy="369332"/>
            </a:xfrm>
            <a:prstGeom prst="rect">
              <a:avLst/>
            </a:prstGeom>
            <a:noFill/>
          </p:spPr>
          <p:txBody>
            <a:bodyPr wrap="square" rtlCol="0">
              <a:spAutoFit/>
            </a:bodyPr>
            <a:lstStyle/>
            <a:p>
              <a:pPr algn="ctr"/>
              <a:r>
                <a:rPr lang="en-CA" altLang="zh-CN" dirty="0">
                  <a:latin typeface="Times New Roman"/>
                  <a:ea typeface="微软雅黑"/>
                  <a:sym typeface="Times New Roman"/>
                </a:rPr>
                <a:t>How Screens Affect Sleep</a:t>
              </a:r>
              <a:endParaRPr lang="zh-CN" altLang="en-US" dirty="0">
                <a:latin typeface="Times New Roman"/>
                <a:ea typeface="微软雅黑"/>
                <a:sym typeface="Times New Roman"/>
              </a:endParaRPr>
            </a:p>
          </p:txBody>
        </p:sp>
      </p:grpSp>
      <p:grpSp>
        <p:nvGrpSpPr>
          <p:cNvPr id="39" name="组合 38">
            <a:extLst>
              <a:ext uri="{FF2B5EF4-FFF2-40B4-BE49-F238E27FC236}">
                <a16:creationId xmlns:a16="http://schemas.microsoft.com/office/drawing/2014/main" id="{8BCE3C0B-DEFA-CDAF-DEE9-CB3E538A50AC}"/>
              </a:ext>
            </a:extLst>
          </p:cNvPr>
          <p:cNvGrpSpPr/>
          <p:nvPr/>
        </p:nvGrpSpPr>
        <p:grpSpPr>
          <a:xfrm>
            <a:off x="6908099" y="3219573"/>
            <a:ext cx="3546186" cy="923330"/>
            <a:chOff x="6885007" y="2303608"/>
            <a:chExt cx="3546186" cy="923330"/>
          </a:xfrm>
        </p:grpSpPr>
        <p:sp>
          <p:nvSpPr>
            <p:cNvPr id="40" name="文本框 39"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A33F7BA2-5468-E3F1-0D1E-5184B84BC2D3}"/>
                </a:ext>
              </a:extLst>
            </p:cNvPr>
            <p:cNvSpPr txBox="1"/>
            <p:nvPr/>
          </p:nvSpPr>
          <p:spPr>
            <a:xfrm>
              <a:off x="6885007" y="2303608"/>
              <a:ext cx="530915" cy="923330"/>
            </a:xfrm>
            <a:prstGeom prst="rect">
              <a:avLst/>
            </a:prstGeom>
            <a:noFill/>
          </p:spPr>
          <p:txBody>
            <a:bodyPr wrap="none" rtlCol="0">
              <a:spAutoFit/>
            </a:bodyPr>
            <a:lstStyle/>
            <a:p>
              <a:r>
                <a:rPr lang="en-US" altLang="zh-CN" sz="5400" dirty="0">
                  <a:latin typeface="Times New Roman"/>
                  <a:ea typeface="微软雅黑"/>
                  <a:cs typeface="Calibri Light" panose="020F0302020204030204" pitchFamily="34" charset="0"/>
                  <a:sym typeface="Times New Roman"/>
                </a:rPr>
                <a:t>3</a:t>
              </a:r>
              <a:endParaRPr lang="zh-CN" altLang="en-US" sz="5400" dirty="0">
                <a:latin typeface="Times New Roman"/>
                <a:ea typeface="微软雅黑"/>
                <a:cs typeface="Calibri Light" panose="020F0302020204030204" pitchFamily="34" charset="0"/>
                <a:sym typeface="Times New Roman"/>
              </a:endParaRPr>
            </a:p>
          </p:txBody>
        </p:sp>
        <p:sp>
          <p:nvSpPr>
            <p:cNvPr id="41" name="任意多边形: 形状 40">
              <a:extLst>
                <a:ext uri="{FF2B5EF4-FFF2-40B4-BE49-F238E27FC236}">
                  <a16:creationId xmlns:a16="http://schemas.microsoft.com/office/drawing/2014/main" id="{9D309F09-CA71-8DB9-7127-00D206B0AA97}"/>
                </a:ext>
              </a:extLst>
            </p:cNvPr>
            <p:cNvSpPr/>
            <p:nvPr/>
          </p:nvSpPr>
          <p:spPr>
            <a:xfrm>
              <a:off x="7154561" y="2318486"/>
              <a:ext cx="3116571" cy="735307"/>
            </a:xfrm>
            <a:custGeom>
              <a:avLst/>
              <a:gdLst>
                <a:gd name="connsiteX0" fmla="*/ 1029653 w 5248275"/>
                <a:gd name="connsiteY0" fmla="*/ 1244918 h 1238250"/>
                <a:gd name="connsiteX1" fmla="*/ 5251133 w 5248275"/>
                <a:gd name="connsiteY1" fmla="*/ 1244918 h 1238250"/>
                <a:gd name="connsiteX2" fmla="*/ 5251133 w 5248275"/>
                <a:gd name="connsiteY2" fmla="*/ 0 h 1238250"/>
                <a:gd name="connsiteX3" fmla="*/ 0 w 5248275"/>
                <a:gd name="connsiteY3" fmla="*/ 0 h 1238250"/>
                <a:gd name="connsiteX4" fmla="*/ 0 w 5248275"/>
                <a:gd name="connsiteY4" fmla="*/ 214313 h 1238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8275" h="1238250">
                  <a:moveTo>
                    <a:pt x="1029653" y="1244918"/>
                  </a:moveTo>
                  <a:lnTo>
                    <a:pt x="5251133" y="1244918"/>
                  </a:lnTo>
                  <a:lnTo>
                    <a:pt x="5251133" y="0"/>
                  </a:lnTo>
                  <a:lnTo>
                    <a:pt x="0" y="0"/>
                  </a:lnTo>
                  <a:lnTo>
                    <a:pt x="0" y="214313"/>
                  </a:lnTo>
                </a:path>
              </a:pathLst>
            </a:custGeom>
            <a:noFill/>
            <a:ln w="19050" cap="flat">
              <a:solidFill>
                <a:schemeClr val="tx1"/>
              </a:solidFill>
              <a:prstDash val="solid"/>
              <a:miter/>
            </a:ln>
          </p:spPr>
          <p:txBody>
            <a:bodyPr rtlCol="0" anchor="ctr"/>
            <a:lstStyle/>
            <a:p>
              <a:endParaRPr lang="zh-CN" altLang="en-US">
                <a:solidFill>
                  <a:prstClr val="black"/>
                </a:solidFill>
                <a:latin typeface="Times New Roman"/>
                <a:ea typeface="微软雅黑"/>
                <a:sym typeface="Times New Roman"/>
              </a:endParaRPr>
            </a:p>
          </p:txBody>
        </p:sp>
        <p:sp>
          <p:nvSpPr>
            <p:cNvPr id="42" name="文本框 41"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E18F877D-FE4E-7022-EFA9-B9ABC729BC7A}"/>
                </a:ext>
              </a:extLst>
            </p:cNvPr>
            <p:cNvSpPr txBox="1"/>
            <p:nvPr/>
          </p:nvSpPr>
          <p:spPr>
            <a:xfrm>
              <a:off x="7103908" y="2491631"/>
              <a:ext cx="3327285" cy="369332"/>
            </a:xfrm>
            <a:prstGeom prst="rect">
              <a:avLst/>
            </a:prstGeom>
            <a:noFill/>
          </p:spPr>
          <p:txBody>
            <a:bodyPr wrap="square" rtlCol="0">
              <a:spAutoFit/>
            </a:bodyPr>
            <a:lstStyle/>
            <a:p>
              <a:pPr algn="ctr"/>
              <a:r>
                <a:rPr lang="en-CA" altLang="zh-CN" dirty="0">
                  <a:latin typeface="Times New Roman"/>
                  <a:ea typeface="微软雅黑"/>
                  <a:sym typeface="Times New Roman"/>
                </a:rPr>
                <a:t>Specific Effects on Teenagers</a:t>
              </a:r>
              <a:endParaRPr lang="zh-CN" altLang="en-US" dirty="0">
                <a:latin typeface="Times New Roman"/>
                <a:ea typeface="微软雅黑"/>
                <a:sym typeface="Times New Roman"/>
              </a:endParaRPr>
            </a:p>
          </p:txBody>
        </p:sp>
      </p:grpSp>
      <p:grpSp>
        <p:nvGrpSpPr>
          <p:cNvPr id="43" name="组合 42">
            <a:extLst>
              <a:ext uri="{FF2B5EF4-FFF2-40B4-BE49-F238E27FC236}">
                <a16:creationId xmlns:a16="http://schemas.microsoft.com/office/drawing/2014/main" id="{466ED4C5-533D-B556-5205-C4A0032398FE}"/>
              </a:ext>
            </a:extLst>
          </p:cNvPr>
          <p:cNvGrpSpPr/>
          <p:nvPr/>
        </p:nvGrpSpPr>
        <p:grpSpPr>
          <a:xfrm>
            <a:off x="6908099" y="4369501"/>
            <a:ext cx="3386125" cy="923330"/>
            <a:chOff x="6885007" y="2303608"/>
            <a:chExt cx="3386125" cy="923330"/>
          </a:xfrm>
        </p:grpSpPr>
        <p:sp>
          <p:nvSpPr>
            <p:cNvPr id="44" name="文本框 43"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CBA26A22-3022-B380-8679-2D16C5ADE561}"/>
                </a:ext>
              </a:extLst>
            </p:cNvPr>
            <p:cNvSpPr txBox="1"/>
            <p:nvPr/>
          </p:nvSpPr>
          <p:spPr>
            <a:xfrm>
              <a:off x="6885007" y="2303608"/>
              <a:ext cx="530915" cy="923330"/>
            </a:xfrm>
            <a:prstGeom prst="rect">
              <a:avLst/>
            </a:prstGeom>
            <a:noFill/>
          </p:spPr>
          <p:txBody>
            <a:bodyPr wrap="none" rtlCol="0">
              <a:spAutoFit/>
            </a:bodyPr>
            <a:lstStyle/>
            <a:p>
              <a:r>
                <a:rPr lang="en-US" altLang="zh-CN" sz="5400" dirty="0">
                  <a:latin typeface="Times New Roman"/>
                  <a:ea typeface="微软雅黑"/>
                  <a:cs typeface="Calibri Light" panose="020F0302020204030204" pitchFamily="34" charset="0"/>
                  <a:sym typeface="Times New Roman"/>
                </a:rPr>
                <a:t>4</a:t>
              </a:r>
              <a:endParaRPr lang="zh-CN" altLang="en-US" sz="5400" dirty="0">
                <a:latin typeface="Times New Roman"/>
                <a:ea typeface="微软雅黑"/>
                <a:cs typeface="Calibri Light" panose="020F0302020204030204" pitchFamily="34" charset="0"/>
                <a:sym typeface="Times New Roman"/>
              </a:endParaRPr>
            </a:p>
          </p:txBody>
        </p:sp>
        <p:sp>
          <p:nvSpPr>
            <p:cNvPr id="45" name="任意多边形: 形状 44">
              <a:extLst>
                <a:ext uri="{FF2B5EF4-FFF2-40B4-BE49-F238E27FC236}">
                  <a16:creationId xmlns:a16="http://schemas.microsoft.com/office/drawing/2014/main" id="{C7330961-52C7-0E40-5934-E6EB3F4B0E50}"/>
                </a:ext>
              </a:extLst>
            </p:cNvPr>
            <p:cNvSpPr/>
            <p:nvPr/>
          </p:nvSpPr>
          <p:spPr>
            <a:xfrm>
              <a:off x="7154561" y="2318486"/>
              <a:ext cx="3116571" cy="735307"/>
            </a:xfrm>
            <a:custGeom>
              <a:avLst/>
              <a:gdLst>
                <a:gd name="connsiteX0" fmla="*/ 1029653 w 5248275"/>
                <a:gd name="connsiteY0" fmla="*/ 1244918 h 1238250"/>
                <a:gd name="connsiteX1" fmla="*/ 5251133 w 5248275"/>
                <a:gd name="connsiteY1" fmla="*/ 1244918 h 1238250"/>
                <a:gd name="connsiteX2" fmla="*/ 5251133 w 5248275"/>
                <a:gd name="connsiteY2" fmla="*/ 0 h 1238250"/>
                <a:gd name="connsiteX3" fmla="*/ 0 w 5248275"/>
                <a:gd name="connsiteY3" fmla="*/ 0 h 1238250"/>
                <a:gd name="connsiteX4" fmla="*/ 0 w 5248275"/>
                <a:gd name="connsiteY4" fmla="*/ 214313 h 1238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8275" h="1238250">
                  <a:moveTo>
                    <a:pt x="1029653" y="1244918"/>
                  </a:moveTo>
                  <a:lnTo>
                    <a:pt x="5251133" y="1244918"/>
                  </a:lnTo>
                  <a:lnTo>
                    <a:pt x="5251133" y="0"/>
                  </a:lnTo>
                  <a:lnTo>
                    <a:pt x="0" y="0"/>
                  </a:lnTo>
                  <a:lnTo>
                    <a:pt x="0" y="214313"/>
                  </a:lnTo>
                </a:path>
              </a:pathLst>
            </a:custGeom>
            <a:noFill/>
            <a:ln w="19050" cap="flat">
              <a:solidFill>
                <a:schemeClr val="tx1"/>
              </a:solidFill>
              <a:prstDash val="solid"/>
              <a:miter/>
            </a:ln>
          </p:spPr>
          <p:txBody>
            <a:bodyPr rtlCol="0" anchor="ctr"/>
            <a:lstStyle/>
            <a:p>
              <a:endParaRPr lang="zh-CN" altLang="en-US">
                <a:solidFill>
                  <a:prstClr val="black"/>
                </a:solidFill>
                <a:latin typeface="Times New Roman"/>
                <a:ea typeface="微软雅黑"/>
                <a:sym typeface="Times New Roman"/>
              </a:endParaRPr>
            </a:p>
          </p:txBody>
        </p:sp>
        <p:sp>
          <p:nvSpPr>
            <p:cNvPr id="46" name="文本框 45"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D21811E1-CD97-69D1-635F-29D9745D7077}"/>
                </a:ext>
              </a:extLst>
            </p:cNvPr>
            <p:cNvSpPr txBox="1"/>
            <p:nvPr/>
          </p:nvSpPr>
          <p:spPr>
            <a:xfrm>
              <a:off x="7431315" y="2505926"/>
              <a:ext cx="2839816" cy="369332"/>
            </a:xfrm>
            <a:prstGeom prst="rect">
              <a:avLst/>
            </a:prstGeom>
            <a:noFill/>
          </p:spPr>
          <p:txBody>
            <a:bodyPr wrap="square" rtlCol="0">
              <a:spAutoFit/>
            </a:bodyPr>
            <a:lstStyle/>
            <a:p>
              <a:pPr algn="ctr"/>
              <a:r>
                <a:rPr lang="en-CA" altLang="zh-CN" dirty="0">
                  <a:latin typeface="Times New Roman"/>
                  <a:ea typeface="微软雅黑"/>
                  <a:sym typeface="Times New Roman"/>
                </a:rPr>
                <a:t>Consequences of Poor Sleep</a:t>
              </a:r>
              <a:endParaRPr lang="zh-CN" altLang="en-US" dirty="0">
                <a:latin typeface="Times New Roman"/>
                <a:ea typeface="微软雅黑"/>
                <a:sym typeface="Times New Roman"/>
              </a:endParaRPr>
            </a:p>
          </p:txBody>
        </p:sp>
      </p:grpSp>
      <p:sp>
        <p:nvSpPr>
          <p:cNvPr id="22" name="TextBox 3">
            <a:extLst>
              <a:ext uri="{FF2B5EF4-FFF2-40B4-BE49-F238E27FC236}">
                <a16:creationId xmlns:a16="http://schemas.microsoft.com/office/drawing/2014/main" id="{0E1C5434-DA25-B420-5682-E39DEFD708B8}"/>
              </a:ext>
            </a:extLst>
          </p:cNvPr>
          <p:cNvSpPr txBox="1"/>
          <p:nvPr/>
        </p:nvSpPr>
        <p:spPr>
          <a:xfrm>
            <a:off x="0" y="14955"/>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4D9C4233-F4E9-3B14-2C1A-D96A2B266083}"/>
              </a:ext>
            </a:extLst>
          </p:cNvPr>
          <p:cNvGrpSpPr/>
          <p:nvPr/>
        </p:nvGrpSpPr>
        <p:grpSpPr>
          <a:xfrm>
            <a:off x="6908098" y="5437382"/>
            <a:ext cx="3386125" cy="923330"/>
            <a:chOff x="6885007" y="2303608"/>
            <a:chExt cx="3386125" cy="923330"/>
          </a:xfrm>
        </p:grpSpPr>
        <p:sp>
          <p:nvSpPr>
            <p:cNvPr id="4" name="文本框 3"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75EA35E9-B424-C4E6-8DDF-E3345CAD94A5}"/>
                </a:ext>
              </a:extLst>
            </p:cNvPr>
            <p:cNvSpPr txBox="1"/>
            <p:nvPr/>
          </p:nvSpPr>
          <p:spPr>
            <a:xfrm>
              <a:off x="6885007" y="2303608"/>
              <a:ext cx="530915" cy="923330"/>
            </a:xfrm>
            <a:prstGeom prst="rect">
              <a:avLst/>
            </a:prstGeom>
            <a:noFill/>
          </p:spPr>
          <p:txBody>
            <a:bodyPr wrap="none" rtlCol="0">
              <a:spAutoFit/>
            </a:bodyPr>
            <a:lstStyle/>
            <a:p>
              <a:r>
                <a:rPr lang="en-US" altLang="zh-CN" sz="5400" dirty="0">
                  <a:latin typeface="Times New Roman"/>
                  <a:ea typeface="微软雅黑"/>
                  <a:cs typeface="Calibri Light" panose="020F0302020204030204" pitchFamily="34" charset="0"/>
                  <a:sym typeface="Times New Roman"/>
                </a:rPr>
                <a:t>5</a:t>
              </a:r>
              <a:endParaRPr lang="zh-CN" altLang="en-US" sz="5400" dirty="0">
                <a:latin typeface="Times New Roman"/>
                <a:ea typeface="微软雅黑"/>
                <a:cs typeface="Calibri Light" panose="020F0302020204030204" pitchFamily="34" charset="0"/>
                <a:sym typeface="Times New Roman"/>
              </a:endParaRPr>
            </a:p>
          </p:txBody>
        </p:sp>
        <p:sp>
          <p:nvSpPr>
            <p:cNvPr id="6" name="任意多边形: 形状 32">
              <a:extLst>
                <a:ext uri="{FF2B5EF4-FFF2-40B4-BE49-F238E27FC236}">
                  <a16:creationId xmlns:a16="http://schemas.microsoft.com/office/drawing/2014/main" id="{1695450E-3E4F-E6AD-E2F4-C2CEE5382584}"/>
                </a:ext>
              </a:extLst>
            </p:cNvPr>
            <p:cNvSpPr/>
            <p:nvPr/>
          </p:nvSpPr>
          <p:spPr>
            <a:xfrm>
              <a:off x="7154561" y="2318486"/>
              <a:ext cx="3116571" cy="735307"/>
            </a:xfrm>
            <a:custGeom>
              <a:avLst/>
              <a:gdLst>
                <a:gd name="connsiteX0" fmla="*/ 1029653 w 5248275"/>
                <a:gd name="connsiteY0" fmla="*/ 1244918 h 1238250"/>
                <a:gd name="connsiteX1" fmla="*/ 5251133 w 5248275"/>
                <a:gd name="connsiteY1" fmla="*/ 1244918 h 1238250"/>
                <a:gd name="connsiteX2" fmla="*/ 5251133 w 5248275"/>
                <a:gd name="connsiteY2" fmla="*/ 0 h 1238250"/>
                <a:gd name="connsiteX3" fmla="*/ 0 w 5248275"/>
                <a:gd name="connsiteY3" fmla="*/ 0 h 1238250"/>
                <a:gd name="connsiteX4" fmla="*/ 0 w 5248275"/>
                <a:gd name="connsiteY4" fmla="*/ 214313 h 1238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8275" h="1238250">
                  <a:moveTo>
                    <a:pt x="1029653" y="1244918"/>
                  </a:moveTo>
                  <a:lnTo>
                    <a:pt x="5251133" y="1244918"/>
                  </a:lnTo>
                  <a:lnTo>
                    <a:pt x="5251133" y="0"/>
                  </a:lnTo>
                  <a:lnTo>
                    <a:pt x="0" y="0"/>
                  </a:lnTo>
                  <a:lnTo>
                    <a:pt x="0" y="214313"/>
                  </a:lnTo>
                </a:path>
              </a:pathLst>
            </a:custGeom>
            <a:noFill/>
            <a:ln w="19050" cap="flat">
              <a:solidFill>
                <a:schemeClr val="tx1"/>
              </a:solidFill>
              <a:prstDash val="solid"/>
              <a:miter/>
            </a:ln>
          </p:spPr>
          <p:txBody>
            <a:bodyPr rtlCol="0" anchor="ctr"/>
            <a:lstStyle/>
            <a:p>
              <a:endParaRPr lang="zh-CN" altLang="en-US">
                <a:solidFill>
                  <a:prstClr val="black"/>
                </a:solidFill>
                <a:latin typeface="Times New Roman"/>
                <a:ea typeface="微软雅黑"/>
                <a:sym typeface="Times New Roman"/>
              </a:endParaRPr>
            </a:p>
          </p:txBody>
        </p:sp>
        <p:sp>
          <p:nvSpPr>
            <p:cNvPr id="9" name="文本框 8"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3062F027-12D0-78BE-C833-15387D1D24DA}"/>
                </a:ext>
              </a:extLst>
            </p:cNvPr>
            <p:cNvSpPr txBox="1"/>
            <p:nvPr/>
          </p:nvSpPr>
          <p:spPr>
            <a:xfrm>
              <a:off x="7431315" y="2505926"/>
              <a:ext cx="2502710" cy="369332"/>
            </a:xfrm>
            <a:prstGeom prst="rect">
              <a:avLst/>
            </a:prstGeom>
            <a:noFill/>
          </p:spPr>
          <p:txBody>
            <a:bodyPr wrap="square" rtlCol="0">
              <a:spAutoFit/>
            </a:bodyPr>
            <a:lstStyle/>
            <a:p>
              <a:pPr algn="ctr"/>
              <a:r>
                <a:rPr lang="en-US" altLang="zh-CN" dirty="0">
                  <a:latin typeface="Times New Roman"/>
                  <a:ea typeface="微软雅黑"/>
                  <a:sym typeface="Times New Roman"/>
                </a:rPr>
                <a:t>Summary</a:t>
              </a:r>
              <a:endParaRPr lang="zh-CN" altLang="en-US" dirty="0">
                <a:latin typeface="Times New Roman"/>
                <a:ea typeface="微软雅黑"/>
                <a:sym typeface="Times New Roman"/>
              </a:endParaRPr>
            </a:p>
          </p:txBody>
        </p:sp>
      </p:grpSp>
    </p:spTree>
    <p:extLst>
      <p:ext uri="{BB962C8B-B14F-4D97-AF65-F5344CB8AC3E}">
        <p14:creationId xmlns:p14="http://schemas.microsoft.com/office/powerpoint/2010/main" val="512296573"/>
      </p:ext>
    </p:extLst>
  </p:cSld>
  <p:clrMapOvr>
    <a:masterClrMapping/>
  </p:clrMapOvr>
  <mc:AlternateContent xmlns:mc="http://schemas.openxmlformats.org/markup-compatibility/2006" xmlns:p14="http://schemas.microsoft.com/office/powerpoint/2010/main">
    <mc:Choice Requires="p14">
      <p:transition spd="slow" p14:dur="1300" advTm="8668">
        <p14:pan/>
      </p:transition>
    </mc:Choice>
    <mc:Fallback xmlns="">
      <p:transition spd="slow" advTm="866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 presetClass="entr" presetSubtype="4" decel="10000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1000" fill="hold"/>
                                        <p:tgtEl>
                                          <p:spTgt spid="8"/>
                                        </p:tgtEl>
                                        <p:attrNameLst>
                                          <p:attrName>ppt_x</p:attrName>
                                        </p:attrNameLst>
                                      </p:cBhvr>
                                      <p:tavLst>
                                        <p:tav tm="0">
                                          <p:val>
                                            <p:strVal val="#ppt_x"/>
                                          </p:val>
                                        </p:tav>
                                        <p:tav tm="100000">
                                          <p:val>
                                            <p:strVal val="#ppt_x"/>
                                          </p:val>
                                        </p:tav>
                                      </p:tavLst>
                                    </p:anim>
                                    <p:anim calcmode="lin" valueType="num">
                                      <p:cBhvr additive="base">
                                        <p:cTn id="11" dur="1000" fill="hold"/>
                                        <p:tgtEl>
                                          <p:spTgt spid="8"/>
                                        </p:tgtEl>
                                        <p:attrNameLst>
                                          <p:attrName>ppt_y</p:attrName>
                                        </p:attrNameLst>
                                      </p:cBhvr>
                                      <p:tavLst>
                                        <p:tav tm="0">
                                          <p:val>
                                            <p:strVal val="1+#ppt_h/2"/>
                                          </p:val>
                                        </p:tav>
                                        <p:tav tm="100000">
                                          <p:val>
                                            <p:strVal val="#ppt_y"/>
                                          </p:val>
                                        </p:tav>
                                      </p:tavLst>
                                    </p:anim>
                                  </p:childTnLst>
                                </p:cTn>
                              </p:par>
                            </p:childTnLst>
                          </p:cTn>
                        </p:par>
                        <p:par>
                          <p:cTn id="12" fill="hold">
                            <p:stCondLst>
                              <p:cond delay="1000"/>
                            </p:stCondLst>
                            <p:childTnLst>
                              <p:par>
                                <p:cTn id="13" presetID="42" presetClass="entr" presetSubtype="0" fill="hold" grpId="2" nodeType="afterEffect">
                                  <p:stCondLst>
                                    <p:cond delay="0"/>
                                  </p:stCondLst>
                                  <p:iterate type="lt">
                                    <p:tmPct val="1786"/>
                                  </p:iterate>
                                  <p:childTnLst>
                                    <p:set>
                                      <p:cBhvr>
                                        <p:cTn id="14" dur="1" fill="hold">
                                          <p:stCondLst>
                                            <p:cond delay="0"/>
                                          </p:stCondLst>
                                        </p:cTn>
                                        <p:tgtEl>
                                          <p:spTgt spid="2"/>
                                        </p:tgtEl>
                                        <p:attrNameLst>
                                          <p:attrName>style.visibility</p:attrName>
                                        </p:attrNameLst>
                                      </p:cBhvr>
                                      <p:to>
                                        <p:strVal val="visible"/>
                                      </p:to>
                                    </p:set>
                                    <p:anim to="" calcmode="lin" valueType="num">
                                      <p:cBhvr>
                                        <p:cTn id="15" dur="700" fill="hold">
                                          <p:stCondLst>
                                            <p:cond delay="0"/>
                                          </p:stCondLst>
                                        </p:cTn>
                                        <p:tgtEl>
                                          <p:spTgt spid="2"/>
                                        </p:tgtEl>
                                        <p:attrNameLst>
                                          <p:attrName>ppt_y</p:attrName>
                                        </p:attrNameLst>
                                      </p:cBhvr>
                                      <p:tavLst>
                                        <p:tav tm="0" fmla="#ppt_y+(8/9)*(#ppt_y-(#ppt_y+0.1))*((1.5-1.5*$)^2-(1.5-1.5*$)^3)">
                                          <p:val>
                                            <p:strVal val="0"/>
                                          </p:val>
                                        </p:tav>
                                        <p:tav tm="100000">
                                          <p:val>
                                            <p:strVal val="1"/>
                                          </p:val>
                                        </p:tav>
                                      </p:tavLst>
                                    </p:anim>
                                    <p:anim to="" calcmode="lin" valueType="num">
                                      <p:cBhvr>
                                        <p:cTn id="16" dur="700" fill="hold">
                                          <p:stCondLst>
                                            <p:cond delay="0"/>
                                          </p:stCondLst>
                                        </p:cTn>
                                        <p:tgtEl>
                                          <p:spTgt spid="2"/>
                                        </p:tgtEl>
                                        <p:attrNameLst>
                                          <p:attrName>style.opacity</p:attrName>
                                        </p:attrNameLst>
                                      </p:cBhvr>
                                      <p:tavLst>
                                        <p:tav tm="0" fmla="1+(8/9)*(1-0)*((1.5-1.5*$)^2-(1.5-1.5*$)^3)">
                                          <p:val>
                                            <p:strVal val="0"/>
                                          </p:val>
                                        </p:tav>
                                        <p:tav tm="100000">
                                          <p:val>
                                            <p:strVal val="1"/>
                                          </p:val>
                                        </p:tav>
                                      </p:tavLst>
                                    </p:anim>
                                  </p:childTnLst>
                                </p:cTn>
                              </p:par>
                            </p:childTnLst>
                          </p:cTn>
                        </p:par>
                        <p:par>
                          <p:cTn id="17" fill="hold">
                            <p:stCondLst>
                              <p:cond delay="1788"/>
                            </p:stCondLst>
                            <p:childTnLst>
                              <p:par>
                                <p:cTn id="18" presetID="2" presetClass="entr" presetSubtype="2" decel="100000" fill="hold" nodeType="afterEffect">
                                  <p:stCondLst>
                                    <p:cond delay="0"/>
                                  </p:stCondLst>
                                  <p:childTnLst>
                                    <p:set>
                                      <p:cBhvr>
                                        <p:cTn id="19" dur="1" fill="hold">
                                          <p:stCondLst>
                                            <p:cond delay="0"/>
                                          </p:stCondLst>
                                        </p:cTn>
                                        <p:tgtEl>
                                          <p:spTgt spid="31"/>
                                        </p:tgtEl>
                                        <p:attrNameLst>
                                          <p:attrName>style.visibility</p:attrName>
                                        </p:attrNameLst>
                                      </p:cBhvr>
                                      <p:to>
                                        <p:strVal val="visible"/>
                                      </p:to>
                                    </p:set>
                                    <p:anim calcmode="lin" valueType="num">
                                      <p:cBhvr additive="base">
                                        <p:cTn id="20" dur="1000" fill="hold"/>
                                        <p:tgtEl>
                                          <p:spTgt spid="31"/>
                                        </p:tgtEl>
                                        <p:attrNameLst>
                                          <p:attrName>ppt_x</p:attrName>
                                        </p:attrNameLst>
                                      </p:cBhvr>
                                      <p:tavLst>
                                        <p:tav tm="0">
                                          <p:val>
                                            <p:strVal val="1+#ppt_w/2"/>
                                          </p:val>
                                        </p:tav>
                                        <p:tav tm="100000">
                                          <p:val>
                                            <p:strVal val="#ppt_x"/>
                                          </p:val>
                                        </p:tav>
                                      </p:tavLst>
                                    </p:anim>
                                    <p:anim calcmode="lin" valueType="num">
                                      <p:cBhvr additive="base">
                                        <p:cTn id="21" dur="1000" fill="hold"/>
                                        <p:tgtEl>
                                          <p:spTgt spid="31"/>
                                        </p:tgtEl>
                                        <p:attrNameLst>
                                          <p:attrName>ppt_y</p:attrName>
                                        </p:attrNameLst>
                                      </p:cBhvr>
                                      <p:tavLst>
                                        <p:tav tm="0">
                                          <p:val>
                                            <p:strVal val="#ppt_y"/>
                                          </p:val>
                                        </p:tav>
                                        <p:tav tm="100000">
                                          <p:val>
                                            <p:strVal val="#ppt_y"/>
                                          </p:val>
                                        </p:tav>
                                      </p:tavLst>
                                    </p:anim>
                                  </p:childTnLst>
                                </p:cTn>
                              </p:par>
                              <p:par>
                                <p:cTn id="22" presetID="2" presetClass="entr" presetSubtype="2" decel="100000" fill="hold" nodeType="withEffect">
                                  <p:stCondLst>
                                    <p:cond delay="100"/>
                                  </p:stCondLst>
                                  <p:childTnLst>
                                    <p:set>
                                      <p:cBhvr>
                                        <p:cTn id="23" dur="1" fill="hold">
                                          <p:stCondLst>
                                            <p:cond delay="0"/>
                                          </p:stCondLst>
                                        </p:cTn>
                                        <p:tgtEl>
                                          <p:spTgt spid="35"/>
                                        </p:tgtEl>
                                        <p:attrNameLst>
                                          <p:attrName>style.visibility</p:attrName>
                                        </p:attrNameLst>
                                      </p:cBhvr>
                                      <p:to>
                                        <p:strVal val="visible"/>
                                      </p:to>
                                    </p:set>
                                    <p:anim calcmode="lin" valueType="num">
                                      <p:cBhvr additive="base">
                                        <p:cTn id="24" dur="1000" fill="hold"/>
                                        <p:tgtEl>
                                          <p:spTgt spid="35"/>
                                        </p:tgtEl>
                                        <p:attrNameLst>
                                          <p:attrName>ppt_x</p:attrName>
                                        </p:attrNameLst>
                                      </p:cBhvr>
                                      <p:tavLst>
                                        <p:tav tm="0">
                                          <p:val>
                                            <p:strVal val="1+#ppt_w/2"/>
                                          </p:val>
                                        </p:tav>
                                        <p:tav tm="100000">
                                          <p:val>
                                            <p:strVal val="#ppt_x"/>
                                          </p:val>
                                        </p:tav>
                                      </p:tavLst>
                                    </p:anim>
                                    <p:anim calcmode="lin" valueType="num">
                                      <p:cBhvr additive="base">
                                        <p:cTn id="25" dur="1000" fill="hold"/>
                                        <p:tgtEl>
                                          <p:spTgt spid="35"/>
                                        </p:tgtEl>
                                        <p:attrNameLst>
                                          <p:attrName>ppt_y</p:attrName>
                                        </p:attrNameLst>
                                      </p:cBhvr>
                                      <p:tavLst>
                                        <p:tav tm="0">
                                          <p:val>
                                            <p:strVal val="#ppt_y"/>
                                          </p:val>
                                        </p:tav>
                                        <p:tav tm="100000">
                                          <p:val>
                                            <p:strVal val="#ppt_y"/>
                                          </p:val>
                                        </p:tav>
                                      </p:tavLst>
                                    </p:anim>
                                  </p:childTnLst>
                                </p:cTn>
                              </p:par>
                              <p:par>
                                <p:cTn id="26" presetID="2" presetClass="entr" presetSubtype="2" decel="100000" fill="hold" nodeType="withEffect">
                                  <p:stCondLst>
                                    <p:cond delay="200"/>
                                  </p:stCondLst>
                                  <p:childTnLst>
                                    <p:set>
                                      <p:cBhvr>
                                        <p:cTn id="27" dur="1" fill="hold">
                                          <p:stCondLst>
                                            <p:cond delay="0"/>
                                          </p:stCondLst>
                                        </p:cTn>
                                        <p:tgtEl>
                                          <p:spTgt spid="39"/>
                                        </p:tgtEl>
                                        <p:attrNameLst>
                                          <p:attrName>style.visibility</p:attrName>
                                        </p:attrNameLst>
                                      </p:cBhvr>
                                      <p:to>
                                        <p:strVal val="visible"/>
                                      </p:to>
                                    </p:set>
                                    <p:anim calcmode="lin" valueType="num">
                                      <p:cBhvr additive="base">
                                        <p:cTn id="28" dur="1000" fill="hold"/>
                                        <p:tgtEl>
                                          <p:spTgt spid="39"/>
                                        </p:tgtEl>
                                        <p:attrNameLst>
                                          <p:attrName>ppt_x</p:attrName>
                                        </p:attrNameLst>
                                      </p:cBhvr>
                                      <p:tavLst>
                                        <p:tav tm="0">
                                          <p:val>
                                            <p:strVal val="1+#ppt_w/2"/>
                                          </p:val>
                                        </p:tav>
                                        <p:tav tm="100000">
                                          <p:val>
                                            <p:strVal val="#ppt_x"/>
                                          </p:val>
                                        </p:tav>
                                      </p:tavLst>
                                    </p:anim>
                                    <p:anim calcmode="lin" valueType="num">
                                      <p:cBhvr additive="base">
                                        <p:cTn id="29" dur="1000" fill="hold"/>
                                        <p:tgtEl>
                                          <p:spTgt spid="39"/>
                                        </p:tgtEl>
                                        <p:attrNameLst>
                                          <p:attrName>ppt_y</p:attrName>
                                        </p:attrNameLst>
                                      </p:cBhvr>
                                      <p:tavLst>
                                        <p:tav tm="0">
                                          <p:val>
                                            <p:strVal val="#ppt_y"/>
                                          </p:val>
                                        </p:tav>
                                        <p:tav tm="100000">
                                          <p:val>
                                            <p:strVal val="#ppt_y"/>
                                          </p:val>
                                        </p:tav>
                                      </p:tavLst>
                                    </p:anim>
                                  </p:childTnLst>
                                </p:cTn>
                              </p:par>
                              <p:par>
                                <p:cTn id="30" presetID="2" presetClass="entr" presetSubtype="2" decel="100000" fill="hold" nodeType="withEffect">
                                  <p:stCondLst>
                                    <p:cond delay="300"/>
                                  </p:stCondLst>
                                  <p:childTnLst>
                                    <p:set>
                                      <p:cBhvr>
                                        <p:cTn id="31" dur="1" fill="hold">
                                          <p:stCondLst>
                                            <p:cond delay="0"/>
                                          </p:stCondLst>
                                        </p:cTn>
                                        <p:tgtEl>
                                          <p:spTgt spid="43"/>
                                        </p:tgtEl>
                                        <p:attrNameLst>
                                          <p:attrName>style.visibility</p:attrName>
                                        </p:attrNameLst>
                                      </p:cBhvr>
                                      <p:to>
                                        <p:strVal val="visible"/>
                                      </p:to>
                                    </p:set>
                                    <p:anim calcmode="lin" valueType="num">
                                      <p:cBhvr additive="base">
                                        <p:cTn id="32" dur="1000" fill="hold"/>
                                        <p:tgtEl>
                                          <p:spTgt spid="43"/>
                                        </p:tgtEl>
                                        <p:attrNameLst>
                                          <p:attrName>ppt_x</p:attrName>
                                        </p:attrNameLst>
                                      </p:cBhvr>
                                      <p:tavLst>
                                        <p:tav tm="0">
                                          <p:val>
                                            <p:strVal val="1+#ppt_w/2"/>
                                          </p:val>
                                        </p:tav>
                                        <p:tav tm="100000">
                                          <p:val>
                                            <p:strVal val="#ppt_x"/>
                                          </p:val>
                                        </p:tav>
                                      </p:tavLst>
                                    </p:anim>
                                    <p:anim calcmode="lin" valueType="num">
                                      <p:cBhvr additive="base">
                                        <p:cTn id="33" dur="1000" fill="hold"/>
                                        <p:tgtEl>
                                          <p:spTgt spid="43"/>
                                        </p:tgtEl>
                                        <p:attrNameLst>
                                          <p:attrName>ppt_y</p:attrName>
                                        </p:attrNameLst>
                                      </p:cBhvr>
                                      <p:tavLst>
                                        <p:tav tm="0">
                                          <p:val>
                                            <p:strVal val="#ppt_y"/>
                                          </p:val>
                                        </p:tav>
                                        <p:tav tm="100000">
                                          <p:val>
                                            <p:strVal val="#ppt_y"/>
                                          </p:val>
                                        </p:tav>
                                      </p:tavLst>
                                    </p:anim>
                                  </p:childTnLst>
                                </p:cTn>
                              </p:par>
                              <p:par>
                                <p:cTn id="34" presetID="2" presetClass="entr" presetSubtype="2" decel="100000" fill="hold" nodeType="withEffect">
                                  <p:stCondLst>
                                    <p:cond delay="400"/>
                                  </p:stCondLst>
                                  <p:childTnLst>
                                    <p:set>
                                      <p:cBhvr>
                                        <p:cTn id="35" dur="1" fill="hold">
                                          <p:stCondLst>
                                            <p:cond delay="0"/>
                                          </p:stCondLst>
                                        </p:cTn>
                                        <p:tgtEl>
                                          <p:spTgt spid="3"/>
                                        </p:tgtEl>
                                        <p:attrNameLst>
                                          <p:attrName>style.visibility</p:attrName>
                                        </p:attrNameLst>
                                      </p:cBhvr>
                                      <p:to>
                                        <p:strVal val="visible"/>
                                      </p:to>
                                    </p:set>
                                    <p:anim calcmode="lin" valueType="num">
                                      <p:cBhvr additive="base">
                                        <p:cTn id="36" dur="1000" fill="hold"/>
                                        <p:tgtEl>
                                          <p:spTgt spid="3"/>
                                        </p:tgtEl>
                                        <p:attrNameLst>
                                          <p:attrName>ppt_x</p:attrName>
                                        </p:attrNameLst>
                                      </p:cBhvr>
                                      <p:tavLst>
                                        <p:tav tm="0">
                                          <p:val>
                                            <p:strVal val="1+#ppt_w/2"/>
                                          </p:val>
                                        </p:tav>
                                        <p:tav tm="100000">
                                          <p:val>
                                            <p:strVal val="#ppt_x"/>
                                          </p:val>
                                        </p:tav>
                                      </p:tavLst>
                                    </p:anim>
                                    <p:anim calcmode="lin" valueType="num">
                                      <p:cBhvr additive="base">
                                        <p:cTn id="37" dur="10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P spid="2" grpId="1"/>
      <p:bldP spid="2" grpId="2"/>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6765ECE3-D4C3-4882-D575-B6064366391F}"/>
              </a:ext>
            </a:extLst>
          </p:cNvPr>
          <p:cNvCxnSpPr>
            <a:cxnSpLocks/>
          </p:cNvCxnSpPr>
          <p:nvPr/>
        </p:nvCxnSpPr>
        <p:spPr>
          <a:xfrm>
            <a:off x="411783" y="942554"/>
            <a:ext cx="26887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7989539-24ED-B150-EF0E-AC5BC72A3767}"/>
              </a:ext>
            </a:extLst>
          </p:cNvPr>
          <p:cNvCxnSpPr/>
          <p:nvPr/>
        </p:nvCxnSpPr>
        <p:spPr>
          <a:xfrm>
            <a:off x="720619" y="423896"/>
            <a:ext cx="0" cy="7327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753AF82A-B41E-131F-0BB5-B912A030B207}"/>
              </a:ext>
            </a:extLst>
          </p:cNvPr>
          <p:cNvSpPr txBox="1"/>
          <p:nvPr/>
        </p:nvSpPr>
        <p:spPr>
          <a:xfrm>
            <a:off x="841660" y="477903"/>
            <a:ext cx="2992581" cy="400110"/>
          </a:xfrm>
          <a:prstGeom prst="rect">
            <a:avLst/>
          </a:prstGeom>
          <a:noFill/>
        </p:spPr>
        <p:txBody>
          <a:bodyPr wrap="square" rtlCol="0">
            <a:spAutoFit/>
          </a:bodyPr>
          <a:lstStyle/>
          <a:p>
            <a:r>
              <a:rPr lang="en-US" altLang="zh-CN" sz="2000" dirty="0">
                <a:latin typeface="Times New Roman"/>
                <a:ea typeface="微软雅黑"/>
                <a:sym typeface="Times New Roman"/>
              </a:rPr>
              <a:t>Sleep and its importance</a:t>
            </a:r>
            <a:endParaRPr lang="zh-CN" altLang="en-US" sz="2000" dirty="0">
              <a:latin typeface="Times New Roman"/>
              <a:ea typeface="微软雅黑"/>
              <a:sym typeface="Times New Roman"/>
            </a:endParaRPr>
          </a:p>
        </p:txBody>
      </p:sp>
      <p:sp>
        <p:nvSpPr>
          <p:cNvPr id="11" name="矩形 10"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CF708AE9-8C15-45C9-4727-05BED44FAA42}"/>
              </a:ext>
            </a:extLst>
          </p:cNvPr>
          <p:cNvSpPr/>
          <p:nvPr/>
        </p:nvSpPr>
        <p:spPr>
          <a:xfrm>
            <a:off x="2684512" y="883714"/>
            <a:ext cx="117680" cy="117680"/>
          </a:xfrm>
          <a:prstGeom prst="rect">
            <a:avLst/>
          </a:prstGeom>
          <a:solidFill>
            <a:schemeClr val="tx1"/>
          </a:solidFill>
          <a:ln w="19050">
            <a:solidFill>
              <a:srgbClr val="113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13556"/>
              </a:solidFill>
              <a:latin typeface="Times New Roman"/>
              <a:ea typeface="微软雅黑"/>
              <a:cs typeface="+mn-ea"/>
              <a:sym typeface="Times New Roman"/>
            </a:endParaRPr>
          </a:p>
        </p:txBody>
      </p:sp>
      <p:sp>
        <p:nvSpPr>
          <p:cNvPr id="21" name="矩形: 剪去单角 20"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33B7EDA3-F780-C7AF-D280-6E64AE46A776}"/>
              </a:ext>
            </a:extLst>
          </p:cNvPr>
          <p:cNvSpPr/>
          <p:nvPr/>
        </p:nvSpPr>
        <p:spPr>
          <a:xfrm rot="5400000" flipV="1">
            <a:off x="1608175" y="1472729"/>
            <a:ext cx="4663440" cy="4663440"/>
          </a:xfrm>
          <a:prstGeom prst="snip1Rect">
            <a:avLst>
              <a:gd name="adj" fmla="val 10523"/>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a:ea typeface="微软雅黑"/>
              <a:sym typeface="Times New Roman"/>
            </a:endParaRPr>
          </a:p>
        </p:txBody>
      </p:sp>
      <p:sp>
        <p:nvSpPr>
          <p:cNvPr id="22" name="文本框 21"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250ADAF9-0A78-7C61-7E2C-50DD0A2C737A}"/>
              </a:ext>
            </a:extLst>
          </p:cNvPr>
          <p:cNvSpPr txBox="1"/>
          <p:nvPr/>
        </p:nvSpPr>
        <p:spPr>
          <a:xfrm>
            <a:off x="2127663" y="3804450"/>
            <a:ext cx="3567691" cy="890115"/>
          </a:xfrm>
          <a:prstGeom prst="rect">
            <a:avLst/>
          </a:prstGeom>
          <a:noFill/>
        </p:spPr>
        <p:txBody>
          <a:bodyPr wrap="square" rtlCol="0">
            <a:spAutoFit/>
          </a:bodyPr>
          <a:lstStyle/>
          <a:p>
            <a:pPr marL="228600" indent="-228600" algn="just">
              <a:lnSpc>
                <a:spcPct val="150000"/>
              </a:lnSpc>
              <a:buFont typeface="+mj-lt"/>
              <a:buAutoNum type="arabicPeriod"/>
            </a:pPr>
            <a:r>
              <a:rPr lang="en-CA" altLang="zh-CN" sz="1200" dirty="0">
                <a:solidFill>
                  <a:schemeClr val="bg1">
                    <a:lumMod val="50000"/>
                  </a:schemeClr>
                </a:solidFill>
                <a:latin typeface="Times New Roman"/>
                <a:ea typeface="微软雅黑"/>
                <a:sym typeface="Times New Roman"/>
              </a:rPr>
              <a:t>Physical restoration.</a:t>
            </a:r>
          </a:p>
          <a:p>
            <a:pPr marL="228600" indent="-228600" algn="just">
              <a:lnSpc>
                <a:spcPct val="150000"/>
              </a:lnSpc>
              <a:buFont typeface="+mj-lt"/>
              <a:buAutoNum type="arabicPeriod"/>
            </a:pPr>
            <a:r>
              <a:rPr lang="en-CA" altLang="zh-CN" sz="1200" dirty="0">
                <a:solidFill>
                  <a:schemeClr val="bg1">
                    <a:lumMod val="50000"/>
                  </a:schemeClr>
                </a:solidFill>
                <a:latin typeface="Times New Roman"/>
                <a:ea typeface="微软雅黑"/>
                <a:sym typeface="Times New Roman"/>
              </a:rPr>
              <a:t>Cognitive performance and memory.</a:t>
            </a:r>
          </a:p>
          <a:p>
            <a:pPr marL="228600" indent="-228600" algn="just">
              <a:lnSpc>
                <a:spcPct val="150000"/>
              </a:lnSpc>
              <a:buFont typeface="+mj-lt"/>
              <a:buAutoNum type="arabicPeriod"/>
            </a:pPr>
            <a:r>
              <a:rPr lang="en-CA" altLang="zh-CN" sz="1200" dirty="0">
                <a:solidFill>
                  <a:schemeClr val="bg1">
                    <a:lumMod val="50000"/>
                  </a:schemeClr>
                </a:solidFill>
                <a:latin typeface="Times New Roman"/>
                <a:ea typeface="微软雅黑"/>
                <a:sym typeface="Times New Roman"/>
              </a:rPr>
              <a:t>Emotional regulation.</a:t>
            </a:r>
            <a:endParaRPr lang="zh-CN" altLang="en-US" sz="1200" dirty="0">
              <a:solidFill>
                <a:schemeClr val="bg1">
                  <a:lumMod val="50000"/>
                </a:schemeClr>
              </a:solidFill>
              <a:latin typeface="Times New Roman"/>
              <a:ea typeface="微软雅黑"/>
              <a:sym typeface="Times New Roman"/>
            </a:endParaRPr>
          </a:p>
        </p:txBody>
      </p:sp>
      <p:sp>
        <p:nvSpPr>
          <p:cNvPr id="25" name="文本框 24"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D83C2F24-59F2-A17E-D6D6-22C0C102E46F}"/>
              </a:ext>
            </a:extLst>
          </p:cNvPr>
          <p:cNvSpPr txBox="1"/>
          <p:nvPr/>
        </p:nvSpPr>
        <p:spPr>
          <a:xfrm>
            <a:off x="3640686" y="2989029"/>
            <a:ext cx="2608406" cy="400110"/>
          </a:xfrm>
          <a:prstGeom prst="rect">
            <a:avLst/>
          </a:prstGeom>
          <a:noFill/>
        </p:spPr>
        <p:txBody>
          <a:bodyPr wrap="none" rtlCol="0">
            <a:spAutoFit/>
          </a:bodyPr>
          <a:lstStyle/>
          <a:p>
            <a:r>
              <a:rPr lang="en-US" altLang="zh-CN" sz="2000" dirty="0">
                <a:latin typeface="Times New Roman"/>
                <a:ea typeface="微软雅黑"/>
                <a:sym typeface="Times New Roman"/>
              </a:rPr>
              <a:t>/ Definition &amp; Function</a:t>
            </a:r>
            <a:endParaRPr lang="zh-CN" altLang="en-US" sz="2000" dirty="0">
              <a:latin typeface="Times New Roman"/>
              <a:ea typeface="微软雅黑"/>
              <a:sym typeface="Times New Roman"/>
            </a:endParaRPr>
          </a:p>
        </p:txBody>
      </p:sp>
      <p:grpSp>
        <p:nvGrpSpPr>
          <p:cNvPr id="30" name="组合 29">
            <a:extLst>
              <a:ext uri="{FF2B5EF4-FFF2-40B4-BE49-F238E27FC236}">
                <a16:creationId xmlns:a16="http://schemas.microsoft.com/office/drawing/2014/main" id="{E4F84112-09C2-1775-1361-784F2E566BC8}"/>
              </a:ext>
            </a:extLst>
          </p:cNvPr>
          <p:cNvGrpSpPr/>
          <p:nvPr/>
        </p:nvGrpSpPr>
        <p:grpSpPr>
          <a:xfrm>
            <a:off x="2188323" y="2250276"/>
            <a:ext cx="1821215" cy="921641"/>
            <a:chOff x="2188322" y="2250274"/>
            <a:chExt cx="1821215" cy="921641"/>
          </a:xfrm>
        </p:grpSpPr>
        <p:sp>
          <p:nvSpPr>
            <p:cNvPr id="24" name="文本框 23"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377C1802-86D2-9985-02FA-9F83A252EAEC}"/>
                </a:ext>
              </a:extLst>
            </p:cNvPr>
            <p:cNvSpPr txBox="1"/>
            <p:nvPr/>
          </p:nvSpPr>
          <p:spPr>
            <a:xfrm>
              <a:off x="2316445" y="2272230"/>
              <a:ext cx="1693092" cy="707886"/>
            </a:xfrm>
            <a:prstGeom prst="rect">
              <a:avLst/>
            </a:prstGeom>
            <a:noFill/>
          </p:spPr>
          <p:txBody>
            <a:bodyPr wrap="none" rtlCol="0">
              <a:spAutoFit/>
            </a:bodyPr>
            <a:lstStyle/>
            <a:p>
              <a:r>
                <a:rPr lang="en-US" altLang="zh-CN" sz="4000" dirty="0">
                  <a:latin typeface="Times New Roman"/>
                  <a:ea typeface="微软雅黑"/>
                  <a:cs typeface="Calibri Light" panose="020F0302020204030204" pitchFamily="34" charset="0"/>
                  <a:sym typeface="Times New Roman"/>
                </a:rPr>
                <a:t>SLEEP</a:t>
              </a:r>
              <a:endParaRPr lang="zh-CN" altLang="en-US" sz="4000" dirty="0">
                <a:latin typeface="Times New Roman"/>
                <a:ea typeface="微软雅黑"/>
                <a:cs typeface="Calibri Light" panose="020F0302020204030204" pitchFamily="34" charset="0"/>
                <a:sym typeface="Times New Roman"/>
              </a:endParaRPr>
            </a:p>
          </p:txBody>
        </p:sp>
        <p:sp>
          <p:nvSpPr>
            <p:cNvPr id="26" name="图形 55"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5B15A000-0BDB-84E7-AD96-E912BBC65FC0}"/>
                </a:ext>
              </a:extLst>
            </p:cNvPr>
            <p:cNvSpPr/>
            <p:nvPr/>
          </p:nvSpPr>
          <p:spPr>
            <a:xfrm>
              <a:off x="2188322" y="2250274"/>
              <a:ext cx="763923" cy="763923"/>
            </a:xfrm>
            <a:custGeom>
              <a:avLst/>
              <a:gdLst>
                <a:gd name="connsiteX0" fmla="*/ 1233488 w 1228725"/>
                <a:gd name="connsiteY0" fmla="*/ 1233488 h 1228725"/>
                <a:gd name="connsiteX1" fmla="*/ 0 w 1228725"/>
                <a:gd name="connsiteY1" fmla="*/ 1233488 h 1228725"/>
                <a:gd name="connsiteX2" fmla="*/ 0 w 1228725"/>
                <a:gd name="connsiteY2" fmla="*/ 0 h 1228725"/>
                <a:gd name="connsiteX3" fmla="*/ 1233488 w 1228725"/>
                <a:gd name="connsiteY3" fmla="*/ 0 h 1228725"/>
              </a:gdLst>
              <a:ahLst/>
              <a:cxnLst>
                <a:cxn ang="0">
                  <a:pos x="connsiteX0" y="connsiteY0"/>
                </a:cxn>
                <a:cxn ang="0">
                  <a:pos x="connsiteX1" y="connsiteY1"/>
                </a:cxn>
                <a:cxn ang="0">
                  <a:pos x="connsiteX2" y="connsiteY2"/>
                </a:cxn>
                <a:cxn ang="0">
                  <a:pos x="connsiteX3" y="connsiteY3"/>
                </a:cxn>
              </a:cxnLst>
              <a:rect l="l" t="t" r="r" b="b"/>
              <a:pathLst>
                <a:path w="1228725" h="1228725">
                  <a:moveTo>
                    <a:pt x="1233488" y="1233488"/>
                  </a:moveTo>
                  <a:lnTo>
                    <a:pt x="0" y="1233488"/>
                  </a:lnTo>
                  <a:lnTo>
                    <a:pt x="0" y="0"/>
                  </a:lnTo>
                  <a:lnTo>
                    <a:pt x="1233488" y="0"/>
                  </a:lnTo>
                </a:path>
              </a:pathLst>
            </a:custGeom>
            <a:noFill/>
            <a:ln w="19050" cap="flat">
              <a:solidFill>
                <a:schemeClr val="tx1"/>
              </a:solidFill>
              <a:prstDash val="solid"/>
              <a:miter/>
            </a:ln>
          </p:spPr>
          <p:txBody>
            <a:bodyPr rtlCol="0" anchor="ctr"/>
            <a:lstStyle/>
            <a:p>
              <a:endParaRPr lang="zh-CN" altLang="en-US">
                <a:solidFill>
                  <a:prstClr val="black"/>
                </a:solidFill>
                <a:latin typeface="Times New Roman"/>
                <a:ea typeface="微软雅黑"/>
                <a:sym typeface="Times New Roman"/>
              </a:endParaRPr>
            </a:p>
          </p:txBody>
        </p:sp>
        <p:sp>
          <p:nvSpPr>
            <p:cNvPr id="27" name="矩形 26"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48B37519-90D8-0AC2-23C9-C1F032587BA9}"/>
                </a:ext>
              </a:extLst>
            </p:cNvPr>
            <p:cNvSpPr/>
            <p:nvPr/>
          </p:nvSpPr>
          <p:spPr>
            <a:xfrm>
              <a:off x="2794527" y="3014197"/>
              <a:ext cx="157718" cy="157718"/>
            </a:xfrm>
            <a:prstGeom prst="rect">
              <a:avLst/>
            </a:prstGeom>
            <a:solidFill>
              <a:schemeClr val="tx1"/>
            </a:solidFill>
            <a:ln w="19050" cap="flat" cmpd="sng" algn="ctr">
              <a:solidFill>
                <a:srgbClr val="11355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13556"/>
                </a:solidFill>
                <a:effectLst/>
                <a:uLnTx/>
                <a:uFillTx/>
                <a:latin typeface="Times New Roman"/>
                <a:ea typeface="微软雅黑"/>
                <a:sym typeface="Times New Roman"/>
              </a:endParaRPr>
            </a:p>
          </p:txBody>
        </p:sp>
      </p:grpSp>
      <p:cxnSp>
        <p:nvCxnSpPr>
          <p:cNvPr id="28" name="直接连接符 27"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5D175897-6480-55C6-CF15-3DA6AF0ED3A5}"/>
              </a:ext>
            </a:extLst>
          </p:cNvPr>
          <p:cNvCxnSpPr>
            <a:cxnSpLocks/>
          </p:cNvCxnSpPr>
          <p:nvPr/>
        </p:nvCxnSpPr>
        <p:spPr>
          <a:xfrm flipH="1" flipV="1">
            <a:off x="1256530" y="5279561"/>
            <a:ext cx="1180701" cy="1180701"/>
          </a:xfrm>
          <a:prstGeom prst="line">
            <a:avLst/>
          </a:prstGeom>
          <a:noFill/>
          <a:ln w="19050" cap="flat" cmpd="sng" algn="ctr">
            <a:solidFill>
              <a:schemeClr val="tx1"/>
            </a:solidFill>
            <a:prstDash val="solid"/>
            <a:miter lim="800000"/>
          </a:ln>
          <a:effectLst>
            <a:outerShdw blurRad="50800" dist="25400" dir="18900000" algn="bl" rotWithShape="0">
              <a:prstClr val="black">
                <a:alpha val="40000"/>
              </a:prstClr>
            </a:outerShdw>
          </a:effectLst>
        </p:spPr>
      </p:cxnSp>
      <p:sp>
        <p:nvSpPr>
          <p:cNvPr id="29" name="矩形 28"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9C2DC35F-2F8A-26BE-384B-BC5A2866E21E}"/>
              </a:ext>
            </a:extLst>
          </p:cNvPr>
          <p:cNvSpPr/>
          <p:nvPr/>
        </p:nvSpPr>
        <p:spPr>
          <a:xfrm>
            <a:off x="2188323" y="5110452"/>
            <a:ext cx="3433211" cy="105430"/>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a:ea typeface="微软雅黑"/>
              <a:sym typeface="Times New Roman"/>
            </a:endParaRPr>
          </a:p>
        </p:txBody>
      </p:sp>
      <p:pic>
        <p:nvPicPr>
          <p:cNvPr id="23" name="图片占位符 17">
            <a:extLst>
              <a:ext uri="{FF2B5EF4-FFF2-40B4-BE49-F238E27FC236}">
                <a16:creationId xmlns:a16="http://schemas.microsoft.com/office/drawing/2014/main" id="{8496F409-15DA-2C9D-C5CF-DEBC0F71E5C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271615" y="1472728"/>
            <a:ext cx="4664075" cy="3109383"/>
          </a:xfrm>
          <a:prstGeom prst="rect">
            <a:avLst/>
          </a:prstGeom>
        </p:spPr>
      </p:pic>
      <p:pic>
        <p:nvPicPr>
          <p:cNvPr id="3" name="图片 2" descr="在地板上&#10;&#10;AI 生成的内容可能不正确。">
            <a:extLst>
              <a:ext uri="{FF2B5EF4-FFF2-40B4-BE49-F238E27FC236}">
                <a16:creationId xmlns:a16="http://schemas.microsoft.com/office/drawing/2014/main" id="{9ED5CCAC-8D3D-5130-1496-F84883AD472C}"/>
              </a:ext>
            </a:extLst>
          </p:cNvPr>
          <p:cNvPicPr>
            <a:picLocks noChangeAspect="1"/>
          </p:cNvPicPr>
          <p:nvPr/>
        </p:nvPicPr>
        <p:blipFill>
          <a:blip r:embed="rId4">
            <a:extLst>
              <a:ext uri="{28A0092B-C50C-407E-A947-70E740481C1C}">
                <a14:useLocalDpi xmlns:a14="http://schemas.microsoft.com/office/drawing/2010/main" val="0"/>
              </a:ext>
            </a:extLst>
          </a:blip>
          <a:srcRect t="34731" b="15189"/>
          <a:stretch/>
        </p:blipFill>
        <p:spPr>
          <a:xfrm>
            <a:off x="6271615" y="4582111"/>
            <a:ext cx="4663440" cy="1554058"/>
          </a:xfrm>
          <a:prstGeom prst="rect">
            <a:avLst/>
          </a:prstGeom>
        </p:spPr>
      </p:pic>
    </p:spTree>
    <p:extLst>
      <p:ext uri="{BB962C8B-B14F-4D97-AF65-F5344CB8AC3E}">
        <p14:creationId xmlns:p14="http://schemas.microsoft.com/office/powerpoint/2010/main" val="1456176185"/>
      </p:ext>
    </p:extLst>
  </p:cSld>
  <p:clrMapOvr>
    <a:masterClrMapping/>
  </p:clrMapOvr>
  <mc:AlternateContent xmlns:mc="http://schemas.openxmlformats.org/markup-compatibility/2006" xmlns:p14="http://schemas.microsoft.com/office/powerpoint/2010/main">
    <mc:Choice Requires="p14">
      <p:transition spd="slow" p14:dur="1300" advTm="73606">
        <p14:pan/>
      </p:transition>
    </mc:Choice>
    <mc:Fallback xmlns="">
      <p:transition spd="slow" advTm="7360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 presetClass="entr" presetSubtype="8" decel="10000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1000" fill="hold"/>
                                        <p:tgtEl>
                                          <p:spTgt spid="11"/>
                                        </p:tgtEl>
                                        <p:attrNameLst>
                                          <p:attrName>ppt_x</p:attrName>
                                        </p:attrNameLst>
                                      </p:cBhvr>
                                      <p:tavLst>
                                        <p:tav tm="0">
                                          <p:val>
                                            <p:strVal val="0-#ppt_w/2"/>
                                          </p:val>
                                        </p:tav>
                                        <p:tav tm="100000">
                                          <p:val>
                                            <p:strVal val="#ppt_x"/>
                                          </p:val>
                                        </p:tav>
                                      </p:tavLst>
                                    </p:anim>
                                    <p:anim calcmode="lin" valueType="num">
                                      <p:cBhvr additive="base">
                                        <p:cTn id="11" dur="1000" fill="hold"/>
                                        <p:tgtEl>
                                          <p:spTgt spid="11"/>
                                        </p:tgtEl>
                                        <p:attrNameLst>
                                          <p:attrName>ppt_y</p:attrName>
                                        </p:attrNameLst>
                                      </p:cBhvr>
                                      <p:tavLst>
                                        <p:tav tm="0">
                                          <p:val>
                                            <p:strVal val="#ppt_y"/>
                                          </p:val>
                                        </p:tav>
                                        <p:tav tm="100000">
                                          <p:val>
                                            <p:strVal val="#ppt_y"/>
                                          </p:val>
                                        </p:tav>
                                      </p:tavLst>
                                    </p:anim>
                                  </p:childTnLst>
                                </p:cTn>
                              </p:par>
                              <p:par>
                                <p:cTn id="12" presetID="22" presetClass="entr" presetSubtype="4"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par>
                          <p:cTn id="15" fill="hold">
                            <p:stCondLst>
                              <p:cond delay="1000"/>
                            </p:stCondLst>
                            <p:childTnLst>
                              <p:par>
                                <p:cTn id="16" presetID="53" presetClass="entr" presetSubtype="16"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childTnLst>
                          </p:cTn>
                        </p:par>
                        <p:par>
                          <p:cTn id="21" fill="hold">
                            <p:stCondLst>
                              <p:cond delay="2500"/>
                            </p:stCondLst>
                            <p:childTnLst>
                              <p:par>
                                <p:cTn id="22" presetID="2" presetClass="entr" presetSubtype="8" decel="100000" fill="hold" nodeType="afterEffect">
                                  <p:stCondLst>
                                    <p:cond delay="0"/>
                                  </p:stCondLst>
                                  <p:childTnLst>
                                    <p:set>
                                      <p:cBhvr>
                                        <p:cTn id="23" dur="1" fill="hold">
                                          <p:stCondLst>
                                            <p:cond delay="0"/>
                                          </p:stCondLst>
                                        </p:cTn>
                                        <p:tgtEl>
                                          <p:spTgt spid="23"/>
                                        </p:tgtEl>
                                        <p:attrNameLst>
                                          <p:attrName>style.visibility</p:attrName>
                                        </p:attrNameLst>
                                      </p:cBhvr>
                                      <p:to>
                                        <p:strVal val="visible"/>
                                      </p:to>
                                    </p:set>
                                    <p:anim calcmode="lin" valueType="num">
                                      <p:cBhvr additive="base">
                                        <p:cTn id="24" dur="1000" fill="hold"/>
                                        <p:tgtEl>
                                          <p:spTgt spid="23"/>
                                        </p:tgtEl>
                                        <p:attrNameLst>
                                          <p:attrName>ppt_x</p:attrName>
                                        </p:attrNameLst>
                                      </p:cBhvr>
                                      <p:tavLst>
                                        <p:tav tm="0">
                                          <p:val>
                                            <p:strVal val="0-#ppt_w/2"/>
                                          </p:val>
                                        </p:tav>
                                        <p:tav tm="100000">
                                          <p:val>
                                            <p:strVal val="#ppt_x"/>
                                          </p:val>
                                        </p:tav>
                                      </p:tavLst>
                                    </p:anim>
                                    <p:anim calcmode="lin" valueType="num">
                                      <p:cBhvr additive="base">
                                        <p:cTn id="25" dur="1000" fill="hold"/>
                                        <p:tgtEl>
                                          <p:spTgt spid="23"/>
                                        </p:tgtEl>
                                        <p:attrNameLst>
                                          <p:attrName>ppt_y</p:attrName>
                                        </p:attrNameLst>
                                      </p:cBhvr>
                                      <p:tavLst>
                                        <p:tav tm="0">
                                          <p:val>
                                            <p:strVal val="#ppt_y"/>
                                          </p:val>
                                        </p:tav>
                                        <p:tav tm="100000">
                                          <p:val>
                                            <p:strVal val="#ppt_y"/>
                                          </p:val>
                                        </p:tav>
                                      </p:tavLst>
                                    </p:anim>
                                  </p:childTnLst>
                                </p:cTn>
                              </p:par>
                              <p:par>
                                <p:cTn id="26" presetID="2" presetClass="entr" presetSubtype="8" decel="50000" fill="hold" nodeType="with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1000" fill="hold"/>
                                        <p:tgtEl>
                                          <p:spTgt spid="3"/>
                                        </p:tgtEl>
                                        <p:attrNameLst>
                                          <p:attrName>ppt_x</p:attrName>
                                        </p:attrNameLst>
                                      </p:cBhvr>
                                      <p:tavLst>
                                        <p:tav tm="0">
                                          <p:val>
                                            <p:strVal val="0-#ppt_w/2"/>
                                          </p:val>
                                        </p:tav>
                                        <p:tav tm="100000">
                                          <p:val>
                                            <p:strVal val="#ppt_x"/>
                                          </p:val>
                                        </p:tav>
                                      </p:tavLst>
                                    </p:anim>
                                    <p:anim calcmode="lin" valueType="num">
                                      <p:cBhvr additive="base">
                                        <p:cTn id="29" dur="1000" fill="hold"/>
                                        <p:tgtEl>
                                          <p:spTgt spid="3"/>
                                        </p:tgtEl>
                                        <p:attrNameLst>
                                          <p:attrName>ppt_y</p:attrName>
                                        </p:attrNameLst>
                                      </p:cBhvr>
                                      <p:tavLst>
                                        <p:tav tm="0">
                                          <p:val>
                                            <p:strVal val="#ppt_y"/>
                                          </p:val>
                                        </p:tav>
                                        <p:tav tm="100000">
                                          <p:val>
                                            <p:strVal val="#ppt_y"/>
                                          </p:val>
                                        </p:tav>
                                      </p:tavLst>
                                    </p:anim>
                                  </p:childTnLst>
                                </p:cTn>
                              </p:par>
                              <p:par>
                                <p:cTn id="30" presetID="2" presetClass="entr" presetSubtype="8" decel="10000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additive="base">
                                        <p:cTn id="32" dur="1000" fill="hold"/>
                                        <p:tgtEl>
                                          <p:spTgt spid="21"/>
                                        </p:tgtEl>
                                        <p:attrNameLst>
                                          <p:attrName>ppt_x</p:attrName>
                                        </p:attrNameLst>
                                      </p:cBhvr>
                                      <p:tavLst>
                                        <p:tav tm="0">
                                          <p:val>
                                            <p:strVal val="0-#ppt_w/2"/>
                                          </p:val>
                                        </p:tav>
                                        <p:tav tm="100000">
                                          <p:val>
                                            <p:strVal val="#ppt_x"/>
                                          </p:val>
                                        </p:tav>
                                      </p:tavLst>
                                    </p:anim>
                                    <p:anim calcmode="lin" valueType="num">
                                      <p:cBhvr additive="base">
                                        <p:cTn id="33" dur="1000" fill="hold"/>
                                        <p:tgtEl>
                                          <p:spTgt spid="21"/>
                                        </p:tgtEl>
                                        <p:attrNameLst>
                                          <p:attrName>ppt_y</p:attrName>
                                        </p:attrNameLst>
                                      </p:cBhvr>
                                      <p:tavLst>
                                        <p:tav tm="0">
                                          <p:val>
                                            <p:strVal val="#ppt_y"/>
                                          </p:val>
                                        </p:tav>
                                        <p:tav tm="100000">
                                          <p:val>
                                            <p:strVal val="#ppt_y"/>
                                          </p:val>
                                        </p:tav>
                                      </p:tavLst>
                                    </p:anim>
                                  </p:childTnLst>
                                </p:cTn>
                              </p:par>
                            </p:childTnLst>
                          </p:cTn>
                        </p:par>
                        <p:par>
                          <p:cTn id="34" fill="hold">
                            <p:stCondLst>
                              <p:cond delay="3500"/>
                            </p:stCondLst>
                            <p:childTnLst>
                              <p:par>
                                <p:cTn id="35" presetID="22" presetClass="entr" presetSubtype="1" fill="hold" nodeType="after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up)">
                                      <p:cBhvr>
                                        <p:cTn id="37" dur="500"/>
                                        <p:tgtEl>
                                          <p:spTgt spid="28"/>
                                        </p:tgtEl>
                                      </p:cBhvr>
                                    </p:animEffect>
                                  </p:childTnLst>
                                </p:cTn>
                              </p:par>
                            </p:childTnLst>
                          </p:cTn>
                        </p:par>
                        <p:par>
                          <p:cTn id="38" fill="hold">
                            <p:stCondLst>
                              <p:cond delay="4000"/>
                            </p:stCondLst>
                            <p:childTnLst>
                              <p:par>
                                <p:cTn id="39" presetID="42" presetClass="entr" presetSubtype="0" fill="hold" nodeType="afterEffect">
                                  <p:stCondLst>
                                    <p:cond delay="0"/>
                                  </p:stCondLst>
                                  <p:iterate type="lt">
                                    <p:tmPct val="1786"/>
                                  </p:iterate>
                                  <p:childTnLst>
                                    <p:set>
                                      <p:cBhvr>
                                        <p:cTn id="40" dur="1" fill="hold">
                                          <p:stCondLst>
                                            <p:cond delay="0"/>
                                          </p:stCondLst>
                                        </p:cTn>
                                        <p:tgtEl>
                                          <p:spTgt spid="30"/>
                                        </p:tgtEl>
                                        <p:attrNameLst>
                                          <p:attrName>style.visibility</p:attrName>
                                        </p:attrNameLst>
                                      </p:cBhvr>
                                      <p:to>
                                        <p:strVal val="visible"/>
                                      </p:to>
                                    </p:set>
                                    <p:anim to="" calcmode="lin" valueType="num">
                                      <p:cBhvr>
                                        <p:cTn id="41" dur="700" fill="hold">
                                          <p:stCondLst>
                                            <p:cond delay="0"/>
                                          </p:stCondLst>
                                        </p:cTn>
                                        <p:tgtEl>
                                          <p:spTgt spid="30"/>
                                        </p:tgtEl>
                                        <p:attrNameLst>
                                          <p:attrName>ppt_y</p:attrName>
                                        </p:attrNameLst>
                                      </p:cBhvr>
                                      <p:tavLst>
                                        <p:tav tm="0" fmla="#ppt_y+(8/9)*(#ppt_y-(#ppt_y+0.1))*((1.5-1.5*$)^2-(1.5-1.5*$)^3)">
                                          <p:val>
                                            <p:strVal val="0"/>
                                          </p:val>
                                        </p:tav>
                                        <p:tav tm="100000">
                                          <p:val>
                                            <p:strVal val="1"/>
                                          </p:val>
                                        </p:tav>
                                      </p:tavLst>
                                    </p:anim>
                                    <p:anim to="" calcmode="lin" valueType="num">
                                      <p:cBhvr>
                                        <p:cTn id="42" dur="700" fill="hold">
                                          <p:stCondLst>
                                            <p:cond delay="0"/>
                                          </p:stCondLst>
                                        </p:cTn>
                                        <p:tgtEl>
                                          <p:spTgt spid="30"/>
                                        </p:tgtEl>
                                        <p:attrNameLst>
                                          <p:attrName>style.opacity</p:attrName>
                                        </p:attrNameLst>
                                      </p:cBhvr>
                                      <p:tavLst>
                                        <p:tav tm="0" fmla="1+(8/9)*(1-0)*((1.5-1.5*$)^2-(1.5-1.5*$)^3)">
                                          <p:val>
                                            <p:strVal val="0"/>
                                          </p:val>
                                        </p:tav>
                                        <p:tav tm="100000">
                                          <p:val>
                                            <p:strVal val="1"/>
                                          </p:val>
                                        </p:tav>
                                      </p:tavLst>
                                    </p:anim>
                                  </p:childTnLst>
                                </p:cTn>
                              </p:par>
                            </p:childTnLst>
                          </p:cTn>
                        </p:par>
                        <p:par>
                          <p:cTn id="43" fill="hold">
                            <p:stCondLst>
                              <p:cond delay="4700"/>
                            </p:stCondLst>
                            <p:childTnLst>
                              <p:par>
                                <p:cTn id="44" presetID="42" presetClass="entr" presetSubtype="0" fill="hold" grpId="0" nodeType="afterEffect">
                                  <p:stCondLst>
                                    <p:cond delay="0"/>
                                  </p:stCondLst>
                                  <p:iterate type="lt">
                                    <p:tmPct val="1786"/>
                                  </p:iterate>
                                  <p:childTnLst>
                                    <p:set>
                                      <p:cBhvr>
                                        <p:cTn id="45" dur="1" fill="hold">
                                          <p:stCondLst>
                                            <p:cond delay="0"/>
                                          </p:stCondLst>
                                        </p:cTn>
                                        <p:tgtEl>
                                          <p:spTgt spid="25"/>
                                        </p:tgtEl>
                                        <p:attrNameLst>
                                          <p:attrName>style.visibility</p:attrName>
                                        </p:attrNameLst>
                                      </p:cBhvr>
                                      <p:to>
                                        <p:strVal val="visible"/>
                                      </p:to>
                                    </p:set>
                                    <p:anim to="" calcmode="lin" valueType="num">
                                      <p:cBhvr>
                                        <p:cTn id="46" dur="700" fill="hold">
                                          <p:stCondLst>
                                            <p:cond delay="0"/>
                                          </p:stCondLst>
                                        </p:cTn>
                                        <p:tgtEl>
                                          <p:spTgt spid="25"/>
                                        </p:tgtEl>
                                        <p:attrNameLst>
                                          <p:attrName>ppt_y</p:attrName>
                                        </p:attrNameLst>
                                      </p:cBhvr>
                                      <p:tavLst>
                                        <p:tav tm="0" fmla="#ppt_y+(8/9)*(#ppt_y-(#ppt_y+0.1))*((1.5-1.5*$)^2-(1.5-1.5*$)^3)">
                                          <p:val>
                                            <p:strVal val="0"/>
                                          </p:val>
                                        </p:tav>
                                        <p:tav tm="100000">
                                          <p:val>
                                            <p:strVal val="1"/>
                                          </p:val>
                                        </p:tav>
                                      </p:tavLst>
                                    </p:anim>
                                    <p:anim to="" calcmode="lin" valueType="num">
                                      <p:cBhvr>
                                        <p:cTn id="47" dur="700" fill="hold">
                                          <p:stCondLst>
                                            <p:cond delay="0"/>
                                          </p:stCondLst>
                                        </p:cTn>
                                        <p:tgtEl>
                                          <p:spTgt spid="25"/>
                                        </p:tgtEl>
                                        <p:attrNameLst>
                                          <p:attrName>style.opacity</p:attrName>
                                        </p:attrNameLst>
                                      </p:cBhvr>
                                      <p:tavLst>
                                        <p:tav tm="0" fmla="1+(8/9)*(1-0)*((1.5-1.5*$)^2-(1.5-1.5*$)^3)">
                                          <p:val>
                                            <p:strVal val="0"/>
                                          </p:val>
                                        </p:tav>
                                        <p:tav tm="100000">
                                          <p:val>
                                            <p:strVal val="1"/>
                                          </p:val>
                                        </p:tav>
                                      </p:tavLst>
                                    </p:anim>
                                  </p:childTnLst>
                                </p:cTn>
                              </p:par>
                            </p:childTnLst>
                          </p:cTn>
                        </p:par>
                        <p:par>
                          <p:cTn id="48" fill="hold">
                            <p:stCondLst>
                              <p:cond delay="5638"/>
                            </p:stCondLst>
                            <p:childTnLst>
                              <p:par>
                                <p:cTn id="49" presetID="14" presetClass="entr" presetSubtype="10" fill="hold" grpId="0"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randombar(horizontal)">
                                      <p:cBhvr>
                                        <p:cTn id="51" dur="500"/>
                                        <p:tgtEl>
                                          <p:spTgt spid="22"/>
                                        </p:tgtEl>
                                      </p:cBhvr>
                                    </p:animEffect>
                                  </p:childTnLst>
                                </p:cTn>
                              </p:par>
                            </p:childTnLst>
                          </p:cTn>
                        </p:par>
                        <p:par>
                          <p:cTn id="52" fill="hold">
                            <p:stCondLst>
                              <p:cond delay="6138"/>
                            </p:stCondLst>
                            <p:childTnLst>
                              <p:par>
                                <p:cTn id="53" presetID="22" presetClass="entr" presetSubtype="8"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wipe(left)">
                                      <p:cBhvr>
                                        <p:cTn id="5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P spid="21" grpId="0" animBg="1"/>
      <p:bldP spid="22" grpId="0"/>
      <p:bldP spid="25" grpId="0"/>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6765ECE3-D4C3-4882-D575-B6064366391F}"/>
              </a:ext>
            </a:extLst>
          </p:cNvPr>
          <p:cNvCxnSpPr>
            <a:cxnSpLocks/>
          </p:cNvCxnSpPr>
          <p:nvPr/>
        </p:nvCxnSpPr>
        <p:spPr>
          <a:xfrm>
            <a:off x="411783" y="942554"/>
            <a:ext cx="26887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7989539-24ED-B150-EF0E-AC5BC72A3767}"/>
              </a:ext>
            </a:extLst>
          </p:cNvPr>
          <p:cNvCxnSpPr/>
          <p:nvPr/>
        </p:nvCxnSpPr>
        <p:spPr>
          <a:xfrm>
            <a:off x="720619" y="423896"/>
            <a:ext cx="0" cy="7327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753AF82A-B41E-131F-0BB5-B912A030B207}"/>
              </a:ext>
            </a:extLst>
          </p:cNvPr>
          <p:cNvSpPr txBox="1"/>
          <p:nvPr/>
        </p:nvSpPr>
        <p:spPr>
          <a:xfrm>
            <a:off x="841660" y="477903"/>
            <a:ext cx="2077155" cy="400110"/>
          </a:xfrm>
          <a:prstGeom prst="rect">
            <a:avLst/>
          </a:prstGeom>
          <a:noFill/>
        </p:spPr>
        <p:txBody>
          <a:bodyPr wrap="square" rtlCol="0">
            <a:spAutoFit/>
          </a:bodyPr>
          <a:lstStyle/>
          <a:p>
            <a:r>
              <a:rPr lang="en-CA" altLang="zh-CN" sz="2000" dirty="0">
                <a:latin typeface="Times New Roman"/>
                <a:ea typeface="微软雅黑"/>
                <a:sym typeface="Times New Roman"/>
              </a:rPr>
              <a:t>Electronic Screens</a:t>
            </a:r>
            <a:endParaRPr lang="zh-CN" altLang="en-US" sz="2000" dirty="0">
              <a:latin typeface="Times New Roman"/>
              <a:ea typeface="微软雅黑"/>
              <a:sym typeface="Times New Roman"/>
            </a:endParaRPr>
          </a:p>
        </p:txBody>
      </p:sp>
      <p:sp>
        <p:nvSpPr>
          <p:cNvPr id="11" name="矩形 10"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CF708AE9-8C15-45C9-4727-05BED44FAA42}"/>
              </a:ext>
            </a:extLst>
          </p:cNvPr>
          <p:cNvSpPr/>
          <p:nvPr/>
        </p:nvSpPr>
        <p:spPr>
          <a:xfrm>
            <a:off x="2684512" y="883714"/>
            <a:ext cx="117680" cy="117680"/>
          </a:xfrm>
          <a:prstGeom prst="rect">
            <a:avLst/>
          </a:prstGeom>
          <a:solidFill>
            <a:schemeClr val="tx1"/>
          </a:solidFill>
          <a:ln w="19050">
            <a:solidFill>
              <a:srgbClr val="113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13556"/>
              </a:solidFill>
              <a:latin typeface="Times New Roman"/>
              <a:ea typeface="微软雅黑"/>
              <a:cs typeface="+mn-ea"/>
              <a:sym typeface="Times New Roman"/>
            </a:endParaRPr>
          </a:p>
        </p:txBody>
      </p:sp>
      <p:sp>
        <p:nvSpPr>
          <p:cNvPr id="2" name="矩形 1"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57ED35B6-2741-0939-6051-AFE78C0C26DD}"/>
              </a:ext>
            </a:extLst>
          </p:cNvPr>
          <p:cNvSpPr/>
          <p:nvPr/>
        </p:nvSpPr>
        <p:spPr>
          <a:xfrm>
            <a:off x="7274341" y="110613"/>
            <a:ext cx="3733603" cy="6651522"/>
          </a:xfrm>
          <a:prstGeom prst="rect">
            <a:avLst/>
          </a:prstGeom>
          <a:gradFill>
            <a:gsLst>
              <a:gs pos="0">
                <a:sysClr val="window" lastClr="FFFFFF">
                  <a:lumMod val="85000"/>
                </a:sysClr>
              </a:gs>
              <a:gs pos="100000">
                <a:sysClr val="window" lastClr="FFFFFF">
                  <a:lumMod val="65000"/>
                </a:sys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a:ea typeface="微软雅黑"/>
              <a:sym typeface="Times New Roman"/>
            </a:endParaRPr>
          </a:p>
        </p:txBody>
      </p:sp>
      <p:grpSp>
        <p:nvGrpSpPr>
          <p:cNvPr id="14" name="组合 13">
            <a:extLst>
              <a:ext uri="{FF2B5EF4-FFF2-40B4-BE49-F238E27FC236}">
                <a16:creationId xmlns:a16="http://schemas.microsoft.com/office/drawing/2014/main" id="{50810C9D-7CF4-0EB2-CD00-6EC2987D9417}"/>
              </a:ext>
            </a:extLst>
          </p:cNvPr>
          <p:cNvGrpSpPr/>
          <p:nvPr/>
        </p:nvGrpSpPr>
        <p:grpSpPr>
          <a:xfrm>
            <a:off x="7087995" y="677958"/>
            <a:ext cx="3559376" cy="5832000"/>
            <a:chOff x="7037377" y="735477"/>
            <a:chExt cx="3559376" cy="5832000"/>
          </a:xfrm>
        </p:grpSpPr>
        <p:pic>
          <p:nvPicPr>
            <p:cNvPr id="4" name="图片 3"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E5DC04F3-E538-8653-079B-D2BCECBA0A7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037377" y="735477"/>
              <a:ext cx="3559376" cy="5832000"/>
            </a:xfrm>
            <a:prstGeom prst="rect">
              <a:avLst/>
            </a:prstGeom>
          </p:spPr>
        </p:pic>
        <p:pic>
          <p:nvPicPr>
            <p:cNvPr id="6" name="图片占位符 41">
              <a:extLst>
                <a:ext uri="{FF2B5EF4-FFF2-40B4-BE49-F238E27FC236}">
                  <a16:creationId xmlns:a16="http://schemas.microsoft.com/office/drawing/2014/main" id="{7239FC77-1815-EB4B-35A0-2D19DA5B43C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045833" y="2757110"/>
              <a:ext cx="2188228" cy="1458818"/>
            </a:xfrm>
            <a:custGeom>
              <a:avLst/>
              <a:gdLst>
                <a:gd name="connsiteX0" fmla="*/ 221727 w 2435225"/>
                <a:gd name="connsiteY0" fmla="*/ 0 h 5272088"/>
                <a:gd name="connsiteX1" fmla="*/ 602059 w 2435225"/>
                <a:gd name="connsiteY1" fmla="*/ 0 h 5272088"/>
                <a:gd name="connsiteX2" fmla="*/ 602059 w 2435225"/>
                <a:gd name="connsiteY2" fmla="*/ 45639 h 5272088"/>
                <a:gd name="connsiteX3" fmla="*/ 730251 w 2435225"/>
                <a:gd name="connsiteY3" fmla="*/ 173831 h 5272088"/>
                <a:gd name="connsiteX4" fmla="*/ 1704973 w 2435225"/>
                <a:gd name="connsiteY4" fmla="*/ 173831 h 5272088"/>
                <a:gd name="connsiteX5" fmla="*/ 1833165 w 2435225"/>
                <a:gd name="connsiteY5" fmla="*/ 45639 h 5272088"/>
                <a:gd name="connsiteX6" fmla="*/ 1833165 w 2435225"/>
                <a:gd name="connsiteY6" fmla="*/ 0 h 5272088"/>
                <a:gd name="connsiteX7" fmla="*/ 2213498 w 2435225"/>
                <a:gd name="connsiteY7" fmla="*/ 0 h 5272088"/>
                <a:gd name="connsiteX8" fmla="*/ 2435225 w 2435225"/>
                <a:gd name="connsiteY8" fmla="*/ 221727 h 5272088"/>
                <a:gd name="connsiteX9" fmla="*/ 2435225 w 2435225"/>
                <a:gd name="connsiteY9" fmla="*/ 5050361 h 5272088"/>
                <a:gd name="connsiteX10" fmla="*/ 2213498 w 2435225"/>
                <a:gd name="connsiteY10" fmla="*/ 5272088 h 5272088"/>
                <a:gd name="connsiteX11" fmla="*/ 221727 w 2435225"/>
                <a:gd name="connsiteY11" fmla="*/ 5272088 h 5272088"/>
                <a:gd name="connsiteX12" fmla="*/ 0 w 2435225"/>
                <a:gd name="connsiteY12" fmla="*/ 5050361 h 5272088"/>
                <a:gd name="connsiteX13" fmla="*/ 0 w 2435225"/>
                <a:gd name="connsiteY13" fmla="*/ 221727 h 5272088"/>
                <a:gd name="connsiteX14" fmla="*/ 221727 w 2435225"/>
                <a:gd name="connsiteY14" fmla="*/ 0 h 527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5225" h="5272088">
                  <a:moveTo>
                    <a:pt x="221727" y="0"/>
                  </a:moveTo>
                  <a:lnTo>
                    <a:pt x="602059" y="0"/>
                  </a:lnTo>
                  <a:lnTo>
                    <a:pt x="602059" y="45639"/>
                  </a:lnTo>
                  <a:cubicBezTo>
                    <a:pt x="602059" y="116437"/>
                    <a:pt x="659453" y="173831"/>
                    <a:pt x="730251" y="173831"/>
                  </a:cubicBezTo>
                  <a:lnTo>
                    <a:pt x="1704973" y="173831"/>
                  </a:lnTo>
                  <a:cubicBezTo>
                    <a:pt x="1775771" y="173831"/>
                    <a:pt x="1833165" y="116437"/>
                    <a:pt x="1833165" y="45639"/>
                  </a:cubicBezTo>
                  <a:lnTo>
                    <a:pt x="1833165" y="0"/>
                  </a:lnTo>
                  <a:lnTo>
                    <a:pt x="2213498" y="0"/>
                  </a:lnTo>
                  <a:cubicBezTo>
                    <a:pt x="2335954" y="0"/>
                    <a:pt x="2435225" y="99271"/>
                    <a:pt x="2435225" y="221727"/>
                  </a:cubicBezTo>
                  <a:lnTo>
                    <a:pt x="2435225" y="5050361"/>
                  </a:lnTo>
                  <a:cubicBezTo>
                    <a:pt x="2435225" y="5172817"/>
                    <a:pt x="2335954" y="5272088"/>
                    <a:pt x="2213498" y="5272088"/>
                  </a:cubicBezTo>
                  <a:lnTo>
                    <a:pt x="221727" y="5272088"/>
                  </a:lnTo>
                  <a:cubicBezTo>
                    <a:pt x="99271" y="5272088"/>
                    <a:pt x="0" y="5172817"/>
                    <a:pt x="0" y="5050361"/>
                  </a:cubicBezTo>
                  <a:lnTo>
                    <a:pt x="0" y="221727"/>
                  </a:lnTo>
                  <a:cubicBezTo>
                    <a:pt x="0" y="99271"/>
                    <a:pt x="99271" y="0"/>
                    <a:pt x="221727" y="0"/>
                  </a:cubicBezTo>
                  <a:close/>
                </a:path>
              </a:pathLst>
            </a:custGeom>
            <a:noFill/>
            <a:ln>
              <a:noFill/>
            </a:ln>
          </p:spPr>
        </p:pic>
      </p:grpSp>
      <p:grpSp>
        <p:nvGrpSpPr>
          <p:cNvPr id="9" name="组合 8"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FD54DDC8-6F66-07BB-28B5-0A7293674EC0}"/>
              </a:ext>
            </a:extLst>
          </p:cNvPr>
          <p:cNvGrpSpPr/>
          <p:nvPr/>
        </p:nvGrpSpPr>
        <p:grpSpPr>
          <a:xfrm>
            <a:off x="720618" y="1790713"/>
            <a:ext cx="2000705" cy="392502"/>
            <a:chOff x="537369" y="2555645"/>
            <a:chExt cx="1728185" cy="392502"/>
          </a:xfrm>
          <a:solidFill>
            <a:schemeClr val="tx1"/>
          </a:solidFill>
        </p:grpSpPr>
        <p:sp>
          <p:nvSpPr>
            <p:cNvPr id="10" name="矩形 9">
              <a:extLst>
                <a:ext uri="{FF2B5EF4-FFF2-40B4-BE49-F238E27FC236}">
                  <a16:creationId xmlns:a16="http://schemas.microsoft.com/office/drawing/2014/main" id="{C37D9DDA-D617-6E38-2093-1FD9AD8662F9}"/>
                </a:ext>
              </a:extLst>
            </p:cNvPr>
            <p:cNvSpPr/>
            <p:nvPr/>
          </p:nvSpPr>
          <p:spPr>
            <a:xfrm>
              <a:off x="537369" y="2555645"/>
              <a:ext cx="1728184" cy="392502"/>
            </a:xfrm>
            <a:prstGeom prst="rect">
              <a:avLst/>
            </a:prstGeom>
            <a:grpFill/>
            <a:ln w="19050" cap="flat" cmpd="sng" algn="ctr">
              <a:solidFill>
                <a:srgbClr val="11355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a:ea typeface="微软雅黑"/>
                <a:sym typeface="Times New Roman"/>
              </a:endParaRPr>
            </a:p>
          </p:txBody>
        </p:sp>
        <p:sp>
          <p:nvSpPr>
            <p:cNvPr id="12" name="文本框 11" descr="e7d195523061f1c0e54b3b90bafc641a2c6a3468f1e1c48c196C252863776654156BCA400C374C1654BEED7D8BCC08FC1E667788D3926281AFF996C499852EA9603432850FCEF9F2176B30EAFBC4014F82A2A44AA89C5B8B5D9241C798900441670D4BD13743EE9998B75CBF9E3A03B8250C92885C62E57C98C832F2700177CEFBD2507FD43CB7F7">
              <a:extLst>
                <a:ext uri="{FF2B5EF4-FFF2-40B4-BE49-F238E27FC236}">
                  <a16:creationId xmlns:a16="http://schemas.microsoft.com/office/drawing/2014/main" id="{B9958955-6B27-CB34-3137-1478864371DD}"/>
                </a:ext>
              </a:extLst>
            </p:cNvPr>
            <p:cNvSpPr txBox="1"/>
            <p:nvPr/>
          </p:nvSpPr>
          <p:spPr>
            <a:xfrm>
              <a:off x="537370" y="2582619"/>
              <a:ext cx="1728184" cy="338554"/>
            </a:xfrm>
            <a:prstGeom prst="rect">
              <a:avLst/>
            </a:prstGeom>
            <a:grp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600" normalizeH="0" baseline="0" noProof="0" dirty="0">
                  <a:ln>
                    <a:noFill/>
                  </a:ln>
                  <a:solidFill>
                    <a:srgbClr val="F3EFE5"/>
                  </a:solidFill>
                  <a:effectLst/>
                  <a:uLnTx/>
                  <a:uFillTx/>
                  <a:latin typeface="Times New Roman"/>
                  <a:ea typeface="微软雅黑"/>
                  <a:cs typeface="Calibri Light" panose="020F0302020204030204" pitchFamily="34" charset="0"/>
                  <a:sym typeface="Times New Roman"/>
                </a:rPr>
                <a:t>Definition:</a:t>
              </a:r>
              <a:endParaRPr kumimoji="0" lang="zh-CN" altLang="en-US" sz="1600" b="0" i="0" u="none" strike="noStrike" kern="0" cap="none" spc="600" normalizeH="0" baseline="0" noProof="0" dirty="0">
                <a:ln>
                  <a:noFill/>
                </a:ln>
                <a:solidFill>
                  <a:srgbClr val="F3EFE5"/>
                </a:solidFill>
                <a:effectLst/>
                <a:uLnTx/>
                <a:uFillTx/>
                <a:latin typeface="Times New Roman"/>
                <a:ea typeface="微软雅黑"/>
                <a:cs typeface="Calibri Light" panose="020F0302020204030204" pitchFamily="34" charset="0"/>
                <a:sym typeface="Times New Roman"/>
              </a:endParaRPr>
            </a:p>
          </p:txBody>
        </p:sp>
      </p:grpSp>
      <p:sp>
        <p:nvSpPr>
          <p:cNvPr id="27" name="Rectangle 53">
            <a:extLst>
              <a:ext uri="{FF2B5EF4-FFF2-40B4-BE49-F238E27FC236}">
                <a16:creationId xmlns:a16="http://schemas.microsoft.com/office/drawing/2014/main" id="{B88600F9-34AF-B3CC-A978-C0FD5C8E2018}"/>
              </a:ext>
            </a:extLst>
          </p:cNvPr>
          <p:cNvSpPr/>
          <p:nvPr/>
        </p:nvSpPr>
        <p:spPr>
          <a:xfrm>
            <a:off x="1187002" y="2517333"/>
            <a:ext cx="4908998" cy="1894749"/>
          </a:xfrm>
          <a:prstGeom prst="rect">
            <a:avLst/>
          </a:prstGeom>
        </p:spPr>
        <p:txBody>
          <a:bodyPr wrap="square">
            <a:spAutoFit/>
          </a:bodyPr>
          <a:lstStyle/>
          <a:p>
            <a:pPr marL="285750" lvl="0" indent="-285750">
              <a:lnSpc>
                <a:spcPct val="150000"/>
              </a:lnSpc>
              <a:buFont typeface="Arial" panose="020B0604020202020204" pitchFamily="34" charset="0"/>
              <a:buChar char="•"/>
              <a:defRPr/>
            </a:pPr>
            <a:r>
              <a:rPr lang="en-CA" altLang="zh-CN" sz="1600" kern="0" dirty="0">
                <a:solidFill>
                  <a:schemeClr val="bg1">
                    <a:lumMod val="50000"/>
                  </a:schemeClr>
                </a:solidFill>
                <a:latin typeface="Times New Roman"/>
                <a:ea typeface="微软雅黑"/>
                <a:sym typeface="Times New Roman"/>
              </a:rPr>
              <a:t>Includes devices like smartphones, tablets, laptops, televisions, and gaming consoles.</a:t>
            </a:r>
          </a:p>
          <a:p>
            <a:pPr marL="285750" lvl="0" indent="-285750">
              <a:lnSpc>
                <a:spcPct val="150000"/>
              </a:lnSpc>
              <a:buFont typeface="Arial" panose="020B0604020202020204" pitchFamily="34" charset="0"/>
              <a:buChar char="•"/>
              <a:defRPr/>
            </a:pPr>
            <a:endParaRPr kumimoji="0" lang="en-CA" altLang="zh-CN" sz="1600" b="0" i="0" u="none" strike="noStrike" kern="0" cap="none" spc="0" normalizeH="0" baseline="0" noProof="0" dirty="0">
              <a:ln>
                <a:noFill/>
              </a:ln>
              <a:solidFill>
                <a:schemeClr val="bg1">
                  <a:lumMod val="50000"/>
                </a:schemeClr>
              </a:solidFill>
              <a:effectLst/>
              <a:uLnTx/>
              <a:uFillTx/>
              <a:latin typeface="Times New Roman"/>
              <a:ea typeface="微软雅黑"/>
              <a:sym typeface="Times New Roman"/>
            </a:endParaRPr>
          </a:p>
          <a:p>
            <a:pPr marL="285750" lvl="0" indent="-285750">
              <a:lnSpc>
                <a:spcPct val="150000"/>
              </a:lnSpc>
              <a:buFont typeface="Arial" panose="020B0604020202020204" pitchFamily="34" charset="0"/>
              <a:buChar char="•"/>
              <a:defRPr/>
            </a:pPr>
            <a:r>
              <a:rPr lang="en-CA" altLang="zh-CN" sz="1600" kern="0" dirty="0">
                <a:solidFill>
                  <a:schemeClr val="bg1">
                    <a:lumMod val="50000"/>
                  </a:schemeClr>
                </a:solidFill>
                <a:latin typeface="Times New Roman"/>
                <a:ea typeface="微软雅黑"/>
                <a:sym typeface="Times New Roman"/>
              </a:rPr>
              <a:t>These devices emit </a:t>
            </a:r>
            <a:r>
              <a:rPr lang="en-CA" altLang="zh-CN" sz="1600" b="1" kern="0" dirty="0">
                <a:solidFill>
                  <a:schemeClr val="bg1">
                    <a:lumMod val="50000"/>
                  </a:schemeClr>
                </a:solidFill>
                <a:latin typeface="Times New Roman"/>
                <a:ea typeface="微软雅黑"/>
                <a:sym typeface="Times New Roman"/>
              </a:rPr>
              <a:t>blue light</a:t>
            </a:r>
            <a:r>
              <a:rPr lang="en-CA" altLang="zh-CN" sz="1600" kern="0" dirty="0">
                <a:solidFill>
                  <a:schemeClr val="bg1">
                    <a:lumMod val="50000"/>
                  </a:schemeClr>
                </a:solidFill>
                <a:latin typeface="Times New Roman"/>
                <a:ea typeface="微软雅黑"/>
                <a:sym typeface="Times New Roman"/>
              </a:rPr>
              <a:t>, a type of visible light that impacts the brain’s regulation of sleep.</a:t>
            </a:r>
            <a:endParaRPr kumimoji="0" lang="zh-CN" altLang="en-US" sz="1600" b="0" i="0" u="none" strike="noStrike" kern="0" cap="none" spc="0" normalizeH="0" baseline="0" noProof="0" dirty="0">
              <a:ln>
                <a:noFill/>
              </a:ln>
              <a:solidFill>
                <a:schemeClr val="bg1">
                  <a:lumMod val="50000"/>
                </a:schemeClr>
              </a:solidFill>
              <a:effectLst/>
              <a:uLnTx/>
              <a:uFillTx/>
              <a:latin typeface="Times New Roman"/>
              <a:ea typeface="微软雅黑"/>
              <a:sym typeface="Times New Roman"/>
            </a:endParaRPr>
          </a:p>
        </p:txBody>
      </p:sp>
    </p:spTree>
    <p:extLst>
      <p:ext uri="{BB962C8B-B14F-4D97-AF65-F5344CB8AC3E}">
        <p14:creationId xmlns:p14="http://schemas.microsoft.com/office/powerpoint/2010/main" val="2962686610"/>
      </p:ext>
    </p:extLst>
  </p:cSld>
  <p:clrMapOvr>
    <a:masterClrMapping/>
  </p:clrMapOvr>
  <mc:AlternateContent xmlns:mc="http://schemas.openxmlformats.org/markup-compatibility/2006" xmlns:p14="http://schemas.microsoft.com/office/powerpoint/2010/main">
    <mc:Choice Requires="p14">
      <p:transition spd="slow" p14:dur="1300" advTm="69142">
        <p14:pan/>
      </p:transition>
    </mc:Choice>
    <mc:Fallback xmlns="">
      <p:transition spd="slow" advTm="6914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 presetClass="entr" presetSubtype="8" decel="10000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1000" fill="hold"/>
                                        <p:tgtEl>
                                          <p:spTgt spid="11"/>
                                        </p:tgtEl>
                                        <p:attrNameLst>
                                          <p:attrName>ppt_x</p:attrName>
                                        </p:attrNameLst>
                                      </p:cBhvr>
                                      <p:tavLst>
                                        <p:tav tm="0">
                                          <p:val>
                                            <p:strVal val="0-#ppt_w/2"/>
                                          </p:val>
                                        </p:tav>
                                        <p:tav tm="100000">
                                          <p:val>
                                            <p:strVal val="#ppt_x"/>
                                          </p:val>
                                        </p:tav>
                                      </p:tavLst>
                                    </p:anim>
                                    <p:anim calcmode="lin" valueType="num">
                                      <p:cBhvr additive="base">
                                        <p:cTn id="11" dur="1000" fill="hold"/>
                                        <p:tgtEl>
                                          <p:spTgt spid="11"/>
                                        </p:tgtEl>
                                        <p:attrNameLst>
                                          <p:attrName>ppt_y</p:attrName>
                                        </p:attrNameLst>
                                      </p:cBhvr>
                                      <p:tavLst>
                                        <p:tav tm="0">
                                          <p:val>
                                            <p:strVal val="#ppt_y"/>
                                          </p:val>
                                        </p:tav>
                                        <p:tav tm="100000">
                                          <p:val>
                                            <p:strVal val="#ppt_y"/>
                                          </p:val>
                                        </p:tav>
                                      </p:tavLst>
                                    </p:anim>
                                  </p:childTnLst>
                                </p:cTn>
                              </p:par>
                              <p:par>
                                <p:cTn id="12" presetID="22" presetClass="entr" presetSubtype="4"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par>
                          <p:cTn id="15" fill="hold">
                            <p:stCondLst>
                              <p:cond delay="1000"/>
                            </p:stCondLst>
                            <p:childTnLst>
                              <p:par>
                                <p:cTn id="16" presetID="53" presetClass="entr" presetSubtype="16"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childTnLst>
                          </p:cTn>
                        </p:par>
                        <p:par>
                          <p:cTn id="21" fill="hold">
                            <p:stCondLst>
                              <p:cond delay="2300"/>
                            </p:stCondLst>
                            <p:childTnLst>
                              <p:par>
                                <p:cTn id="22" presetID="2" presetClass="entr" presetSubtype="2" decel="100000" fill="hold" grpId="0"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1000" fill="hold"/>
                                        <p:tgtEl>
                                          <p:spTgt spid="2"/>
                                        </p:tgtEl>
                                        <p:attrNameLst>
                                          <p:attrName>ppt_x</p:attrName>
                                        </p:attrNameLst>
                                      </p:cBhvr>
                                      <p:tavLst>
                                        <p:tav tm="0">
                                          <p:val>
                                            <p:strVal val="1+#ppt_w/2"/>
                                          </p:val>
                                        </p:tav>
                                        <p:tav tm="100000">
                                          <p:val>
                                            <p:strVal val="#ppt_x"/>
                                          </p:val>
                                        </p:tav>
                                      </p:tavLst>
                                    </p:anim>
                                    <p:anim calcmode="lin" valueType="num">
                                      <p:cBhvr additive="base">
                                        <p:cTn id="25" dur="1000" fill="hold"/>
                                        <p:tgtEl>
                                          <p:spTgt spid="2"/>
                                        </p:tgtEl>
                                        <p:attrNameLst>
                                          <p:attrName>ppt_y</p:attrName>
                                        </p:attrNameLst>
                                      </p:cBhvr>
                                      <p:tavLst>
                                        <p:tav tm="0">
                                          <p:val>
                                            <p:strVal val="#ppt_y"/>
                                          </p:val>
                                        </p:tav>
                                        <p:tav tm="100000">
                                          <p:val>
                                            <p:strVal val="#ppt_y"/>
                                          </p:val>
                                        </p:tav>
                                      </p:tavLst>
                                    </p:anim>
                                  </p:childTnLst>
                                </p:cTn>
                              </p:par>
                              <p:par>
                                <p:cTn id="26" presetID="2" presetClass="entr" presetSubtype="2" decel="10000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1000" fill="hold"/>
                                        <p:tgtEl>
                                          <p:spTgt spid="14"/>
                                        </p:tgtEl>
                                        <p:attrNameLst>
                                          <p:attrName>ppt_x</p:attrName>
                                        </p:attrNameLst>
                                      </p:cBhvr>
                                      <p:tavLst>
                                        <p:tav tm="0">
                                          <p:val>
                                            <p:strVal val="1+#ppt_w/2"/>
                                          </p:val>
                                        </p:tav>
                                        <p:tav tm="100000">
                                          <p:val>
                                            <p:strVal val="#ppt_x"/>
                                          </p:val>
                                        </p:tav>
                                      </p:tavLst>
                                    </p:anim>
                                    <p:anim calcmode="lin" valueType="num">
                                      <p:cBhvr additive="base">
                                        <p:cTn id="29" dur="1000" fill="hold"/>
                                        <p:tgtEl>
                                          <p:spTgt spid="14"/>
                                        </p:tgtEl>
                                        <p:attrNameLst>
                                          <p:attrName>ppt_y</p:attrName>
                                        </p:attrNameLst>
                                      </p:cBhvr>
                                      <p:tavLst>
                                        <p:tav tm="0">
                                          <p:val>
                                            <p:strVal val="#ppt_y"/>
                                          </p:val>
                                        </p:tav>
                                        <p:tav tm="100000">
                                          <p:val>
                                            <p:strVal val="#ppt_y"/>
                                          </p:val>
                                        </p:tav>
                                      </p:tavLst>
                                    </p:anim>
                                  </p:childTnLst>
                                </p:cTn>
                              </p:par>
                            </p:childTnLst>
                          </p:cTn>
                        </p:par>
                        <p:par>
                          <p:cTn id="30" fill="hold">
                            <p:stCondLst>
                              <p:cond delay="3300"/>
                            </p:stCondLst>
                            <p:childTnLst>
                              <p:par>
                                <p:cTn id="31" presetID="42" presetClass="entr" presetSubtype="0" fill="hold" nodeType="afterEffect">
                                  <p:stCondLst>
                                    <p:cond delay="0"/>
                                  </p:stCondLst>
                                  <p:iterate type="lt">
                                    <p:tmPct val="1786"/>
                                  </p:iterate>
                                  <p:childTnLst>
                                    <p:set>
                                      <p:cBhvr>
                                        <p:cTn id="32" dur="1" fill="hold">
                                          <p:stCondLst>
                                            <p:cond delay="0"/>
                                          </p:stCondLst>
                                        </p:cTn>
                                        <p:tgtEl>
                                          <p:spTgt spid="9"/>
                                        </p:tgtEl>
                                        <p:attrNameLst>
                                          <p:attrName>style.visibility</p:attrName>
                                        </p:attrNameLst>
                                      </p:cBhvr>
                                      <p:to>
                                        <p:strVal val="visible"/>
                                      </p:to>
                                    </p:set>
                                    <p:anim to="" calcmode="lin" valueType="num">
                                      <p:cBhvr>
                                        <p:cTn id="33" dur="700" fill="hold">
                                          <p:stCondLst>
                                            <p:cond delay="0"/>
                                          </p:stCondLst>
                                        </p:cTn>
                                        <p:tgtEl>
                                          <p:spTgt spid="9"/>
                                        </p:tgtEl>
                                        <p:attrNameLst>
                                          <p:attrName>ppt_y</p:attrName>
                                        </p:attrNameLst>
                                      </p:cBhvr>
                                      <p:tavLst>
                                        <p:tav tm="0" fmla="#ppt_y+(8/9)*(#ppt_y-(#ppt_y+0.1))*((1.5-1.5*$)^2-(1.5-1.5*$)^3)">
                                          <p:val>
                                            <p:strVal val="0"/>
                                          </p:val>
                                        </p:tav>
                                        <p:tav tm="100000">
                                          <p:val>
                                            <p:strVal val="1"/>
                                          </p:val>
                                        </p:tav>
                                      </p:tavLst>
                                    </p:anim>
                                    <p:anim to="" calcmode="lin" valueType="num">
                                      <p:cBhvr>
                                        <p:cTn id="34" dur="700" fill="hold">
                                          <p:stCondLst>
                                            <p:cond delay="0"/>
                                          </p:stCondLst>
                                        </p:cTn>
                                        <p:tgtEl>
                                          <p:spTgt spid="9"/>
                                        </p:tgtEl>
                                        <p:attrNameLst>
                                          <p:attrName>style.opacity</p:attrName>
                                        </p:attrNameLst>
                                      </p:cBhvr>
                                      <p:tavLst>
                                        <p:tav tm="0" fmla="1+(8/9)*(1-0)*((1.5-1.5*$)^2-(1.5-1.5*$)^3)">
                                          <p:val>
                                            <p:strVal val="0"/>
                                          </p:val>
                                        </p:tav>
                                        <p:tav tm="100000">
                                          <p:val>
                                            <p:strVal val="1"/>
                                          </p:val>
                                        </p:tav>
                                      </p:tavLst>
                                    </p:anim>
                                  </p:childTnLst>
                                </p:cTn>
                              </p:par>
                              <p:par>
                                <p:cTn id="35" presetID="53" presetClass="entr" presetSubtype="16" fill="hold" grpId="0" nodeType="withEffect">
                                  <p:stCondLst>
                                    <p:cond delay="1500"/>
                                  </p:stCondLst>
                                  <p:childTnLst>
                                    <p:set>
                                      <p:cBhvr>
                                        <p:cTn id="36" dur="1" fill="hold">
                                          <p:stCondLst>
                                            <p:cond delay="0"/>
                                          </p:stCondLst>
                                        </p:cTn>
                                        <p:tgtEl>
                                          <p:spTgt spid="27"/>
                                        </p:tgtEl>
                                        <p:attrNameLst>
                                          <p:attrName>style.visibility</p:attrName>
                                        </p:attrNameLst>
                                      </p:cBhvr>
                                      <p:to>
                                        <p:strVal val="visible"/>
                                      </p:to>
                                    </p:set>
                                    <p:anim calcmode="lin" valueType="num">
                                      <p:cBhvr>
                                        <p:cTn id="37" dur="750" fill="hold"/>
                                        <p:tgtEl>
                                          <p:spTgt spid="27"/>
                                        </p:tgtEl>
                                        <p:attrNameLst>
                                          <p:attrName>ppt_w</p:attrName>
                                        </p:attrNameLst>
                                      </p:cBhvr>
                                      <p:tavLst>
                                        <p:tav tm="0">
                                          <p:val>
                                            <p:fltVal val="0"/>
                                          </p:val>
                                        </p:tav>
                                        <p:tav tm="100000">
                                          <p:val>
                                            <p:strVal val="#ppt_w"/>
                                          </p:val>
                                        </p:tav>
                                      </p:tavLst>
                                    </p:anim>
                                    <p:anim calcmode="lin" valueType="num">
                                      <p:cBhvr>
                                        <p:cTn id="38" dur="750" fill="hold"/>
                                        <p:tgtEl>
                                          <p:spTgt spid="27"/>
                                        </p:tgtEl>
                                        <p:attrNameLst>
                                          <p:attrName>ppt_h</p:attrName>
                                        </p:attrNameLst>
                                      </p:cBhvr>
                                      <p:tavLst>
                                        <p:tav tm="0">
                                          <p:val>
                                            <p:fltVal val="0"/>
                                          </p:val>
                                        </p:tav>
                                        <p:tav tm="100000">
                                          <p:val>
                                            <p:strVal val="#ppt_h"/>
                                          </p:val>
                                        </p:tav>
                                      </p:tavLst>
                                    </p:anim>
                                    <p:animEffect transition="in" filter="fade">
                                      <p:cBhvr>
                                        <p:cTn id="39" dur="7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P spid="2" grpId="0" animBg="1"/>
      <p:bldP spid="2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6765ECE3-D4C3-4882-D575-B6064366391F}"/>
              </a:ext>
            </a:extLst>
          </p:cNvPr>
          <p:cNvCxnSpPr>
            <a:cxnSpLocks/>
          </p:cNvCxnSpPr>
          <p:nvPr/>
        </p:nvCxnSpPr>
        <p:spPr>
          <a:xfrm>
            <a:off x="411783" y="942554"/>
            <a:ext cx="26887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7989539-24ED-B150-EF0E-AC5BC72A3767}"/>
              </a:ext>
            </a:extLst>
          </p:cNvPr>
          <p:cNvCxnSpPr/>
          <p:nvPr/>
        </p:nvCxnSpPr>
        <p:spPr>
          <a:xfrm>
            <a:off x="720619" y="423896"/>
            <a:ext cx="0" cy="7327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753AF82A-B41E-131F-0BB5-B912A030B207}"/>
              </a:ext>
            </a:extLst>
          </p:cNvPr>
          <p:cNvSpPr txBox="1"/>
          <p:nvPr/>
        </p:nvSpPr>
        <p:spPr>
          <a:xfrm>
            <a:off x="841660" y="477903"/>
            <a:ext cx="2895449" cy="400110"/>
          </a:xfrm>
          <a:prstGeom prst="rect">
            <a:avLst/>
          </a:prstGeom>
          <a:noFill/>
        </p:spPr>
        <p:txBody>
          <a:bodyPr wrap="square" rtlCol="0">
            <a:spAutoFit/>
          </a:bodyPr>
          <a:lstStyle/>
          <a:p>
            <a:r>
              <a:rPr lang="en-CA" altLang="zh-CN" sz="2000" dirty="0">
                <a:latin typeface="Times New Roman"/>
                <a:ea typeface="微软雅黑"/>
                <a:sym typeface="Times New Roman"/>
              </a:rPr>
              <a:t>How Screens Affect Sleep</a:t>
            </a:r>
            <a:endParaRPr lang="zh-CN" altLang="en-US" sz="2000" dirty="0">
              <a:latin typeface="Times New Roman"/>
              <a:ea typeface="微软雅黑"/>
              <a:sym typeface="Times New Roman"/>
            </a:endParaRPr>
          </a:p>
        </p:txBody>
      </p:sp>
      <p:sp>
        <p:nvSpPr>
          <p:cNvPr id="11" name="矩形 10"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CF708AE9-8C15-45C9-4727-05BED44FAA42}"/>
              </a:ext>
            </a:extLst>
          </p:cNvPr>
          <p:cNvSpPr/>
          <p:nvPr/>
        </p:nvSpPr>
        <p:spPr>
          <a:xfrm>
            <a:off x="2684512" y="883714"/>
            <a:ext cx="117680" cy="117680"/>
          </a:xfrm>
          <a:prstGeom prst="rect">
            <a:avLst/>
          </a:prstGeom>
          <a:solidFill>
            <a:schemeClr val="tx1"/>
          </a:solidFill>
          <a:ln w="19050">
            <a:solidFill>
              <a:srgbClr val="113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13556"/>
              </a:solidFill>
              <a:latin typeface="Times New Roman"/>
              <a:ea typeface="微软雅黑"/>
              <a:cs typeface="+mn-ea"/>
              <a:sym typeface="Times New Roman"/>
            </a:endParaRPr>
          </a:p>
        </p:txBody>
      </p:sp>
      <p:sp>
        <p:nvSpPr>
          <p:cNvPr id="6" name="矩形 5"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2D043A5A-03A2-4CBA-6001-93D1D8706286}"/>
              </a:ext>
            </a:extLst>
          </p:cNvPr>
          <p:cNvSpPr/>
          <p:nvPr/>
        </p:nvSpPr>
        <p:spPr>
          <a:xfrm rot="5400000" flipV="1">
            <a:off x="2318460" y="4358712"/>
            <a:ext cx="830998" cy="2609088"/>
          </a:xfrm>
          <a:prstGeom prst="rect">
            <a:avLst/>
          </a:prstGeom>
          <a:noFill/>
          <a:ln w="19050" cap="flat" cmpd="sng" algn="ctr">
            <a:solidFill>
              <a:schemeClr val="tx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effectLst/>
              <a:uLnTx/>
              <a:uFillTx/>
              <a:latin typeface="Times New Roman"/>
              <a:ea typeface="微软雅黑"/>
              <a:sym typeface="Times New Roman"/>
            </a:endParaRPr>
          </a:p>
        </p:txBody>
      </p:sp>
      <p:grpSp>
        <p:nvGrpSpPr>
          <p:cNvPr id="21" name="组合 20">
            <a:extLst>
              <a:ext uri="{FF2B5EF4-FFF2-40B4-BE49-F238E27FC236}">
                <a16:creationId xmlns:a16="http://schemas.microsoft.com/office/drawing/2014/main" id="{073101D0-D643-C969-7B92-E2B4BE4511EE}"/>
              </a:ext>
            </a:extLst>
          </p:cNvPr>
          <p:cNvGrpSpPr/>
          <p:nvPr/>
        </p:nvGrpSpPr>
        <p:grpSpPr>
          <a:xfrm>
            <a:off x="1217172" y="1755421"/>
            <a:ext cx="3170039" cy="3298163"/>
            <a:chOff x="1217173" y="1755419"/>
            <a:chExt cx="3170037" cy="3298163"/>
          </a:xfrm>
        </p:grpSpPr>
        <p:sp>
          <p:nvSpPr>
            <p:cNvPr id="4" name="矩形 3"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3D31543E-3335-73B5-12FF-82E406F28050}"/>
                </a:ext>
              </a:extLst>
            </p:cNvPr>
            <p:cNvSpPr/>
            <p:nvPr/>
          </p:nvSpPr>
          <p:spPr>
            <a:xfrm rot="5400000" flipV="1">
              <a:off x="2300764" y="3295070"/>
              <a:ext cx="866390" cy="2609088"/>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a:ea typeface="微软雅黑"/>
                <a:sym typeface="Times New Roman"/>
              </a:endParaRPr>
            </a:p>
          </p:txBody>
        </p:sp>
        <p:pic>
          <p:nvPicPr>
            <p:cNvPr id="9" name="图片占位符 33">
              <a:extLst>
                <a:ext uri="{FF2B5EF4-FFF2-40B4-BE49-F238E27FC236}">
                  <a16:creationId xmlns:a16="http://schemas.microsoft.com/office/drawing/2014/main" id="{32DAF3FF-DAD1-6D6C-EE61-2DC7FFEDE31D}"/>
                </a:ext>
              </a:extLst>
            </p:cNvPr>
            <p:cNvPicPr>
              <a:picLocks noChangeAspect="1"/>
            </p:cNvPicPr>
            <p:nvPr/>
          </p:nvPicPr>
          <p:blipFill>
            <a:blip r:embed="rId3">
              <a:extLst>
                <a:ext uri="{28A0092B-C50C-407E-A947-70E740481C1C}">
                  <a14:useLocalDpi xmlns:a14="http://schemas.microsoft.com/office/drawing/2010/main" val="0"/>
                </a:ext>
              </a:extLst>
            </a:blip>
            <a:srcRect t="22162"/>
            <a:stretch/>
          </p:blipFill>
          <p:spPr>
            <a:xfrm>
              <a:off x="1438808" y="1755419"/>
              <a:ext cx="2599691" cy="2696893"/>
            </a:xfrm>
            <a:prstGeom prst="rect">
              <a:avLst/>
            </a:prstGeom>
            <a:effectLst/>
          </p:spPr>
        </p:pic>
        <p:sp>
          <p:nvSpPr>
            <p:cNvPr id="13" name="文本框 12"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7A6D835A-8662-B3F2-CE54-B58927B283FD}"/>
                </a:ext>
              </a:extLst>
            </p:cNvPr>
            <p:cNvSpPr txBox="1"/>
            <p:nvPr/>
          </p:nvSpPr>
          <p:spPr>
            <a:xfrm>
              <a:off x="1217173" y="4407251"/>
              <a:ext cx="3170037" cy="646331"/>
            </a:xfrm>
            <a:prstGeom prst="rect">
              <a:avLst/>
            </a:prstGeom>
            <a:noFill/>
          </p:spPr>
          <p:txBody>
            <a:bodyPr wrap="square" rtlCol="0">
              <a:spAutoFit/>
            </a:bodyPr>
            <a:lstStyle/>
            <a:p>
              <a:pPr algn="ctr" eaLnBrk="0"/>
              <a:r>
                <a:rPr lang="en-CA" altLang="zh-CN" spc="300" dirty="0">
                  <a:solidFill>
                    <a:srgbClr val="F3EFE5"/>
                  </a:solidFill>
                  <a:latin typeface="Times New Roman" panose="02020603050405020304" pitchFamily="18" charset="0"/>
                  <a:ea typeface="DengXian Light" panose="02010600030101010101" pitchFamily="2" charset="-122"/>
                  <a:cs typeface="Times New Roman" panose="02020603050405020304" pitchFamily="18" charset="0"/>
                  <a:sym typeface="Times New Roman"/>
                </a:rPr>
                <a:t>Disruption of Circadian Rhythm</a:t>
              </a:r>
              <a:endParaRPr lang="zh-CN" altLang="en-US" spc="300" dirty="0">
                <a:solidFill>
                  <a:srgbClr val="F3EFE5"/>
                </a:solidFill>
                <a:latin typeface="Times New Roman" panose="02020603050405020304" pitchFamily="18" charset="0"/>
                <a:ea typeface="DengXian Light" panose="02010600030101010101" pitchFamily="2" charset="-122"/>
                <a:cs typeface="Times New Roman" panose="02020603050405020304" pitchFamily="18" charset="0"/>
                <a:sym typeface="Times New Roman"/>
              </a:endParaRPr>
            </a:p>
          </p:txBody>
        </p:sp>
      </p:grpSp>
      <p:grpSp>
        <p:nvGrpSpPr>
          <p:cNvPr id="22" name="组合 21">
            <a:extLst>
              <a:ext uri="{FF2B5EF4-FFF2-40B4-BE49-F238E27FC236}">
                <a16:creationId xmlns:a16="http://schemas.microsoft.com/office/drawing/2014/main" id="{704F1D56-7C2A-75BA-27A5-9267AC120711}"/>
              </a:ext>
            </a:extLst>
          </p:cNvPr>
          <p:cNvGrpSpPr/>
          <p:nvPr/>
        </p:nvGrpSpPr>
        <p:grpSpPr>
          <a:xfrm>
            <a:off x="4761004" y="1762447"/>
            <a:ext cx="2615693" cy="3270364"/>
            <a:chOff x="4718557" y="1794414"/>
            <a:chExt cx="2615692" cy="3270364"/>
          </a:xfrm>
        </p:grpSpPr>
        <p:sp>
          <p:nvSpPr>
            <p:cNvPr id="3" name="矩形 2"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797DE9CD-BFE3-1F0C-7F6F-AC0EED872229}"/>
                </a:ext>
              </a:extLst>
            </p:cNvPr>
            <p:cNvSpPr/>
            <p:nvPr/>
          </p:nvSpPr>
          <p:spPr>
            <a:xfrm rot="5400000" flipV="1">
              <a:off x="5595749" y="3295070"/>
              <a:ext cx="866390" cy="2609088"/>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a:ea typeface="微软雅黑"/>
                <a:sym typeface="Times New Roman"/>
              </a:endParaRPr>
            </a:p>
          </p:txBody>
        </p:sp>
        <p:pic>
          <p:nvPicPr>
            <p:cNvPr id="10" name="图片占位符 35">
              <a:extLst>
                <a:ext uri="{FF2B5EF4-FFF2-40B4-BE49-F238E27FC236}">
                  <a16:creationId xmlns:a16="http://schemas.microsoft.com/office/drawing/2014/main" id="{328FB805-A7A3-3AAD-39BA-DECBB1FC011E}"/>
                </a:ext>
              </a:extLst>
            </p:cNvPr>
            <p:cNvPicPr>
              <a:picLocks noChangeAspect="1"/>
            </p:cNvPicPr>
            <p:nvPr/>
          </p:nvPicPr>
          <p:blipFill>
            <a:blip r:embed="rId4">
              <a:extLst>
                <a:ext uri="{28A0092B-C50C-407E-A947-70E740481C1C}">
                  <a14:useLocalDpi xmlns:a14="http://schemas.microsoft.com/office/drawing/2010/main" val="0"/>
                </a:ext>
              </a:extLst>
            </a:blip>
            <a:srcRect b="31021"/>
            <a:stretch/>
          </p:blipFill>
          <p:spPr>
            <a:xfrm>
              <a:off x="4718557" y="1794414"/>
              <a:ext cx="2615692" cy="2689867"/>
            </a:xfrm>
            <a:prstGeom prst="rect">
              <a:avLst/>
            </a:prstGeom>
          </p:spPr>
        </p:pic>
        <p:sp>
          <p:nvSpPr>
            <p:cNvPr id="14" name="文本框 13"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CED8669D-FD77-4513-F584-ED4AC568B85C}"/>
                </a:ext>
              </a:extLst>
            </p:cNvPr>
            <p:cNvSpPr txBox="1"/>
            <p:nvPr/>
          </p:nvSpPr>
          <p:spPr>
            <a:xfrm>
              <a:off x="4723637" y="4418447"/>
              <a:ext cx="2609850" cy="646331"/>
            </a:xfrm>
            <a:prstGeom prst="rect">
              <a:avLst/>
            </a:prstGeom>
            <a:noFill/>
          </p:spPr>
          <p:txBody>
            <a:bodyPr wrap="square" rtlCol="0">
              <a:spAutoFit/>
            </a:bodyPr>
            <a:lstStyle/>
            <a:p>
              <a:pPr algn="ctr"/>
              <a:r>
                <a:rPr lang="en-CA" altLang="zh-CN" spc="300" dirty="0">
                  <a:solidFill>
                    <a:srgbClr val="F3EFE5"/>
                  </a:solidFill>
                  <a:latin typeface="Times New Roman"/>
                  <a:ea typeface="微软雅黑"/>
                  <a:sym typeface="Times New Roman"/>
                </a:rPr>
                <a:t>Impact on Sleep Quality</a:t>
              </a:r>
              <a:endParaRPr lang="zh-CN" altLang="en-US" spc="300" dirty="0">
                <a:solidFill>
                  <a:srgbClr val="F3EFE5"/>
                </a:solidFill>
                <a:latin typeface="Times New Roman"/>
                <a:ea typeface="微软雅黑"/>
                <a:sym typeface="Times New Roman"/>
              </a:endParaRPr>
            </a:p>
          </p:txBody>
        </p:sp>
      </p:grpSp>
      <p:grpSp>
        <p:nvGrpSpPr>
          <p:cNvPr id="23" name="组合 22">
            <a:extLst>
              <a:ext uri="{FF2B5EF4-FFF2-40B4-BE49-F238E27FC236}">
                <a16:creationId xmlns:a16="http://schemas.microsoft.com/office/drawing/2014/main" id="{5FAC6B5B-22F3-3098-CE8D-E99796A6D2A6}"/>
              </a:ext>
            </a:extLst>
          </p:cNvPr>
          <p:cNvGrpSpPr/>
          <p:nvPr/>
        </p:nvGrpSpPr>
        <p:grpSpPr>
          <a:xfrm>
            <a:off x="8152734" y="1762446"/>
            <a:ext cx="2609851" cy="3282414"/>
            <a:chOff x="8152735" y="1762444"/>
            <a:chExt cx="2609850" cy="3282414"/>
          </a:xfrm>
        </p:grpSpPr>
        <p:sp>
          <p:nvSpPr>
            <p:cNvPr id="2" name="矩形 1"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5E588415-F8F9-FB03-56EC-1F3F53153754}"/>
                </a:ext>
              </a:extLst>
            </p:cNvPr>
            <p:cNvSpPr/>
            <p:nvPr/>
          </p:nvSpPr>
          <p:spPr>
            <a:xfrm rot="5400000" flipV="1">
              <a:off x="9024846" y="3295070"/>
              <a:ext cx="866390" cy="2609088"/>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a:ea typeface="微软雅黑"/>
                <a:sym typeface="Times New Roman"/>
              </a:endParaRPr>
            </a:p>
          </p:txBody>
        </p:sp>
        <p:pic>
          <p:nvPicPr>
            <p:cNvPr id="12" name="图片占位符 37">
              <a:extLst>
                <a:ext uri="{FF2B5EF4-FFF2-40B4-BE49-F238E27FC236}">
                  <a16:creationId xmlns:a16="http://schemas.microsoft.com/office/drawing/2014/main" id="{B13C7402-05A4-22B4-9BE2-FCBDA5ED9CB6}"/>
                </a:ext>
              </a:extLst>
            </p:cNvPr>
            <p:cNvPicPr>
              <a:picLocks noChangeAspect="1"/>
            </p:cNvPicPr>
            <p:nvPr/>
          </p:nvPicPr>
          <p:blipFill>
            <a:blip r:embed="rId5">
              <a:extLst>
                <a:ext uri="{28A0092B-C50C-407E-A947-70E740481C1C}">
                  <a14:useLocalDpi xmlns:a14="http://schemas.microsoft.com/office/drawing/2010/main" val="0"/>
                </a:ext>
              </a:extLst>
            </a:blip>
            <a:srcRect r="27514"/>
            <a:stretch/>
          </p:blipFill>
          <p:spPr>
            <a:xfrm>
              <a:off x="8152735" y="1762444"/>
              <a:ext cx="2599692" cy="2689867"/>
            </a:xfrm>
            <a:prstGeom prst="rect">
              <a:avLst/>
            </a:prstGeom>
          </p:spPr>
        </p:pic>
        <p:sp>
          <p:nvSpPr>
            <p:cNvPr id="15" name="文本框 14"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ED0A13B5-D6E8-6ED7-64AE-C1BA948C2EF5}"/>
                </a:ext>
              </a:extLst>
            </p:cNvPr>
            <p:cNvSpPr txBox="1"/>
            <p:nvPr/>
          </p:nvSpPr>
          <p:spPr>
            <a:xfrm>
              <a:off x="8152735" y="4398527"/>
              <a:ext cx="2609850" cy="646331"/>
            </a:xfrm>
            <a:prstGeom prst="rect">
              <a:avLst/>
            </a:prstGeom>
            <a:noFill/>
          </p:spPr>
          <p:txBody>
            <a:bodyPr wrap="square" rtlCol="0">
              <a:spAutoFit/>
            </a:bodyPr>
            <a:lstStyle/>
            <a:p>
              <a:pPr algn="ctr"/>
              <a:r>
                <a:rPr lang="en-CA" altLang="zh-CN" spc="300" dirty="0">
                  <a:solidFill>
                    <a:srgbClr val="F3EFE5"/>
                  </a:solidFill>
                  <a:latin typeface="Times New Roman"/>
                  <a:ea typeface="微软雅黑"/>
                  <a:sym typeface="Times New Roman"/>
                </a:rPr>
                <a:t>Behavioral Stimulation</a:t>
              </a:r>
              <a:endParaRPr lang="zh-CN" altLang="en-US" spc="300" dirty="0">
                <a:solidFill>
                  <a:srgbClr val="F3EFE5"/>
                </a:solidFill>
                <a:latin typeface="Times New Roman"/>
                <a:ea typeface="微软雅黑"/>
                <a:sym typeface="Times New Roman"/>
              </a:endParaRPr>
            </a:p>
          </p:txBody>
        </p:sp>
      </p:grpSp>
      <p:sp>
        <p:nvSpPr>
          <p:cNvPr id="16" name="文本框 15"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2F450C89-1244-7F3A-F18A-5E05CD0A552C}"/>
              </a:ext>
            </a:extLst>
          </p:cNvPr>
          <p:cNvSpPr txBox="1"/>
          <p:nvPr/>
        </p:nvSpPr>
        <p:spPr>
          <a:xfrm>
            <a:off x="1438808" y="5247755"/>
            <a:ext cx="2609088" cy="830997"/>
          </a:xfrm>
          <a:prstGeom prst="rect">
            <a:avLst/>
          </a:prstGeom>
          <a:noFill/>
        </p:spPr>
        <p:txBody>
          <a:bodyPr wrap="square" rtlCol="0">
            <a:spAutoFit/>
          </a:bodyPr>
          <a:lstStyle/>
          <a:p>
            <a:pPr algn="ctr"/>
            <a:r>
              <a:rPr lang="en-CA" altLang="zh-CN" sz="1600" dirty="0">
                <a:latin typeface="Times New Roman"/>
                <a:ea typeface="微软雅黑"/>
                <a:cs typeface="Calibri Light" panose="020F0302020204030204" pitchFamily="34" charset="0"/>
                <a:sym typeface="Times New Roman"/>
              </a:rPr>
              <a:t>Screens emit blue light that suppresses melatonin, delaying sleep onset.</a:t>
            </a:r>
            <a:endParaRPr lang="zh-CN" altLang="en-US" sz="1600" dirty="0">
              <a:latin typeface="Times New Roman"/>
              <a:ea typeface="微软雅黑"/>
              <a:cs typeface="Calibri Light" panose="020F0302020204030204" pitchFamily="34" charset="0"/>
              <a:sym typeface="Times New Roman"/>
            </a:endParaRPr>
          </a:p>
        </p:txBody>
      </p:sp>
      <p:sp>
        <p:nvSpPr>
          <p:cNvPr id="17" name="矩形 16"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4D754457-CE0D-6258-FBEE-61DBF92988E4}"/>
              </a:ext>
            </a:extLst>
          </p:cNvPr>
          <p:cNvSpPr/>
          <p:nvPr/>
        </p:nvSpPr>
        <p:spPr>
          <a:xfrm rot="5400000" flipV="1">
            <a:off x="5613446" y="4358710"/>
            <a:ext cx="830996" cy="2609088"/>
          </a:xfrm>
          <a:prstGeom prst="rect">
            <a:avLst/>
          </a:prstGeom>
          <a:noFill/>
          <a:ln w="19050" cap="flat" cmpd="sng" algn="ctr">
            <a:solidFill>
              <a:schemeClr val="tx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effectLst/>
              <a:uLnTx/>
              <a:uFillTx/>
              <a:latin typeface="Times New Roman"/>
              <a:ea typeface="微软雅黑"/>
              <a:sym typeface="Times New Roman"/>
            </a:endParaRPr>
          </a:p>
        </p:txBody>
      </p:sp>
      <p:sp>
        <p:nvSpPr>
          <p:cNvPr id="18" name="文本框 17"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EBE68132-0D65-07FB-8B29-66F59FF4AF60}"/>
              </a:ext>
            </a:extLst>
          </p:cNvPr>
          <p:cNvSpPr txBox="1"/>
          <p:nvPr/>
        </p:nvSpPr>
        <p:spPr>
          <a:xfrm>
            <a:off x="4723636" y="5268529"/>
            <a:ext cx="2609852" cy="830997"/>
          </a:xfrm>
          <a:prstGeom prst="rect">
            <a:avLst/>
          </a:prstGeom>
          <a:noFill/>
        </p:spPr>
        <p:txBody>
          <a:bodyPr wrap="square" rtlCol="0">
            <a:spAutoFit/>
          </a:bodyPr>
          <a:lstStyle/>
          <a:p>
            <a:pPr algn="ctr"/>
            <a:r>
              <a:rPr lang="en-CA" altLang="zh-CN" sz="1600" dirty="0">
                <a:latin typeface="Times New Roman"/>
                <a:ea typeface="微软雅黑"/>
                <a:cs typeface="Calibri Light" panose="020F0302020204030204" pitchFamily="34" charset="0"/>
                <a:sym typeface="Times New Roman"/>
              </a:rPr>
              <a:t>Screen use before bed reduces the duration and depth of sleep.</a:t>
            </a:r>
            <a:endParaRPr lang="zh-CN" altLang="en-US" sz="1600" dirty="0">
              <a:latin typeface="Times New Roman"/>
              <a:ea typeface="微软雅黑"/>
              <a:cs typeface="Calibri Light" panose="020F0302020204030204" pitchFamily="34" charset="0"/>
              <a:sym typeface="Times New Roman"/>
            </a:endParaRPr>
          </a:p>
        </p:txBody>
      </p:sp>
      <p:sp>
        <p:nvSpPr>
          <p:cNvPr id="19" name="矩形 18"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88184CEB-A9A0-F794-3257-7B071674D789}"/>
              </a:ext>
            </a:extLst>
          </p:cNvPr>
          <p:cNvSpPr/>
          <p:nvPr/>
        </p:nvSpPr>
        <p:spPr>
          <a:xfrm rot="5400000" flipV="1">
            <a:off x="9042543" y="4358710"/>
            <a:ext cx="830996" cy="2609088"/>
          </a:xfrm>
          <a:prstGeom prst="rect">
            <a:avLst/>
          </a:prstGeom>
          <a:noFill/>
          <a:ln w="19050" cap="flat" cmpd="sng" algn="ctr">
            <a:solidFill>
              <a:schemeClr val="tx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effectLst/>
              <a:uLnTx/>
              <a:uFillTx/>
              <a:latin typeface="Times New Roman"/>
              <a:ea typeface="微软雅黑"/>
              <a:sym typeface="Times New Roman"/>
            </a:endParaRPr>
          </a:p>
        </p:txBody>
      </p:sp>
      <p:sp>
        <p:nvSpPr>
          <p:cNvPr id="20" name="文本框 19"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4DB46016-1288-1F89-596A-C340D4AFC420}"/>
              </a:ext>
            </a:extLst>
          </p:cNvPr>
          <p:cNvSpPr txBox="1"/>
          <p:nvPr/>
        </p:nvSpPr>
        <p:spPr>
          <a:xfrm>
            <a:off x="8152733" y="5268529"/>
            <a:ext cx="2609852" cy="830997"/>
          </a:xfrm>
          <a:prstGeom prst="rect">
            <a:avLst/>
          </a:prstGeom>
          <a:noFill/>
        </p:spPr>
        <p:txBody>
          <a:bodyPr wrap="square" rtlCol="0">
            <a:spAutoFit/>
          </a:bodyPr>
          <a:lstStyle/>
          <a:p>
            <a:pPr algn="ctr"/>
            <a:r>
              <a:rPr lang="en-CA" altLang="zh-CN" sz="1600" dirty="0">
                <a:latin typeface="Times New Roman"/>
                <a:ea typeface="微软雅黑"/>
                <a:cs typeface="Calibri Light" panose="020F0302020204030204" pitchFamily="34" charset="0"/>
                <a:sym typeface="Times New Roman"/>
              </a:rPr>
              <a:t>Engaging content (e.g., social media, gaming) keeps the brain alert.</a:t>
            </a:r>
            <a:endParaRPr lang="zh-CN" altLang="en-US" sz="1600" dirty="0">
              <a:latin typeface="Times New Roman"/>
              <a:ea typeface="微软雅黑"/>
              <a:cs typeface="Calibri Light" panose="020F0302020204030204" pitchFamily="34" charset="0"/>
              <a:sym typeface="Times New Roman"/>
            </a:endParaRPr>
          </a:p>
        </p:txBody>
      </p:sp>
    </p:spTree>
    <p:extLst>
      <p:ext uri="{BB962C8B-B14F-4D97-AF65-F5344CB8AC3E}">
        <p14:creationId xmlns:p14="http://schemas.microsoft.com/office/powerpoint/2010/main" val="1160291906"/>
      </p:ext>
    </p:extLst>
  </p:cSld>
  <p:clrMapOvr>
    <a:masterClrMapping/>
  </p:clrMapOvr>
  <mc:AlternateContent xmlns:mc="http://schemas.openxmlformats.org/markup-compatibility/2006" xmlns:p14="http://schemas.microsoft.com/office/powerpoint/2010/main">
    <mc:Choice Requires="p14">
      <p:transition spd="slow" p14:dur="1300" advTm="83976">
        <p14:pan/>
      </p:transition>
    </mc:Choice>
    <mc:Fallback xmlns="">
      <p:transition spd="slow" advTm="8397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 presetClass="entr" presetSubtype="8" decel="10000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1000" fill="hold"/>
                                        <p:tgtEl>
                                          <p:spTgt spid="11"/>
                                        </p:tgtEl>
                                        <p:attrNameLst>
                                          <p:attrName>ppt_x</p:attrName>
                                        </p:attrNameLst>
                                      </p:cBhvr>
                                      <p:tavLst>
                                        <p:tav tm="0">
                                          <p:val>
                                            <p:strVal val="0-#ppt_w/2"/>
                                          </p:val>
                                        </p:tav>
                                        <p:tav tm="100000">
                                          <p:val>
                                            <p:strVal val="#ppt_x"/>
                                          </p:val>
                                        </p:tav>
                                      </p:tavLst>
                                    </p:anim>
                                    <p:anim calcmode="lin" valueType="num">
                                      <p:cBhvr additive="base">
                                        <p:cTn id="11" dur="1000" fill="hold"/>
                                        <p:tgtEl>
                                          <p:spTgt spid="11"/>
                                        </p:tgtEl>
                                        <p:attrNameLst>
                                          <p:attrName>ppt_y</p:attrName>
                                        </p:attrNameLst>
                                      </p:cBhvr>
                                      <p:tavLst>
                                        <p:tav tm="0">
                                          <p:val>
                                            <p:strVal val="#ppt_y"/>
                                          </p:val>
                                        </p:tav>
                                        <p:tav tm="100000">
                                          <p:val>
                                            <p:strVal val="#ppt_y"/>
                                          </p:val>
                                        </p:tav>
                                      </p:tavLst>
                                    </p:anim>
                                  </p:childTnLst>
                                </p:cTn>
                              </p:par>
                              <p:par>
                                <p:cTn id="12" presetID="22" presetClass="entr" presetSubtype="4"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par>
                          <p:cTn id="15" fill="hold">
                            <p:stCondLst>
                              <p:cond delay="1000"/>
                            </p:stCondLst>
                            <p:childTnLst>
                              <p:par>
                                <p:cTn id="16" presetID="53" presetClass="entr" presetSubtype="16"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childTnLst>
                          </p:cTn>
                        </p:par>
                        <p:par>
                          <p:cTn id="21" fill="hold">
                            <p:stCondLst>
                              <p:cond delay="2500"/>
                            </p:stCondLst>
                            <p:childTnLst>
                              <p:par>
                                <p:cTn id="22" presetID="42" presetClass="entr" presetSubtype="0" fill="hold" nodeType="afterEffect">
                                  <p:stCondLst>
                                    <p:cond delay="0"/>
                                  </p:stCondLst>
                                  <p:iterate type="lt">
                                    <p:tmPct val="1786"/>
                                  </p:iterate>
                                  <p:childTnLst>
                                    <p:set>
                                      <p:cBhvr>
                                        <p:cTn id="23" dur="1" fill="hold">
                                          <p:stCondLst>
                                            <p:cond delay="0"/>
                                          </p:stCondLst>
                                        </p:cTn>
                                        <p:tgtEl>
                                          <p:spTgt spid="21"/>
                                        </p:tgtEl>
                                        <p:attrNameLst>
                                          <p:attrName>style.visibility</p:attrName>
                                        </p:attrNameLst>
                                      </p:cBhvr>
                                      <p:to>
                                        <p:strVal val="visible"/>
                                      </p:to>
                                    </p:set>
                                    <p:anim to="" calcmode="lin" valueType="num">
                                      <p:cBhvr>
                                        <p:cTn id="24" dur="700" fill="hold">
                                          <p:stCondLst>
                                            <p:cond delay="0"/>
                                          </p:stCondLst>
                                        </p:cTn>
                                        <p:tgtEl>
                                          <p:spTgt spid="21"/>
                                        </p:tgtEl>
                                        <p:attrNameLst>
                                          <p:attrName>ppt_y</p:attrName>
                                        </p:attrNameLst>
                                      </p:cBhvr>
                                      <p:tavLst>
                                        <p:tav tm="0" fmla="#ppt_y+(8/9)*(#ppt_y-(#ppt_y+0.1))*((1.5-1.5*$)^2-(1.5-1.5*$)^3)">
                                          <p:val>
                                            <p:strVal val="0"/>
                                          </p:val>
                                        </p:tav>
                                        <p:tav tm="100000">
                                          <p:val>
                                            <p:strVal val="1"/>
                                          </p:val>
                                        </p:tav>
                                      </p:tavLst>
                                    </p:anim>
                                    <p:anim to="" calcmode="lin" valueType="num">
                                      <p:cBhvr>
                                        <p:cTn id="25" dur="700" fill="hold">
                                          <p:stCondLst>
                                            <p:cond delay="0"/>
                                          </p:stCondLst>
                                        </p:cTn>
                                        <p:tgtEl>
                                          <p:spTgt spid="21"/>
                                        </p:tgtEl>
                                        <p:attrNameLst>
                                          <p:attrName>style.opacity</p:attrName>
                                        </p:attrNameLst>
                                      </p:cBhvr>
                                      <p:tavLst>
                                        <p:tav tm="0" fmla="1+(8/9)*(1-0)*((1.5-1.5*$)^2-(1.5-1.5*$)^3)">
                                          <p:val>
                                            <p:strVal val="0"/>
                                          </p:val>
                                        </p:tav>
                                        <p:tav tm="100000">
                                          <p:val>
                                            <p:strVal val="1"/>
                                          </p:val>
                                        </p:tav>
                                      </p:tavLst>
                                    </p:anim>
                                  </p:childTnLst>
                                </p:cTn>
                              </p:par>
                            </p:childTnLst>
                          </p:cTn>
                        </p:par>
                        <p:par>
                          <p:cTn id="26" fill="hold">
                            <p:stCondLst>
                              <p:cond delay="3200"/>
                            </p:stCondLst>
                            <p:childTnLst>
                              <p:par>
                                <p:cTn id="27" presetID="42" presetClass="entr" presetSubtype="0" fill="hold" nodeType="afterEffect">
                                  <p:stCondLst>
                                    <p:cond delay="0"/>
                                  </p:stCondLst>
                                  <p:iterate type="lt">
                                    <p:tmPct val="1786"/>
                                  </p:iterate>
                                  <p:childTnLst>
                                    <p:set>
                                      <p:cBhvr>
                                        <p:cTn id="28" dur="1" fill="hold">
                                          <p:stCondLst>
                                            <p:cond delay="0"/>
                                          </p:stCondLst>
                                        </p:cTn>
                                        <p:tgtEl>
                                          <p:spTgt spid="22"/>
                                        </p:tgtEl>
                                        <p:attrNameLst>
                                          <p:attrName>style.visibility</p:attrName>
                                        </p:attrNameLst>
                                      </p:cBhvr>
                                      <p:to>
                                        <p:strVal val="visible"/>
                                      </p:to>
                                    </p:set>
                                    <p:anim to="" calcmode="lin" valueType="num">
                                      <p:cBhvr>
                                        <p:cTn id="29" dur="700" fill="hold">
                                          <p:stCondLst>
                                            <p:cond delay="0"/>
                                          </p:stCondLst>
                                        </p:cTn>
                                        <p:tgtEl>
                                          <p:spTgt spid="22"/>
                                        </p:tgtEl>
                                        <p:attrNameLst>
                                          <p:attrName>ppt_y</p:attrName>
                                        </p:attrNameLst>
                                      </p:cBhvr>
                                      <p:tavLst>
                                        <p:tav tm="0" fmla="#ppt_y+(8/9)*(#ppt_y-(#ppt_y+0.1))*((1.5-1.5*$)^2-(1.5-1.5*$)^3)">
                                          <p:val>
                                            <p:strVal val="0"/>
                                          </p:val>
                                        </p:tav>
                                        <p:tav tm="100000">
                                          <p:val>
                                            <p:strVal val="1"/>
                                          </p:val>
                                        </p:tav>
                                      </p:tavLst>
                                    </p:anim>
                                    <p:anim to="" calcmode="lin" valueType="num">
                                      <p:cBhvr>
                                        <p:cTn id="30" dur="700" fill="hold">
                                          <p:stCondLst>
                                            <p:cond delay="0"/>
                                          </p:stCondLst>
                                        </p:cTn>
                                        <p:tgtEl>
                                          <p:spTgt spid="22"/>
                                        </p:tgtEl>
                                        <p:attrNameLst>
                                          <p:attrName>style.opacity</p:attrName>
                                        </p:attrNameLst>
                                      </p:cBhvr>
                                      <p:tavLst>
                                        <p:tav tm="0" fmla="1+(8/9)*(1-0)*((1.5-1.5*$)^2-(1.5-1.5*$)^3)">
                                          <p:val>
                                            <p:strVal val="0"/>
                                          </p:val>
                                        </p:tav>
                                        <p:tav tm="100000">
                                          <p:val>
                                            <p:strVal val="1"/>
                                          </p:val>
                                        </p:tav>
                                      </p:tavLst>
                                    </p:anim>
                                  </p:childTnLst>
                                </p:cTn>
                              </p:par>
                            </p:childTnLst>
                          </p:cTn>
                        </p:par>
                        <p:par>
                          <p:cTn id="31" fill="hold">
                            <p:stCondLst>
                              <p:cond delay="3900"/>
                            </p:stCondLst>
                            <p:childTnLst>
                              <p:par>
                                <p:cTn id="32" presetID="42" presetClass="entr" presetSubtype="0" fill="hold" nodeType="afterEffect">
                                  <p:stCondLst>
                                    <p:cond delay="0"/>
                                  </p:stCondLst>
                                  <p:iterate type="lt">
                                    <p:tmPct val="1786"/>
                                  </p:iterate>
                                  <p:childTnLst>
                                    <p:set>
                                      <p:cBhvr>
                                        <p:cTn id="33" dur="1" fill="hold">
                                          <p:stCondLst>
                                            <p:cond delay="0"/>
                                          </p:stCondLst>
                                        </p:cTn>
                                        <p:tgtEl>
                                          <p:spTgt spid="23"/>
                                        </p:tgtEl>
                                        <p:attrNameLst>
                                          <p:attrName>style.visibility</p:attrName>
                                        </p:attrNameLst>
                                      </p:cBhvr>
                                      <p:to>
                                        <p:strVal val="visible"/>
                                      </p:to>
                                    </p:set>
                                    <p:anim to="" calcmode="lin" valueType="num">
                                      <p:cBhvr>
                                        <p:cTn id="34" dur="700" fill="hold">
                                          <p:stCondLst>
                                            <p:cond delay="0"/>
                                          </p:stCondLst>
                                        </p:cTn>
                                        <p:tgtEl>
                                          <p:spTgt spid="23"/>
                                        </p:tgtEl>
                                        <p:attrNameLst>
                                          <p:attrName>ppt_y</p:attrName>
                                        </p:attrNameLst>
                                      </p:cBhvr>
                                      <p:tavLst>
                                        <p:tav tm="0" fmla="#ppt_y+(8/9)*(#ppt_y-(#ppt_y+0.1))*((1.5-1.5*$)^2-(1.5-1.5*$)^3)">
                                          <p:val>
                                            <p:strVal val="0"/>
                                          </p:val>
                                        </p:tav>
                                        <p:tav tm="100000">
                                          <p:val>
                                            <p:strVal val="1"/>
                                          </p:val>
                                        </p:tav>
                                      </p:tavLst>
                                    </p:anim>
                                    <p:anim to="" calcmode="lin" valueType="num">
                                      <p:cBhvr>
                                        <p:cTn id="35" dur="700" fill="hold">
                                          <p:stCondLst>
                                            <p:cond delay="0"/>
                                          </p:stCondLst>
                                        </p:cTn>
                                        <p:tgtEl>
                                          <p:spTgt spid="23"/>
                                        </p:tgtEl>
                                        <p:attrNameLst>
                                          <p:attrName>style.opacity</p:attrName>
                                        </p:attrNameLst>
                                      </p:cBhvr>
                                      <p:tavLst>
                                        <p:tav tm="0" fmla="1+(8/9)*(1-0)*((1.5-1.5*$)^2-(1.5-1.5*$)^3)">
                                          <p:val>
                                            <p:strVal val="0"/>
                                          </p:val>
                                        </p:tav>
                                        <p:tav tm="100000">
                                          <p:val>
                                            <p:strVal val="1"/>
                                          </p:val>
                                        </p:tav>
                                      </p:tavLst>
                                    </p:anim>
                                  </p:childTnLst>
                                </p:cTn>
                              </p:par>
                            </p:childTnLst>
                          </p:cTn>
                        </p:par>
                        <p:par>
                          <p:cTn id="36" fill="hold">
                            <p:stCondLst>
                              <p:cond delay="4600"/>
                            </p:stCondLst>
                            <p:childTnLst>
                              <p:par>
                                <p:cTn id="37" presetID="21" presetClass="entr" presetSubtype="1" fill="hold" grpId="0"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heel(1)">
                                      <p:cBhvr>
                                        <p:cTn id="39" dur="500"/>
                                        <p:tgtEl>
                                          <p:spTgt spid="6"/>
                                        </p:tgtEl>
                                      </p:cBhvr>
                                    </p:animEffect>
                                  </p:childTnLst>
                                </p:cTn>
                              </p:par>
                            </p:childTnLst>
                          </p:cTn>
                        </p:par>
                        <p:par>
                          <p:cTn id="40" fill="hold">
                            <p:stCondLst>
                              <p:cond delay="5100"/>
                            </p:stCondLst>
                            <p:childTnLst>
                              <p:par>
                                <p:cTn id="41" presetID="53" presetClass="entr" presetSubtype="16" fill="hold" grpId="0" nodeType="afterEffect">
                                  <p:stCondLst>
                                    <p:cond delay="0"/>
                                  </p:stCondLst>
                                  <p:iterate type="lt">
                                    <p:tmPct val="10000"/>
                                  </p:iterate>
                                  <p:childTnLst>
                                    <p:set>
                                      <p:cBhvr>
                                        <p:cTn id="42" dur="1" fill="hold">
                                          <p:stCondLst>
                                            <p:cond delay="0"/>
                                          </p:stCondLst>
                                        </p:cTn>
                                        <p:tgtEl>
                                          <p:spTgt spid="16"/>
                                        </p:tgtEl>
                                        <p:attrNameLst>
                                          <p:attrName>style.visibility</p:attrName>
                                        </p:attrNameLst>
                                      </p:cBhvr>
                                      <p:to>
                                        <p:strVal val="visible"/>
                                      </p:to>
                                    </p:set>
                                    <p:anim calcmode="lin" valueType="num">
                                      <p:cBhvr>
                                        <p:cTn id="43" dur="500" fill="hold"/>
                                        <p:tgtEl>
                                          <p:spTgt spid="16"/>
                                        </p:tgtEl>
                                        <p:attrNameLst>
                                          <p:attrName>ppt_w</p:attrName>
                                        </p:attrNameLst>
                                      </p:cBhvr>
                                      <p:tavLst>
                                        <p:tav tm="0">
                                          <p:val>
                                            <p:fltVal val="0"/>
                                          </p:val>
                                        </p:tav>
                                        <p:tav tm="100000">
                                          <p:val>
                                            <p:strVal val="#ppt_w"/>
                                          </p:val>
                                        </p:tav>
                                      </p:tavLst>
                                    </p:anim>
                                    <p:anim calcmode="lin" valueType="num">
                                      <p:cBhvr>
                                        <p:cTn id="44" dur="500" fill="hold"/>
                                        <p:tgtEl>
                                          <p:spTgt spid="16"/>
                                        </p:tgtEl>
                                        <p:attrNameLst>
                                          <p:attrName>ppt_h</p:attrName>
                                        </p:attrNameLst>
                                      </p:cBhvr>
                                      <p:tavLst>
                                        <p:tav tm="0">
                                          <p:val>
                                            <p:fltVal val="0"/>
                                          </p:val>
                                        </p:tav>
                                        <p:tav tm="100000">
                                          <p:val>
                                            <p:strVal val="#ppt_h"/>
                                          </p:val>
                                        </p:tav>
                                      </p:tavLst>
                                    </p:anim>
                                    <p:animEffect transition="in" filter="fade">
                                      <p:cBhvr>
                                        <p:cTn id="45" dur="500"/>
                                        <p:tgtEl>
                                          <p:spTgt spid="16"/>
                                        </p:tgtEl>
                                      </p:cBhvr>
                                    </p:animEffect>
                                  </p:childTnLst>
                                </p:cTn>
                              </p:par>
                            </p:childTnLst>
                          </p:cTn>
                        </p:par>
                        <p:par>
                          <p:cTn id="46" fill="hold">
                            <p:stCondLst>
                              <p:cond delay="8700"/>
                            </p:stCondLst>
                            <p:childTnLst>
                              <p:par>
                                <p:cTn id="47" presetID="21" presetClass="entr" presetSubtype="1"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heel(1)">
                                      <p:cBhvr>
                                        <p:cTn id="49" dur="500"/>
                                        <p:tgtEl>
                                          <p:spTgt spid="17"/>
                                        </p:tgtEl>
                                      </p:cBhvr>
                                    </p:animEffect>
                                  </p:childTnLst>
                                </p:cTn>
                              </p:par>
                            </p:childTnLst>
                          </p:cTn>
                        </p:par>
                        <p:par>
                          <p:cTn id="50" fill="hold">
                            <p:stCondLst>
                              <p:cond delay="9200"/>
                            </p:stCondLst>
                            <p:childTnLst>
                              <p:par>
                                <p:cTn id="51" presetID="53" presetClass="entr" presetSubtype="16" fill="hold" grpId="0" nodeType="afterEffect">
                                  <p:stCondLst>
                                    <p:cond delay="0"/>
                                  </p:stCondLst>
                                  <p:iterate type="lt">
                                    <p:tmPct val="10000"/>
                                  </p:iterate>
                                  <p:childTnLst>
                                    <p:set>
                                      <p:cBhvr>
                                        <p:cTn id="52" dur="1" fill="hold">
                                          <p:stCondLst>
                                            <p:cond delay="0"/>
                                          </p:stCondLst>
                                        </p:cTn>
                                        <p:tgtEl>
                                          <p:spTgt spid="18"/>
                                        </p:tgtEl>
                                        <p:attrNameLst>
                                          <p:attrName>style.visibility</p:attrName>
                                        </p:attrNameLst>
                                      </p:cBhvr>
                                      <p:to>
                                        <p:strVal val="visible"/>
                                      </p:to>
                                    </p:set>
                                    <p:anim calcmode="lin" valueType="num">
                                      <p:cBhvr>
                                        <p:cTn id="53" dur="500" fill="hold"/>
                                        <p:tgtEl>
                                          <p:spTgt spid="18"/>
                                        </p:tgtEl>
                                        <p:attrNameLst>
                                          <p:attrName>ppt_w</p:attrName>
                                        </p:attrNameLst>
                                      </p:cBhvr>
                                      <p:tavLst>
                                        <p:tav tm="0">
                                          <p:val>
                                            <p:fltVal val="0"/>
                                          </p:val>
                                        </p:tav>
                                        <p:tav tm="100000">
                                          <p:val>
                                            <p:strVal val="#ppt_w"/>
                                          </p:val>
                                        </p:tav>
                                      </p:tavLst>
                                    </p:anim>
                                    <p:anim calcmode="lin" valueType="num">
                                      <p:cBhvr>
                                        <p:cTn id="54" dur="500" fill="hold"/>
                                        <p:tgtEl>
                                          <p:spTgt spid="18"/>
                                        </p:tgtEl>
                                        <p:attrNameLst>
                                          <p:attrName>ppt_h</p:attrName>
                                        </p:attrNameLst>
                                      </p:cBhvr>
                                      <p:tavLst>
                                        <p:tav tm="0">
                                          <p:val>
                                            <p:fltVal val="0"/>
                                          </p:val>
                                        </p:tav>
                                        <p:tav tm="100000">
                                          <p:val>
                                            <p:strVal val="#ppt_h"/>
                                          </p:val>
                                        </p:tav>
                                      </p:tavLst>
                                    </p:anim>
                                    <p:animEffect transition="in" filter="fade">
                                      <p:cBhvr>
                                        <p:cTn id="55" dur="500"/>
                                        <p:tgtEl>
                                          <p:spTgt spid="18"/>
                                        </p:tgtEl>
                                      </p:cBhvr>
                                    </p:animEffect>
                                  </p:childTnLst>
                                </p:cTn>
                              </p:par>
                            </p:childTnLst>
                          </p:cTn>
                        </p:par>
                        <p:par>
                          <p:cTn id="56" fill="hold">
                            <p:stCondLst>
                              <p:cond delay="12250"/>
                            </p:stCondLst>
                            <p:childTnLst>
                              <p:par>
                                <p:cTn id="57" presetID="21" presetClass="entr" presetSubtype="1" fill="hold" grpId="0"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wheel(1)">
                                      <p:cBhvr>
                                        <p:cTn id="59" dur="500"/>
                                        <p:tgtEl>
                                          <p:spTgt spid="19"/>
                                        </p:tgtEl>
                                      </p:cBhvr>
                                    </p:animEffect>
                                  </p:childTnLst>
                                </p:cTn>
                              </p:par>
                            </p:childTnLst>
                          </p:cTn>
                        </p:par>
                        <p:par>
                          <p:cTn id="60" fill="hold">
                            <p:stCondLst>
                              <p:cond delay="12750"/>
                            </p:stCondLst>
                            <p:childTnLst>
                              <p:par>
                                <p:cTn id="61" presetID="53" presetClass="entr" presetSubtype="16" fill="hold" grpId="0" nodeType="afterEffect">
                                  <p:stCondLst>
                                    <p:cond delay="0"/>
                                  </p:stCondLst>
                                  <p:iterate type="lt">
                                    <p:tmPct val="10000"/>
                                  </p:iterate>
                                  <p:childTnLst>
                                    <p:set>
                                      <p:cBhvr>
                                        <p:cTn id="62" dur="1" fill="hold">
                                          <p:stCondLst>
                                            <p:cond delay="0"/>
                                          </p:stCondLst>
                                        </p:cTn>
                                        <p:tgtEl>
                                          <p:spTgt spid="20"/>
                                        </p:tgtEl>
                                        <p:attrNameLst>
                                          <p:attrName>style.visibility</p:attrName>
                                        </p:attrNameLst>
                                      </p:cBhvr>
                                      <p:to>
                                        <p:strVal val="visible"/>
                                      </p:to>
                                    </p:set>
                                    <p:anim calcmode="lin" valueType="num">
                                      <p:cBhvr>
                                        <p:cTn id="63" dur="500" fill="hold"/>
                                        <p:tgtEl>
                                          <p:spTgt spid="20"/>
                                        </p:tgtEl>
                                        <p:attrNameLst>
                                          <p:attrName>ppt_w</p:attrName>
                                        </p:attrNameLst>
                                      </p:cBhvr>
                                      <p:tavLst>
                                        <p:tav tm="0">
                                          <p:val>
                                            <p:fltVal val="0"/>
                                          </p:val>
                                        </p:tav>
                                        <p:tav tm="100000">
                                          <p:val>
                                            <p:strVal val="#ppt_w"/>
                                          </p:val>
                                        </p:tav>
                                      </p:tavLst>
                                    </p:anim>
                                    <p:anim calcmode="lin" valueType="num">
                                      <p:cBhvr>
                                        <p:cTn id="64" dur="500" fill="hold"/>
                                        <p:tgtEl>
                                          <p:spTgt spid="20"/>
                                        </p:tgtEl>
                                        <p:attrNameLst>
                                          <p:attrName>ppt_h</p:attrName>
                                        </p:attrNameLst>
                                      </p:cBhvr>
                                      <p:tavLst>
                                        <p:tav tm="0">
                                          <p:val>
                                            <p:fltVal val="0"/>
                                          </p:val>
                                        </p:tav>
                                        <p:tav tm="100000">
                                          <p:val>
                                            <p:strVal val="#ppt_h"/>
                                          </p:val>
                                        </p:tav>
                                      </p:tavLst>
                                    </p:anim>
                                    <p:animEffect transition="in" filter="fade">
                                      <p:cBhvr>
                                        <p:cTn id="6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P spid="6" grpId="0" animBg="1"/>
      <p:bldP spid="16" grpId="0"/>
      <p:bldP spid="17" grpId="0" animBg="1"/>
      <p:bldP spid="18" grpId="0"/>
      <p:bldP spid="19" grpId="0" animBg="1"/>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6765ECE3-D4C3-4882-D575-B6064366391F}"/>
              </a:ext>
            </a:extLst>
          </p:cNvPr>
          <p:cNvCxnSpPr>
            <a:cxnSpLocks/>
          </p:cNvCxnSpPr>
          <p:nvPr/>
        </p:nvCxnSpPr>
        <p:spPr>
          <a:xfrm>
            <a:off x="411783" y="942554"/>
            <a:ext cx="26887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7989539-24ED-B150-EF0E-AC5BC72A3767}"/>
              </a:ext>
            </a:extLst>
          </p:cNvPr>
          <p:cNvCxnSpPr/>
          <p:nvPr/>
        </p:nvCxnSpPr>
        <p:spPr>
          <a:xfrm>
            <a:off x="720619" y="423896"/>
            <a:ext cx="0" cy="7327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753AF82A-B41E-131F-0BB5-B912A030B207}"/>
              </a:ext>
            </a:extLst>
          </p:cNvPr>
          <p:cNvSpPr txBox="1"/>
          <p:nvPr/>
        </p:nvSpPr>
        <p:spPr>
          <a:xfrm>
            <a:off x="841660" y="477903"/>
            <a:ext cx="3836356" cy="707886"/>
          </a:xfrm>
          <a:prstGeom prst="rect">
            <a:avLst/>
          </a:prstGeom>
          <a:noFill/>
        </p:spPr>
        <p:txBody>
          <a:bodyPr wrap="square" rtlCol="0">
            <a:spAutoFit/>
          </a:bodyPr>
          <a:lstStyle/>
          <a:p>
            <a:r>
              <a:rPr lang="en-CA" altLang="zh-CN" sz="2000" dirty="0">
                <a:latin typeface="Times New Roman"/>
                <a:ea typeface="微软雅黑"/>
                <a:sym typeface="Times New Roman"/>
              </a:rPr>
              <a:t>Disruption of Circadian Rhythm</a:t>
            </a:r>
          </a:p>
          <a:p>
            <a:endParaRPr lang="en-CA" altLang="zh-CN" sz="2000" dirty="0">
              <a:latin typeface="Times New Roman"/>
              <a:ea typeface="微软雅黑"/>
              <a:sym typeface="Times New Roman"/>
            </a:endParaRPr>
          </a:p>
        </p:txBody>
      </p:sp>
      <p:sp>
        <p:nvSpPr>
          <p:cNvPr id="11" name="矩形 10"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CF708AE9-8C15-45C9-4727-05BED44FAA42}"/>
              </a:ext>
            </a:extLst>
          </p:cNvPr>
          <p:cNvSpPr/>
          <p:nvPr/>
        </p:nvSpPr>
        <p:spPr>
          <a:xfrm>
            <a:off x="2684512" y="883714"/>
            <a:ext cx="117680" cy="117680"/>
          </a:xfrm>
          <a:prstGeom prst="rect">
            <a:avLst/>
          </a:prstGeom>
          <a:solidFill>
            <a:schemeClr val="tx1"/>
          </a:solidFill>
          <a:ln w="19050">
            <a:solidFill>
              <a:srgbClr val="113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13556"/>
              </a:solidFill>
              <a:latin typeface="Times New Roman"/>
              <a:ea typeface="微软雅黑"/>
              <a:cs typeface="+mn-ea"/>
              <a:sym typeface="Times New Roman"/>
            </a:endParaRPr>
          </a:p>
        </p:txBody>
      </p:sp>
      <p:grpSp>
        <p:nvGrpSpPr>
          <p:cNvPr id="2" name="组合 1"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831225BD-093B-7D16-D5BF-DD07AF314C6E}"/>
              </a:ext>
            </a:extLst>
          </p:cNvPr>
          <p:cNvGrpSpPr/>
          <p:nvPr/>
        </p:nvGrpSpPr>
        <p:grpSpPr>
          <a:xfrm>
            <a:off x="1085451" y="1981926"/>
            <a:ext cx="595035" cy="584775"/>
            <a:chOff x="1085450" y="2111368"/>
            <a:chExt cx="595035" cy="584775"/>
          </a:xfrm>
          <a:solidFill>
            <a:schemeClr val="tx1"/>
          </a:solidFill>
        </p:grpSpPr>
        <p:sp>
          <p:nvSpPr>
            <p:cNvPr id="3" name="矩形 2">
              <a:extLst>
                <a:ext uri="{FF2B5EF4-FFF2-40B4-BE49-F238E27FC236}">
                  <a16:creationId xmlns:a16="http://schemas.microsoft.com/office/drawing/2014/main" id="{56B5D6D8-C331-5ADB-9F28-92DEC25BEC10}"/>
                </a:ext>
              </a:extLst>
            </p:cNvPr>
            <p:cNvSpPr/>
            <p:nvPr/>
          </p:nvSpPr>
          <p:spPr>
            <a:xfrm>
              <a:off x="1143574" y="2173856"/>
              <a:ext cx="466151" cy="466151"/>
            </a:xfrm>
            <a:prstGeom prst="rect">
              <a:avLst/>
            </a:prstGeom>
            <a:grpFill/>
            <a:ln w="19050">
              <a:solidFill>
                <a:srgbClr val="113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微软雅黑"/>
                <a:sym typeface="Times New Roman"/>
              </a:endParaRPr>
            </a:p>
          </p:txBody>
        </p:sp>
        <p:sp>
          <p:nvSpPr>
            <p:cNvPr id="4" name="文本框 3" descr="e7d195523061f1c0e54b3b90bafc641a2c6a3468f1e1c48c196C252863776654156BCA400C374C1654BEED7D8BCC08FC1E667788D3926281AFF996C499852EA9603432850FCEF9F2176B30EAFBC4014F82A2A44AA89C5B8B5D9241C798900441670D4BD13743EE9998B75CBF9E3A03B8250C92885C62E57C98C832F2700177CEFBD2507FD43CB7F7">
              <a:extLst>
                <a:ext uri="{FF2B5EF4-FFF2-40B4-BE49-F238E27FC236}">
                  <a16:creationId xmlns:a16="http://schemas.microsoft.com/office/drawing/2014/main" id="{F961B284-E2D9-F799-7A65-B5AFD412ACC9}"/>
                </a:ext>
              </a:extLst>
            </p:cNvPr>
            <p:cNvSpPr txBox="1"/>
            <p:nvPr/>
          </p:nvSpPr>
          <p:spPr>
            <a:xfrm>
              <a:off x="1085450" y="2111368"/>
              <a:ext cx="595035" cy="584775"/>
            </a:xfrm>
            <a:prstGeom prst="rect">
              <a:avLst/>
            </a:prstGeom>
            <a:grpFill/>
          </p:spPr>
          <p:txBody>
            <a:bodyPr wrap="none" rtlCol="0">
              <a:spAutoFit/>
            </a:bodyPr>
            <a:lstStyle/>
            <a:p>
              <a:r>
                <a:rPr lang="en-US" altLang="zh-CN" sz="3200" dirty="0">
                  <a:solidFill>
                    <a:srgbClr val="F3EFE5"/>
                  </a:solidFill>
                  <a:latin typeface="Times New Roman"/>
                  <a:ea typeface="微软雅黑"/>
                  <a:cs typeface="Calibri Light" panose="020F0302020204030204" pitchFamily="34" charset="0"/>
                  <a:sym typeface="Times New Roman"/>
                </a:rPr>
                <a:t>01</a:t>
              </a:r>
              <a:endParaRPr lang="zh-CN" altLang="en-US" sz="3200" dirty="0">
                <a:solidFill>
                  <a:srgbClr val="F3EFE5"/>
                </a:solidFill>
                <a:latin typeface="Times New Roman"/>
                <a:ea typeface="微软雅黑"/>
                <a:cs typeface="Calibri Light" panose="020F0302020204030204" pitchFamily="34" charset="0"/>
                <a:sym typeface="Times New Roman"/>
              </a:endParaRPr>
            </a:p>
          </p:txBody>
        </p:sp>
      </p:grpSp>
      <p:grpSp>
        <p:nvGrpSpPr>
          <p:cNvPr id="6" name="组合 5"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46EBD279-7B1F-04E8-CFA2-BC2CBD2BFD30}"/>
              </a:ext>
            </a:extLst>
          </p:cNvPr>
          <p:cNvGrpSpPr/>
          <p:nvPr/>
        </p:nvGrpSpPr>
        <p:grpSpPr>
          <a:xfrm>
            <a:off x="1085451" y="3402831"/>
            <a:ext cx="595035" cy="584775"/>
            <a:chOff x="1085450" y="2111368"/>
            <a:chExt cx="595035" cy="584775"/>
          </a:xfrm>
          <a:solidFill>
            <a:schemeClr val="tx1"/>
          </a:solidFill>
        </p:grpSpPr>
        <p:sp>
          <p:nvSpPr>
            <p:cNvPr id="9" name="矩形 8">
              <a:extLst>
                <a:ext uri="{FF2B5EF4-FFF2-40B4-BE49-F238E27FC236}">
                  <a16:creationId xmlns:a16="http://schemas.microsoft.com/office/drawing/2014/main" id="{BAECB5D3-EC60-4D86-8699-AEA3FD95B4C8}"/>
                </a:ext>
              </a:extLst>
            </p:cNvPr>
            <p:cNvSpPr/>
            <p:nvPr/>
          </p:nvSpPr>
          <p:spPr>
            <a:xfrm>
              <a:off x="1143574" y="2173856"/>
              <a:ext cx="466151" cy="466151"/>
            </a:xfrm>
            <a:prstGeom prst="rect">
              <a:avLst/>
            </a:prstGeom>
            <a:grpFill/>
            <a:ln w="19050">
              <a:solidFill>
                <a:srgbClr val="113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微软雅黑"/>
                <a:sym typeface="Times New Roman"/>
              </a:endParaRPr>
            </a:p>
          </p:txBody>
        </p:sp>
        <p:sp>
          <p:nvSpPr>
            <p:cNvPr id="10" name="文本框 9" descr="e7d195523061f1c0e54b3b90bafc641a2c6a3468f1e1c48c196C252863776654156BCA400C374C1654BEED7D8BCC08FC1E667788D3926281AFF996C499852EA9603432850FCEF9F2176B30EAFBC4014F82A2A44AA89C5B8B5D9241C798900441670D4BD13743EE9998B75CBF9E3A03B8250C92885C62E57C98C832F2700177CEFBD2507FD43CB7F7">
              <a:extLst>
                <a:ext uri="{FF2B5EF4-FFF2-40B4-BE49-F238E27FC236}">
                  <a16:creationId xmlns:a16="http://schemas.microsoft.com/office/drawing/2014/main" id="{DA1BF1C6-06CA-10CE-42CE-A7750EFDF6C9}"/>
                </a:ext>
              </a:extLst>
            </p:cNvPr>
            <p:cNvSpPr txBox="1"/>
            <p:nvPr/>
          </p:nvSpPr>
          <p:spPr>
            <a:xfrm>
              <a:off x="1085450" y="2111368"/>
              <a:ext cx="595035" cy="584775"/>
            </a:xfrm>
            <a:prstGeom prst="rect">
              <a:avLst/>
            </a:prstGeom>
            <a:grpFill/>
          </p:spPr>
          <p:txBody>
            <a:bodyPr wrap="none" rtlCol="0">
              <a:spAutoFit/>
            </a:bodyPr>
            <a:lstStyle/>
            <a:p>
              <a:r>
                <a:rPr lang="en-US" altLang="zh-CN" sz="3200" dirty="0">
                  <a:solidFill>
                    <a:srgbClr val="F3EFE5"/>
                  </a:solidFill>
                  <a:latin typeface="Times New Roman"/>
                  <a:ea typeface="微软雅黑"/>
                  <a:cs typeface="Calibri Light" panose="020F0302020204030204" pitchFamily="34" charset="0"/>
                  <a:sym typeface="Times New Roman"/>
                </a:rPr>
                <a:t>02</a:t>
              </a:r>
              <a:endParaRPr lang="zh-CN" altLang="en-US" sz="3200" dirty="0">
                <a:solidFill>
                  <a:srgbClr val="F3EFE5"/>
                </a:solidFill>
                <a:latin typeface="Times New Roman"/>
                <a:ea typeface="微软雅黑"/>
                <a:cs typeface="Calibri Light" panose="020F0302020204030204" pitchFamily="34" charset="0"/>
                <a:sym typeface="Times New Roman"/>
              </a:endParaRPr>
            </a:p>
          </p:txBody>
        </p:sp>
      </p:grpSp>
      <p:grpSp>
        <p:nvGrpSpPr>
          <p:cNvPr id="15" name="组合 14">
            <a:extLst>
              <a:ext uri="{FF2B5EF4-FFF2-40B4-BE49-F238E27FC236}">
                <a16:creationId xmlns:a16="http://schemas.microsoft.com/office/drawing/2014/main" id="{4A0C4DD9-855A-26F5-DFB3-68EC96C8379B}"/>
              </a:ext>
            </a:extLst>
          </p:cNvPr>
          <p:cNvGrpSpPr/>
          <p:nvPr/>
        </p:nvGrpSpPr>
        <p:grpSpPr>
          <a:xfrm>
            <a:off x="4015873" y="1740764"/>
            <a:ext cx="8496656" cy="4452694"/>
            <a:chOff x="3549590" y="1752875"/>
            <a:chExt cx="8496656" cy="4452694"/>
          </a:xfrm>
        </p:grpSpPr>
        <p:pic>
          <p:nvPicPr>
            <p:cNvPr id="16" name="图片 15"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E860C843-3BF0-6478-A52A-38E59CC088B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549590" y="1752875"/>
              <a:ext cx="8496656" cy="4452694"/>
            </a:xfrm>
            <a:prstGeom prst="rect">
              <a:avLst/>
            </a:prstGeom>
          </p:spPr>
        </p:pic>
        <p:pic>
          <p:nvPicPr>
            <p:cNvPr id="17" name="图片占位符 19">
              <a:extLst>
                <a:ext uri="{FF2B5EF4-FFF2-40B4-BE49-F238E27FC236}">
                  <a16:creationId xmlns:a16="http://schemas.microsoft.com/office/drawing/2014/main" id="{CB1B82C6-72F8-446E-EB5E-8B6E61D13EB1}"/>
                </a:ext>
              </a:extLst>
            </p:cNvPr>
            <p:cNvPicPr>
              <a:picLocks noChangeAspect="1"/>
            </p:cNvPicPr>
            <p:nvPr/>
          </p:nvPicPr>
          <p:blipFill>
            <a:blip r:embed="rId4">
              <a:extLst>
                <a:ext uri="{28A0092B-C50C-407E-A947-70E740481C1C}">
                  <a14:useLocalDpi xmlns:a14="http://schemas.microsoft.com/office/drawing/2010/main" val="0"/>
                </a:ext>
              </a:extLst>
            </a:blip>
            <a:srcRect t="6900" b="10018"/>
            <a:stretch/>
          </p:blipFill>
          <p:spPr>
            <a:xfrm>
              <a:off x="5947768" y="1994037"/>
              <a:ext cx="4827041" cy="3007807"/>
            </a:xfrm>
            <a:prstGeom prst="rect">
              <a:avLst/>
            </a:prstGeom>
          </p:spPr>
        </p:pic>
      </p:grpSp>
      <p:grpSp>
        <p:nvGrpSpPr>
          <p:cNvPr id="18" name="Group 25" descr="e7d195523061f1c08d347f6bf0421bdacd46f3c1815d51b81E1CE79090F8942429A56C6AE2B3163BABA1A3FCE285BEC4FF43A5085572A94AD2C0A17AE448F24FA68DD62479D8C0666FEB6710638384D2F47D54AD7F2B38C3B3201427C66163307D06E69945807F20D554579ED3BA1CDBE7C70C27D334684D3B2DF7D1C522E5C239811152D333AEF231E5E7F3656247FE">
            <a:extLst>
              <a:ext uri="{FF2B5EF4-FFF2-40B4-BE49-F238E27FC236}">
                <a16:creationId xmlns:a16="http://schemas.microsoft.com/office/drawing/2014/main" id="{DB8A21B9-DCC8-958C-6CE6-8C6A0416AB46}"/>
              </a:ext>
            </a:extLst>
          </p:cNvPr>
          <p:cNvGrpSpPr/>
          <p:nvPr/>
        </p:nvGrpSpPr>
        <p:grpSpPr>
          <a:xfrm>
            <a:off x="1867607" y="1748107"/>
            <a:ext cx="3539280" cy="1226859"/>
            <a:chOff x="2223373" y="1845832"/>
            <a:chExt cx="4118330" cy="1226860"/>
          </a:xfrm>
        </p:grpSpPr>
        <p:sp>
          <p:nvSpPr>
            <p:cNvPr id="19" name="Rectangle 6">
              <a:extLst>
                <a:ext uri="{FF2B5EF4-FFF2-40B4-BE49-F238E27FC236}">
                  <a16:creationId xmlns:a16="http://schemas.microsoft.com/office/drawing/2014/main" id="{B1AD4B09-F9D6-ADA7-5355-83DCCE961C2D}"/>
                </a:ext>
              </a:extLst>
            </p:cNvPr>
            <p:cNvSpPr/>
            <p:nvPr/>
          </p:nvSpPr>
          <p:spPr>
            <a:xfrm>
              <a:off x="2228602" y="2182511"/>
              <a:ext cx="3867398" cy="890181"/>
            </a:xfrm>
            <a:prstGeom prst="rect">
              <a:avLst/>
            </a:prstGeom>
          </p:spPr>
          <p:txBody>
            <a:bodyPr wrap="square">
              <a:spAutoFit/>
            </a:bodyPr>
            <a:lstStyle/>
            <a:p>
              <a:pPr defTabSz="914377">
                <a:lnSpc>
                  <a:spcPct val="150000"/>
                </a:lnSpc>
              </a:pPr>
              <a:r>
                <a:rPr lang="en-CA" altLang="zh-CN" sz="1200" dirty="0">
                  <a:solidFill>
                    <a:prstClr val="white">
                      <a:lumMod val="50000"/>
                    </a:prstClr>
                  </a:solidFill>
                  <a:latin typeface="Times New Roman"/>
                  <a:ea typeface="微软雅黑"/>
                  <a:cs typeface="Segoe UI Light" panose="020B0502040204020203" pitchFamily="34" charset="0"/>
                  <a:sym typeface="Times New Roman"/>
                </a:rPr>
                <a:t>Blue light from screens mimics daylight and interferes with the body’s production of melatonin, the hormone responsible for regulating sleep. </a:t>
              </a:r>
              <a:endParaRPr lang="zh-CN" altLang="en-US" sz="1200" dirty="0">
                <a:solidFill>
                  <a:prstClr val="white">
                    <a:lumMod val="50000"/>
                  </a:prstClr>
                </a:solidFill>
                <a:latin typeface="Times New Roman"/>
                <a:ea typeface="微软雅黑"/>
                <a:cs typeface="Segoe UI Light" panose="020B0502040204020203" pitchFamily="34" charset="0"/>
                <a:sym typeface="Times New Roman"/>
              </a:endParaRPr>
            </a:p>
          </p:txBody>
        </p:sp>
        <p:sp>
          <p:nvSpPr>
            <p:cNvPr id="20" name="Rectangle 8">
              <a:extLst>
                <a:ext uri="{FF2B5EF4-FFF2-40B4-BE49-F238E27FC236}">
                  <a16:creationId xmlns:a16="http://schemas.microsoft.com/office/drawing/2014/main" id="{A605C59C-4B1B-613E-7212-4EE4D096BFA2}"/>
                </a:ext>
              </a:extLst>
            </p:cNvPr>
            <p:cNvSpPr/>
            <p:nvPr/>
          </p:nvSpPr>
          <p:spPr>
            <a:xfrm>
              <a:off x="2223373" y="1845832"/>
              <a:ext cx="4118330" cy="417422"/>
            </a:xfrm>
            <a:prstGeom prst="rect">
              <a:avLst/>
            </a:prstGeom>
          </p:spPr>
          <p:txBody>
            <a:bodyPr wrap="square">
              <a:spAutoFit/>
            </a:bodyPr>
            <a:lstStyle/>
            <a:p>
              <a:pPr defTabSz="914377">
                <a:lnSpc>
                  <a:spcPct val="150000"/>
                </a:lnSpc>
              </a:pPr>
              <a:r>
                <a:rPr lang="en-US" sz="1600" b="1" dirty="0">
                  <a:solidFill>
                    <a:prstClr val="black">
                      <a:lumMod val="75000"/>
                      <a:lumOff val="25000"/>
                    </a:prstClr>
                  </a:solidFill>
                  <a:latin typeface="Times New Roman"/>
                  <a:ea typeface="微软雅黑"/>
                  <a:cs typeface="Segoe UI" panose="020B0502040204020203" pitchFamily="34" charset="0"/>
                  <a:sym typeface="Times New Roman"/>
                </a:rPr>
                <a:t>Blue Light and Melatonin Suppression</a:t>
              </a:r>
              <a:endParaRPr lang="en-US" sz="1600" b="1" dirty="0">
                <a:solidFill>
                  <a:prstClr val="white">
                    <a:lumMod val="65000"/>
                  </a:prstClr>
                </a:solidFill>
                <a:latin typeface="Times New Roman"/>
                <a:ea typeface="微软雅黑"/>
                <a:cs typeface="Segoe UI" panose="020B0502040204020203" pitchFamily="34" charset="0"/>
                <a:sym typeface="Times New Roman"/>
              </a:endParaRPr>
            </a:p>
          </p:txBody>
        </p:sp>
      </p:grpSp>
      <p:grpSp>
        <p:nvGrpSpPr>
          <p:cNvPr id="21" name="Group 26" descr="e7d195523061f1c08d347f6bf0421bdacd46f3c1815d51b81E1CE79090F8942429A56C6AE2B3163BABA1A3FCE285BEC4FF43A5085572A94AD2C0A17AE448F24FA68DD62479D8C0666FEB6710638384D2F47D54AD7F2B38C3B3201427C66163307D06E69945807F20D554579ED3BA1CDBE7C70C27D334684D3B2DF7D1C522E5C239811152D333AEF231E5E7F3656247FE">
            <a:extLst>
              <a:ext uri="{FF2B5EF4-FFF2-40B4-BE49-F238E27FC236}">
                <a16:creationId xmlns:a16="http://schemas.microsoft.com/office/drawing/2014/main" id="{4D46A662-AAFF-CB35-738F-842A5E751898}"/>
              </a:ext>
            </a:extLst>
          </p:cNvPr>
          <p:cNvGrpSpPr/>
          <p:nvPr/>
        </p:nvGrpSpPr>
        <p:grpSpPr>
          <a:xfrm>
            <a:off x="1867608" y="3202179"/>
            <a:ext cx="3328123" cy="2334855"/>
            <a:chOff x="2223374" y="3299908"/>
            <a:chExt cx="3872626" cy="2334857"/>
          </a:xfrm>
        </p:grpSpPr>
        <p:sp>
          <p:nvSpPr>
            <p:cNvPr id="22" name="Rectangle 11">
              <a:extLst>
                <a:ext uri="{FF2B5EF4-FFF2-40B4-BE49-F238E27FC236}">
                  <a16:creationId xmlns:a16="http://schemas.microsoft.com/office/drawing/2014/main" id="{B25F1FF6-E835-2BE0-5943-78C497572899}"/>
                </a:ext>
              </a:extLst>
            </p:cNvPr>
            <p:cNvSpPr/>
            <p:nvPr/>
          </p:nvSpPr>
          <p:spPr>
            <a:xfrm>
              <a:off x="2228602" y="3636587"/>
              <a:ext cx="3867398" cy="1998178"/>
            </a:xfrm>
            <a:prstGeom prst="rect">
              <a:avLst/>
            </a:prstGeom>
          </p:spPr>
          <p:txBody>
            <a:bodyPr wrap="square">
              <a:spAutoFit/>
            </a:bodyPr>
            <a:lstStyle/>
            <a:p>
              <a:pPr defTabSz="914377">
                <a:lnSpc>
                  <a:spcPct val="150000"/>
                </a:lnSpc>
              </a:pPr>
              <a:r>
                <a:rPr lang="en-CA" altLang="zh-CN" sz="1200" dirty="0">
                  <a:solidFill>
                    <a:prstClr val="white">
                      <a:lumMod val="50000"/>
                    </a:prstClr>
                  </a:solidFill>
                  <a:latin typeface="Times New Roman"/>
                  <a:ea typeface="微软雅黑"/>
                  <a:cs typeface="Segoe UI Light" panose="020B0502040204020203" pitchFamily="34" charset="0"/>
                  <a:sym typeface="Times New Roman"/>
                </a:rPr>
                <a:t>Using screens late at night, especially within one to two hours before bed, delays the onset of sleep. Studies, such as the one conducted by Hale et al. (2024), have demonstrated that nighttime screen exposure can suppress melatonin levels, resulting in difficulty falling asleep and shorter sleep duration.</a:t>
              </a:r>
              <a:endParaRPr lang="zh-CN" altLang="en-US" sz="1200" dirty="0">
                <a:solidFill>
                  <a:prstClr val="white">
                    <a:lumMod val="50000"/>
                  </a:prstClr>
                </a:solidFill>
                <a:latin typeface="Times New Roman"/>
                <a:ea typeface="微软雅黑"/>
                <a:cs typeface="Segoe UI Light" panose="020B0502040204020203" pitchFamily="34" charset="0"/>
                <a:sym typeface="Times New Roman"/>
              </a:endParaRPr>
            </a:p>
          </p:txBody>
        </p:sp>
        <p:sp>
          <p:nvSpPr>
            <p:cNvPr id="23" name="Rectangle 12">
              <a:extLst>
                <a:ext uri="{FF2B5EF4-FFF2-40B4-BE49-F238E27FC236}">
                  <a16:creationId xmlns:a16="http://schemas.microsoft.com/office/drawing/2014/main" id="{422EBB34-1D4A-884D-3834-A33B2F87676B}"/>
                </a:ext>
              </a:extLst>
            </p:cNvPr>
            <p:cNvSpPr/>
            <p:nvPr/>
          </p:nvSpPr>
          <p:spPr>
            <a:xfrm>
              <a:off x="2223374" y="3299908"/>
              <a:ext cx="2653321" cy="417422"/>
            </a:xfrm>
            <a:prstGeom prst="rect">
              <a:avLst/>
            </a:prstGeom>
          </p:spPr>
          <p:txBody>
            <a:bodyPr wrap="square">
              <a:spAutoFit/>
            </a:bodyPr>
            <a:lstStyle/>
            <a:p>
              <a:pPr defTabSz="914377">
                <a:lnSpc>
                  <a:spcPct val="150000"/>
                </a:lnSpc>
              </a:pPr>
              <a:r>
                <a:rPr lang="en-US" sz="1600" b="1" dirty="0">
                  <a:solidFill>
                    <a:prstClr val="black">
                      <a:lumMod val="75000"/>
                      <a:lumOff val="25000"/>
                    </a:prstClr>
                  </a:solidFill>
                  <a:latin typeface="Times New Roman"/>
                  <a:ea typeface="微软雅黑"/>
                  <a:cs typeface="Segoe UI" panose="020B0502040204020203" pitchFamily="34" charset="0"/>
                  <a:sym typeface="Times New Roman"/>
                </a:rPr>
                <a:t>Delayed Sleep Onset</a:t>
              </a:r>
              <a:endParaRPr lang="en-US" sz="1600" b="1" dirty="0">
                <a:solidFill>
                  <a:prstClr val="white">
                    <a:lumMod val="65000"/>
                  </a:prstClr>
                </a:solidFill>
                <a:latin typeface="Times New Roman"/>
                <a:ea typeface="微软雅黑"/>
                <a:cs typeface="Segoe UI" panose="020B0502040204020203" pitchFamily="34" charset="0"/>
                <a:sym typeface="Times New Roman"/>
              </a:endParaRPr>
            </a:p>
          </p:txBody>
        </p:sp>
      </p:grpSp>
    </p:spTree>
    <p:extLst>
      <p:ext uri="{BB962C8B-B14F-4D97-AF65-F5344CB8AC3E}">
        <p14:creationId xmlns:p14="http://schemas.microsoft.com/office/powerpoint/2010/main" val="2581228071"/>
      </p:ext>
    </p:extLst>
  </p:cSld>
  <p:clrMapOvr>
    <a:masterClrMapping/>
  </p:clrMapOvr>
  <mc:AlternateContent xmlns:mc="http://schemas.openxmlformats.org/markup-compatibility/2006" xmlns:p14="http://schemas.microsoft.com/office/powerpoint/2010/main">
    <mc:Choice Requires="p14">
      <p:transition spd="slow" p14:dur="1300" advTm="103066">
        <p14:pan/>
      </p:transition>
    </mc:Choice>
    <mc:Fallback xmlns="">
      <p:transition spd="slow" advTm="10306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 presetClass="entr" presetSubtype="8" decel="10000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1000" fill="hold"/>
                                        <p:tgtEl>
                                          <p:spTgt spid="11"/>
                                        </p:tgtEl>
                                        <p:attrNameLst>
                                          <p:attrName>ppt_x</p:attrName>
                                        </p:attrNameLst>
                                      </p:cBhvr>
                                      <p:tavLst>
                                        <p:tav tm="0">
                                          <p:val>
                                            <p:strVal val="0-#ppt_w/2"/>
                                          </p:val>
                                        </p:tav>
                                        <p:tav tm="100000">
                                          <p:val>
                                            <p:strVal val="#ppt_x"/>
                                          </p:val>
                                        </p:tav>
                                      </p:tavLst>
                                    </p:anim>
                                    <p:anim calcmode="lin" valueType="num">
                                      <p:cBhvr additive="base">
                                        <p:cTn id="11" dur="1000" fill="hold"/>
                                        <p:tgtEl>
                                          <p:spTgt spid="11"/>
                                        </p:tgtEl>
                                        <p:attrNameLst>
                                          <p:attrName>ppt_y</p:attrName>
                                        </p:attrNameLst>
                                      </p:cBhvr>
                                      <p:tavLst>
                                        <p:tav tm="0">
                                          <p:val>
                                            <p:strVal val="#ppt_y"/>
                                          </p:val>
                                        </p:tav>
                                        <p:tav tm="100000">
                                          <p:val>
                                            <p:strVal val="#ppt_y"/>
                                          </p:val>
                                        </p:tav>
                                      </p:tavLst>
                                    </p:anim>
                                  </p:childTnLst>
                                </p:cTn>
                              </p:par>
                              <p:par>
                                <p:cTn id="12" presetID="22" presetClass="entr" presetSubtype="4"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par>
                          <p:cTn id="15" fill="hold">
                            <p:stCondLst>
                              <p:cond delay="1000"/>
                            </p:stCondLst>
                            <p:childTnLst>
                              <p:par>
                                <p:cTn id="16" presetID="53" presetClass="entr" presetSubtype="16"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childTnLst>
                          </p:cTn>
                        </p:par>
                        <p:par>
                          <p:cTn id="21" fill="hold">
                            <p:stCondLst>
                              <p:cond delay="2800"/>
                            </p:stCondLst>
                            <p:childTnLst>
                              <p:par>
                                <p:cTn id="22" presetID="42" presetClass="entr" presetSubtype="0" fill="hold" nodeType="afterEffect">
                                  <p:stCondLst>
                                    <p:cond delay="0"/>
                                  </p:stCondLst>
                                  <p:iterate type="lt">
                                    <p:tmPct val="1786"/>
                                  </p:iterate>
                                  <p:childTnLst>
                                    <p:set>
                                      <p:cBhvr>
                                        <p:cTn id="23" dur="1" fill="hold">
                                          <p:stCondLst>
                                            <p:cond delay="0"/>
                                          </p:stCondLst>
                                        </p:cTn>
                                        <p:tgtEl>
                                          <p:spTgt spid="15"/>
                                        </p:tgtEl>
                                        <p:attrNameLst>
                                          <p:attrName>style.visibility</p:attrName>
                                        </p:attrNameLst>
                                      </p:cBhvr>
                                      <p:to>
                                        <p:strVal val="visible"/>
                                      </p:to>
                                    </p:set>
                                    <p:anim to="" calcmode="lin" valueType="num">
                                      <p:cBhvr>
                                        <p:cTn id="24" dur="700" fill="hold">
                                          <p:stCondLst>
                                            <p:cond delay="0"/>
                                          </p:stCondLst>
                                        </p:cTn>
                                        <p:tgtEl>
                                          <p:spTgt spid="15"/>
                                        </p:tgtEl>
                                        <p:attrNameLst>
                                          <p:attrName>ppt_y</p:attrName>
                                        </p:attrNameLst>
                                      </p:cBhvr>
                                      <p:tavLst>
                                        <p:tav tm="0" fmla="#ppt_y+(8/9)*(#ppt_y-(#ppt_y+0.1))*((1.5-1.5*$)^2-(1.5-1.5*$)^3)">
                                          <p:val>
                                            <p:strVal val="0"/>
                                          </p:val>
                                        </p:tav>
                                        <p:tav tm="100000">
                                          <p:val>
                                            <p:strVal val="1"/>
                                          </p:val>
                                        </p:tav>
                                      </p:tavLst>
                                    </p:anim>
                                    <p:anim to="" calcmode="lin" valueType="num">
                                      <p:cBhvr>
                                        <p:cTn id="25" dur="700" fill="hold">
                                          <p:stCondLst>
                                            <p:cond delay="0"/>
                                          </p:stCondLst>
                                        </p:cTn>
                                        <p:tgtEl>
                                          <p:spTgt spid="15"/>
                                        </p:tgtEl>
                                        <p:attrNameLst>
                                          <p:attrName>style.opacity</p:attrName>
                                        </p:attrNameLst>
                                      </p:cBhvr>
                                      <p:tavLst>
                                        <p:tav tm="0" fmla="1+(8/9)*(1-0)*((1.5-1.5*$)^2-(1.5-1.5*$)^3)">
                                          <p:val>
                                            <p:strVal val="0"/>
                                          </p:val>
                                        </p:tav>
                                        <p:tav tm="100000">
                                          <p:val>
                                            <p:strVal val="1"/>
                                          </p:val>
                                        </p:tav>
                                      </p:tavLst>
                                    </p:anim>
                                  </p:childTnLst>
                                </p:cTn>
                              </p:par>
                            </p:childTnLst>
                          </p:cTn>
                        </p:par>
                        <p:par>
                          <p:cTn id="26" fill="hold">
                            <p:stCondLst>
                              <p:cond delay="3500"/>
                            </p:stCondLst>
                            <p:childTnLst>
                              <p:par>
                                <p:cTn id="27" presetID="53" presetClass="entr" presetSubtype="16"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p:cTn id="29" dur="500" fill="hold"/>
                                        <p:tgtEl>
                                          <p:spTgt spid="2"/>
                                        </p:tgtEl>
                                        <p:attrNameLst>
                                          <p:attrName>ppt_w</p:attrName>
                                        </p:attrNameLst>
                                      </p:cBhvr>
                                      <p:tavLst>
                                        <p:tav tm="0">
                                          <p:val>
                                            <p:fltVal val="0"/>
                                          </p:val>
                                        </p:tav>
                                        <p:tav tm="100000">
                                          <p:val>
                                            <p:strVal val="#ppt_w"/>
                                          </p:val>
                                        </p:tav>
                                      </p:tavLst>
                                    </p:anim>
                                    <p:anim calcmode="lin" valueType="num">
                                      <p:cBhvr>
                                        <p:cTn id="30" dur="500" fill="hold"/>
                                        <p:tgtEl>
                                          <p:spTgt spid="2"/>
                                        </p:tgtEl>
                                        <p:attrNameLst>
                                          <p:attrName>ppt_h</p:attrName>
                                        </p:attrNameLst>
                                      </p:cBhvr>
                                      <p:tavLst>
                                        <p:tav tm="0">
                                          <p:val>
                                            <p:fltVal val="0"/>
                                          </p:val>
                                        </p:tav>
                                        <p:tav tm="100000">
                                          <p:val>
                                            <p:strVal val="#ppt_h"/>
                                          </p:val>
                                        </p:tav>
                                      </p:tavLst>
                                    </p:anim>
                                    <p:animEffect transition="in" filter="fade">
                                      <p:cBhvr>
                                        <p:cTn id="31" dur="500"/>
                                        <p:tgtEl>
                                          <p:spTgt spid="2"/>
                                        </p:tgtEl>
                                      </p:cBhvr>
                                    </p:animEffect>
                                  </p:childTnLst>
                                </p:cTn>
                              </p:par>
                            </p:childTnLst>
                          </p:cTn>
                        </p:par>
                        <p:par>
                          <p:cTn id="32" fill="hold">
                            <p:stCondLst>
                              <p:cond delay="4000"/>
                            </p:stCondLst>
                            <p:childTnLst>
                              <p:par>
                                <p:cTn id="33" presetID="53" presetClass="entr" presetSubtype="16"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ppt_w</p:attrName>
                                        </p:attrNameLst>
                                      </p:cBhvr>
                                      <p:tavLst>
                                        <p:tav tm="0">
                                          <p:val>
                                            <p:fltVal val="0"/>
                                          </p:val>
                                        </p:tav>
                                        <p:tav tm="100000">
                                          <p:val>
                                            <p:strVal val="#ppt_w"/>
                                          </p:val>
                                        </p:tav>
                                      </p:tavLst>
                                    </p:anim>
                                    <p:anim calcmode="lin" valueType="num">
                                      <p:cBhvr>
                                        <p:cTn id="36" dur="500" fill="hold"/>
                                        <p:tgtEl>
                                          <p:spTgt spid="6"/>
                                        </p:tgtEl>
                                        <p:attrNameLst>
                                          <p:attrName>ppt_h</p:attrName>
                                        </p:attrNameLst>
                                      </p:cBhvr>
                                      <p:tavLst>
                                        <p:tav tm="0">
                                          <p:val>
                                            <p:fltVal val="0"/>
                                          </p:val>
                                        </p:tav>
                                        <p:tav tm="100000">
                                          <p:val>
                                            <p:strVal val="#ppt_h"/>
                                          </p:val>
                                        </p:tav>
                                      </p:tavLst>
                                    </p:anim>
                                    <p:animEffect transition="in" filter="fade">
                                      <p:cBhvr>
                                        <p:cTn id="37" dur="500"/>
                                        <p:tgtEl>
                                          <p:spTgt spid="6"/>
                                        </p:tgtEl>
                                      </p:cBhvr>
                                    </p:animEffect>
                                  </p:childTnLst>
                                </p:cTn>
                              </p:par>
                              <p:par>
                                <p:cTn id="38" presetID="2" presetClass="entr" presetSubtype="4" decel="100000" fill="hold" nodeType="withEffect">
                                  <p:stCondLst>
                                    <p:cond delay="0"/>
                                  </p:stCondLst>
                                  <p:childTnLst>
                                    <p:set>
                                      <p:cBhvr>
                                        <p:cTn id="39" dur="1" fill="hold">
                                          <p:stCondLst>
                                            <p:cond delay="0"/>
                                          </p:stCondLst>
                                        </p:cTn>
                                        <p:tgtEl>
                                          <p:spTgt spid="18"/>
                                        </p:tgtEl>
                                        <p:attrNameLst>
                                          <p:attrName>style.visibility</p:attrName>
                                        </p:attrNameLst>
                                      </p:cBhvr>
                                      <p:to>
                                        <p:strVal val="visible"/>
                                      </p:to>
                                    </p:set>
                                    <p:anim calcmode="lin" valueType="num">
                                      <p:cBhvr additive="base">
                                        <p:cTn id="40" dur="750" fill="hold"/>
                                        <p:tgtEl>
                                          <p:spTgt spid="18"/>
                                        </p:tgtEl>
                                        <p:attrNameLst>
                                          <p:attrName>ppt_x</p:attrName>
                                        </p:attrNameLst>
                                      </p:cBhvr>
                                      <p:tavLst>
                                        <p:tav tm="0">
                                          <p:val>
                                            <p:strVal val="#ppt_x"/>
                                          </p:val>
                                        </p:tav>
                                        <p:tav tm="100000">
                                          <p:val>
                                            <p:strVal val="#ppt_x"/>
                                          </p:val>
                                        </p:tav>
                                      </p:tavLst>
                                    </p:anim>
                                    <p:anim calcmode="lin" valueType="num">
                                      <p:cBhvr additive="base">
                                        <p:cTn id="41" dur="750" fill="hold"/>
                                        <p:tgtEl>
                                          <p:spTgt spid="18"/>
                                        </p:tgtEl>
                                        <p:attrNameLst>
                                          <p:attrName>ppt_y</p:attrName>
                                        </p:attrNameLst>
                                      </p:cBhvr>
                                      <p:tavLst>
                                        <p:tav tm="0">
                                          <p:val>
                                            <p:strVal val="1+#ppt_h/2"/>
                                          </p:val>
                                        </p:tav>
                                        <p:tav tm="100000">
                                          <p:val>
                                            <p:strVal val="#ppt_y"/>
                                          </p:val>
                                        </p:tav>
                                      </p:tavLst>
                                    </p:anim>
                                  </p:childTnLst>
                                </p:cTn>
                              </p:par>
                              <p:par>
                                <p:cTn id="42" presetID="2" presetClass="entr" presetSubtype="4" decel="100000" fill="hold" nodeType="with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additive="base">
                                        <p:cTn id="44" dur="750" fill="hold"/>
                                        <p:tgtEl>
                                          <p:spTgt spid="21"/>
                                        </p:tgtEl>
                                        <p:attrNameLst>
                                          <p:attrName>ppt_x</p:attrName>
                                        </p:attrNameLst>
                                      </p:cBhvr>
                                      <p:tavLst>
                                        <p:tav tm="0">
                                          <p:val>
                                            <p:strVal val="#ppt_x"/>
                                          </p:val>
                                        </p:tav>
                                        <p:tav tm="100000">
                                          <p:val>
                                            <p:strVal val="#ppt_x"/>
                                          </p:val>
                                        </p:tav>
                                      </p:tavLst>
                                    </p:anim>
                                    <p:anim calcmode="lin" valueType="num">
                                      <p:cBhvr additive="base">
                                        <p:cTn id="45" dur="75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6765ECE3-D4C3-4882-D575-B6064366391F}"/>
              </a:ext>
            </a:extLst>
          </p:cNvPr>
          <p:cNvCxnSpPr>
            <a:cxnSpLocks/>
          </p:cNvCxnSpPr>
          <p:nvPr/>
        </p:nvCxnSpPr>
        <p:spPr>
          <a:xfrm>
            <a:off x="411783" y="942554"/>
            <a:ext cx="26887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7989539-24ED-B150-EF0E-AC5BC72A3767}"/>
              </a:ext>
            </a:extLst>
          </p:cNvPr>
          <p:cNvCxnSpPr/>
          <p:nvPr/>
        </p:nvCxnSpPr>
        <p:spPr>
          <a:xfrm>
            <a:off x="720619" y="423896"/>
            <a:ext cx="0" cy="7327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753AF82A-B41E-131F-0BB5-B912A030B207}"/>
              </a:ext>
            </a:extLst>
          </p:cNvPr>
          <p:cNvSpPr txBox="1"/>
          <p:nvPr/>
        </p:nvSpPr>
        <p:spPr>
          <a:xfrm>
            <a:off x="841660" y="477903"/>
            <a:ext cx="2567652" cy="400110"/>
          </a:xfrm>
          <a:prstGeom prst="rect">
            <a:avLst/>
          </a:prstGeom>
          <a:noFill/>
        </p:spPr>
        <p:txBody>
          <a:bodyPr wrap="square" rtlCol="0">
            <a:spAutoFit/>
          </a:bodyPr>
          <a:lstStyle/>
          <a:p>
            <a:r>
              <a:rPr lang="en-CA" altLang="zh-CN" sz="2000" dirty="0">
                <a:latin typeface="Times New Roman"/>
                <a:ea typeface="微软雅黑"/>
                <a:sym typeface="Times New Roman"/>
              </a:rPr>
              <a:t>Reduced Sleep Quality</a:t>
            </a:r>
            <a:endParaRPr lang="zh-CN" altLang="en-US" sz="2000" dirty="0">
              <a:latin typeface="Times New Roman"/>
              <a:ea typeface="微软雅黑"/>
              <a:sym typeface="Times New Roman"/>
            </a:endParaRPr>
          </a:p>
        </p:txBody>
      </p:sp>
      <p:sp>
        <p:nvSpPr>
          <p:cNvPr id="11" name="矩形 10"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CF708AE9-8C15-45C9-4727-05BED44FAA42}"/>
              </a:ext>
            </a:extLst>
          </p:cNvPr>
          <p:cNvSpPr/>
          <p:nvPr/>
        </p:nvSpPr>
        <p:spPr>
          <a:xfrm>
            <a:off x="2684512" y="883714"/>
            <a:ext cx="117680" cy="117680"/>
          </a:xfrm>
          <a:prstGeom prst="rect">
            <a:avLst/>
          </a:prstGeom>
          <a:solidFill>
            <a:schemeClr val="tx1"/>
          </a:solidFill>
          <a:ln w="19050">
            <a:solidFill>
              <a:srgbClr val="113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13556"/>
              </a:solidFill>
              <a:latin typeface="Times New Roman"/>
              <a:ea typeface="微软雅黑"/>
              <a:cs typeface="+mn-ea"/>
              <a:sym typeface="Times New Roman"/>
            </a:endParaRPr>
          </a:p>
        </p:txBody>
      </p:sp>
      <p:grpSp>
        <p:nvGrpSpPr>
          <p:cNvPr id="2" name="组合 1">
            <a:extLst>
              <a:ext uri="{FF2B5EF4-FFF2-40B4-BE49-F238E27FC236}">
                <a16:creationId xmlns:a16="http://schemas.microsoft.com/office/drawing/2014/main" id="{0D361C10-A6F4-9B3E-3603-E6A70086AAB3}"/>
              </a:ext>
            </a:extLst>
          </p:cNvPr>
          <p:cNvGrpSpPr/>
          <p:nvPr/>
        </p:nvGrpSpPr>
        <p:grpSpPr>
          <a:xfrm>
            <a:off x="1197715" y="1842539"/>
            <a:ext cx="5183759" cy="4029447"/>
            <a:chOff x="1061654" y="1957063"/>
            <a:chExt cx="5004365" cy="3811537"/>
          </a:xfrm>
        </p:grpSpPr>
        <p:grpSp>
          <p:nvGrpSpPr>
            <p:cNvPr id="3" name="Google Shape;681;p53">
              <a:extLst>
                <a:ext uri="{FF2B5EF4-FFF2-40B4-BE49-F238E27FC236}">
                  <a16:creationId xmlns:a16="http://schemas.microsoft.com/office/drawing/2014/main" id="{4CBCCA5D-CA48-17AE-5C70-CFCE4C16C04E}"/>
                </a:ext>
              </a:extLst>
            </p:cNvPr>
            <p:cNvGrpSpPr/>
            <p:nvPr/>
          </p:nvGrpSpPr>
          <p:grpSpPr>
            <a:xfrm>
              <a:off x="1061654" y="1957063"/>
              <a:ext cx="5004365" cy="3811537"/>
              <a:chOff x="3804623" y="931514"/>
              <a:chExt cx="4311631" cy="3283920"/>
            </a:xfrm>
          </p:grpSpPr>
          <p:grpSp>
            <p:nvGrpSpPr>
              <p:cNvPr id="6" name="Google Shape;682;p53">
                <a:extLst>
                  <a:ext uri="{FF2B5EF4-FFF2-40B4-BE49-F238E27FC236}">
                    <a16:creationId xmlns:a16="http://schemas.microsoft.com/office/drawing/2014/main" id="{E95366D0-2A68-B6AF-A2C2-2AC9E10194FC}"/>
                  </a:ext>
                </a:extLst>
              </p:cNvPr>
              <p:cNvGrpSpPr/>
              <p:nvPr/>
            </p:nvGrpSpPr>
            <p:grpSpPr>
              <a:xfrm>
                <a:off x="3804623" y="931514"/>
                <a:ext cx="4311631" cy="3283920"/>
                <a:chOff x="3420275" y="729475"/>
                <a:chExt cx="4831500" cy="3679875"/>
              </a:xfrm>
            </p:grpSpPr>
            <p:sp>
              <p:nvSpPr>
                <p:cNvPr id="10" name="Google Shape;683;p53">
                  <a:extLst>
                    <a:ext uri="{FF2B5EF4-FFF2-40B4-BE49-F238E27FC236}">
                      <a16:creationId xmlns:a16="http://schemas.microsoft.com/office/drawing/2014/main" id="{3605FD70-32CE-BC0E-17B5-325766015017}"/>
                    </a:ext>
                  </a:extLst>
                </p:cNvPr>
                <p:cNvSpPr/>
                <p:nvPr/>
              </p:nvSpPr>
              <p:spPr>
                <a:xfrm>
                  <a:off x="3586250" y="883825"/>
                  <a:ext cx="4503600" cy="2746200"/>
                </a:xfrm>
                <a:prstGeom prst="rect">
                  <a:avLst/>
                </a:prstGeom>
                <a:noFill/>
                <a:ln w="19050"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defTabSz="121917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Times New Roman"/>
                    <a:ea typeface="微软雅黑"/>
                    <a:cs typeface="Arial"/>
                    <a:sym typeface="Times New Roman"/>
                  </a:endParaRPr>
                </a:p>
              </p:txBody>
            </p:sp>
            <p:sp>
              <p:nvSpPr>
                <p:cNvPr id="12" name="Google Shape;684;p53">
                  <a:extLst>
                    <a:ext uri="{FF2B5EF4-FFF2-40B4-BE49-F238E27FC236}">
                      <a16:creationId xmlns:a16="http://schemas.microsoft.com/office/drawing/2014/main" id="{AF68BB4F-6F7C-1995-627C-4C9ED1C4750E}"/>
                    </a:ext>
                  </a:extLst>
                </p:cNvPr>
                <p:cNvSpPr/>
                <p:nvPr/>
              </p:nvSpPr>
              <p:spPr>
                <a:xfrm>
                  <a:off x="5009044" y="3786200"/>
                  <a:ext cx="1649975" cy="623150"/>
                </a:xfrm>
                <a:custGeom>
                  <a:avLst/>
                  <a:gdLst/>
                  <a:ahLst/>
                  <a:cxnLst/>
                  <a:rect l="l" t="t" r="r" b="b"/>
                  <a:pathLst>
                    <a:path w="65999" h="24926" extrusionOk="0">
                      <a:moveTo>
                        <a:pt x="13372" y="0"/>
                      </a:moveTo>
                      <a:cubicBezTo>
                        <a:pt x="13051" y="1881"/>
                        <a:pt x="12653" y="8225"/>
                        <a:pt x="11445" y="11283"/>
                      </a:cubicBezTo>
                      <a:cubicBezTo>
                        <a:pt x="10237" y="14341"/>
                        <a:pt x="7883" y="16511"/>
                        <a:pt x="6125" y="18346"/>
                      </a:cubicBezTo>
                      <a:cubicBezTo>
                        <a:pt x="4367" y="20181"/>
                        <a:pt x="1875" y="21297"/>
                        <a:pt x="896" y="22291"/>
                      </a:cubicBezTo>
                      <a:cubicBezTo>
                        <a:pt x="-82" y="23285"/>
                        <a:pt x="-174" y="23896"/>
                        <a:pt x="254" y="24309"/>
                      </a:cubicBezTo>
                      <a:cubicBezTo>
                        <a:pt x="682" y="24722"/>
                        <a:pt x="805" y="24692"/>
                        <a:pt x="3465" y="24768"/>
                      </a:cubicBezTo>
                      <a:cubicBezTo>
                        <a:pt x="6125" y="24845"/>
                        <a:pt x="10925" y="24768"/>
                        <a:pt x="16215" y="24768"/>
                      </a:cubicBezTo>
                      <a:cubicBezTo>
                        <a:pt x="21505" y="24768"/>
                        <a:pt x="28630" y="24768"/>
                        <a:pt x="35204" y="24768"/>
                      </a:cubicBezTo>
                      <a:cubicBezTo>
                        <a:pt x="41778" y="24768"/>
                        <a:pt x="50783" y="24768"/>
                        <a:pt x="55660" y="24768"/>
                      </a:cubicBezTo>
                      <a:cubicBezTo>
                        <a:pt x="60537" y="24768"/>
                        <a:pt x="62754" y="25104"/>
                        <a:pt x="64466" y="24768"/>
                      </a:cubicBezTo>
                      <a:cubicBezTo>
                        <a:pt x="66178" y="24432"/>
                        <a:pt x="66056" y="23346"/>
                        <a:pt x="65934" y="22750"/>
                      </a:cubicBezTo>
                      <a:cubicBezTo>
                        <a:pt x="65812" y="22154"/>
                        <a:pt x="65353" y="22765"/>
                        <a:pt x="63732" y="21190"/>
                      </a:cubicBezTo>
                      <a:cubicBezTo>
                        <a:pt x="62111" y="19615"/>
                        <a:pt x="57999" y="16512"/>
                        <a:pt x="56210" y="13301"/>
                      </a:cubicBezTo>
                      <a:cubicBezTo>
                        <a:pt x="54421" y="10091"/>
                        <a:pt x="53505" y="4083"/>
                        <a:pt x="53000" y="1927"/>
                      </a:cubicBezTo>
                      <a:cubicBezTo>
                        <a:pt x="52496" y="-229"/>
                        <a:pt x="53153" y="627"/>
                        <a:pt x="53183" y="367"/>
                      </a:cubicBezTo>
                    </a:path>
                  </a:pathLst>
                </a:custGeom>
                <a:noFill/>
                <a:ln w="19050" cap="flat" cmpd="sng">
                  <a:solidFill>
                    <a:sysClr val="windowText" lastClr="000000"/>
                  </a:solidFill>
                  <a:prstDash val="solid"/>
                  <a:round/>
                  <a:headEnd type="none" w="med" len="med"/>
                  <a:tailEnd type="none" w="med" len="med"/>
                </a:ln>
              </p:spPr>
              <p:txBody>
                <a:bodyPr/>
                <a:lstStyle/>
                <a:p>
                  <a:endParaRPr lang="zh-CN" altLang="en-US">
                    <a:latin typeface="Times New Roman"/>
                    <a:ea typeface="微软雅黑"/>
                    <a:sym typeface="Times New Roman"/>
                  </a:endParaRPr>
                </a:p>
              </p:txBody>
            </p:sp>
            <p:sp>
              <p:nvSpPr>
                <p:cNvPr id="13" name="Google Shape;685;p53">
                  <a:extLst>
                    <a:ext uri="{FF2B5EF4-FFF2-40B4-BE49-F238E27FC236}">
                      <a16:creationId xmlns:a16="http://schemas.microsoft.com/office/drawing/2014/main" id="{0F2BD1AF-1882-2FB7-7B8B-6F5F1556CA83}"/>
                    </a:ext>
                  </a:extLst>
                </p:cNvPr>
                <p:cNvSpPr/>
                <p:nvPr/>
              </p:nvSpPr>
              <p:spPr>
                <a:xfrm>
                  <a:off x="3420275" y="729475"/>
                  <a:ext cx="4831500" cy="3056700"/>
                </a:xfrm>
                <a:prstGeom prst="roundRect">
                  <a:avLst>
                    <a:gd name="adj" fmla="val 3857"/>
                  </a:avLst>
                </a:prstGeom>
                <a:noFill/>
                <a:ln w="19050"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defTabSz="121917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Times New Roman"/>
                    <a:ea typeface="微软雅黑"/>
                    <a:cs typeface="Arial"/>
                    <a:sym typeface="Times New Roman"/>
                  </a:endParaRPr>
                </a:p>
              </p:txBody>
            </p:sp>
            <p:sp>
              <p:nvSpPr>
                <p:cNvPr id="14" name="Google Shape;686;p53">
                  <a:extLst>
                    <a:ext uri="{FF2B5EF4-FFF2-40B4-BE49-F238E27FC236}">
                      <a16:creationId xmlns:a16="http://schemas.microsoft.com/office/drawing/2014/main" id="{F73C8C47-9DE9-EA35-7E5E-2914673604E5}"/>
                    </a:ext>
                  </a:extLst>
                </p:cNvPr>
                <p:cNvSpPr/>
                <p:nvPr/>
              </p:nvSpPr>
              <p:spPr>
                <a:xfrm>
                  <a:off x="3453125" y="762775"/>
                  <a:ext cx="4765800" cy="2990100"/>
                </a:xfrm>
                <a:prstGeom prst="roundRect">
                  <a:avLst>
                    <a:gd name="adj" fmla="val 3282"/>
                  </a:avLst>
                </a:prstGeom>
                <a:noFill/>
                <a:ln w="19050"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defTabSz="121917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Times New Roman"/>
                    <a:ea typeface="微软雅黑"/>
                    <a:cs typeface="Arial"/>
                    <a:sym typeface="Times New Roman"/>
                  </a:endParaRPr>
                </a:p>
              </p:txBody>
            </p:sp>
          </p:grpSp>
          <p:cxnSp>
            <p:nvCxnSpPr>
              <p:cNvPr id="9" name="Google Shape;687;p53">
                <a:extLst>
                  <a:ext uri="{FF2B5EF4-FFF2-40B4-BE49-F238E27FC236}">
                    <a16:creationId xmlns:a16="http://schemas.microsoft.com/office/drawing/2014/main" id="{977D7F61-3EE4-C869-689B-6BAFE6587FDC}"/>
                  </a:ext>
                </a:extLst>
              </p:cNvPr>
              <p:cNvCxnSpPr/>
              <p:nvPr/>
            </p:nvCxnSpPr>
            <p:spPr>
              <a:xfrm>
                <a:off x="5238353" y="4162783"/>
                <a:ext cx="1451100" cy="0"/>
              </a:xfrm>
              <a:prstGeom prst="straightConnector1">
                <a:avLst/>
              </a:prstGeom>
              <a:noFill/>
              <a:ln w="19050" cap="flat" cmpd="sng">
                <a:solidFill>
                  <a:sysClr val="windowText" lastClr="000000"/>
                </a:solidFill>
                <a:prstDash val="solid"/>
                <a:round/>
                <a:headEnd type="none" w="med" len="med"/>
                <a:tailEnd type="none" w="med" len="med"/>
              </a:ln>
            </p:spPr>
          </p:cxnSp>
        </p:grpSp>
        <p:pic>
          <p:nvPicPr>
            <p:cNvPr id="4" name="Google Shape;688;p53">
              <a:extLst>
                <a:ext uri="{FF2B5EF4-FFF2-40B4-BE49-F238E27FC236}">
                  <a16:creationId xmlns:a16="http://schemas.microsoft.com/office/drawing/2014/main" id="{C2F18186-02C1-C56B-959C-062D3B1789AB}"/>
                </a:ext>
              </a:extLst>
            </p:cNvPr>
            <p:cNvPicPr preferRelativeResize="0"/>
            <p:nvPr/>
          </p:nvPicPr>
          <p:blipFill>
            <a:blip r:embed="rId3">
              <a:extLst>
                <a:ext uri="{28A0092B-C50C-407E-A947-70E740481C1C}">
                  <a14:useLocalDpi xmlns:a14="http://schemas.microsoft.com/office/drawing/2010/main" val="0"/>
                </a:ext>
              </a:extLst>
            </a:blip>
            <a:srcRect/>
            <a:stretch/>
          </p:blipFill>
          <p:spPr>
            <a:xfrm>
              <a:off x="1233565" y="2116911"/>
              <a:ext cx="4664733" cy="2836509"/>
            </a:xfrm>
            <a:prstGeom prst="rect">
              <a:avLst/>
            </a:prstGeom>
            <a:noFill/>
            <a:ln>
              <a:solidFill>
                <a:sysClr val="windowText" lastClr="000000"/>
              </a:solidFill>
            </a:ln>
          </p:spPr>
        </p:pic>
      </p:grpSp>
      <p:grpSp>
        <p:nvGrpSpPr>
          <p:cNvPr id="21" name="组合 20">
            <a:extLst>
              <a:ext uri="{FF2B5EF4-FFF2-40B4-BE49-F238E27FC236}">
                <a16:creationId xmlns:a16="http://schemas.microsoft.com/office/drawing/2014/main" id="{0B4CCD02-955C-4B7A-9EF2-1A177AC12AB6}"/>
              </a:ext>
            </a:extLst>
          </p:cNvPr>
          <p:cNvGrpSpPr/>
          <p:nvPr/>
        </p:nvGrpSpPr>
        <p:grpSpPr>
          <a:xfrm>
            <a:off x="7099865" y="3749042"/>
            <a:ext cx="3670875" cy="1810862"/>
            <a:chOff x="8556046" y="5065860"/>
            <a:chExt cx="3053422" cy="762000"/>
          </a:xfrm>
        </p:grpSpPr>
        <p:sp>
          <p:nvSpPr>
            <p:cNvPr id="22" name="Rectangle: Rounded Corners 28">
              <a:extLst>
                <a:ext uri="{FF2B5EF4-FFF2-40B4-BE49-F238E27FC236}">
                  <a16:creationId xmlns:a16="http://schemas.microsoft.com/office/drawing/2014/main" id="{69CCD97D-2372-AF5D-B860-5097486B68F2}"/>
                </a:ext>
              </a:extLst>
            </p:cNvPr>
            <p:cNvSpPr/>
            <p:nvPr/>
          </p:nvSpPr>
          <p:spPr>
            <a:xfrm>
              <a:off x="8556046" y="5065860"/>
              <a:ext cx="3053422" cy="762000"/>
            </a:xfrm>
            <a:prstGeom prst="roundRect">
              <a:avLst>
                <a:gd name="adj" fmla="val 16667"/>
              </a:avLst>
            </a:prstGeom>
            <a:solidFill>
              <a:sysClr val="window" lastClr="FFFFFF"/>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imes New Roman"/>
                <a:ea typeface="微软雅黑"/>
                <a:sym typeface="Times New Roman"/>
              </a:endParaRPr>
            </a:p>
          </p:txBody>
        </p:sp>
        <p:grpSp>
          <p:nvGrpSpPr>
            <p:cNvPr id="23" name="Group 17">
              <a:extLst>
                <a:ext uri="{FF2B5EF4-FFF2-40B4-BE49-F238E27FC236}">
                  <a16:creationId xmlns:a16="http://schemas.microsoft.com/office/drawing/2014/main" id="{5CB9D4DD-D71B-FDF9-6EFC-291340C6F5BC}"/>
                </a:ext>
              </a:extLst>
            </p:cNvPr>
            <p:cNvGrpSpPr/>
            <p:nvPr/>
          </p:nvGrpSpPr>
          <p:grpSpPr>
            <a:xfrm>
              <a:off x="8903806" y="5139904"/>
              <a:ext cx="2492708" cy="643590"/>
              <a:chOff x="4133500" y="5328592"/>
              <a:chExt cx="2971597" cy="643590"/>
            </a:xfrm>
            <a:solidFill>
              <a:srgbClr val="FF4B3A"/>
            </a:solidFill>
          </p:grpSpPr>
          <p:sp>
            <p:nvSpPr>
              <p:cNvPr id="32" name="TextBox 41">
                <a:extLst>
                  <a:ext uri="{FF2B5EF4-FFF2-40B4-BE49-F238E27FC236}">
                    <a16:creationId xmlns:a16="http://schemas.microsoft.com/office/drawing/2014/main" id="{C5D2004C-0616-90AC-5AC2-62C2BFF25862}"/>
                  </a:ext>
                </a:extLst>
              </p:cNvPr>
              <p:cNvSpPr txBox="1"/>
              <p:nvPr/>
            </p:nvSpPr>
            <p:spPr>
              <a:xfrm>
                <a:off x="4245228" y="5328592"/>
                <a:ext cx="2859869" cy="276999"/>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altLang="zh-CN" sz="1200" b="1" i="0" u="none" strike="noStrike" kern="0" cap="none" spc="0" normalizeH="0" baseline="0" noProof="0" dirty="0">
                    <a:ln>
                      <a:noFill/>
                    </a:ln>
                    <a:solidFill>
                      <a:prstClr val="black"/>
                    </a:solidFill>
                    <a:effectLst/>
                    <a:uLnTx/>
                    <a:uFillTx/>
                    <a:latin typeface="Times New Roman"/>
                    <a:ea typeface="微软雅黑"/>
                    <a:sym typeface="Times New Roman"/>
                  </a:rPr>
                  <a:t>Increased Cognitive Stimulation</a:t>
                </a:r>
                <a:endParaRPr kumimoji="0" lang="zh-CN" altLang="en-US" sz="1200" b="1" i="0" u="none" strike="noStrike" kern="0" cap="none" spc="0" normalizeH="0" baseline="0" noProof="0" dirty="0">
                  <a:ln>
                    <a:noFill/>
                  </a:ln>
                  <a:solidFill>
                    <a:prstClr val="black"/>
                  </a:solidFill>
                  <a:effectLst/>
                  <a:uLnTx/>
                  <a:uFillTx/>
                  <a:latin typeface="Times New Roman"/>
                  <a:ea typeface="微软雅黑"/>
                  <a:sym typeface="Times New Roman"/>
                </a:endParaRPr>
              </a:p>
            </p:txBody>
          </p:sp>
          <p:sp>
            <p:nvSpPr>
              <p:cNvPr id="33" name="Text Placeholder 4">
                <a:extLst>
                  <a:ext uri="{FF2B5EF4-FFF2-40B4-BE49-F238E27FC236}">
                    <a16:creationId xmlns:a16="http://schemas.microsoft.com/office/drawing/2014/main" id="{3027B52B-5968-CE30-40CE-69374BF92335}"/>
                  </a:ext>
                </a:extLst>
              </p:cNvPr>
              <p:cNvSpPr txBox="1">
                <a:spLocks/>
              </p:cNvSpPr>
              <p:nvPr/>
            </p:nvSpPr>
            <p:spPr>
              <a:xfrm>
                <a:off x="4133500" y="5467091"/>
                <a:ext cx="2859869" cy="505091"/>
              </a:xfrm>
              <a:prstGeom prst="rect">
                <a:avLst/>
              </a:prstGeom>
              <a:solidFill>
                <a:sysClr val="window" lastClr="FFFFFF"/>
              </a:solidFill>
            </p:spPr>
            <p:txBody>
              <a:bodyPr anchor="ctr">
                <a:spAutoFit/>
              </a:bodyPr>
              <a:lstStyle>
                <a:lvl1pPr marL="0" indent="0" algn="ctr" defTabSz="914400" rtl="0" eaLnBrk="1" latinLnBrk="0" hangingPunct="1">
                  <a:lnSpc>
                    <a:spcPct val="90000"/>
                  </a:lnSpc>
                  <a:spcBef>
                    <a:spcPts val="1000"/>
                  </a:spcBef>
                  <a:buFont typeface="Arial" panose="020B0604020202020204" pitchFamily="34" charset="0"/>
                  <a:buNone/>
                  <a:defRPr sz="1050" kern="1200">
                    <a:solidFill>
                      <a:schemeClr val="tx1">
                        <a:lumMod val="75000"/>
                        <a:lumOff val="2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105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05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05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05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CA" altLang="zh-CN" sz="1000" b="0" i="0" u="none" strike="noStrike" kern="1200" cap="none" spc="0" normalizeH="0" baseline="0" noProof="0" dirty="0">
                    <a:ln>
                      <a:noFill/>
                    </a:ln>
                    <a:solidFill>
                      <a:srgbClr val="3B4550"/>
                    </a:solidFill>
                    <a:effectLst/>
                    <a:uLnTx/>
                    <a:uFillTx/>
                    <a:latin typeface="Times New Roman"/>
                    <a:ea typeface="微软雅黑"/>
                    <a:sym typeface="Times New Roman"/>
                  </a:rPr>
                  <a:t>A study by Carter et al. (2016) in Sleep Medicine Reviews demonstrated that pre-bedtime screen use increases cognitive arousal and emotional engagement, disrupting the natural winding-down process required for sleep. Activities such as social media browsing and video games were identified as major contributors to bedtime procrastination and sleep delay.</a:t>
                </a:r>
                <a:endParaRPr kumimoji="0" lang="en-US" sz="1000" b="0" i="0" u="none" strike="noStrike" kern="1200" cap="none" spc="0" normalizeH="0" baseline="0" noProof="0" dirty="0">
                  <a:ln>
                    <a:noFill/>
                  </a:ln>
                  <a:solidFill>
                    <a:srgbClr val="3B4550"/>
                  </a:solidFill>
                  <a:effectLst/>
                  <a:uLnTx/>
                  <a:uFillTx/>
                  <a:latin typeface="Times New Roman"/>
                  <a:ea typeface="微软雅黑"/>
                  <a:sym typeface="Times New Roman"/>
                </a:endParaRPr>
              </a:p>
            </p:txBody>
          </p:sp>
        </p:grpSp>
        <p:sp>
          <p:nvSpPr>
            <p:cNvPr id="29" name="Freeform: Shape 97">
              <a:extLst>
                <a:ext uri="{FF2B5EF4-FFF2-40B4-BE49-F238E27FC236}">
                  <a16:creationId xmlns:a16="http://schemas.microsoft.com/office/drawing/2014/main" id="{F5411D82-A783-5C61-6FA1-D9515F73B83C}"/>
                </a:ext>
              </a:extLst>
            </p:cNvPr>
            <p:cNvSpPr/>
            <p:nvPr/>
          </p:nvSpPr>
          <p:spPr>
            <a:xfrm>
              <a:off x="8973018" y="5295801"/>
              <a:ext cx="405" cy="405"/>
            </a:xfrm>
            <a:custGeom>
              <a:avLst/>
              <a:gdLst>
                <a:gd name="connsiteX0" fmla="*/ 0 w 0"/>
                <a:gd name="connsiteY0" fmla="*/ 423 h 0"/>
                <a:gd name="connsiteX1" fmla="*/ 0 w 0"/>
                <a:gd name="connsiteY1" fmla="*/ 423 h 0"/>
                <a:gd name="connsiteX2" fmla="*/ 0 w 0"/>
                <a:gd name="connsiteY2" fmla="*/ 423 h 0"/>
                <a:gd name="connsiteX3" fmla="*/ 0 w 0"/>
                <a:gd name="connsiteY3" fmla="*/ 423 h 0"/>
              </a:gdLst>
              <a:ahLst/>
              <a:cxnLst>
                <a:cxn ang="0">
                  <a:pos x="connsiteX0" y="connsiteY0"/>
                </a:cxn>
                <a:cxn ang="0">
                  <a:pos x="connsiteX1" y="connsiteY1"/>
                </a:cxn>
                <a:cxn ang="0">
                  <a:pos x="connsiteX2" y="connsiteY2"/>
                </a:cxn>
                <a:cxn ang="0">
                  <a:pos x="connsiteX3" y="connsiteY3"/>
                </a:cxn>
              </a:cxnLst>
              <a:rect l="l" t="t" r="r" b="b"/>
              <a:pathLst>
                <a:path>
                  <a:moveTo>
                    <a:pt x="0" y="423"/>
                  </a:moveTo>
                  <a:cubicBezTo>
                    <a:pt x="0" y="423"/>
                    <a:pt x="0" y="423"/>
                    <a:pt x="0" y="423"/>
                  </a:cubicBezTo>
                  <a:cubicBezTo>
                    <a:pt x="952" y="423"/>
                    <a:pt x="952" y="-529"/>
                    <a:pt x="0" y="423"/>
                  </a:cubicBezTo>
                  <a:cubicBezTo>
                    <a:pt x="952" y="-529"/>
                    <a:pt x="952" y="423"/>
                    <a:pt x="0" y="423"/>
                  </a:cubicBezTo>
                  <a:close/>
                </a:path>
              </a:pathLst>
            </a:custGeom>
            <a:solidFill>
              <a:schemeClr val="tx1"/>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imes New Roman"/>
                <a:ea typeface="微软雅黑"/>
                <a:sym typeface="Times New Roman"/>
              </a:endParaRPr>
            </a:p>
          </p:txBody>
        </p:sp>
        <p:sp>
          <p:nvSpPr>
            <p:cNvPr id="30" name="Freeform: Shape 98">
              <a:extLst>
                <a:ext uri="{FF2B5EF4-FFF2-40B4-BE49-F238E27FC236}">
                  <a16:creationId xmlns:a16="http://schemas.microsoft.com/office/drawing/2014/main" id="{C8EB9658-5FC6-8D1C-5CC1-77EF91EA6D88}"/>
                </a:ext>
              </a:extLst>
            </p:cNvPr>
            <p:cNvSpPr/>
            <p:nvPr/>
          </p:nvSpPr>
          <p:spPr>
            <a:xfrm>
              <a:off x="8973059" y="5295738"/>
              <a:ext cx="405" cy="405"/>
            </a:xfrm>
            <a:custGeom>
              <a:avLst/>
              <a:gdLst>
                <a:gd name="connsiteX0" fmla="*/ 0 w 0"/>
                <a:gd name="connsiteY0" fmla="*/ 953 h 0"/>
                <a:gd name="connsiteX1" fmla="*/ 953 w 0"/>
                <a:gd name="connsiteY1" fmla="*/ 0 h 0"/>
                <a:gd name="connsiteX2" fmla="*/ 0 w 0"/>
                <a:gd name="connsiteY2" fmla="*/ 953 h 0"/>
              </a:gdLst>
              <a:ahLst/>
              <a:cxnLst>
                <a:cxn ang="0">
                  <a:pos x="connsiteX0" y="connsiteY0"/>
                </a:cxn>
                <a:cxn ang="0">
                  <a:pos x="connsiteX1" y="connsiteY1"/>
                </a:cxn>
                <a:cxn ang="0">
                  <a:pos x="connsiteX2" y="connsiteY2"/>
                </a:cxn>
              </a:cxnLst>
              <a:rect l="l" t="t" r="r" b="b"/>
              <a:pathLst>
                <a:path>
                  <a:moveTo>
                    <a:pt x="0" y="953"/>
                  </a:moveTo>
                  <a:cubicBezTo>
                    <a:pt x="0" y="953"/>
                    <a:pt x="953" y="0"/>
                    <a:pt x="953" y="0"/>
                  </a:cubicBezTo>
                  <a:cubicBezTo>
                    <a:pt x="953" y="0"/>
                    <a:pt x="953" y="953"/>
                    <a:pt x="0" y="953"/>
                  </a:cubicBezTo>
                  <a:close/>
                </a:path>
              </a:pathLst>
            </a:custGeom>
            <a:solidFill>
              <a:schemeClr val="tx1"/>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imes New Roman"/>
                <a:ea typeface="微软雅黑"/>
                <a:sym typeface="Times New Roman"/>
              </a:endParaRPr>
            </a:p>
          </p:txBody>
        </p:sp>
        <p:sp>
          <p:nvSpPr>
            <p:cNvPr id="31" name="Freeform: Shape 99">
              <a:extLst>
                <a:ext uri="{FF2B5EF4-FFF2-40B4-BE49-F238E27FC236}">
                  <a16:creationId xmlns:a16="http://schemas.microsoft.com/office/drawing/2014/main" id="{1C40A98E-023F-DE8F-A246-2243BC0EC53B}"/>
                </a:ext>
              </a:extLst>
            </p:cNvPr>
            <p:cNvSpPr/>
            <p:nvPr/>
          </p:nvSpPr>
          <p:spPr>
            <a:xfrm>
              <a:off x="8973099" y="5295708"/>
              <a:ext cx="405" cy="405"/>
            </a:xfrm>
            <a:custGeom>
              <a:avLst/>
              <a:gdLst>
                <a:gd name="connsiteX0" fmla="*/ 0 w 0"/>
                <a:gd name="connsiteY0" fmla="*/ 714 h 0"/>
                <a:gd name="connsiteX1" fmla="*/ 0 w 0"/>
                <a:gd name="connsiteY1" fmla="*/ 714 h 0"/>
                <a:gd name="connsiteX2" fmla="*/ 0 w 0"/>
                <a:gd name="connsiteY2" fmla="*/ 714 h 0"/>
              </a:gdLst>
              <a:ahLst/>
              <a:cxnLst>
                <a:cxn ang="0">
                  <a:pos x="connsiteX0" y="connsiteY0"/>
                </a:cxn>
                <a:cxn ang="0">
                  <a:pos x="connsiteX1" y="connsiteY1"/>
                </a:cxn>
                <a:cxn ang="0">
                  <a:pos x="connsiteX2" y="connsiteY2"/>
                </a:cxn>
              </a:cxnLst>
              <a:rect l="l" t="t" r="r" b="b"/>
              <a:pathLst>
                <a:path>
                  <a:moveTo>
                    <a:pt x="0" y="714"/>
                  </a:moveTo>
                  <a:cubicBezTo>
                    <a:pt x="953" y="-238"/>
                    <a:pt x="953" y="-238"/>
                    <a:pt x="0" y="714"/>
                  </a:cubicBezTo>
                  <a:lnTo>
                    <a:pt x="0" y="714"/>
                  </a:lnTo>
                  <a:close/>
                </a:path>
              </a:pathLst>
            </a:custGeom>
            <a:solidFill>
              <a:schemeClr val="tx1"/>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imes New Roman"/>
                <a:ea typeface="微软雅黑"/>
                <a:sym typeface="Times New Roman"/>
              </a:endParaRPr>
            </a:p>
          </p:txBody>
        </p:sp>
      </p:grpSp>
      <p:grpSp>
        <p:nvGrpSpPr>
          <p:cNvPr id="53" name="组合 52">
            <a:extLst>
              <a:ext uri="{FF2B5EF4-FFF2-40B4-BE49-F238E27FC236}">
                <a16:creationId xmlns:a16="http://schemas.microsoft.com/office/drawing/2014/main" id="{9A343BC0-E5B2-4533-85B2-35261D214A7C}"/>
              </a:ext>
            </a:extLst>
          </p:cNvPr>
          <p:cNvGrpSpPr/>
          <p:nvPr/>
        </p:nvGrpSpPr>
        <p:grpSpPr>
          <a:xfrm>
            <a:off x="7086598" y="1298096"/>
            <a:ext cx="3684142" cy="1810863"/>
            <a:chOff x="8556009" y="2822963"/>
            <a:chExt cx="3068574" cy="846110"/>
          </a:xfrm>
        </p:grpSpPr>
        <p:sp>
          <p:nvSpPr>
            <p:cNvPr id="54" name="Rectangle: Rounded Corners 26">
              <a:extLst>
                <a:ext uri="{FF2B5EF4-FFF2-40B4-BE49-F238E27FC236}">
                  <a16:creationId xmlns:a16="http://schemas.microsoft.com/office/drawing/2014/main" id="{71240CBD-6102-CDB3-32C2-3A3BFFDC0E91}"/>
                </a:ext>
              </a:extLst>
            </p:cNvPr>
            <p:cNvSpPr/>
            <p:nvPr/>
          </p:nvSpPr>
          <p:spPr>
            <a:xfrm>
              <a:off x="8556009" y="2822963"/>
              <a:ext cx="3068574" cy="846110"/>
            </a:xfrm>
            <a:prstGeom prst="roundRect">
              <a:avLst>
                <a:gd name="adj" fmla="val 16667"/>
              </a:avLst>
            </a:prstGeom>
            <a:solidFill>
              <a:sysClr val="window" lastClr="FFFFFF"/>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imes New Roman"/>
                <a:ea typeface="微软雅黑"/>
                <a:sym typeface="Times New Roman"/>
              </a:endParaRPr>
            </a:p>
          </p:txBody>
        </p:sp>
        <p:grpSp>
          <p:nvGrpSpPr>
            <p:cNvPr id="56" name="Group 7">
              <a:extLst>
                <a:ext uri="{FF2B5EF4-FFF2-40B4-BE49-F238E27FC236}">
                  <a16:creationId xmlns:a16="http://schemas.microsoft.com/office/drawing/2014/main" id="{E1B76656-0C6A-94E4-B774-EDF0E2ADF539}"/>
                </a:ext>
              </a:extLst>
            </p:cNvPr>
            <p:cNvGrpSpPr/>
            <p:nvPr/>
          </p:nvGrpSpPr>
          <p:grpSpPr>
            <a:xfrm>
              <a:off x="8867565" y="2920721"/>
              <a:ext cx="2445461" cy="625555"/>
              <a:chOff x="757730" y="5356981"/>
              <a:chExt cx="2445461" cy="625555"/>
            </a:xfrm>
            <a:solidFill>
              <a:srgbClr val="FF4B3A"/>
            </a:solidFill>
          </p:grpSpPr>
          <p:sp>
            <p:nvSpPr>
              <p:cNvPr id="58" name="TextBox 37">
                <a:extLst>
                  <a:ext uri="{FF2B5EF4-FFF2-40B4-BE49-F238E27FC236}">
                    <a16:creationId xmlns:a16="http://schemas.microsoft.com/office/drawing/2014/main" id="{B1284864-D829-E7D0-D9B0-4CADFA4B2E68}"/>
                  </a:ext>
                </a:extLst>
              </p:cNvPr>
              <p:cNvSpPr txBox="1"/>
              <p:nvPr/>
            </p:nvSpPr>
            <p:spPr>
              <a:xfrm>
                <a:off x="1122152" y="5356981"/>
                <a:ext cx="1716617" cy="129425"/>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altLang="zh-CN" sz="1200" b="1" i="0" u="none" strike="noStrike" kern="0" cap="none" spc="0" normalizeH="0" baseline="0" noProof="0" dirty="0">
                    <a:ln>
                      <a:noFill/>
                    </a:ln>
                    <a:solidFill>
                      <a:prstClr val="black"/>
                    </a:solidFill>
                    <a:effectLst/>
                    <a:uLnTx/>
                    <a:uFillTx/>
                    <a:latin typeface="Times New Roman"/>
                    <a:ea typeface="微软雅黑"/>
                    <a:sym typeface="Times New Roman"/>
                  </a:rPr>
                  <a:t>Suppression of Melatonin</a:t>
                </a:r>
                <a:endParaRPr kumimoji="0" lang="zh-CN" altLang="en-US" sz="1200" b="1" i="0" u="none" strike="noStrike" kern="0" cap="none" spc="0" normalizeH="0" baseline="0" noProof="0" dirty="0">
                  <a:ln>
                    <a:noFill/>
                  </a:ln>
                  <a:solidFill>
                    <a:prstClr val="black"/>
                  </a:solidFill>
                  <a:effectLst/>
                  <a:uLnTx/>
                  <a:uFillTx/>
                  <a:latin typeface="Times New Roman"/>
                  <a:ea typeface="微软雅黑"/>
                  <a:sym typeface="Times New Roman"/>
                </a:endParaRPr>
              </a:p>
            </p:txBody>
          </p:sp>
          <p:sp>
            <p:nvSpPr>
              <p:cNvPr id="59" name="Text Placeholder 4">
                <a:extLst>
                  <a:ext uri="{FF2B5EF4-FFF2-40B4-BE49-F238E27FC236}">
                    <a16:creationId xmlns:a16="http://schemas.microsoft.com/office/drawing/2014/main" id="{E624D566-CC35-D863-EDDE-01A76DED1E4A}"/>
                  </a:ext>
                </a:extLst>
              </p:cNvPr>
              <p:cNvSpPr txBox="1">
                <a:spLocks/>
              </p:cNvSpPr>
              <p:nvPr/>
            </p:nvSpPr>
            <p:spPr>
              <a:xfrm>
                <a:off x="757730" y="5486406"/>
                <a:ext cx="2445461" cy="496130"/>
              </a:xfrm>
              <a:prstGeom prst="rect">
                <a:avLst/>
              </a:prstGeom>
              <a:solidFill>
                <a:sysClr val="window" lastClr="FFFFFF"/>
              </a:solidFill>
            </p:spPr>
            <p:txBody>
              <a:bodyPr wrap="square" anchor="ctr">
                <a:spAutoFit/>
              </a:bodyPr>
              <a:lstStyle>
                <a:lvl1pPr marL="0" indent="0" algn="ctr" defTabSz="914400" rtl="0" eaLnBrk="1" latinLnBrk="0" hangingPunct="1">
                  <a:lnSpc>
                    <a:spcPct val="90000"/>
                  </a:lnSpc>
                  <a:spcBef>
                    <a:spcPts val="1000"/>
                  </a:spcBef>
                  <a:buFont typeface="Arial" panose="020B0604020202020204" pitchFamily="34" charset="0"/>
                  <a:buNone/>
                  <a:defRPr sz="1050" kern="1200">
                    <a:solidFill>
                      <a:schemeClr val="tx1">
                        <a:lumMod val="75000"/>
                        <a:lumOff val="2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105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05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05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05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CA" altLang="zh-CN" sz="1000" b="0" i="0" u="none" strike="noStrike" kern="1200" cap="none" spc="0" normalizeH="0" baseline="0" noProof="0" dirty="0">
                    <a:ln>
                      <a:noFill/>
                    </a:ln>
                    <a:solidFill>
                      <a:srgbClr val="3B4550"/>
                    </a:solidFill>
                    <a:effectLst/>
                    <a:uLnTx/>
                    <a:uFillTx/>
                    <a:latin typeface="Times New Roman"/>
                    <a:ea typeface="微软雅黑"/>
                    <a:sym typeface="Times New Roman"/>
                  </a:rPr>
                  <a:t>A study by Chang et al. (2015) in Proceedings of the National Academy of Sciences found that reading on light-emitting devices before bedtime delays melatonin production by approximately 90 minutes compared to reading print materials. This delay in melatonin disrupts the sleep-wake cycle, leading to difficulty in falling asleep and reduced sleep quality.</a:t>
                </a:r>
                <a:endParaRPr kumimoji="0" lang="en-US" sz="1000" b="0" i="0" u="none" strike="noStrike" kern="1200" cap="none" spc="0" normalizeH="0" baseline="0" noProof="0" dirty="0">
                  <a:ln>
                    <a:noFill/>
                  </a:ln>
                  <a:solidFill>
                    <a:srgbClr val="3B4550"/>
                  </a:solidFill>
                  <a:effectLst/>
                  <a:uLnTx/>
                  <a:uFillTx/>
                  <a:latin typeface="Times New Roman"/>
                  <a:ea typeface="微软雅黑"/>
                  <a:sym typeface="Times New Roman"/>
                </a:endParaRPr>
              </a:p>
            </p:txBody>
          </p:sp>
        </p:grpSp>
      </p:grpSp>
    </p:spTree>
    <p:extLst>
      <p:ext uri="{BB962C8B-B14F-4D97-AF65-F5344CB8AC3E}">
        <p14:creationId xmlns:p14="http://schemas.microsoft.com/office/powerpoint/2010/main" val="2206519870"/>
      </p:ext>
    </p:extLst>
  </p:cSld>
  <p:clrMapOvr>
    <a:masterClrMapping/>
  </p:clrMapOvr>
  <mc:AlternateContent xmlns:mc="http://schemas.openxmlformats.org/markup-compatibility/2006" xmlns:p14="http://schemas.microsoft.com/office/powerpoint/2010/main">
    <mc:Choice Requires="p14">
      <p:transition spd="slow" p14:dur="1300" advTm="97333">
        <p14:pan/>
      </p:transition>
    </mc:Choice>
    <mc:Fallback xmlns="">
      <p:transition spd="slow" advTm="9733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 presetClass="entr" presetSubtype="8" decel="10000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1000" fill="hold"/>
                                        <p:tgtEl>
                                          <p:spTgt spid="11"/>
                                        </p:tgtEl>
                                        <p:attrNameLst>
                                          <p:attrName>ppt_x</p:attrName>
                                        </p:attrNameLst>
                                      </p:cBhvr>
                                      <p:tavLst>
                                        <p:tav tm="0">
                                          <p:val>
                                            <p:strVal val="0-#ppt_w/2"/>
                                          </p:val>
                                        </p:tav>
                                        <p:tav tm="100000">
                                          <p:val>
                                            <p:strVal val="#ppt_x"/>
                                          </p:val>
                                        </p:tav>
                                      </p:tavLst>
                                    </p:anim>
                                    <p:anim calcmode="lin" valueType="num">
                                      <p:cBhvr additive="base">
                                        <p:cTn id="11" dur="1000" fill="hold"/>
                                        <p:tgtEl>
                                          <p:spTgt spid="11"/>
                                        </p:tgtEl>
                                        <p:attrNameLst>
                                          <p:attrName>ppt_y</p:attrName>
                                        </p:attrNameLst>
                                      </p:cBhvr>
                                      <p:tavLst>
                                        <p:tav tm="0">
                                          <p:val>
                                            <p:strVal val="#ppt_y"/>
                                          </p:val>
                                        </p:tav>
                                        <p:tav tm="100000">
                                          <p:val>
                                            <p:strVal val="#ppt_y"/>
                                          </p:val>
                                        </p:tav>
                                      </p:tavLst>
                                    </p:anim>
                                  </p:childTnLst>
                                </p:cTn>
                              </p:par>
                              <p:par>
                                <p:cTn id="12" presetID="22" presetClass="entr" presetSubtype="4"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par>
                          <p:cTn id="15" fill="hold">
                            <p:stCondLst>
                              <p:cond delay="1000"/>
                            </p:stCondLst>
                            <p:childTnLst>
                              <p:par>
                                <p:cTn id="16" presetID="53" presetClass="entr" presetSubtype="16"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childTnLst>
                          </p:cTn>
                        </p:par>
                        <p:par>
                          <p:cTn id="21" fill="hold">
                            <p:stCondLst>
                              <p:cond delay="2400"/>
                            </p:stCondLst>
                            <p:childTnLst>
                              <p:par>
                                <p:cTn id="22" presetID="42" presetClass="entr" presetSubtype="0" fill="hold" nodeType="afterEffect">
                                  <p:stCondLst>
                                    <p:cond delay="0"/>
                                  </p:stCondLst>
                                  <p:iterate type="lt">
                                    <p:tmPct val="1786"/>
                                  </p:iterate>
                                  <p:childTnLst>
                                    <p:set>
                                      <p:cBhvr>
                                        <p:cTn id="23" dur="1" fill="hold">
                                          <p:stCondLst>
                                            <p:cond delay="0"/>
                                          </p:stCondLst>
                                        </p:cTn>
                                        <p:tgtEl>
                                          <p:spTgt spid="2"/>
                                        </p:tgtEl>
                                        <p:attrNameLst>
                                          <p:attrName>style.visibility</p:attrName>
                                        </p:attrNameLst>
                                      </p:cBhvr>
                                      <p:to>
                                        <p:strVal val="visible"/>
                                      </p:to>
                                    </p:set>
                                    <p:anim to="" calcmode="lin" valueType="num">
                                      <p:cBhvr>
                                        <p:cTn id="24" dur="700" fill="hold">
                                          <p:stCondLst>
                                            <p:cond delay="0"/>
                                          </p:stCondLst>
                                        </p:cTn>
                                        <p:tgtEl>
                                          <p:spTgt spid="2"/>
                                        </p:tgtEl>
                                        <p:attrNameLst>
                                          <p:attrName>ppt_y</p:attrName>
                                        </p:attrNameLst>
                                      </p:cBhvr>
                                      <p:tavLst>
                                        <p:tav tm="0" fmla="#ppt_y+(8/9)*(#ppt_y-(#ppt_y+0.1))*((1.5-1.5*$)^2-(1.5-1.5*$)^3)">
                                          <p:val>
                                            <p:strVal val="0"/>
                                          </p:val>
                                        </p:tav>
                                        <p:tav tm="100000">
                                          <p:val>
                                            <p:strVal val="1"/>
                                          </p:val>
                                        </p:tav>
                                      </p:tavLst>
                                    </p:anim>
                                    <p:anim to="" calcmode="lin" valueType="num">
                                      <p:cBhvr>
                                        <p:cTn id="25" dur="700" fill="hold">
                                          <p:stCondLst>
                                            <p:cond delay="0"/>
                                          </p:stCondLst>
                                        </p:cTn>
                                        <p:tgtEl>
                                          <p:spTgt spid="2"/>
                                        </p:tgtEl>
                                        <p:attrNameLst>
                                          <p:attrName>style.opacity</p:attrName>
                                        </p:attrNameLst>
                                      </p:cBhvr>
                                      <p:tavLst>
                                        <p:tav tm="0" fmla="1+(8/9)*(1-0)*((1.5-1.5*$)^2-(1.5-1.5*$)^3)">
                                          <p:val>
                                            <p:strVal val="0"/>
                                          </p:val>
                                        </p:tav>
                                        <p:tav tm="100000">
                                          <p:val>
                                            <p:strVal val="1"/>
                                          </p:val>
                                        </p:tav>
                                      </p:tavLst>
                                    </p:anim>
                                  </p:childTnLst>
                                </p:cTn>
                              </p:par>
                            </p:childTnLst>
                          </p:cTn>
                        </p:par>
                        <p:par>
                          <p:cTn id="26" fill="hold">
                            <p:stCondLst>
                              <p:cond delay="3100"/>
                            </p:stCondLst>
                            <p:childTnLst>
                              <p:par>
                                <p:cTn id="27" presetID="22" presetClass="entr" presetSubtype="8" fill="hold" nodeType="afterEffect">
                                  <p:stCondLst>
                                    <p:cond delay="0"/>
                                  </p:stCondLst>
                                  <p:childTnLst>
                                    <p:set>
                                      <p:cBhvr>
                                        <p:cTn id="28" dur="1" fill="hold">
                                          <p:stCondLst>
                                            <p:cond delay="0"/>
                                          </p:stCondLst>
                                        </p:cTn>
                                        <p:tgtEl>
                                          <p:spTgt spid="53"/>
                                        </p:tgtEl>
                                        <p:attrNameLst>
                                          <p:attrName>style.visibility</p:attrName>
                                        </p:attrNameLst>
                                      </p:cBhvr>
                                      <p:to>
                                        <p:strVal val="visible"/>
                                      </p:to>
                                    </p:set>
                                    <p:animEffect transition="in" filter="wipe(left)">
                                      <p:cBhvr>
                                        <p:cTn id="29" dur="500"/>
                                        <p:tgtEl>
                                          <p:spTgt spid="53"/>
                                        </p:tgtEl>
                                      </p:cBhvr>
                                    </p:animEffect>
                                  </p:childTnLst>
                                </p:cTn>
                              </p:par>
                            </p:childTnLst>
                          </p:cTn>
                        </p:par>
                        <p:par>
                          <p:cTn id="30" fill="hold">
                            <p:stCondLst>
                              <p:cond delay="3600"/>
                            </p:stCondLst>
                            <p:childTnLst>
                              <p:par>
                                <p:cTn id="31" presetID="22" presetClass="entr" presetSubtype="8" fill="hold" nodeType="after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6765ECE3-D4C3-4882-D575-B6064366391F}"/>
              </a:ext>
            </a:extLst>
          </p:cNvPr>
          <p:cNvCxnSpPr>
            <a:cxnSpLocks/>
          </p:cNvCxnSpPr>
          <p:nvPr/>
        </p:nvCxnSpPr>
        <p:spPr>
          <a:xfrm>
            <a:off x="411783" y="942554"/>
            <a:ext cx="26887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7989539-24ED-B150-EF0E-AC5BC72A3767}"/>
              </a:ext>
            </a:extLst>
          </p:cNvPr>
          <p:cNvCxnSpPr/>
          <p:nvPr/>
        </p:nvCxnSpPr>
        <p:spPr>
          <a:xfrm>
            <a:off x="720619" y="423896"/>
            <a:ext cx="0" cy="7327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753AF82A-B41E-131F-0BB5-B912A030B207}"/>
              </a:ext>
            </a:extLst>
          </p:cNvPr>
          <p:cNvSpPr txBox="1"/>
          <p:nvPr/>
        </p:nvSpPr>
        <p:spPr>
          <a:xfrm>
            <a:off x="841660" y="477903"/>
            <a:ext cx="2592860" cy="707886"/>
          </a:xfrm>
          <a:prstGeom prst="rect">
            <a:avLst/>
          </a:prstGeom>
          <a:noFill/>
        </p:spPr>
        <p:txBody>
          <a:bodyPr wrap="square" rtlCol="0">
            <a:spAutoFit/>
          </a:bodyPr>
          <a:lstStyle/>
          <a:p>
            <a:r>
              <a:rPr lang="en-CA" altLang="zh-CN" sz="2000" dirty="0">
                <a:latin typeface="Times New Roman"/>
                <a:ea typeface="微软雅黑"/>
                <a:sym typeface="Times New Roman"/>
              </a:rPr>
              <a:t>Behavioral Stimulation</a:t>
            </a:r>
          </a:p>
          <a:p>
            <a:endParaRPr lang="en-CA" altLang="zh-CN" sz="2000" dirty="0">
              <a:latin typeface="Times New Roman"/>
              <a:ea typeface="微软雅黑"/>
              <a:sym typeface="Times New Roman"/>
            </a:endParaRPr>
          </a:p>
        </p:txBody>
      </p:sp>
      <p:sp>
        <p:nvSpPr>
          <p:cNvPr id="11" name="矩形 10"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CF708AE9-8C15-45C9-4727-05BED44FAA42}"/>
              </a:ext>
            </a:extLst>
          </p:cNvPr>
          <p:cNvSpPr/>
          <p:nvPr/>
        </p:nvSpPr>
        <p:spPr>
          <a:xfrm>
            <a:off x="2684512" y="883714"/>
            <a:ext cx="117680" cy="117680"/>
          </a:xfrm>
          <a:prstGeom prst="rect">
            <a:avLst/>
          </a:prstGeom>
          <a:solidFill>
            <a:schemeClr val="tx1"/>
          </a:solidFill>
          <a:ln w="19050">
            <a:solidFill>
              <a:srgbClr val="113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13556"/>
              </a:solidFill>
              <a:latin typeface="Times New Roman"/>
              <a:ea typeface="微软雅黑"/>
              <a:cs typeface="+mn-ea"/>
              <a:sym typeface="Times New Roman"/>
            </a:endParaRPr>
          </a:p>
        </p:txBody>
      </p:sp>
      <p:grpSp>
        <p:nvGrpSpPr>
          <p:cNvPr id="2" name="组合 1">
            <a:extLst>
              <a:ext uri="{FF2B5EF4-FFF2-40B4-BE49-F238E27FC236}">
                <a16:creationId xmlns:a16="http://schemas.microsoft.com/office/drawing/2014/main" id="{A603F91B-DBB5-331D-3A95-0B3D1E8ED98E}"/>
              </a:ext>
            </a:extLst>
          </p:cNvPr>
          <p:cNvGrpSpPr/>
          <p:nvPr/>
        </p:nvGrpSpPr>
        <p:grpSpPr>
          <a:xfrm>
            <a:off x="7130758" y="1757914"/>
            <a:ext cx="4214433" cy="3171421"/>
            <a:chOff x="7550582" y="1957586"/>
            <a:chExt cx="3341933" cy="2514853"/>
          </a:xfrm>
        </p:grpSpPr>
        <p:sp>
          <p:nvSpPr>
            <p:cNvPr id="3" name="Google Shape;3216;p63">
              <a:extLst>
                <a:ext uri="{FF2B5EF4-FFF2-40B4-BE49-F238E27FC236}">
                  <a16:creationId xmlns:a16="http://schemas.microsoft.com/office/drawing/2014/main" id="{F667694A-3B4E-52EE-AAD8-72718AF07375}"/>
                </a:ext>
              </a:extLst>
            </p:cNvPr>
            <p:cNvSpPr/>
            <p:nvPr/>
          </p:nvSpPr>
          <p:spPr>
            <a:xfrm>
              <a:off x="7637505" y="2158534"/>
              <a:ext cx="3130021" cy="2047284"/>
            </a:xfrm>
            <a:prstGeom prst="roundRect">
              <a:avLst>
                <a:gd name="adj" fmla="val 16667"/>
              </a:avLst>
            </a:prstGeom>
            <a:noFill/>
            <a:ln>
              <a:solidFill>
                <a:schemeClr val="tx1"/>
              </a:solid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a:ea typeface="微软雅黑"/>
                <a:cs typeface="Arial"/>
                <a:sym typeface="Times New Roman"/>
              </a:endParaRPr>
            </a:p>
          </p:txBody>
        </p:sp>
        <p:sp>
          <p:nvSpPr>
            <p:cNvPr id="4" name="Google Shape;3217;p63">
              <a:extLst>
                <a:ext uri="{FF2B5EF4-FFF2-40B4-BE49-F238E27FC236}">
                  <a16:creationId xmlns:a16="http://schemas.microsoft.com/office/drawing/2014/main" id="{5EA456E8-7CE6-20B5-DAD0-E9FCF20B5CC1}"/>
                </a:ext>
              </a:extLst>
            </p:cNvPr>
            <p:cNvSpPr/>
            <p:nvPr/>
          </p:nvSpPr>
          <p:spPr>
            <a:xfrm>
              <a:off x="7550582" y="1957586"/>
              <a:ext cx="3341933" cy="2514853"/>
            </a:xfrm>
            <a:prstGeom prst="roundRect">
              <a:avLst>
                <a:gd name="adj" fmla="val 16667"/>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Times New Roman"/>
                <a:ea typeface="微软雅黑"/>
                <a:cs typeface="Arial"/>
                <a:sym typeface="Times New Roman"/>
              </a:endParaRPr>
            </a:p>
          </p:txBody>
        </p:sp>
        <p:pic>
          <p:nvPicPr>
            <p:cNvPr id="9" name="Google Shape;3220;p63">
              <a:extLst>
                <a:ext uri="{FF2B5EF4-FFF2-40B4-BE49-F238E27FC236}">
                  <a16:creationId xmlns:a16="http://schemas.microsoft.com/office/drawing/2014/main" id="{8F055010-BB09-0DB9-E7C5-624BA077743A}"/>
                </a:ext>
              </a:extLst>
            </p:cNvPr>
            <p:cNvPicPr preferRelativeResize="0"/>
            <p:nvPr/>
          </p:nvPicPr>
          <p:blipFill>
            <a:blip r:embed="rId3">
              <a:extLst>
                <a:ext uri="{28A0092B-C50C-407E-A947-70E740481C1C}">
                  <a14:useLocalDpi xmlns:a14="http://schemas.microsoft.com/office/drawing/2010/main" val="0"/>
                </a:ext>
              </a:extLst>
            </a:blip>
            <a:srcRect/>
            <a:stretch/>
          </p:blipFill>
          <p:spPr>
            <a:xfrm>
              <a:off x="7965387" y="2512171"/>
              <a:ext cx="2562441" cy="1405682"/>
            </a:xfrm>
            <a:prstGeom prst="rect">
              <a:avLst/>
            </a:prstGeom>
            <a:noFill/>
            <a:ln>
              <a:solidFill>
                <a:schemeClr val="tx1"/>
              </a:solidFill>
            </a:ln>
          </p:spPr>
        </p:pic>
      </p:grpSp>
      <p:grpSp>
        <p:nvGrpSpPr>
          <p:cNvPr id="10" name="组合 9" descr="e7d195523061f1c0f997f84450ea0ef7fb9e7fdde1a1cab961DFB7BEA434369E82AE11772130FB8683DD8BB219E1221882A8D7384A571BE3E1C45B0F3D197DA841CBDA507AB26D7BA49AFA18F78133BD0D67D24C7E2B7F730165A3522768939F90C852F289470A9AAF571006ED20D2C884DEAB695D8C2CA6D33AC633AF564284A6FAD7C89D535A7F">
            <a:extLst>
              <a:ext uri="{FF2B5EF4-FFF2-40B4-BE49-F238E27FC236}">
                <a16:creationId xmlns:a16="http://schemas.microsoft.com/office/drawing/2014/main" id="{D1DE401A-9207-E43D-C417-FE1DE7218131}"/>
              </a:ext>
            </a:extLst>
          </p:cNvPr>
          <p:cNvGrpSpPr/>
          <p:nvPr/>
        </p:nvGrpSpPr>
        <p:grpSpPr>
          <a:xfrm>
            <a:off x="602763" y="1520050"/>
            <a:ext cx="5279011" cy="526716"/>
            <a:chOff x="-957480" y="2316533"/>
            <a:chExt cx="5279011" cy="596317"/>
          </a:xfrm>
        </p:grpSpPr>
        <p:sp>
          <p:nvSpPr>
            <p:cNvPr id="12" name="圆角矩形 3">
              <a:extLst>
                <a:ext uri="{FF2B5EF4-FFF2-40B4-BE49-F238E27FC236}">
                  <a16:creationId xmlns:a16="http://schemas.microsoft.com/office/drawing/2014/main" id="{27C1AB2A-7905-437A-69D2-4F7FF1B97364}"/>
                </a:ext>
              </a:extLst>
            </p:cNvPr>
            <p:cNvSpPr/>
            <p:nvPr/>
          </p:nvSpPr>
          <p:spPr>
            <a:xfrm rot="5400000">
              <a:off x="1383867" y="-24813"/>
              <a:ext cx="596317" cy="5279010"/>
            </a:xfrm>
            <a:prstGeom prst="roundRect">
              <a:avLst>
                <a:gd name="adj" fmla="val 43694"/>
              </a:avLst>
            </a:prstGeom>
            <a:noFill/>
            <a:ln w="19050" cap="flat" cmpd="sng" algn="ctr">
              <a:solidFill>
                <a:srgbClr val="3E3E3E"/>
              </a:solidFill>
              <a:prstDash val="solid"/>
              <a:miter lim="800000"/>
            </a:ln>
            <a:effectLst>
              <a:outerShdw blurRad="635000" dist="50800" dir="5400000" algn="ctr" rotWithShape="0">
                <a:srgbClr val="000000">
                  <a:alpha val="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chemeClr val="tx1">
                    <a:lumMod val="75000"/>
                    <a:lumOff val="25000"/>
                  </a:schemeClr>
                </a:solidFill>
                <a:effectLst/>
                <a:uLnTx/>
                <a:uFillTx/>
                <a:latin typeface="Times New Roman"/>
                <a:ea typeface="微软雅黑"/>
                <a:sym typeface="Times New Roman"/>
              </a:endParaRPr>
            </a:p>
          </p:txBody>
        </p:sp>
        <p:sp>
          <p:nvSpPr>
            <p:cNvPr id="13" name="矩形 12">
              <a:extLst>
                <a:ext uri="{FF2B5EF4-FFF2-40B4-BE49-F238E27FC236}">
                  <a16:creationId xmlns:a16="http://schemas.microsoft.com/office/drawing/2014/main" id="{BD13C491-26F1-FCAA-A49C-5F0AC0203BA6}"/>
                </a:ext>
              </a:extLst>
            </p:cNvPr>
            <p:cNvSpPr/>
            <p:nvPr/>
          </p:nvSpPr>
          <p:spPr>
            <a:xfrm>
              <a:off x="-957480" y="2389703"/>
              <a:ext cx="5279010" cy="452981"/>
            </a:xfrm>
            <a:prstGeom prst="rect">
              <a:avLst/>
            </a:prstGeom>
          </p:spPr>
          <p:txBody>
            <a:bodyPr wrap="none">
              <a:spAutoFit/>
            </a:bodyPr>
            <a:lstStyle/>
            <a:p>
              <a:pPr marL="0" marR="0" lvl="0" indent="0" algn="ctr" defTabSz="914400" eaLnBrk="1" fontAlgn="auto" latinLnBrk="0" hangingPunct="1">
                <a:spcBef>
                  <a:spcPts val="0"/>
                </a:spcBef>
                <a:spcAft>
                  <a:spcPts val="0"/>
                </a:spcAft>
                <a:buClrTx/>
                <a:buSzTx/>
                <a:buFontTx/>
                <a:buNone/>
                <a:tabLst/>
                <a:defRPr/>
              </a:pPr>
              <a:r>
                <a:rPr kumimoji="0" lang="en-CA" altLang="zh-CN" sz="2000" b="1" i="0" u="none" strike="noStrike" kern="0" cap="none" spc="0" normalizeH="0" baseline="0" noProof="0" dirty="0">
                  <a:ln>
                    <a:noFill/>
                  </a:ln>
                  <a:solidFill>
                    <a:schemeClr val="tx1">
                      <a:lumMod val="75000"/>
                      <a:lumOff val="25000"/>
                    </a:schemeClr>
                  </a:solidFill>
                  <a:effectLst/>
                  <a:uLnTx/>
                  <a:uFillTx/>
                  <a:latin typeface="Times New Roman"/>
                  <a:ea typeface="微软雅黑"/>
                  <a:sym typeface="Times New Roman"/>
                </a:rPr>
                <a:t>Increased Alertness and Cognitive Stimulation</a:t>
              </a:r>
              <a:endParaRPr kumimoji="0" lang="en-US" altLang="zh-CN" sz="2000" b="1" i="0" u="none" strike="noStrike" kern="0" cap="none" spc="0" normalizeH="0" baseline="0" noProof="0" dirty="0">
                <a:ln>
                  <a:noFill/>
                </a:ln>
                <a:solidFill>
                  <a:schemeClr val="tx1">
                    <a:lumMod val="75000"/>
                    <a:lumOff val="25000"/>
                  </a:schemeClr>
                </a:solidFill>
                <a:effectLst/>
                <a:uLnTx/>
                <a:uFillTx/>
                <a:latin typeface="Times New Roman"/>
                <a:ea typeface="微软雅黑"/>
                <a:sym typeface="Times New Roman"/>
              </a:endParaRPr>
            </a:p>
          </p:txBody>
        </p:sp>
      </p:grpSp>
      <p:sp>
        <p:nvSpPr>
          <p:cNvPr id="15" name="Text Placeholder 32">
            <a:extLst>
              <a:ext uri="{FF2B5EF4-FFF2-40B4-BE49-F238E27FC236}">
                <a16:creationId xmlns:a16="http://schemas.microsoft.com/office/drawing/2014/main" id="{4838CBCB-64DF-8596-D007-53D4F8208155}"/>
              </a:ext>
            </a:extLst>
          </p:cNvPr>
          <p:cNvSpPr txBox="1">
            <a:spLocks/>
          </p:cNvSpPr>
          <p:nvPr/>
        </p:nvSpPr>
        <p:spPr>
          <a:xfrm>
            <a:off x="628137" y="2210559"/>
            <a:ext cx="5133136" cy="930768"/>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defTabSz="685783">
              <a:lnSpc>
                <a:spcPct val="150000"/>
              </a:lnSpc>
              <a:spcBef>
                <a:spcPts val="751"/>
              </a:spcBef>
              <a:buNone/>
            </a:pPr>
            <a:r>
              <a:rPr lang="en-CA" altLang="zh-CN" sz="1400" dirty="0">
                <a:solidFill>
                  <a:schemeClr val="bg1">
                    <a:lumMod val="50000"/>
                  </a:schemeClr>
                </a:solidFill>
                <a:latin typeface="Times New Roman"/>
                <a:ea typeface="微软雅黑"/>
                <a:sym typeface="Times New Roman"/>
              </a:rPr>
              <a:t>The use of screens before bedtime, particularly engaging in activities such as gaming, social media, or watching videos, can lead to heightened cognitive and emotional stimulation. </a:t>
            </a:r>
            <a:endParaRPr lang="en-US" altLang="zh-CN" sz="1400" dirty="0">
              <a:solidFill>
                <a:schemeClr val="bg1">
                  <a:lumMod val="50000"/>
                </a:schemeClr>
              </a:solidFill>
              <a:latin typeface="Times New Roman"/>
              <a:ea typeface="微软雅黑"/>
              <a:sym typeface="Times New Roman"/>
            </a:endParaRPr>
          </a:p>
        </p:txBody>
      </p:sp>
      <p:grpSp>
        <p:nvGrpSpPr>
          <p:cNvPr id="17" name="组合 16">
            <a:extLst>
              <a:ext uri="{FF2B5EF4-FFF2-40B4-BE49-F238E27FC236}">
                <a16:creationId xmlns:a16="http://schemas.microsoft.com/office/drawing/2014/main" id="{C35ABFC2-6E39-AEDC-C4B2-A95EBD30EF5A}"/>
              </a:ext>
            </a:extLst>
          </p:cNvPr>
          <p:cNvGrpSpPr/>
          <p:nvPr/>
        </p:nvGrpSpPr>
        <p:grpSpPr>
          <a:xfrm>
            <a:off x="602763" y="3558988"/>
            <a:ext cx="5279011" cy="526718"/>
            <a:chOff x="679281" y="2316533"/>
            <a:chExt cx="5279011" cy="596319"/>
          </a:xfrm>
        </p:grpSpPr>
        <p:sp>
          <p:nvSpPr>
            <p:cNvPr id="18" name="圆角矩形 32">
              <a:extLst>
                <a:ext uri="{FF2B5EF4-FFF2-40B4-BE49-F238E27FC236}">
                  <a16:creationId xmlns:a16="http://schemas.microsoft.com/office/drawing/2014/main" id="{652B9B20-A984-AC9F-0E61-AE1A7BA456F8}"/>
                </a:ext>
              </a:extLst>
            </p:cNvPr>
            <p:cNvSpPr/>
            <p:nvPr/>
          </p:nvSpPr>
          <p:spPr>
            <a:xfrm rot="5400000">
              <a:off x="3033314" y="-12125"/>
              <a:ext cx="596319" cy="5253636"/>
            </a:xfrm>
            <a:prstGeom prst="roundRect">
              <a:avLst>
                <a:gd name="adj" fmla="val 43694"/>
              </a:avLst>
            </a:prstGeom>
            <a:noFill/>
            <a:ln w="19050" cap="flat" cmpd="sng" algn="ctr">
              <a:solidFill>
                <a:srgbClr val="3E3E3E"/>
              </a:solidFill>
              <a:prstDash val="solid"/>
              <a:miter lim="800000"/>
            </a:ln>
            <a:effectLst>
              <a:outerShdw blurRad="635000" dist="50800" dir="5400000" algn="ctr" rotWithShape="0">
                <a:srgbClr val="000000">
                  <a:alpha val="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chemeClr val="tx1">
                    <a:lumMod val="75000"/>
                    <a:lumOff val="25000"/>
                  </a:schemeClr>
                </a:solidFill>
                <a:effectLst/>
                <a:uLnTx/>
                <a:uFillTx/>
                <a:latin typeface="Times New Roman"/>
                <a:ea typeface="微软雅黑"/>
                <a:sym typeface="Times New Roman"/>
              </a:endParaRPr>
            </a:p>
          </p:txBody>
        </p:sp>
        <p:sp>
          <p:nvSpPr>
            <p:cNvPr id="19" name="矩形 18">
              <a:extLst>
                <a:ext uri="{FF2B5EF4-FFF2-40B4-BE49-F238E27FC236}">
                  <a16:creationId xmlns:a16="http://schemas.microsoft.com/office/drawing/2014/main" id="{1C8DB5FE-BFA4-29A1-AFB2-89A336543866}"/>
                </a:ext>
              </a:extLst>
            </p:cNvPr>
            <p:cNvSpPr/>
            <p:nvPr/>
          </p:nvSpPr>
          <p:spPr>
            <a:xfrm>
              <a:off x="679281" y="2388201"/>
              <a:ext cx="5133136" cy="452981"/>
            </a:xfrm>
            <a:prstGeom prst="rect">
              <a:avLst/>
            </a:prstGeom>
          </p:spPr>
          <p:txBody>
            <a:bodyPr wrap="none">
              <a:spAutoFit/>
            </a:bodyPr>
            <a:lstStyle/>
            <a:p>
              <a:pPr marL="0" marR="0" lvl="0" indent="0" algn="ctr" defTabSz="914400" eaLnBrk="1" fontAlgn="auto" latinLnBrk="0" hangingPunct="1">
                <a:spcBef>
                  <a:spcPts val="0"/>
                </a:spcBef>
                <a:spcAft>
                  <a:spcPts val="0"/>
                </a:spcAft>
                <a:buClrTx/>
                <a:buSzTx/>
                <a:buFontTx/>
                <a:buNone/>
                <a:tabLst/>
                <a:defRPr/>
              </a:pPr>
              <a:r>
                <a:rPr kumimoji="0" lang="en-CA" altLang="zh-CN" sz="2000" b="1" i="0" u="none" strike="noStrike" kern="0" cap="none" spc="0" normalizeH="0" baseline="0" noProof="0" dirty="0">
                  <a:ln>
                    <a:noFill/>
                  </a:ln>
                  <a:solidFill>
                    <a:schemeClr val="tx1">
                      <a:lumMod val="75000"/>
                      <a:lumOff val="25000"/>
                    </a:schemeClr>
                  </a:solidFill>
                  <a:effectLst/>
                  <a:uLnTx/>
                  <a:uFillTx/>
                  <a:latin typeface="Times New Roman"/>
                  <a:ea typeface="微软雅黑"/>
                  <a:sym typeface="Times New Roman"/>
                </a:rPr>
                <a:t> Addictive Engagement and Delayed Bedtime</a:t>
              </a:r>
              <a:endParaRPr kumimoji="0" lang="en-US" altLang="zh-CN" sz="2000" b="1" i="0" u="none" strike="noStrike" kern="0" cap="none" spc="0" normalizeH="0" baseline="0" noProof="0" dirty="0">
                <a:ln>
                  <a:noFill/>
                </a:ln>
                <a:solidFill>
                  <a:schemeClr val="tx1">
                    <a:lumMod val="75000"/>
                    <a:lumOff val="25000"/>
                  </a:schemeClr>
                </a:solidFill>
                <a:effectLst/>
                <a:uLnTx/>
                <a:uFillTx/>
                <a:latin typeface="Times New Roman"/>
                <a:ea typeface="微软雅黑"/>
                <a:sym typeface="Times New Roman"/>
              </a:endParaRPr>
            </a:p>
          </p:txBody>
        </p:sp>
      </p:grpSp>
      <p:sp>
        <p:nvSpPr>
          <p:cNvPr id="21" name="Text Placeholder 32">
            <a:extLst>
              <a:ext uri="{FF2B5EF4-FFF2-40B4-BE49-F238E27FC236}">
                <a16:creationId xmlns:a16="http://schemas.microsoft.com/office/drawing/2014/main" id="{10B1378E-40B5-66F5-B991-0C83C4E5F15E}"/>
              </a:ext>
            </a:extLst>
          </p:cNvPr>
          <p:cNvSpPr txBox="1">
            <a:spLocks/>
          </p:cNvSpPr>
          <p:nvPr/>
        </p:nvSpPr>
        <p:spPr>
          <a:xfrm>
            <a:off x="628136" y="4421503"/>
            <a:ext cx="5253635" cy="607602"/>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defTabSz="685783">
              <a:lnSpc>
                <a:spcPct val="150000"/>
              </a:lnSpc>
              <a:spcBef>
                <a:spcPts val="751"/>
              </a:spcBef>
              <a:buNone/>
            </a:pPr>
            <a:r>
              <a:rPr lang="en-CA" altLang="zh-CN" sz="1400" dirty="0">
                <a:solidFill>
                  <a:schemeClr val="bg1">
                    <a:lumMod val="50000"/>
                  </a:schemeClr>
                </a:solidFill>
                <a:latin typeface="Times New Roman"/>
                <a:ea typeface="微软雅黑"/>
                <a:sym typeface="Times New Roman"/>
              </a:rPr>
              <a:t>Screens often provide highly engaging content that triggers reward systems in the brain, such as dopamine release. </a:t>
            </a:r>
            <a:endParaRPr lang="en-US" altLang="zh-CN" sz="1400" dirty="0">
              <a:solidFill>
                <a:schemeClr val="bg1">
                  <a:lumMod val="50000"/>
                </a:schemeClr>
              </a:solidFill>
              <a:latin typeface="Times New Roman"/>
              <a:ea typeface="微软雅黑"/>
              <a:sym typeface="Times New Roman"/>
            </a:endParaRPr>
          </a:p>
        </p:txBody>
      </p:sp>
    </p:spTree>
    <p:extLst>
      <p:ext uri="{BB962C8B-B14F-4D97-AF65-F5344CB8AC3E}">
        <p14:creationId xmlns:p14="http://schemas.microsoft.com/office/powerpoint/2010/main" val="1786170527"/>
      </p:ext>
    </p:extLst>
  </p:cSld>
  <p:clrMapOvr>
    <a:masterClrMapping/>
  </p:clrMapOvr>
  <mc:AlternateContent xmlns:mc="http://schemas.openxmlformats.org/markup-compatibility/2006" xmlns:p14="http://schemas.microsoft.com/office/powerpoint/2010/main">
    <mc:Choice Requires="p14">
      <p:transition spd="slow" p14:dur="1300" advTm="93553">
        <p14:pan/>
      </p:transition>
    </mc:Choice>
    <mc:Fallback xmlns="">
      <p:transition spd="slow" advTm="9355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 presetClass="entr" presetSubtype="8" decel="10000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1000" fill="hold"/>
                                        <p:tgtEl>
                                          <p:spTgt spid="11"/>
                                        </p:tgtEl>
                                        <p:attrNameLst>
                                          <p:attrName>ppt_x</p:attrName>
                                        </p:attrNameLst>
                                      </p:cBhvr>
                                      <p:tavLst>
                                        <p:tav tm="0">
                                          <p:val>
                                            <p:strVal val="0-#ppt_w/2"/>
                                          </p:val>
                                        </p:tav>
                                        <p:tav tm="100000">
                                          <p:val>
                                            <p:strVal val="#ppt_x"/>
                                          </p:val>
                                        </p:tav>
                                      </p:tavLst>
                                    </p:anim>
                                    <p:anim calcmode="lin" valueType="num">
                                      <p:cBhvr additive="base">
                                        <p:cTn id="11" dur="1000" fill="hold"/>
                                        <p:tgtEl>
                                          <p:spTgt spid="11"/>
                                        </p:tgtEl>
                                        <p:attrNameLst>
                                          <p:attrName>ppt_y</p:attrName>
                                        </p:attrNameLst>
                                      </p:cBhvr>
                                      <p:tavLst>
                                        <p:tav tm="0">
                                          <p:val>
                                            <p:strVal val="#ppt_y"/>
                                          </p:val>
                                        </p:tav>
                                        <p:tav tm="100000">
                                          <p:val>
                                            <p:strVal val="#ppt_y"/>
                                          </p:val>
                                        </p:tav>
                                      </p:tavLst>
                                    </p:anim>
                                  </p:childTnLst>
                                </p:cTn>
                              </p:par>
                              <p:par>
                                <p:cTn id="12" presetID="22" presetClass="entr" presetSubtype="4"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par>
                          <p:cTn id="15" fill="hold">
                            <p:stCondLst>
                              <p:cond delay="1000"/>
                            </p:stCondLst>
                            <p:childTnLst>
                              <p:par>
                                <p:cTn id="16" presetID="53" presetClass="entr" presetSubtype="16"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childTnLst>
                          </p:cTn>
                        </p:par>
                        <p:par>
                          <p:cTn id="21" fill="hold">
                            <p:stCondLst>
                              <p:cond delay="2500"/>
                            </p:stCondLst>
                            <p:childTnLst>
                              <p:par>
                                <p:cTn id="22" presetID="42" presetClass="entr" presetSubtype="0" fill="hold" nodeType="afterEffect">
                                  <p:stCondLst>
                                    <p:cond delay="0"/>
                                  </p:stCondLst>
                                  <p:iterate type="lt">
                                    <p:tmPct val="1786"/>
                                  </p:iterate>
                                  <p:childTnLst>
                                    <p:set>
                                      <p:cBhvr>
                                        <p:cTn id="23" dur="1" fill="hold">
                                          <p:stCondLst>
                                            <p:cond delay="0"/>
                                          </p:stCondLst>
                                        </p:cTn>
                                        <p:tgtEl>
                                          <p:spTgt spid="2"/>
                                        </p:tgtEl>
                                        <p:attrNameLst>
                                          <p:attrName>style.visibility</p:attrName>
                                        </p:attrNameLst>
                                      </p:cBhvr>
                                      <p:to>
                                        <p:strVal val="visible"/>
                                      </p:to>
                                    </p:set>
                                    <p:anim to="" calcmode="lin" valueType="num">
                                      <p:cBhvr>
                                        <p:cTn id="24" dur="700" fill="hold">
                                          <p:stCondLst>
                                            <p:cond delay="0"/>
                                          </p:stCondLst>
                                        </p:cTn>
                                        <p:tgtEl>
                                          <p:spTgt spid="2"/>
                                        </p:tgtEl>
                                        <p:attrNameLst>
                                          <p:attrName>ppt_y</p:attrName>
                                        </p:attrNameLst>
                                      </p:cBhvr>
                                      <p:tavLst>
                                        <p:tav tm="0" fmla="#ppt_y+(8/9)*(#ppt_y-(#ppt_y+0.1))*((1.5-1.5*$)^2-(1.5-1.5*$)^3)">
                                          <p:val>
                                            <p:strVal val="0"/>
                                          </p:val>
                                        </p:tav>
                                        <p:tav tm="100000">
                                          <p:val>
                                            <p:strVal val="1"/>
                                          </p:val>
                                        </p:tav>
                                      </p:tavLst>
                                    </p:anim>
                                    <p:anim to="" calcmode="lin" valueType="num">
                                      <p:cBhvr>
                                        <p:cTn id="25" dur="700" fill="hold">
                                          <p:stCondLst>
                                            <p:cond delay="0"/>
                                          </p:stCondLst>
                                        </p:cTn>
                                        <p:tgtEl>
                                          <p:spTgt spid="2"/>
                                        </p:tgtEl>
                                        <p:attrNameLst>
                                          <p:attrName>style.opacity</p:attrName>
                                        </p:attrNameLst>
                                      </p:cBhvr>
                                      <p:tavLst>
                                        <p:tav tm="0" fmla="1+(8/9)*(1-0)*((1.5-1.5*$)^2-(1.5-1.5*$)^3)">
                                          <p:val>
                                            <p:strVal val="0"/>
                                          </p:val>
                                        </p:tav>
                                        <p:tav tm="100000">
                                          <p:val>
                                            <p:strVal val="1"/>
                                          </p:val>
                                        </p:tav>
                                      </p:tavLst>
                                    </p:anim>
                                  </p:childTnLst>
                                </p:cTn>
                              </p:par>
                            </p:childTnLst>
                          </p:cTn>
                        </p:par>
                        <p:par>
                          <p:cTn id="26" fill="hold">
                            <p:stCondLst>
                              <p:cond delay="3200"/>
                            </p:stCondLst>
                            <p:childTnLst>
                              <p:par>
                                <p:cTn id="27" presetID="42" presetClass="entr" presetSubtype="0" fill="hold" nodeType="afterEffect">
                                  <p:stCondLst>
                                    <p:cond delay="0"/>
                                  </p:stCondLst>
                                  <p:iterate type="lt">
                                    <p:tmPct val="1786"/>
                                  </p:iterate>
                                  <p:childTnLst>
                                    <p:set>
                                      <p:cBhvr>
                                        <p:cTn id="28" dur="1" fill="hold">
                                          <p:stCondLst>
                                            <p:cond delay="0"/>
                                          </p:stCondLst>
                                        </p:cTn>
                                        <p:tgtEl>
                                          <p:spTgt spid="10"/>
                                        </p:tgtEl>
                                        <p:attrNameLst>
                                          <p:attrName>style.visibility</p:attrName>
                                        </p:attrNameLst>
                                      </p:cBhvr>
                                      <p:to>
                                        <p:strVal val="visible"/>
                                      </p:to>
                                    </p:set>
                                    <p:anim to="" calcmode="lin" valueType="num">
                                      <p:cBhvr>
                                        <p:cTn id="29" dur="700" fill="hold">
                                          <p:stCondLst>
                                            <p:cond delay="0"/>
                                          </p:stCondLst>
                                        </p:cTn>
                                        <p:tgtEl>
                                          <p:spTgt spid="10"/>
                                        </p:tgtEl>
                                        <p:attrNameLst>
                                          <p:attrName>ppt_y</p:attrName>
                                        </p:attrNameLst>
                                      </p:cBhvr>
                                      <p:tavLst>
                                        <p:tav tm="0" fmla="#ppt_y+(8/9)*(#ppt_y-(#ppt_y+0.1))*((1.5-1.5*$)^2-(1.5-1.5*$)^3)">
                                          <p:val>
                                            <p:strVal val="0"/>
                                          </p:val>
                                        </p:tav>
                                        <p:tav tm="100000">
                                          <p:val>
                                            <p:strVal val="1"/>
                                          </p:val>
                                        </p:tav>
                                      </p:tavLst>
                                    </p:anim>
                                    <p:anim to="" calcmode="lin" valueType="num">
                                      <p:cBhvr>
                                        <p:cTn id="30" dur="700" fill="hold">
                                          <p:stCondLst>
                                            <p:cond delay="0"/>
                                          </p:stCondLst>
                                        </p:cTn>
                                        <p:tgtEl>
                                          <p:spTgt spid="10"/>
                                        </p:tgtEl>
                                        <p:attrNameLst>
                                          <p:attrName>style.opacity</p:attrName>
                                        </p:attrNameLst>
                                      </p:cBhvr>
                                      <p:tavLst>
                                        <p:tav tm="0" fmla="1+(8/9)*(1-0)*((1.5-1.5*$)^2-(1.5-1.5*$)^3)">
                                          <p:val>
                                            <p:strVal val="0"/>
                                          </p:val>
                                        </p:tav>
                                        <p:tav tm="100000">
                                          <p:val>
                                            <p:strVal val="1"/>
                                          </p:val>
                                        </p:tav>
                                      </p:tavLst>
                                    </p:anim>
                                  </p:childTnLst>
                                </p:cTn>
                              </p:par>
                            </p:childTnLst>
                          </p:cTn>
                        </p:par>
                        <p:par>
                          <p:cTn id="31" fill="hold">
                            <p:stCondLst>
                              <p:cond delay="3900"/>
                            </p:stCondLst>
                            <p:childTnLst>
                              <p:par>
                                <p:cTn id="32" presetID="14" presetClass="entr" presetSubtype="10" fill="hold" grpId="0" nodeType="after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randombar(horizontal)">
                                      <p:cBhvr>
                                        <p:cTn id="34" dur="500"/>
                                        <p:tgtEl>
                                          <p:spTgt spid="15"/>
                                        </p:tgtEl>
                                      </p:cBhvr>
                                    </p:animEffect>
                                  </p:childTnLst>
                                </p:cTn>
                              </p:par>
                            </p:childTnLst>
                          </p:cTn>
                        </p:par>
                        <p:par>
                          <p:cTn id="35" fill="hold">
                            <p:stCondLst>
                              <p:cond delay="4400"/>
                            </p:stCondLst>
                            <p:childTnLst>
                              <p:par>
                                <p:cTn id="36" presetID="42" presetClass="entr" presetSubtype="0" fill="hold" nodeType="afterEffect">
                                  <p:stCondLst>
                                    <p:cond delay="0"/>
                                  </p:stCondLst>
                                  <p:iterate type="lt">
                                    <p:tmPct val="1786"/>
                                  </p:iterate>
                                  <p:childTnLst>
                                    <p:set>
                                      <p:cBhvr>
                                        <p:cTn id="37" dur="1" fill="hold">
                                          <p:stCondLst>
                                            <p:cond delay="0"/>
                                          </p:stCondLst>
                                        </p:cTn>
                                        <p:tgtEl>
                                          <p:spTgt spid="17"/>
                                        </p:tgtEl>
                                        <p:attrNameLst>
                                          <p:attrName>style.visibility</p:attrName>
                                        </p:attrNameLst>
                                      </p:cBhvr>
                                      <p:to>
                                        <p:strVal val="visible"/>
                                      </p:to>
                                    </p:set>
                                    <p:anim to="" calcmode="lin" valueType="num">
                                      <p:cBhvr>
                                        <p:cTn id="38" dur="700" fill="hold">
                                          <p:stCondLst>
                                            <p:cond delay="0"/>
                                          </p:stCondLst>
                                        </p:cTn>
                                        <p:tgtEl>
                                          <p:spTgt spid="17"/>
                                        </p:tgtEl>
                                        <p:attrNameLst>
                                          <p:attrName>ppt_y</p:attrName>
                                        </p:attrNameLst>
                                      </p:cBhvr>
                                      <p:tavLst>
                                        <p:tav tm="0" fmla="#ppt_y+(8/9)*(#ppt_y-(#ppt_y+0.1))*((1.5-1.5*$)^2-(1.5-1.5*$)^3)">
                                          <p:val>
                                            <p:strVal val="0"/>
                                          </p:val>
                                        </p:tav>
                                        <p:tav tm="100000">
                                          <p:val>
                                            <p:strVal val="1"/>
                                          </p:val>
                                        </p:tav>
                                      </p:tavLst>
                                    </p:anim>
                                    <p:anim to="" calcmode="lin" valueType="num">
                                      <p:cBhvr>
                                        <p:cTn id="39" dur="700" fill="hold">
                                          <p:stCondLst>
                                            <p:cond delay="0"/>
                                          </p:stCondLst>
                                        </p:cTn>
                                        <p:tgtEl>
                                          <p:spTgt spid="17"/>
                                        </p:tgtEl>
                                        <p:attrNameLst>
                                          <p:attrName>style.opacity</p:attrName>
                                        </p:attrNameLst>
                                      </p:cBhvr>
                                      <p:tavLst>
                                        <p:tav tm="0" fmla="1+(8/9)*(1-0)*((1.5-1.5*$)^2-(1.5-1.5*$)^3)">
                                          <p:val>
                                            <p:strVal val="0"/>
                                          </p:val>
                                        </p:tav>
                                        <p:tav tm="100000">
                                          <p:val>
                                            <p:strVal val="1"/>
                                          </p:val>
                                        </p:tav>
                                      </p:tavLst>
                                    </p:anim>
                                  </p:childTnLst>
                                </p:cTn>
                              </p:par>
                            </p:childTnLst>
                          </p:cTn>
                        </p:par>
                        <p:par>
                          <p:cTn id="40" fill="hold">
                            <p:stCondLst>
                              <p:cond delay="5100"/>
                            </p:stCondLst>
                            <p:childTnLst>
                              <p:par>
                                <p:cTn id="41" presetID="14" presetClass="entr" presetSubtype="10" fill="hold" grpId="0"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randombar(horizontal)">
                                      <p:cBhvr>
                                        <p:cTn id="4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P spid="15" grpId="0"/>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6765ECE3-D4C3-4882-D575-B6064366391F}"/>
              </a:ext>
            </a:extLst>
          </p:cNvPr>
          <p:cNvCxnSpPr>
            <a:cxnSpLocks/>
          </p:cNvCxnSpPr>
          <p:nvPr/>
        </p:nvCxnSpPr>
        <p:spPr>
          <a:xfrm>
            <a:off x="411783" y="942554"/>
            <a:ext cx="26887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7989539-24ED-B150-EF0E-AC5BC72A3767}"/>
              </a:ext>
            </a:extLst>
          </p:cNvPr>
          <p:cNvCxnSpPr/>
          <p:nvPr/>
        </p:nvCxnSpPr>
        <p:spPr>
          <a:xfrm>
            <a:off x="720619" y="423896"/>
            <a:ext cx="0" cy="7327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753AF82A-B41E-131F-0BB5-B912A030B207}"/>
              </a:ext>
            </a:extLst>
          </p:cNvPr>
          <p:cNvSpPr txBox="1"/>
          <p:nvPr/>
        </p:nvSpPr>
        <p:spPr>
          <a:xfrm>
            <a:off x="841660" y="477903"/>
            <a:ext cx="4492734" cy="400110"/>
          </a:xfrm>
          <a:prstGeom prst="rect">
            <a:avLst/>
          </a:prstGeom>
          <a:noFill/>
        </p:spPr>
        <p:txBody>
          <a:bodyPr wrap="square" rtlCol="0">
            <a:spAutoFit/>
          </a:bodyPr>
          <a:lstStyle/>
          <a:p>
            <a:r>
              <a:rPr lang="en-CA" altLang="zh-CN" sz="2000" dirty="0">
                <a:latin typeface="Times New Roman"/>
                <a:ea typeface="微软雅黑"/>
                <a:sym typeface="Times New Roman"/>
              </a:rPr>
              <a:t>Specific Effects on Specific Groups</a:t>
            </a:r>
            <a:endParaRPr lang="zh-CN" altLang="en-US" sz="2000" dirty="0">
              <a:latin typeface="Times New Roman"/>
              <a:ea typeface="微软雅黑"/>
              <a:sym typeface="Times New Roman"/>
            </a:endParaRPr>
          </a:p>
        </p:txBody>
      </p:sp>
      <p:sp>
        <p:nvSpPr>
          <p:cNvPr id="11" name="矩形 10"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CF708AE9-8C15-45C9-4727-05BED44FAA42}"/>
              </a:ext>
            </a:extLst>
          </p:cNvPr>
          <p:cNvSpPr/>
          <p:nvPr/>
        </p:nvSpPr>
        <p:spPr>
          <a:xfrm>
            <a:off x="2684512" y="883714"/>
            <a:ext cx="117680" cy="117680"/>
          </a:xfrm>
          <a:prstGeom prst="rect">
            <a:avLst/>
          </a:prstGeom>
          <a:solidFill>
            <a:schemeClr val="tx1"/>
          </a:solidFill>
          <a:ln w="19050">
            <a:solidFill>
              <a:srgbClr val="113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13556"/>
              </a:solidFill>
              <a:latin typeface="Times New Roman"/>
              <a:ea typeface="微软雅黑"/>
              <a:cs typeface="+mn-ea"/>
              <a:sym typeface="Times New Roman"/>
            </a:endParaRPr>
          </a:p>
        </p:txBody>
      </p:sp>
      <p:pic>
        <p:nvPicPr>
          <p:cNvPr id="34" name="图片占位符 43">
            <a:extLst>
              <a:ext uri="{FF2B5EF4-FFF2-40B4-BE49-F238E27FC236}">
                <a16:creationId xmlns:a16="http://schemas.microsoft.com/office/drawing/2014/main" id="{4408AE9B-C535-03CB-FC55-D8FD1FEFD5C8}"/>
              </a:ext>
            </a:extLst>
          </p:cNvPr>
          <p:cNvPicPr>
            <a:picLocks noChangeAspect="1"/>
          </p:cNvPicPr>
          <p:nvPr/>
        </p:nvPicPr>
        <p:blipFill>
          <a:blip r:embed="rId3">
            <a:extLst>
              <a:ext uri="{28A0092B-C50C-407E-A947-70E740481C1C}">
                <a14:useLocalDpi xmlns:a14="http://schemas.microsoft.com/office/drawing/2010/main" val="0"/>
              </a:ext>
            </a:extLst>
          </a:blip>
          <a:srcRect l="48733" r="13267"/>
          <a:stretch/>
        </p:blipFill>
        <p:spPr>
          <a:xfrm>
            <a:off x="8986322" y="2258236"/>
            <a:ext cx="2315236" cy="4061752"/>
          </a:xfrm>
          <a:prstGeom prst="rect">
            <a:avLst/>
          </a:prstGeom>
        </p:spPr>
      </p:pic>
      <p:sp>
        <p:nvSpPr>
          <p:cNvPr id="35" name="任意多边形: 形状 34"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5663145C-1606-CBDD-F020-AC91B6BBC14B}"/>
              </a:ext>
            </a:extLst>
          </p:cNvPr>
          <p:cNvSpPr/>
          <p:nvPr/>
        </p:nvSpPr>
        <p:spPr>
          <a:xfrm rot="10800000">
            <a:off x="6680306" y="1137325"/>
            <a:ext cx="3765439" cy="4554966"/>
          </a:xfrm>
          <a:custGeom>
            <a:avLst/>
            <a:gdLst>
              <a:gd name="connsiteX0" fmla="*/ 2364105 w 2362200"/>
              <a:gd name="connsiteY0" fmla="*/ 2857500 h 2857500"/>
              <a:gd name="connsiteX1" fmla="*/ 0 w 2362200"/>
              <a:gd name="connsiteY1" fmla="*/ 2857500 h 2857500"/>
              <a:gd name="connsiteX2" fmla="*/ 0 w 2362200"/>
              <a:gd name="connsiteY2" fmla="*/ 2363153 h 2857500"/>
              <a:gd name="connsiteX3" fmla="*/ 2364105 w 2362200"/>
              <a:gd name="connsiteY3" fmla="*/ 0 h 2857500"/>
            </a:gdLst>
            <a:ahLst/>
            <a:cxnLst>
              <a:cxn ang="0">
                <a:pos x="connsiteX0" y="connsiteY0"/>
              </a:cxn>
              <a:cxn ang="0">
                <a:pos x="connsiteX1" y="connsiteY1"/>
              </a:cxn>
              <a:cxn ang="0">
                <a:pos x="connsiteX2" y="connsiteY2"/>
              </a:cxn>
              <a:cxn ang="0">
                <a:pos x="connsiteX3" y="connsiteY3"/>
              </a:cxn>
            </a:cxnLst>
            <a:rect l="l" t="t" r="r" b="b"/>
            <a:pathLst>
              <a:path w="2362200" h="2857500">
                <a:moveTo>
                  <a:pt x="2364105" y="2857500"/>
                </a:moveTo>
                <a:lnTo>
                  <a:pt x="0" y="2857500"/>
                </a:lnTo>
                <a:lnTo>
                  <a:pt x="0" y="2363153"/>
                </a:lnTo>
                <a:lnTo>
                  <a:pt x="2364105" y="0"/>
                </a:lnTo>
              </a:path>
            </a:pathLst>
          </a:custGeom>
          <a:noFill/>
          <a:ln w="19050" cap="flat">
            <a:solidFill>
              <a:schemeClr val="tx1"/>
            </a:solidFill>
            <a:prstDash val="solid"/>
            <a:miter/>
          </a:ln>
        </p:spPr>
        <p:txBody>
          <a:bodyPr rtlCol="0" anchor="ctr"/>
          <a:lstStyle/>
          <a:p>
            <a:endParaRPr lang="zh-CN" altLang="en-US">
              <a:solidFill>
                <a:prstClr val="black"/>
              </a:solidFill>
              <a:latin typeface="Times New Roman"/>
              <a:ea typeface="微软雅黑"/>
              <a:sym typeface="Times New Roman"/>
            </a:endParaRPr>
          </a:p>
        </p:txBody>
      </p:sp>
      <p:grpSp>
        <p:nvGrpSpPr>
          <p:cNvPr id="45" name="组合 44">
            <a:extLst>
              <a:ext uri="{FF2B5EF4-FFF2-40B4-BE49-F238E27FC236}">
                <a16:creationId xmlns:a16="http://schemas.microsoft.com/office/drawing/2014/main" id="{9F38E8AD-B810-30A9-FF15-FE4F3450C9A4}"/>
              </a:ext>
            </a:extLst>
          </p:cNvPr>
          <p:cNvGrpSpPr/>
          <p:nvPr/>
        </p:nvGrpSpPr>
        <p:grpSpPr>
          <a:xfrm>
            <a:off x="9606874" y="5720675"/>
            <a:ext cx="2249514" cy="392502"/>
            <a:chOff x="10057448" y="5753954"/>
            <a:chExt cx="2249514" cy="392502"/>
          </a:xfrm>
        </p:grpSpPr>
        <p:sp>
          <p:nvSpPr>
            <p:cNvPr id="38" name="矩形 37"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2CAE3674-5BC9-FBCB-74B6-92D5BAC2D869}"/>
                </a:ext>
              </a:extLst>
            </p:cNvPr>
            <p:cNvSpPr/>
            <p:nvPr/>
          </p:nvSpPr>
          <p:spPr>
            <a:xfrm>
              <a:off x="10057448" y="5753954"/>
              <a:ext cx="2249514" cy="392502"/>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a:ea typeface="微软雅黑"/>
                <a:sym typeface="Times New Roman"/>
              </a:endParaRPr>
            </a:p>
          </p:txBody>
        </p:sp>
        <p:sp>
          <p:nvSpPr>
            <p:cNvPr id="40" name="文本框 39"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21E4FD8B-52B4-6B8D-1EB0-531C7CD3C8FC}"/>
                </a:ext>
              </a:extLst>
            </p:cNvPr>
            <p:cNvSpPr txBox="1"/>
            <p:nvPr/>
          </p:nvSpPr>
          <p:spPr>
            <a:xfrm>
              <a:off x="10230431" y="5776476"/>
              <a:ext cx="2076531" cy="338554"/>
            </a:xfrm>
            <a:prstGeom prst="rect">
              <a:avLst/>
            </a:prstGeom>
            <a:noFill/>
          </p:spPr>
          <p:txBody>
            <a:bodyPr wrap="none" rtlCol="0">
              <a:spAutoFit/>
            </a:bodyPr>
            <a:lstStyle/>
            <a:p>
              <a:r>
                <a:rPr lang="en-US" altLang="zh-CN" sz="1600" spc="600" dirty="0">
                  <a:solidFill>
                    <a:srgbClr val="F3EFE5"/>
                  </a:solidFill>
                  <a:latin typeface="Times New Roman"/>
                  <a:ea typeface="微软雅黑"/>
                  <a:cs typeface="Calibri Light" panose="020F0302020204030204" pitchFamily="34" charset="0"/>
                  <a:sym typeface="Times New Roman"/>
                </a:rPr>
                <a:t>Young Child</a:t>
              </a:r>
              <a:endParaRPr lang="zh-CN" altLang="en-US" sz="1600" spc="600" dirty="0">
                <a:solidFill>
                  <a:srgbClr val="F3EFE5"/>
                </a:solidFill>
                <a:latin typeface="Times New Roman"/>
                <a:ea typeface="微软雅黑"/>
                <a:cs typeface="Calibri Light" panose="020F0302020204030204" pitchFamily="34" charset="0"/>
                <a:sym typeface="Times New Roman"/>
              </a:endParaRPr>
            </a:p>
          </p:txBody>
        </p:sp>
      </p:grpSp>
      <p:pic>
        <p:nvPicPr>
          <p:cNvPr id="41" name="图片占位符 58">
            <a:extLst>
              <a:ext uri="{FF2B5EF4-FFF2-40B4-BE49-F238E27FC236}">
                <a16:creationId xmlns:a16="http://schemas.microsoft.com/office/drawing/2014/main" id="{211922A2-1855-1F84-FC92-667947836B7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334397" y="461620"/>
            <a:ext cx="2969096" cy="4454014"/>
          </a:xfrm>
          <a:prstGeom prst="rect">
            <a:avLst/>
          </a:prstGeom>
        </p:spPr>
      </p:pic>
      <p:grpSp>
        <p:nvGrpSpPr>
          <p:cNvPr id="44" name="组合 43">
            <a:extLst>
              <a:ext uri="{FF2B5EF4-FFF2-40B4-BE49-F238E27FC236}">
                <a16:creationId xmlns:a16="http://schemas.microsoft.com/office/drawing/2014/main" id="{4695FD51-3184-8FB0-EBA4-82D589368C98}"/>
              </a:ext>
            </a:extLst>
          </p:cNvPr>
          <p:cNvGrpSpPr/>
          <p:nvPr/>
        </p:nvGrpSpPr>
        <p:grpSpPr>
          <a:xfrm>
            <a:off x="5053961" y="4289112"/>
            <a:ext cx="2001329" cy="392502"/>
            <a:chOff x="5053960" y="4289112"/>
            <a:chExt cx="2001328" cy="392502"/>
          </a:xfrm>
        </p:grpSpPr>
        <p:sp>
          <p:nvSpPr>
            <p:cNvPr id="42" name="矩形 41"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BC0673C9-BF71-5378-8C57-9D15B25535FE}"/>
                </a:ext>
              </a:extLst>
            </p:cNvPr>
            <p:cNvSpPr/>
            <p:nvPr/>
          </p:nvSpPr>
          <p:spPr>
            <a:xfrm>
              <a:off x="5053960" y="4289112"/>
              <a:ext cx="2001328" cy="392502"/>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a:ea typeface="微软雅黑"/>
                <a:sym typeface="Times New Roman"/>
              </a:endParaRPr>
            </a:p>
          </p:txBody>
        </p:sp>
        <p:sp>
          <p:nvSpPr>
            <p:cNvPr id="43" name="文本框 42"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6E3A52D7-482B-2F43-0EAE-3DFBBD2DD9AE}"/>
                </a:ext>
              </a:extLst>
            </p:cNvPr>
            <p:cNvSpPr txBox="1"/>
            <p:nvPr/>
          </p:nvSpPr>
          <p:spPr>
            <a:xfrm>
              <a:off x="5153527" y="4308984"/>
              <a:ext cx="1707646" cy="338554"/>
            </a:xfrm>
            <a:prstGeom prst="rect">
              <a:avLst/>
            </a:prstGeom>
            <a:noFill/>
          </p:spPr>
          <p:txBody>
            <a:bodyPr wrap="none" rtlCol="0">
              <a:spAutoFit/>
            </a:bodyPr>
            <a:lstStyle/>
            <a:p>
              <a:r>
                <a:rPr lang="en-US" altLang="zh-CN" sz="1600" spc="600" dirty="0">
                  <a:solidFill>
                    <a:srgbClr val="F3EFE5"/>
                  </a:solidFill>
                  <a:latin typeface="Times New Roman"/>
                  <a:ea typeface="微软雅黑"/>
                  <a:cs typeface="Calibri Light" panose="020F0302020204030204" pitchFamily="34" charset="0"/>
                  <a:sym typeface="Times New Roman"/>
                </a:rPr>
                <a:t>Teenagers</a:t>
              </a:r>
              <a:endParaRPr lang="zh-CN" altLang="en-US" sz="1600" spc="600" dirty="0">
                <a:solidFill>
                  <a:srgbClr val="F3EFE5"/>
                </a:solidFill>
                <a:latin typeface="Times New Roman"/>
                <a:ea typeface="微软雅黑"/>
                <a:cs typeface="Calibri Light" panose="020F0302020204030204" pitchFamily="34" charset="0"/>
                <a:sym typeface="Times New Roman"/>
              </a:endParaRPr>
            </a:p>
          </p:txBody>
        </p:sp>
      </p:grpSp>
      <p:sp>
        <p:nvSpPr>
          <p:cNvPr id="56" name="矩形 55">
            <a:extLst>
              <a:ext uri="{FF2B5EF4-FFF2-40B4-BE49-F238E27FC236}">
                <a16:creationId xmlns:a16="http://schemas.microsoft.com/office/drawing/2014/main" id="{235455CD-D1C5-2813-442F-62176BD26ECC}"/>
              </a:ext>
            </a:extLst>
          </p:cNvPr>
          <p:cNvSpPr/>
          <p:nvPr/>
        </p:nvSpPr>
        <p:spPr>
          <a:xfrm>
            <a:off x="720619" y="1796641"/>
            <a:ext cx="4613775" cy="584775"/>
          </a:xfrm>
          <a:prstGeom prst="rect">
            <a:avLst/>
          </a:prstGeom>
        </p:spPr>
        <p:txBody>
          <a:bodyPr wrap="square">
            <a:spAutoFit/>
          </a:bodyPr>
          <a:lstStyle/>
          <a:p>
            <a:pPr lvl="0">
              <a:defRPr/>
            </a:pPr>
            <a:r>
              <a:rPr lang="en-US" altLang="zh-CN" sz="1600" b="1" kern="0" dirty="0">
                <a:latin typeface="Times New Roman"/>
                <a:ea typeface="微软雅黑"/>
                <a:sym typeface="Times New Roman"/>
              </a:rPr>
              <a:t>Digital media use exacerbates teenagers’ natural tendency for late nights.</a:t>
            </a:r>
            <a:endParaRPr lang="zh-CN" altLang="en-US" sz="1600" b="1" kern="0" dirty="0">
              <a:latin typeface="Times New Roman"/>
              <a:ea typeface="微软雅黑"/>
              <a:sym typeface="Times New Roman"/>
            </a:endParaRPr>
          </a:p>
        </p:txBody>
      </p:sp>
      <p:sp>
        <p:nvSpPr>
          <p:cNvPr id="57" name="矩形 56">
            <a:extLst>
              <a:ext uri="{FF2B5EF4-FFF2-40B4-BE49-F238E27FC236}">
                <a16:creationId xmlns:a16="http://schemas.microsoft.com/office/drawing/2014/main" id="{2C78B772-F3AE-94B5-60FD-6C8517E000AE}"/>
              </a:ext>
            </a:extLst>
          </p:cNvPr>
          <p:cNvSpPr/>
          <p:nvPr/>
        </p:nvSpPr>
        <p:spPr>
          <a:xfrm>
            <a:off x="720615" y="2025131"/>
            <a:ext cx="4333339" cy="1992597"/>
          </a:xfrm>
          <a:prstGeom prst="rect">
            <a:avLst/>
          </a:prstGeom>
        </p:spPr>
        <p:txBody>
          <a:bodyPr wrap="square">
            <a:spAutoFit/>
          </a:bodyPr>
          <a:lstStyle/>
          <a:p>
            <a:pPr lvl="0">
              <a:lnSpc>
                <a:spcPct val="150000"/>
              </a:lnSpc>
              <a:defRPr/>
            </a:pPr>
            <a:endParaRPr lang="en-CA" altLang="zh-CN" sz="1400" kern="0" dirty="0">
              <a:solidFill>
                <a:schemeClr val="bg1">
                  <a:lumMod val="50000"/>
                </a:schemeClr>
              </a:solidFill>
              <a:latin typeface="Times New Roman"/>
              <a:ea typeface="微软雅黑"/>
              <a:sym typeface="Times New Roman"/>
            </a:endParaRPr>
          </a:p>
          <a:p>
            <a:pPr lvl="0">
              <a:lnSpc>
                <a:spcPct val="150000"/>
              </a:lnSpc>
              <a:defRPr/>
            </a:pPr>
            <a:r>
              <a:rPr lang="en-CA" altLang="zh-CN" sz="1400" kern="0" dirty="0">
                <a:solidFill>
                  <a:schemeClr val="bg1">
                    <a:lumMod val="50000"/>
                  </a:schemeClr>
                </a:solidFill>
                <a:latin typeface="Times New Roman"/>
                <a:ea typeface="微软雅黑"/>
                <a:sym typeface="Times New Roman"/>
              </a:rPr>
              <a:t>Lopes (2024) highlighted a strong correlation between excessive screen use and delayed sleep phase syndrome, especially among teenagers juggling academic and social pressures.</a:t>
            </a:r>
          </a:p>
          <a:p>
            <a:pPr lvl="0">
              <a:lnSpc>
                <a:spcPct val="150000"/>
              </a:lnSpc>
              <a:defRPr/>
            </a:pPr>
            <a:endParaRPr lang="zh-CN" altLang="en-US" sz="1400" kern="0" dirty="0">
              <a:solidFill>
                <a:schemeClr val="bg1">
                  <a:lumMod val="50000"/>
                </a:schemeClr>
              </a:solidFill>
              <a:latin typeface="Times New Roman"/>
              <a:ea typeface="微软雅黑"/>
              <a:sym typeface="Times New Roman"/>
            </a:endParaRPr>
          </a:p>
        </p:txBody>
      </p:sp>
      <p:sp>
        <p:nvSpPr>
          <p:cNvPr id="60" name="矩形 59">
            <a:extLst>
              <a:ext uri="{FF2B5EF4-FFF2-40B4-BE49-F238E27FC236}">
                <a16:creationId xmlns:a16="http://schemas.microsoft.com/office/drawing/2014/main" id="{8F684F73-06F7-5491-222E-E79601DE2238}"/>
              </a:ext>
            </a:extLst>
          </p:cNvPr>
          <p:cNvSpPr/>
          <p:nvPr/>
        </p:nvSpPr>
        <p:spPr>
          <a:xfrm>
            <a:off x="720615" y="3809416"/>
            <a:ext cx="4613775" cy="584775"/>
          </a:xfrm>
          <a:prstGeom prst="rect">
            <a:avLst/>
          </a:prstGeom>
        </p:spPr>
        <p:txBody>
          <a:bodyPr wrap="square">
            <a:spAutoFit/>
          </a:bodyPr>
          <a:lstStyle/>
          <a:p>
            <a:pPr lvl="0">
              <a:defRPr/>
            </a:pPr>
            <a:r>
              <a:rPr lang="en-US" altLang="zh-CN" sz="1600" b="1" kern="0" dirty="0">
                <a:latin typeface="Times New Roman"/>
                <a:ea typeface="微软雅黑"/>
                <a:sym typeface="Times New Roman"/>
              </a:rPr>
              <a:t>Sleep deprivation impacts growth, cognitive development, and attention spans.</a:t>
            </a:r>
            <a:endParaRPr lang="zh-CN" altLang="en-US" sz="1600" b="1" kern="0" dirty="0">
              <a:latin typeface="Times New Roman"/>
              <a:ea typeface="微软雅黑"/>
              <a:sym typeface="Times New Roman"/>
            </a:endParaRPr>
          </a:p>
        </p:txBody>
      </p:sp>
      <p:sp>
        <p:nvSpPr>
          <p:cNvPr id="61" name="矩形 60">
            <a:extLst>
              <a:ext uri="{FF2B5EF4-FFF2-40B4-BE49-F238E27FC236}">
                <a16:creationId xmlns:a16="http://schemas.microsoft.com/office/drawing/2014/main" id="{3A74D8DB-294B-8BE3-82A2-3A5A36636CE0}"/>
              </a:ext>
            </a:extLst>
          </p:cNvPr>
          <p:cNvSpPr/>
          <p:nvPr/>
        </p:nvSpPr>
        <p:spPr>
          <a:xfrm>
            <a:off x="720615" y="4501039"/>
            <a:ext cx="4333339" cy="1346266"/>
          </a:xfrm>
          <a:prstGeom prst="rect">
            <a:avLst/>
          </a:prstGeom>
        </p:spPr>
        <p:txBody>
          <a:bodyPr wrap="square">
            <a:spAutoFit/>
          </a:bodyPr>
          <a:lstStyle/>
          <a:p>
            <a:pPr lvl="0">
              <a:lnSpc>
                <a:spcPct val="150000"/>
              </a:lnSpc>
              <a:defRPr/>
            </a:pPr>
            <a:r>
              <a:rPr lang="en-CA" altLang="zh-CN" sz="1400" kern="0" dirty="0">
                <a:solidFill>
                  <a:schemeClr val="bg1">
                    <a:lumMod val="50000"/>
                  </a:schemeClr>
                </a:solidFill>
                <a:latin typeface="Times New Roman"/>
                <a:ea typeface="微软雅黑"/>
                <a:sym typeface="Times New Roman"/>
              </a:rPr>
              <a:t>According to Hale (2024), screen exposure reduced sleep duration by 33 minutes per day on average for children under 10, significantly affecting developmental milestones.</a:t>
            </a:r>
            <a:endParaRPr lang="zh-CN" altLang="en-US" sz="1400" kern="0" dirty="0">
              <a:solidFill>
                <a:schemeClr val="bg1">
                  <a:lumMod val="50000"/>
                </a:schemeClr>
              </a:solidFill>
              <a:latin typeface="Times New Roman"/>
              <a:ea typeface="微软雅黑"/>
              <a:sym typeface="Times New Roman"/>
            </a:endParaRPr>
          </a:p>
        </p:txBody>
      </p:sp>
    </p:spTree>
    <p:extLst>
      <p:ext uri="{BB962C8B-B14F-4D97-AF65-F5344CB8AC3E}">
        <p14:creationId xmlns:p14="http://schemas.microsoft.com/office/powerpoint/2010/main" val="273963732"/>
      </p:ext>
    </p:extLst>
  </p:cSld>
  <p:clrMapOvr>
    <a:masterClrMapping/>
  </p:clrMapOvr>
  <mc:AlternateContent xmlns:mc="http://schemas.openxmlformats.org/markup-compatibility/2006" xmlns:p14="http://schemas.microsoft.com/office/powerpoint/2010/main">
    <mc:Choice Requires="p14">
      <p:transition spd="slow" p14:dur="1300" advTm="86597">
        <p14:pan/>
      </p:transition>
    </mc:Choice>
    <mc:Fallback xmlns="">
      <p:transition spd="slow" advTm="86597">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 presetClass="entr" presetSubtype="8" decel="10000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1000" fill="hold"/>
                                        <p:tgtEl>
                                          <p:spTgt spid="11"/>
                                        </p:tgtEl>
                                        <p:attrNameLst>
                                          <p:attrName>ppt_x</p:attrName>
                                        </p:attrNameLst>
                                      </p:cBhvr>
                                      <p:tavLst>
                                        <p:tav tm="0">
                                          <p:val>
                                            <p:strVal val="0-#ppt_w/2"/>
                                          </p:val>
                                        </p:tav>
                                        <p:tav tm="100000">
                                          <p:val>
                                            <p:strVal val="#ppt_x"/>
                                          </p:val>
                                        </p:tav>
                                      </p:tavLst>
                                    </p:anim>
                                    <p:anim calcmode="lin" valueType="num">
                                      <p:cBhvr additive="base">
                                        <p:cTn id="11" dur="1000" fill="hold"/>
                                        <p:tgtEl>
                                          <p:spTgt spid="11"/>
                                        </p:tgtEl>
                                        <p:attrNameLst>
                                          <p:attrName>ppt_y</p:attrName>
                                        </p:attrNameLst>
                                      </p:cBhvr>
                                      <p:tavLst>
                                        <p:tav tm="0">
                                          <p:val>
                                            <p:strVal val="#ppt_y"/>
                                          </p:val>
                                        </p:tav>
                                        <p:tav tm="100000">
                                          <p:val>
                                            <p:strVal val="#ppt_y"/>
                                          </p:val>
                                        </p:tav>
                                      </p:tavLst>
                                    </p:anim>
                                  </p:childTnLst>
                                </p:cTn>
                              </p:par>
                              <p:par>
                                <p:cTn id="12" presetID="22" presetClass="entr" presetSubtype="4"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par>
                          <p:cTn id="15" fill="hold">
                            <p:stCondLst>
                              <p:cond delay="1000"/>
                            </p:stCondLst>
                            <p:childTnLst>
                              <p:par>
                                <p:cTn id="16" presetID="53" presetClass="entr" presetSubtype="16"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childTnLst>
                          </p:cTn>
                        </p:par>
                        <p:par>
                          <p:cTn id="21" fill="hold">
                            <p:stCondLst>
                              <p:cond delay="3000"/>
                            </p:stCondLst>
                            <p:childTnLst>
                              <p:par>
                                <p:cTn id="22" presetID="2" presetClass="entr" presetSubtype="2" decel="100000" fill="hold" nodeType="afterEffect">
                                  <p:stCondLst>
                                    <p:cond delay="0"/>
                                  </p:stCondLst>
                                  <p:childTnLst>
                                    <p:set>
                                      <p:cBhvr>
                                        <p:cTn id="23" dur="1" fill="hold">
                                          <p:stCondLst>
                                            <p:cond delay="0"/>
                                          </p:stCondLst>
                                        </p:cTn>
                                        <p:tgtEl>
                                          <p:spTgt spid="41"/>
                                        </p:tgtEl>
                                        <p:attrNameLst>
                                          <p:attrName>style.visibility</p:attrName>
                                        </p:attrNameLst>
                                      </p:cBhvr>
                                      <p:to>
                                        <p:strVal val="visible"/>
                                      </p:to>
                                    </p:set>
                                    <p:anim calcmode="lin" valueType="num">
                                      <p:cBhvr additive="base">
                                        <p:cTn id="24" dur="1000" fill="hold"/>
                                        <p:tgtEl>
                                          <p:spTgt spid="41"/>
                                        </p:tgtEl>
                                        <p:attrNameLst>
                                          <p:attrName>ppt_x</p:attrName>
                                        </p:attrNameLst>
                                      </p:cBhvr>
                                      <p:tavLst>
                                        <p:tav tm="0">
                                          <p:val>
                                            <p:strVal val="1+#ppt_w/2"/>
                                          </p:val>
                                        </p:tav>
                                        <p:tav tm="100000">
                                          <p:val>
                                            <p:strVal val="#ppt_x"/>
                                          </p:val>
                                        </p:tav>
                                      </p:tavLst>
                                    </p:anim>
                                    <p:anim calcmode="lin" valueType="num">
                                      <p:cBhvr additive="base">
                                        <p:cTn id="25" dur="1000" fill="hold"/>
                                        <p:tgtEl>
                                          <p:spTgt spid="41"/>
                                        </p:tgtEl>
                                        <p:attrNameLst>
                                          <p:attrName>ppt_y</p:attrName>
                                        </p:attrNameLst>
                                      </p:cBhvr>
                                      <p:tavLst>
                                        <p:tav tm="0">
                                          <p:val>
                                            <p:strVal val="#ppt_y"/>
                                          </p:val>
                                        </p:tav>
                                        <p:tav tm="100000">
                                          <p:val>
                                            <p:strVal val="#ppt_y"/>
                                          </p:val>
                                        </p:tav>
                                      </p:tavLst>
                                    </p:anim>
                                  </p:childTnLst>
                                </p:cTn>
                              </p:par>
                              <p:par>
                                <p:cTn id="26" presetID="2" presetClass="entr" presetSubtype="2" decel="100000" fill="hold" nodeType="with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additive="base">
                                        <p:cTn id="28" dur="1000" fill="hold"/>
                                        <p:tgtEl>
                                          <p:spTgt spid="34"/>
                                        </p:tgtEl>
                                        <p:attrNameLst>
                                          <p:attrName>ppt_x</p:attrName>
                                        </p:attrNameLst>
                                      </p:cBhvr>
                                      <p:tavLst>
                                        <p:tav tm="0">
                                          <p:val>
                                            <p:strVal val="1+#ppt_w/2"/>
                                          </p:val>
                                        </p:tav>
                                        <p:tav tm="100000">
                                          <p:val>
                                            <p:strVal val="#ppt_x"/>
                                          </p:val>
                                        </p:tav>
                                      </p:tavLst>
                                    </p:anim>
                                    <p:anim calcmode="lin" valueType="num">
                                      <p:cBhvr additive="base">
                                        <p:cTn id="29" dur="1000" fill="hold"/>
                                        <p:tgtEl>
                                          <p:spTgt spid="34"/>
                                        </p:tgtEl>
                                        <p:attrNameLst>
                                          <p:attrName>ppt_y</p:attrName>
                                        </p:attrNameLst>
                                      </p:cBhvr>
                                      <p:tavLst>
                                        <p:tav tm="0">
                                          <p:val>
                                            <p:strVal val="#ppt_y"/>
                                          </p:val>
                                        </p:tav>
                                        <p:tav tm="100000">
                                          <p:val>
                                            <p:strVal val="#ppt_y"/>
                                          </p:val>
                                        </p:tav>
                                      </p:tavLst>
                                    </p:anim>
                                  </p:childTnLst>
                                </p:cTn>
                              </p:par>
                            </p:childTnLst>
                          </p:cTn>
                        </p:par>
                        <p:par>
                          <p:cTn id="30" fill="hold">
                            <p:stCondLst>
                              <p:cond delay="4000"/>
                            </p:stCondLst>
                            <p:childTnLst>
                              <p:par>
                                <p:cTn id="31" presetID="22" presetClass="entr" presetSubtype="4" fill="hold" grpId="0" nodeType="after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wipe(down)">
                                      <p:cBhvr>
                                        <p:cTn id="33" dur="500"/>
                                        <p:tgtEl>
                                          <p:spTgt spid="35"/>
                                        </p:tgtEl>
                                      </p:cBhvr>
                                    </p:animEffect>
                                  </p:childTnLst>
                                </p:cTn>
                              </p:par>
                            </p:childTnLst>
                          </p:cTn>
                        </p:par>
                        <p:par>
                          <p:cTn id="34" fill="hold">
                            <p:stCondLst>
                              <p:cond delay="4500"/>
                            </p:stCondLst>
                            <p:childTnLst>
                              <p:par>
                                <p:cTn id="35" presetID="22" presetClass="entr" presetSubtype="8" fill="hold" nodeType="after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wipe(left)">
                                      <p:cBhvr>
                                        <p:cTn id="37" dur="500"/>
                                        <p:tgtEl>
                                          <p:spTgt spid="45"/>
                                        </p:tgtEl>
                                      </p:cBhvr>
                                    </p:animEffect>
                                  </p:childTnLst>
                                </p:cTn>
                              </p:par>
                              <p:par>
                                <p:cTn id="38" presetID="22" presetClass="entr" presetSubtype="8" fill="hold" nodeType="with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wipe(left)">
                                      <p:cBhvr>
                                        <p:cTn id="40" dur="500"/>
                                        <p:tgtEl>
                                          <p:spTgt spid="44"/>
                                        </p:tgtEl>
                                      </p:cBhvr>
                                    </p:animEffect>
                                  </p:childTnLst>
                                </p:cTn>
                              </p:par>
                            </p:childTnLst>
                          </p:cTn>
                        </p:par>
                        <p:par>
                          <p:cTn id="41" fill="hold">
                            <p:stCondLst>
                              <p:cond delay="5000"/>
                            </p:stCondLst>
                            <p:childTnLst>
                              <p:par>
                                <p:cTn id="42" presetID="23" presetClass="entr" presetSubtype="288" decel="100000" fill="hold" grpId="0" nodeType="afterEffect">
                                  <p:stCondLst>
                                    <p:cond delay="0"/>
                                  </p:stCondLst>
                                  <p:iterate type="lt">
                                    <p:tmPct val="15000"/>
                                  </p:iterate>
                                  <p:childTnLst>
                                    <p:set>
                                      <p:cBhvr>
                                        <p:cTn id="43" dur="1" fill="hold">
                                          <p:stCondLst>
                                            <p:cond delay="0"/>
                                          </p:stCondLst>
                                        </p:cTn>
                                        <p:tgtEl>
                                          <p:spTgt spid="56"/>
                                        </p:tgtEl>
                                        <p:attrNameLst>
                                          <p:attrName>style.visibility</p:attrName>
                                        </p:attrNameLst>
                                      </p:cBhvr>
                                      <p:to>
                                        <p:strVal val="visible"/>
                                      </p:to>
                                    </p:set>
                                    <p:anim calcmode="lin" valueType="num">
                                      <p:cBhvr>
                                        <p:cTn id="44" dur="500" fill="hold"/>
                                        <p:tgtEl>
                                          <p:spTgt spid="56"/>
                                        </p:tgtEl>
                                        <p:attrNameLst>
                                          <p:attrName>ppt_w</p:attrName>
                                        </p:attrNameLst>
                                      </p:cBhvr>
                                      <p:tavLst>
                                        <p:tav tm="0">
                                          <p:val>
                                            <p:strVal val="8/3*#ppt_w"/>
                                          </p:val>
                                        </p:tav>
                                        <p:tav tm="100000">
                                          <p:val>
                                            <p:strVal val="#ppt_w"/>
                                          </p:val>
                                        </p:tav>
                                      </p:tavLst>
                                    </p:anim>
                                    <p:anim calcmode="lin" valueType="num">
                                      <p:cBhvr>
                                        <p:cTn id="45" dur="500" fill="hold"/>
                                        <p:tgtEl>
                                          <p:spTgt spid="56"/>
                                        </p:tgtEl>
                                        <p:attrNameLst>
                                          <p:attrName>ppt_h</p:attrName>
                                        </p:attrNameLst>
                                      </p:cBhvr>
                                      <p:tavLst>
                                        <p:tav tm="0">
                                          <p:val>
                                            <p:strVal val="12/3*#ppt_h"/>
                                          </p:val>
                                        </p:tav>
                                        <p:tav tm="100000">
                                          <p:val>
                                            <p:strVal val="#ppt_h"/>
                                          </p:val>
                                        </p:tav>
                                      </p:tavLst>
                                    </p:anim>
                                  </p:childTnLst>
                                </p:cTn>
                              </p:par>
                              <p:par>
                                <p:cTn id="46" presetID="10" presetClass="entr" presetSubtype="0" fill="hold" grpId="1" nodeType="withEffect">
                                  <p:stCondLst>
                                    <p:cond delay="0"/>
                                  </p:stCondLst>
                                  <p:iterate type="lt">
                                    <p:tmPct val="15000"/>
                                  </p:iterate>
                                  <p:childTnLst>
                                    <p:set>
                                      <p:cBhvr>
                                        <p:cTn id="47" dur="1" fill="hold">
                                          <p:stCondLst>
                                            <p:cond delay="0"/>
                                          </p:stCondLst>
                                        </p:cTn>
                                        <p:tgtEl>
                                          <p:spTgt spid="56"/>
                                        </p:tgtEl>
                                        <p:attrNameLst>
                                          <p:attrName>style.visibility</p:attrName>
                                        </p:attrNameLst>
                                      </p:cBhvr>
                                      <p:to>
                                        <p:strVal val="visible"/>
                                      </p:to>
                                    </p:set>
                                    <p:animEffect transition="in" filter="fade">
                                      <p:cBhvr>
                                        <p:cTn id="48" dur="500"/>
                                        <p:tgtEl>
                                          <p:spTgt spid="56"/>
                                        </p:tgtEl>
                                      </p:cBhvr>
                                    </p:animEffect>
                                  </p:childTnLst>
                                </p:cTn>
                              </p:par>
                            </p:childTnLst>
                          </p:cTn>
                        </p:par>
                        <p:par>
                          <p:cTn id="49" fill="hold">
                            <p:stCondLst>
                              <p:cond delay="10300"/>
                            </p:stCondLst>
                            <p:childTnLst>
                              <p:par>
                                <p:cTn id="50" presetID="22" presetClass="entr" presetSubtype="1" fill="hold" grpId="0" nodeType="afterEffect">
                                  <p:stCondLst>
                                    <p:cond delay="0"/>
                                  </p:stCondLst>
                                  <p:iterate type="lt">
                                    <p:tmPct val="3000"/>
                                  </p:iterate>
                                  <p:childTnLst>
                                    <p:set>
                                      <p:cBhvr>
                                        <p:cTn id="51" dur="1" fill="hold">
                                          <p:stCondLst>
                                            <p:cond delay="0"/>
                                          </p:stCondLst>
                                        </p:cTn>
                                        <p:tgtEl>
                                          <p:spTgt spid="57"/>
                                        </p:tgtEl>
                                        <p:attrNameLst>
                                          <p:attrName>style.visibility</p:attrName>
                                        </p:attrNameLst>
                                      </p:cBhvr>
                                      <p:to>
                                        <p:strVal val="visible"/>
                                      </p:to>
                                    </p:set>
                                    <p:animEffect transition="in" filter="wipe(up)">
                                      <p:cBhvr>
                                        <p:cTn id="52" dur="500"/>
                                        <p:tgtEl>
                                          <p:spTgt spid="57"/>
                                        </p:tgtEl>
                                      </p:cBhvr>
                                    </p:animEffect>
                                  </p:childTnLst>
                                </p:cTn>
                              </p:par>
                            </p:childTnLst>
                          </p:cTn>
                        </p:par>
                        <p:par>
                          <p:cTn id="53" fill="hold">
                            <p:stCondLst>
                              <p:cond delay="13080"/>
                            </p:stCondLst>
                            <p:childTnLst>
                              <p:par>
                                <p:cTn id="54" presetID="23" presetClass="entr" presetSubtype="288" decel="100000" fill="hold" grpId="0" nodeType="afterEffect">
                                  <p:stCondLst>
                                    <p:cond delay="0"/>
                                  </p:stCondLst>
                                  <p:iterate type="lt">
                                    <p:tmPct val="15000"/>
                                  </p:iterate>
                                  <p:childTnLst>
                                    <p:set>
                                      <p:cBhvr>
                                        <p:cTn id="55" dur="1" fill="hold">
                                          <p:stCondLst>
                                            <p:cond delay="0"/>
                                          </p:stCondLst>
                                        </p:cTn>
                                        <p:tgtEl>
                                          <p:spTgt spid="60"/>
                                        </p:tgtEl>
                                        <p:attrNameLst>
                                          <p:attrName>style.visibility</p:attrName>
                                        </p:attrNameLst>
                                      </p:cBhvr>
                                      <p:to>
                                        <p:strVal val="visible"/>
                                      </p:to>
                                    </p:set>
                                    <p:anim calcmode="lin" valueType="num">
                                      <p:cBhvr>
                                        <p:cTn id="56" dur="500" fill="hold"/>
                                        <p:tgtEl>
                                          <p:spTgt spid="60"/>
                                        </p:tgtEl>
                                        <p:attrNameLst>
                                          <p:attrName>ppt_w</p:attrName>
                                        </p:attrNameLst>
                                      </p:cBhvr>
                                      <p:tavLst>
                                        <p:tav tm="0">
                                          <p:val>
                                            <p:strVal val="8/3*#ppt_w"/>
                                          </p:val>
                                        </p:tav>
                                        <p:tav tm="100000">
                                          <p:val>
                                            <p:strVal val="#ppt_w"/>
                                          </p:val>
                                        </p:tav>
                                      </p:tavLst>
                                    </p:anim>
                                    <p:anim calcmode="lin" valueType="num">
                                      <p:cBhvr>
                                        <p:cTn id="57" dur="500" fill="hold"/>
                                        <p:tgtEl>
                                          <p:spTgt spid="60"/>
                                        </p:tgtEl>
                                        <p:attrNameLst>
                                          <p:attrName>ppt_h</p:attrName>
                                        </p:attrNameLst>
                                      </p:cBhvr>
                                      <p:tavLst>
                                        <p:tav tm="0">
                                          <p:val>
                                            <p:strVal val="12/3*#ppt_h"/>
                                          </p:val>
                                        </p:tav>
                                        <p:tav tm="100000">
                                          <p:val>
                                            <p:strVal val="#ppt_h"/>
                                          </p:val>
                                        </p:tav>
                                      </p:tavLst>
                                    </p:anim>
                                  </p:childTnLst>
                                </p:cTn>
                              </p:par>
                              <p:par>
                                <p:cTn id="58" presetID="10" presetClass="entr" presetSubtype="0" fill="hold" grpId="1" nodeType="withEffect">
                                  <p:stCondLst>
                                    <p:cond delay="0"/>
                                  </p:stCondLst>
                                  <p:iterate type="lt">
                                    <p:tmPct val="15000"/>
                                  </p:iterate>
                                  <p:childTnLst>
                                    <p:set>
                                      <p:cBhvr>
                                        <p:cTn id="59" dur="1" fill="hold">
                                          <p:stCondLst>
                                            <p:cond delay="0"/>
                                          </p:stCondLst>
                                        </p:cTn>
                                        <p:tgtEl>
                                          <p:spTgt spid="60"/>
                                        </p:tgtEl>
                                        <p:attrNameLst>
                                          <p:attrName>style.visibility</p:attrName>
                                        </p:attrNameLst>
                                      </p:cBhvr>
                                      <p:to>
                                        <p:strVal val="visible"/>
                                      </p:to>
                                    </p:set>
                                    <p:animEffect transition="in" filter="fade">
                                      <p:cBhvr>
                                        <p:cTn id="60" dur="500"/>
                                        <p:tgtEl>
                                          <p:spTgt spid="60"/>
                                        </p:tgtEl>
                                      </p:cBhvr>
                                    </p:animEffect>
                                  </p:childTnLst>
                                </p:cTn>
                              </p:par>
                            </p:childTnLst>
                          </p:cTn>
                        </p:par>
                        <p:par>
                          <p:cTn id="61" fill="hold">
                            <p:stCondLst>
                              <p:cond delay="18680"/>
                            </p:stCondLst>
                            <p:childTnLst>
                              <p:par>
                                <p:cTn id="62" presetID="22" presetClass="entr" presetSubtype="1" fill="hold" grpId="0" nodeType="afterEffect">
                                  <p:stCondLst>
                                    <p:cond delay="0"/>
                                  </p:stCondLst>
                                  <p:iterate type="lt">
                                    <p:tmPct val="3000"/>
                                  </p:iterate>
                                  <p:childTnLst>
                                    <p:set>
                                      <p:cBhvr>
                                        <p:cTn id="63" dur="1" fill="hold">
                                          <p:stCondLst>
                                            <p:cond delay="0"/>
                                          </p:stCondLst>
                                        </p:cTn>
                                        <p:tgtEl>
                                          <p:spTgt spid="61"/>
                                        </p:tgtEl>
                                        <p:attrNameLst>
                                          <p:attrName>style.visibility</p:attrName>
                                        </p:attrNameLst>
                                      </p:cBhvr>
                                      <p:to>
                                        <p:strVal val="visible"/>
                                      </p:to>
                                    </p:set>
                                    <p:animEffect transition="in" filter="wipe(up)">
                                      <p:cBhvr>
                                        <p:cTn id="6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P spid="35" grpId="0" animBg="1"/>
      <p:bldP spid="56" grpId="0"/>
      <p:bldP spid="56" grpId="1"/>
      <p:bldP spid="57" grpId="0"/>
      <p:bldP spid="60" grpId="0"/>
      <p:bldP spid="60" grpId="1"/>
      <p:bldP spid="6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6765ECE3-D4C3-4882-D575-B6064366391F}"/>
              </a:ext>
            </a:extLst>
          </p:cNvPr>
          <p:cNvCxnSpPr>
            <a:cxnSpLocks/>
          </p:cNvCxnSpPr>
          <p:nvPr/>
        </p:nvCxnSpPr>
        <p:spPr>
          <a:xfrm>
            <a:off x="411783" y="942554"/>
            <a:ext cx="26887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7989539-24ED-B150-EF0E-AC5BC72A3767}"/>
              </a:ext>
            </a:extLst>
          </p:cNvPr>
          <p:cNvCxnSpPr/>
          <p:nvPr/>
        </p:nvCxnSpPr>
        <p:spPr>
          <a:xfrm>
            <a:off x="720619" y="423896"/>
            <a:ext cx="0" cy="7327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753AF82A-B41E-131F-0BB5-B912A030B207}"/>
              </a:ext>
            </a:extLst>
          </p:cNvPr>
          <p:cNvSpPr txBox="1"/>
          <p:nvPr/>
        </p:nvSpPr>
        <p:spPr>
          <a:xfrm>
            <a:off x="841660" y="477903"/>
            <a:ext cx="3138666" cy="400110"/>
          </a:xfrm>
          <a:prstGeom prst="rect">
            <a:avLst/>
          </a:prstGeom>
          <a:noFill/>
        </p:spPr>
        <p:txBody>
          <a:bodyPr wrap="square" rtlCol="0">
            <a:spAutoFit/>
          </a:bodyPr>
          <a:lstStyle/>
          <a:p>
            <a:r>
              <a:rPr lang="en-CA" altLang="zh-CN" sz="2000" dirty="0">
                <a:latin typeface="Times New Roman"/>
                <a:ea typeface="微软雅黑"/>
                <a:sym typeface="Times New Roman"/>
              </a:rPr>
              <a:t>Consequences of Poor Sleep </a:t>
            </a:r>
            <a:endParaRPr lang="zh-CN" altLang="en-US" sz="2000" dirty="0">
              <a:latin typeface="Times New Roman"/>
              <a:ea typeface="微软雅黑"/>
              <a:sym typeface="Times New Roman"/>
            </a:endParaRPr>
          </a:p>
        </p:txBody>
      </p:sp>
      <p:sp>
        <p:nvSpPr>
          <p:cNvPr id="11" name="矩形 10"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CF708AE9-8C15-45C9-4727-05BED44FAA42}"/>
              </a:ext>
            </a:extLst>
          </p:cNvPr>
          <p:cNvSpPr/>
          <p:nvPr/>
        </p:nvSpPr>
        <p:spPr>
          <a:xfrm>
            <a:off x="2684512" y="883714"/>
            <a:ext cx="117680" cy="117680"/>
          </a:xfrm>
          <a:prstGeom prst="rect">
            <a:avLst/>
          </a:prstGeom>
          <a:solidFill>
            <a:schemeClr val="tx1"/>
          </a:solidFill>
          <a:ln w="19050">
            <a:solidFill>
              <a:srgbClr val="113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13556"/>
              </a:solidFill>
              <a:latin typeface="Times New Roman"/>
              <a:ea typeface="微软雅黑"/>
              <a:cs typeface="+mn-ea"/>
              <a:sym typeface="Times New Roman"/>
            </a:endParaRPr>
          </a:p>
        </p:txBody>
      </p:sp>
      <p:grpSp>
        <p:nvGrpSpPr>
          <p:cNvPr id="9" name="组合 8">
            <a:extLst>
              <a:ext uri="{FF2B5EF4-FFF2-40B4-BE49-F238E27FC236}">
                <a16:creationId xmlns:a16="http://schemas.microsoft.com/office/drawing/2014/main" id="{629E046D-EE10-DF78-E31E-574445E819EA}"/>
              </a:ext>
            </a:extLst>
          </p:cNvPr>
          <p:cNvGrpSpPr/>
          <p:nvPr/>
        </p:nvGrpSpPr>
        <p:grpSpPr>
          <a:xfrm>
            <a:off x="3217254" y="3631920"/>
            <a:ext cx="2062839" cy="1983980"/>
            <a:chOff x="3217252" y="3650087"/>
            <a:chExt cx="2062839" cy="1983980"/>
          </a:xfrm>
        </p:grpSpPr>
        <p:sp>
          <p:nvSpPr>
            <p:cNvPr id="2" name="图形 13"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0EA2184A-F056-44FA-CF7B-F5F472709239}"/>
                </a:ext>
              </a:extLst>
            </p:cNvPr>
            <p:cNvSpPr/>
            <p:nvPr/>
          </p:nvSpPr>
          <p:spPr>
            <a:xfrm>
              <a:off x="3296111" y="3650087"/>
              <a:ext cx="1983980" cy="1983980"/>
            </a:xfrm>
            <a:custGeom>
              <a:avLst/>
              <a:gdLst>
                <a:gd name="connsiteX0" fmla="*/ 0 w 1228725"/>
                <a:gd name="connsiteY0" fmla="*/ 331470 h 1228725"/>
                <a:gd name="connsiteX1" fmla="*/ 0 w 1228725"/>
                <a:gd name="connsiteY1" fmla="*/ 0 h 1228725"/>
                <a:gd name="connsiteX2" fmla="*/ 1233488 w 1228725"/>
                <a:gd name="connsiteY2" fmla="*/ 0 h 1228725"/>
                <a:gd name="connsiteX3" fmla="*/ 1233488 w 1228725"/>
                <a:gd name="connsiteY3" fmla="*/ 1233488 h 1228725"/>
                <a:gd name="connsiteX4" fmla="*/ 0 w 1228725"/>
                <a:gd name="connsiteY4" fmla="*/ 1233488 h 1228725"/>
                <a:gd name="connsiteX5" fmla="*/ 0 w 1228725"/>
                <a:gd name="connsiteY5" fmla="*/ 902970 h 1228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8725" h="1228725">
                  <a:moveTo>
                    <a:pt x="0" y="331470"/>
                  </a:moveTo>
                  <a:lnTo>
                    <a:pt x="0" y="0"/>
                  </a:lnTo>
                  <a:lnTo>
                    <a:pt x="1233488" y="0"/>
                  </a:lnTo>
                  <a:lnTo>
                    <a:pt x="1233488" y="1233488"/>
                  </a:lnTo>
                  <a:lnTo>
                    <a:pt x="0" y="1233488"/>
                  </a:lnTo>
                  <a:lnTo>
                    <a:pt x="0" y="902970"/>
                  </a:lnTo>
                </a:path>
              </a:pathLst>
            </a:custGeom>
            <a:noFill/>
            <a:ln w="19050" cap="flat">
              <a:solidFill>
                <a:schemeClr val="tx1"/>
              </a:solidFill>
              <a:prstDash val="solid"/>
              <a:miter/>
            </a:ln>
          </p:spPr>
          <p:txBody>
            <a:bodyPr rtlCol="0" anchor="ctr"/>
            <a:lstStyle/>
            <a:p>
              <a:endParaRPr lang="zh-CN" altLang="en-US">
                <a:solidFill>
                  <a:prstClr val="black"/>
                </a:solidFill>
                <a:latin typeface="Times New Roman"/>
                <a:ea typeface="微软雅黑"/>
                <a:sym typeface="Times New Roman"/>
              </a:endParaRPr>
            </a:p>
          </p:txBody>
        </p:sp>
        <p:sp>
          <p:nvSpPr>
            <p:cNvPr id="3" name="矩形 2"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35FF1081-FFEE-0DAD-07DE-B64099362D3C}"/>
                </a:ext>
              </a:extLst>
            </p:cNvPr>
            <p:cNvSpPr/>
            <p:nvPr/>
          </p:nvSpPr>
          <p:spPr>
            <a:xfrm>
              <a:off x="3217252" y="5037250"/>
              <a:ext cx="157718" cy="157718"/>
            </a:xfrm>
            <a:prstGeom prst="rect">
              <a:avLst/>
            </a:prstGeom>
            <a:solidFill>
              <a:schemeClr val="tx1"/>
            </a:solidFill>
            <a:ln w="19050" cap="flat" cmpd="sng" algn="ctr">
              <a:solidFill>
                <a:srgbClr val="11355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13556"/>
                </a:solidFill>
                <a:effectLst/>
                <a:uLnTx/>
                <a:uFillTx/>
                <a:latin typeface="Times New Roman"/>
                <a:ea typeface="微软雅黑"/>
                <a:sym typeface="Times New Roman"/>
              </a:endParaRPr>
            </a:p>
          </p:txBody>
        </p:sp>
      </p:grpSp>
      <p:pic>
        <p:nvPicPr>
          <p:cNvPr id="4" name="图片占位符 46">
            <a:extLst>
              <a:ext uri="{FF2B5EF4-FFF2-40B4-BE49-F238E27FC236}">
                <a16:creationId xmlns:a16="http://schemas.microsoft.com/office/drawing/2014/main" id="{65D9D3B9-C1E0-41BC-6F12-06EFE68196A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827861" y="1918886"/>
            <a:ext cx="2748963" cy="2748963"/>
          </a:xfrm>
          <a:prstGeom prst="rect">
            <a:avLst/>
          </a:prstGeom>
          <a:ln>
            <a:noFill/>
          </a:ln>
          <a:effectLst>
            <a:outerShdw blurRad="292100" dist="139700" dir="2700000" algn="tl" rotWithShape="0">
              <a:srgbClr val="333333">
                <a:alpha val="65000"/>
              </a:srgbClr>
            </a:outerShdw>
          </a:effectLst>
        </p:spPr>
      </p:pic>
      <p:pic>
        <p:nvPicPr>
          <p:cNvPr id="6" name="图片占位符 48">
            <a:extLst>
              <a:ext uri="{FF2B5EF4-FFF2-40B4-BE49-F238E27FC236}">
                <a16:creationId xmlns:a16="http://schemas.microsoft.com/office/drawing/2014/main" id="{1A94CB67-CA65-9A8D-9A38-0350AE1C4F4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2771" y="4016635"/>
            <a:ext cx="1178335" cy="11783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10" name="Group 25" descr="e7d195523061f1c08d347f6bf0421bdacd46f3c1815d51b81E1CE79090F8942429A56C6AE2B3163BABA1A3FCE285BEC4FF43A5085572A94AD2C0A17AE448F24FA68DD62479D8C0666FEB6710638384D2F47D54AD7F2B38C3B3201427C66163307D06E69945807F20D554579ED3BA1CDBE7C70C27D334684D3B2DF7D1C522E5C239811152D333AEF231E5E7F3656247FE">
            <a:extLst>
              <a:ext uri="{FF2B5EF4-FFF2-40B4-BE49-F238E27FC236}">
                <a16:creationId xmlns:a16="http://schemas.microsoft.com/office/drawing/2014/main" id="{293F20D7-8040-90C5-AC49-B9B4E3DF4368}"/>
              </a:ext>
            </a:extLst>
          </p:cNvPr>
          <p:cNvGrpSpPr/>
          <p:nvPr/>
        </p:nvGrpSpPr>
        <p:grpSpPr>
          <a:xfrm>
            <a:off x="7596233" y="1717828"/>
            <a:ext cx="3580476" cy="1440571"/>
            <a:chOff x="2223374" y="1845832"/>
            <a:chExt cx="3872626" cy="1440572"/>
          </a:xfrm>
        </p:grpSpPr>
        <p:sp>
          <p:nvSpPr>
            <p:cNvPr id="12" name="Rectangle 6">
              <a:extLst>
                <a:ext uri="{FF2B5EF4-FFF2-40B4-BE49-F238E27FC236}">
                  <a16:creationId xmlns:a16="http://schemas.microsoft.com/office/drawing/2014/main" id="{D0B4FD17-BEAF-FB18-5CD7-EBEEE323909C}"/>
                </a:ext>
              </a:extLst>
            </p:cNvPr>
            <p:cNvSpPr/>
            <p:nvPr/>
          </p:nvSpPr>
          <p:spPr>
            <a:xfrm>
              <a:off x="2228602" y="2182511"/>
              <a:ext cx="3867398" cy="1103893"/>
            </a:xfrm>
            <a:prstGeom prst="rect">
              <a:avLst/>
            </a:prstGeom>
          </p:spPr>
          <p:txBody>
            <a:bodyPr wrap="square">
              <a:spAutoFit/>
            </a:bodyPr>
            <a:lstStyle/>
            <a:p>
              <a:pPr defTabSz="914377">
                <a:lnSpc>
                  <a:spcPct val="120000"/>
                </a:lnSpc>
              </a:pPr>
              <a:r>
                <a:rPr lang="en-CA" altLang="zh-CN" sz="1400" dirty="0">
                  <a:solidFill>
                    <a:prstClr val="white">
                      <a:lumMod val="50000"/>
                    </a:prstClr>
                  </a:solidFill>
                  <a:latin typeface="Times New Roman"/>
                  <a:ea typeface="微软雅黑"/>
                  <a:cs typeface="Segoe UI Light" panose="020B0502040204020203" pitchFamily="34" charset="0"/>
                  <a:sym typeface="Times New Roman"/>
                </a:rPr>
                <a:t>According to Christakis &amp; Hale (2025), disrupted sleep caused by screens altered hunger hormones, making children more prone to overeating and weight gain.</a:t>
              </a:r>
              <a:endParaRPr lang="zh-CN" altLang="en-US" sz="1400" dirty="0">
                <a:solidFill>
                  <a:prstClr val="white">
                    <a:lumMod val="50000"/>
                  </a:prstClr>
                </a:solidFill>
                <a:latin typeface="Times New Roman"/>
                <a:ea typeface="微软雅黑"/>
                <a:cs typeface="Segoe UI Light" panose="020B0502040204020203" pitchFamily="34" charset="0"/>
                <a:sym typeface="Times New Roman"/>
              </a:endParaRPr>
            </a:p>
          </p:txBody>
        </p:sp>
        <p:sp>
          <p:nvSpPr>
            <p:cNvPr id="13" name="Rectangle 8">
              <a:extLst>
                <a:ext uri="{FF2B5EF4-FFF2-40B4-BE49-F238E27FC236}">
                  <a16:creationId xmlns:a16="http://schemas.microsoft.com/office/drawing/2014/main" id="{488B5081-ECCA-0415-1A70-5F150B9833DE}"/>
                </a:ext>
              </a:extLst>
            </p:cNvPr>
            <p:cNvSpPr/>
            <p:nvPr/>
          </p:nvSpPr>
          <p:spPr>
            <a:xfrm>
              <a:off x="2223374" y="1845832"/>
              <a:ext cx="2653321" cy="362022"/>
            </a:xfrm>
            <a:prstGeom prst="rect">
              <a:avLst/>
            </a:prstGeom>
          </p:spPr>
          <p:txBody>
            <a:bodyPr wrap="square">
              <a:spAutoFit/>
            </a:bodyPr>
            <a:lstStyle/>
            <a:p>
              <a:pPr defTabSz="914377">
                <a:lnSpc>
                  <a:spcPct val="120000"/>
                </a:lnSpc>
              </a:pPr>
              <a:r>
                <a:rPr lang="en-US" sz="1600" b="1" dirty="0">
                  <a:solidFill>
                    <a:prstClr val="black">
                      <a:lumMod val="75000"/>
                      <a:lumOff val="25000"/>
                    </a:prstClr>
                  </a:solidFill>
                  <a:latin typeface="Times New Roman"/>
                  <a:ea typeface="微软雅黑"/>
                  <a:cs typeface="Segoe UI" panose="020B0502040204020203" pitchFamily="34" charset="0"/>
                  <a:sym typeface="Times New Roman"/>
                </a:rPr>
                <a:t>Physical Health Risks</a:t>
              </a:r>
              <a:endParaRPr lang="en-US" sz="1600" b="1" dirty="0">
                <a:solidFill>
                  <a:prstClr val="white">
                    <a:lumMod val="65000"/>
                  </a:prstClr>
                </a:solidFill>
                <a:latin typeface="Times New Roman"/>
                <a:ea typeface="微软雅黑"/>
                <a:cs typeface="Segoe UI" panose="020B0502040204020203" pitchFamily="34" charset="0"/>
                <a:sym typeface="Times New Roman"/>
              </a:endParaRPr>
            </a:p>
          </p:txBody>
        </p:sp>
      </p:grpSp>
      <p:grpSp>
        <p:nvGrpSpPr>
          <p:cNvPr id="14" name="Group 26" descr="e7d195523061f1c08d347f6bf0421bdacd46f3c1815d51b81E1CE79090F8942429A56C6AE2B3163BABA1A3FCE285BEC4FF43A5085572A94AD2C0A17AE448F24FA68DD62479D8C0666FEB6710638384D2F47D54AD7F2B38C3B3201427C66163307D06E69945807F20D554579ED3BA1CDBE7C70C27D334684D3B2DF7D1C522E5C239811152D333AEF231E5E7F3656247FE">
            <a:extLst>
              <a:ext uri="{FF2B5EF4-FFF2-40B4-BE49-F238E27FC236}">
                <a16:creationId xmlns:a16="http://schemas.microsoft.com/office/drawing/2014/main" id="{D5DB89AD-2F38-AE13-CC4A-59D64DEE947D}"/>
              </a:ext>
            </a:extLst>
          </p:cNvPr>
          <p:cNvGrpSpPr/>
          <p:nvPr/>
        </p:nvGrpSpPr>
        <p:grpSpPr>
          <a:xfrm>
            <a:off x="7601066" y="3171902"/>
            <a:ext cx="3575642" cy="1699103"/>
            <a:chOff x="2228602" y="3299908"/>
            <a:chExt cx="3867398" cy="1699104"/>
          </a:xfrm>
        </p:grpSpPr>
        <p:sp>
          <p:nvSpPr>
            <p:cNvPr id="15" name="Rectangle 11">
              <a:extLst>
                <a:ext uri="{FF2B5EF4-FFF2-40B4-BE49-F238E27FC236}">
                  <a16:creationId xmlns:a16="http://schemas.microsoft.com/office/drawing/2014/main" id="{BD3E46AD-2880-6F0F-9B39-BB984E41CC21}"/>
                </a:ext>
              </a:extLst>
            </p:cNvPr>
            <p:cNvSpPr/>
            <p:nvPr/>
          </p:nvSpPr>
          <p:spPr>
            <a:xfrm>
              <a:off x="2228602" y="3636587"/>
              <a:ext cx="3867398" cy="1362425"/>
            </a:xfrm>
            <a:prstGeom prst="rect">
              <a:avLst/>
            </a:prstGeom>
          </p:spPr>
          <p:txBody>
            <a:bodyPr wrap="square">
              <a:spAutoFit/>
            </a:bodyPr>
            <a:lstStyle/>
            <a:p>
              <a:pPr defTabSz="914377">
                <a:lnSpc>
                  <a:spcPct val="120000"/>
                </a:lnSpc>
              </a:pPr>
              <a:r>
                <a:rPr lang="en-CA" altLang="zh-CN" sz="1400" dirty="0">
                  <a:solidFill>
                    <a:prstClr val="white">
                      <a:lumMod val="50000"/>
                    </a:prstClr>
                  </a:solidFill>
                  <a:latin typeface="Times New Roman"/>
                  <a:ea typeface="微软雅黑"/>
                  <a:cs typeface="Segoe UI Light" panose="020B0502040204020203" pitchFamily="34" charset="0"/>
                  <a:sym typeface="Times New Roman"/>
                </a:rPr>
                <a:t>Takahashi &amp; Tsuchiya (2024) observed that children with ADHD who used screens at night were more likely to experience anxiety and emotional instability compared to those who didn’t.</a:t>
              </a:r>
              <a:endParaRPr lang="zh-CN" altLang="en-US" sz="1400" dirty="0">
                <a:solidFill>
                  <a:prstClr val="white">
                    <a:lumMod val="50000"/>
                  </a:prstClr>
                </a:solidFill>
                <a:latin typeface="Times New Roman"/>
                <a:ea typeface="微软雅黑"/>
                <a:cs typeface="Segoe UI Light" panose="020B0502040204020203" pitchFamily="34" charset="0"/>
                <a:sym typeface="Times New Roman"/>
              </a:endParaRPr>
            </a:p>
          </p:txBody>
        </p:sp>
        <p:sp>
          <p:nvSpPr>
            <p:cNvPr id="16" name="Rectangle 12">
              <a:extLst>
                <a:ext uri="{FF2B5EF4-FFF2-40B4-BE49-F238E27FC236}">
                  <a16:creationId xmlns:a16="http://schemas.microsoft.com/office/drawing/2014/main" id="{3E836AFE-1B46-1C00-4232-00AE483E241D}"/>
                </a:ext>
              </a:extLst>
            </p:cNvPr>
            <p:cNvSpPr/>
            <p:nvPr/>
          </p:nvSpPr>
          <p:spPr>
            <a:xfrm>
              <a:off x="2228602" y="3299908"/>
              <a:ext cx="2648092" cy="362022"/>
            </a:xfrm>
            <a:prstGeom prst="rect">
              <a:avLst/>
            </a:prstGeom>
          </p:spPr>
          <p:txBody>
            <a:bodyPr wrap="square">
              <a:spAutoFit/>
            </a:bodyPr>
            <a:lstStyle/>
            <a:p>
              <a:pPr defTabSz="914377">
                <a:lnSpc>
                  <a:spcPct val="120000"/>
                </a:lnSpc>
              </a:pPr>
              <a:r>
                <a:rPr lang="en-US" sz="1600" b="1" dirty="0">
                  <a:solidFill>
                    <a:prstClr val="black">
                      <a:lumMod val="75000"/>
                      <a:lumOff val="25000"/>
                    </a:prstClr>
                  </a:solidFill>
                  <a:latin typeface="Times New Roman"/>
                  <a:ea typeface="微软雅黑"/>
                  <a:cs typeface="Segoe UI" panose="020B0502040204020203" pitchFamily="34" charset="0"/>
                  <a:sym typeface="Times New Roman"/>
                </a:rPr>
                <a:t>Mental Health Impacts</a:t>
              </a:r>
              <a:endParaRPr lang="en-US" sz="1600" b="1" dirty="0">
                <a:solidFill>
                  <a:prstClr val="white">
                    <a:lumMod val="65000"/>
                  </a:prstClr>
                </a:solidFill>
                <a:latin typeface="Times New Roman"/>
                <a:ea typeface="微软雅黑"/>
                <a:cs typeface="Segoe UI" panose="020B0502040204020203" pitchFamily="34" charset="0"/>
                <a:sym typeface="Times New Roman"/>
              </a:endParaRPr>
            </a:p>
          </p:txBody>
        </p:sp>
      </p:grpSp>
      <p:grpSp>
        <p:nvGrpSpPr>
          <p:cNvPr id="17" name="Group 27" descr="e7d195523061f1c08d347f6bf0421bdacd46f3c1815d51b81E1CE79090F8942429A56C6AE2B3163BABA1A3FCE285BEC4FF43A5085572A94AD2C0A17AE448F24FA68DD62479D8C0666FEB6710638384D2F47D54AD7F2B38C3B3201427C66163307D06E69945807F20D554579ED3BA1CDBE7C70C27D334684D3B2DF7D1C522E5C239811152D333AEF231E5E7F3656247FE">
            <a:extLst>
              <a:ext uri="{FF2B5EF4-FFF2-40B4-BE49-F238E27FC236}">
                <a16:creationId xmlns:a16="http://schemas.microsoft.com/office/drawing/2014/main" id="{B3E01C88-9333-F94B-DA21-808C79CCCB74}"/>
              </a:ext>
            </a:extLst>
          </p:cNvPr>
          <p:cNvGrpSpPr/>
          <p:nvPr/>
        </p:nvGrpSpPr>
        <p:grpSpPr>
          <a:xfrm>
            <a:off x="7591006" y="4716905"/>
            <a:ext cx="3758311" cy="1440571"/>
            <a:chOff x="2218147" y="4750774"/>
            <a:chExt cx="4064971" cy="1440570"/>
          </a:xfrm>
        </p:grpSpPr>
        <p:sp>
          <p:nvSpPr>
            <p:cNvPr id="18" name="Rectangle 15">
              <a:extLst>
                <a:ext uri="{FF2B5EF4-FFF2-40B4-BE49-F238E27FC236}">
                  <a16:creationId xmlns:a16="http://schemas.microsoft.com/office/drawing/2014/main" id="{1F706747-3417-53E2-0C54-34E7DD184435}"/>
                </a:ext>
              </a:extLst>
            </p:cNvPr>
            <p:cNvSpPr/>
            <p:nvPr/>
          </p:nvSpPr>
          <p:spPr>
            <a:xfrm>
              <a:off x="2223377" y="5087453"/>
              <a:ext cx="3867398" cy="1103891"/>
            </a:xfrm>
            <a:prstGeom prst="rect">
              <a:avLst/>
            </a:prstGeom>
          </p:spPr>
          <p:txBody>
            <a:bodyPr wrap="square">
              <a:spAutoFit/>
            </a:bodyPr>
            <a:lstStyle/>
            <a:p>
              <a:pPr defTabSz="914377">
                <a:lnSpc>
                  <a:spcPct val="120000"/>
                </a:lnSpc>
              </a:pPr>
              <a:r>
                <a:rPr lang="en-CA" altLang="zh-CN" sz="1400" dirty="0">
                  <a:solidFill>
                    <a:prstClr val="white">
                      <a:lumMod val="50000"/>
                    </a:prstClr>
                  </a:solidFill>
                  <a:latin typeface="Times New Roman"/>
                  <a:ea typeface="微软雅黑"/>
                  <a:cs typeface="Segoe UI Light" panose="020B0502040204020203" pitchFamily="34" charset="0"/>
                  <a:sym typeface="Times New Roman"/>
                </a:rPr>
                <a:t>Christakis (2025) highlighted that teenagers experiencing screen-induced sleep loss reported poorer grades and struggled with attention during school hours. </a:t>
              </a:r>
              <a:endParaRPr lang="zh-CN" altLang="en-US" sz="1400" dirty="0">
                <a:solidFill>
                  <a:prstClr val="white">
                    <a:lumMod val="50000"/>
                  </a:prstClr>
                </a:solidFill>
                <a:latin typeface="Times New Roman"/>
                <a:ea typeface="微软雅黑"/>
                <a:cs typeface="Segoe UI Light" panose="020B0502040204020203" pitchFamily="34" charset="0"/>
                <a:sym typeface="Times New Roman"/>
              </a:endParaRPr>
            </a:p>
          </p:txBody>
        </p:sp>
        <p:sp>
          <p:nvSpPr>
            <p:cNvPr id="19" name="Rectangle 16">
              <a:extLst>
                <a:ext uri="{FF2B5EF4-FFF2-40B4-BE49-F238E27FC236}">
                  <a16:creationId xmlns:a16="http://schemas.microsoft.com/office/drawing/2014/main" id="{7363A1F6-EBBE-3B27-E185-256355AA5186}"/>
                </a:ext>
              </a:extLst>
            </p:cNvPr>
            <p:cNvSpPr/>
            <p:nvPr/>
          </p:nvSpPr>
          <p:spPr>
            <a:xfrm>
              <a:off x="2218147" y="4750774"/>
              <a:ext cx="4064971" cy="362022"/>
            </a:xfrm>
            <a:prstGeom prst="rect">
              <a:avLst/>
            </a:prstGeom>
          </p:spPr>
          <p:txBody>
            <a:bodyPr wrap="square">
              <a:spAutoFit/>
            </a:bodyPr>
            <a:lstStyle/>
            <a:p>
              <a:pPr defTabSz="914377">
                <a:lnSpc>
                  <a:spcPct val="120000"/>
                </a:lnSpc>
              </a:pPr>
              <a:r>
                <a:rPr lang="en-US" sz="1600" b="1" dirty="0">
                  <a:solidFill>
                    <a:prstClr val="black">
                      <a:lumMod val="75000"/>
                      <a:lumOff val="25000"/>
                    </a:prstClr>
                  </a:solidFill>
                  <a:latin typeface="Times New Roman"/>
                  <a:ea typeface="微软雅黑"/>
                  <a:cs typeface="Segoe UI" panose="020B0502040204020203" pitchFamily="34" charset="0"/>
                  <a:sym typeface="Times New Roman"/>
                </a:rPr>
                <a:t>Academic and Cognitive Consequences</a:t>
              </a:r>
              <a:endParaRPr lang="en-US" sz="1600" b="1" dirty="0">
                <a:solidFill>
                  <a:prstClr val="white">
                    <a:lumMod val="65000"/>
                  </a:prstClr>
                </a:solidFill>
                <a:latin typeface="Times New Roman"/>
                <a:ea typeface="微软雅黑"/>
                <a:cs typeface="Segoe UI" panose="020B0502040204020203" pitchFamily="34" charset="0"/>
                <a:sym typeface="Times New Roman"/>
              </a:endParaRPr>
            </a:p>
          </p:txBody>
        </p:sp>
      </p:grpSp>
      <p:grpSp>
        <p:nvGrpSpPr>
          <p:cNvPr id="20" name="Group 5" descr="e7d195523061f1c08d347f6bf0421bdacd46f3c1815d51b81E1CE79090F8942429A56C6AE2B3163BABA1A3FCE285BEC4FF43A5085572A94AD2C0A17AE448F24FA68DD62479D8C0666FEB6710638384D2F47D54AD7F2B38C3B3201427C66163307D06E69945807F20D554579ED3BA1CDBE7C70C27D334684D3B2DF7D1C522E5C239811152D333AEF231E5E7F3656247FE">
            <a:extLst>
              <a:ext uri="{FF2B5EF4-FFF2-40B4-BE49-F238E27FC236}">
                <a16:creationId xmlns:a16="http://schemas.microsoft.com/office/drawing/2014/main" id="{AA954681-FD9A-845A-2553-86CA834739FA}"/>
              </a:ext>
            </a:extLst>
          </p:cNvPr>
          <p:cNvGrpSpPr/>
          <p:nvPr/>
        </p:nvGrpSpPr>
        <p:grpSpPr>
          <a:xfrm>
            <a:off x="6202160" y="4623956"/>
            <a:ext cx="1235317" cy="1235317"/>
            <a:chOff x="829299" y="4671276"/>
            <a:chExt cx="1235317" cy="1235317"/>
          </a:xfrm>
        </p:grpSpPr>
        <p:sp>
          <p:nvSpPr>
            <p:cNvPr id="21" name="Partial Circle 13">
              <a:extLst>
                <a:ext uri="{FF2B5EF4-FFF2-40B4-BE49-F238E27FC236}">
                  <a16:creationId xmlns:a16="http://schemas.microsoft.com/office/drawing/2014/main" id="{488658B2-2246-FA90-2C7F-FE644C20CC4D}"/>
                </a:ext>
              </a:extLst>
            </p:cNvPr>
            <p:cNvSpPr/>
            <p:nvPr/>
          </p:nvSpPr>
          <p:spPr>
            <a:xfrm>
              <a:off x="829299" y="4671276"/>
              <a:ext cx="1235317" cy="1235317"/>
            </a:xfrm>
            <a:prstGeom prst="pie">
              <a:avLst/>
            </a:prstGeom>
            <a:solidFill>
              <a:sysClr val="window" lastClr="FFFFFF">
                <a:lumMod val="95000"/>
              </a:sysClr>
            </a:solidFill>
            <a:ln w="12700" cap="flat" cmpd="sng" algn="ctr">
              <a:noFill/>
              <a:prstDash val="solid"/>
              <a:miter lim="800000"/>
            </a:ln>
            <a:effectLst/>
          </p:spPr>
          <p:txBody>
            <a:bodyPr rtlCol="0" anchor="ctr"/>
            <a:lstStyle/>
            <a:p>
              <a:pPr algn="ctr" defTabSz="914377">
                <a:defRPr/>
              </a:pPr>
              <a:endParaRPr lang="en-US" kern="0">
                <a:solidFill>
                  <a:prstClr val="black"/>
                </a:solidFill>
                <a:latin typeface="Times New Roman"/>
                <a:ea typeface="微软雅黑"/>
                <a:sym typeface="Times New Roman"/>
              </a:endParaRPr>
            </a:p>
          </p:txBody>
        </p:sp>
        <p:sp>
          <p:nvSpPr>
            <p:cNvPr id="22" name="Oval 14">
              <a:extLst>
                <a:ext uri="{FF2B5EF4-FFF2-40B4-BE49-F238E27FC236}">
                  <a16:creationId xmlns:a16="http://schemas.microsoft.com/office/drawing/2014/main" id="{E838F26A-2836-0B50-B3D4-386A499B6A2B}"/>
                </a:ext>
              </a:extLst>
            </p:cNvPr>
            <p:cNvSpPr/>
            <p:nvPr/>
          </p:nvSpPr>
          <p:spPr>
            <a:xfrm>
              <a:off x="982831" y="4824808"/>
              <a:ext cx="928254" cy="928254"/>
            </a:xfrm>
            <a:prstGeom prst="ellipse">
              <a:avLst/>
            </a:prstGeom>
            <a:solidFill>
              <a:schemeClr val="tx1">
                <a:lumMod val="75000"/>
                <a:lumOff val="25000"/>
              </a:schemeClr>
            </a:solidFill>
            <a:ln w="12700" cap="flat" cmpd="sng" algn="ctr">
              <a:noFill/>
              <a:prstDash val="solid"/>
              <a:miter lim="800000"/>
            </a:ln>
            <a:effectLst/>
          </p:spPr>
          <p:txBody>
            <a:bodyPr rtlCol="0" anchor="ctr"/>
            <a:lstStyle/>
            <a:p>
              <a:pPr algn="ctr" defTabSz="914377">
                <a:defRPr/>
              </a:pPr>
              <a:endParaRPr lang="en-US" kern="0">
                <a:solidFill>
                  <a:prstClr val="white"/>
                </a:solidFill>
                <a:latin typeface="Times New Roman"/>
                <a:ea typeface="微软雅黑"/>
                <a:sym typeface="Times New Roman"/>
              </a:endParaRPr>
            </a:p>
          </p:txBody>
        </p:sp>
      </p:grpSp>
      <p:grpSp>
        <p:nvGrpSpPr>
          <p:cNvPr id="24" name="Group 3" descr="e7d195523061f1c08d347f6bf0421bdacd46f3c1815d51b81E1CE79090F8942429A56C6AE2B3163BABA1A3FCE285BEC4FF43A5085572A94AD2C0A17AE448F24FA68DD62479D8C0666FEB6710638384D2F47D54AD7F2B38C3B3201427C66163307D06E69945807F20D554579ED3BA1CDBE7C70C27D334684D3B2DF7D1C522E5C239811152D333AEF231E5E7F3656247FE">
            <a:extLst>
              <a:ext uri="{FF2B5EF4-FFF2-40B4-BE49-F238E27FC236}">
                <a16:creationId xmlns:a16="http://schemas.microsoft.com/office/drawing/2014/main" id="{BF4977DD-D24E-AD50-0D01-8C22846A39E6}"/>
              </a:ext>
            </a:extLst>
          </p:cNvPr>
          <p:cNvGrpSpPr/>
          <p:nvPr/>
        </p:nvGrpSpPr>
        <p:grpSpPr>
          <a:xfrm>
            <a:off x="6207384" y="3092408"/>
            <a:ext cx="1235317" cy="1235317"/>
            <a:chOff x="834525" y="3220410"/>
            <a:chExt cx="1235317" cy="1235317"/>
          </a:xfrm>
        </p:grpSpPr>
        <p:sp>
          <p:nvSpPr>
            <p:cNvPr id="25" name="Partial Circle 9">
              <a:extLst>
                <a:ext uri="{FF2B5EF4-FFF2-40B4-BE49-F238E27FC236}">
                  <a16:creationId xmlns:a16="http://schemas.microsoft.com/office/drawing/2014/main" id="{8A00266F-1176-7BBB-992D-C565A09987D5}"/>
                </a:ext>
              </a:extLst>
            </p:cNvPr>
            <p:cNvSpPr/>
            <p:nvPr/>
          </p:nvSpPr>
          <p:spPr>
            <a:xfrm>
              <a:off x="834525" y="3220410"/>
              <a:ext cx="1235317" cy="1235317"/>
            </a:xfrm>
            <a:prstGeom prst="pie">
              <a:avLst/>
            </a:prstGeom>
            <a:solidFill>
              <a:sysClr val="window" lastClr="FFFFFF">
                <a:lumMod val="95000"/>
              </a:sysClr>
            </a:solidFill>
            <a:ln w="12700" cap="flat" cmpd="sng" algn="ctr">
              <a:noFill/>
              <a:prstDash val="solid"/>
              <a:miter lim="800000"/>
            </a:ln>
            <a:effectLst/>
          </p:spPr>
          <p:txBody>
            <a:bodyPr rtlCol="0" anchor="ctr"/>
            <a:lstStyle/>
            <a:p>
              <a:pPr algn="ctr" defTabSz="914377">
                <a:defRPr/>
              </a:pPr>
              <a:endParaRPr lang="en-US" kern="0">
                <a:solidFill>
                  <a:prstClr val="black"/>
                </a:solidFill>
                <a:latin typeface="Times New Roman"/>
                <a:ea typeface="微软雅黑"/>
                <a:sym typeface="Times New Roman"/>
              </a:endParaRPr>
            </a:p>
          </p:txBody>
        </p:sp>
        <p:sp>
          <p:nvSpPr>
            <p:cNvPr id="26" name="Oval 10">
              <a:extLst>
                <a:ext uri="{FF2B5EF4-FFF2-40B4-BE49-F238E27FC236}">
                  <a16:creationId xmlns:a16="http://schemas.microsoft.com/office/drawing/2014/main" id="{DDB879E2-7C73-0B57-EE3F-6AFBB55290B3}"/>
                </a:ext>
              </a:extLst>
            </p:cNvPr>
            <p:cNvSpPr/>
            <p:nvPr/>
          </p:nvSpPr>
          <p:spPr>
            <a:xfrm>
              <a:off x="988057" y="3373942"/>
              <a:ext cx="928254" cy="928254"/>
            </a:xfrm>
            <a:prstGeom prst="ellipse">
              <a:avLst/>
            </a:prstGeom>
            <a:solidFill>
              <a:schemeClr val="bg1">
                <a:lumMod val="75000"/>
              </a:schemeClr>
            </a:solidFill>
            <a:ln w="12700" cap="flat" cmpd="sng" algn="ctr">
              <a:noFill/>
              <a:prstDash val="solid"/>
              <a:miter lim="800000"/>
            </a:ln>
            <a:effectLst/>
          </p:spPr>
          <p:txBody>
            <a:bodyPr rtlCol="0" anchor="ctr"/>
            <a:lstStyle/>
            <a:p>
              <a:pPr algn="ctr" defTabSz="914377">
                <a:defRPr/>
              </a:pPr>
              <a:endParaRPr lang="en-US" kern="0" dirty="0">
                <a:solidFill>
                  <a:prstClr val="white"/>
                </a:solidFill>
                <a:latin typeface="Times New Roman"/>
                <a:ea typeface="微软雅黑"/>
                <a:sym typeface="Times New Roman"/>
              </a:endParaRPr>
            </a:p>
          </p:txBody>
        </p:sp>
      </p:grpSp>
      <p:grpSp>
        <p:nvGrpSpPr>
          <p:cNvPr id="31" name="Group 1" descr="e7d195523061f1c08d347f6bf0421bdacd46f3c1815d51b81E1CE79090F8942429A56C6AE2B3163BABA1A3FCE285BEC4FF43A5085572A94AD2C0A17AE448F24FA68DD62479D8C0666FEB6710638384D2F47D54AD7F2B38C3B3201427C66163307D06E69945807F20D554579ED3BA1CDBE7C70C27D334684D3B2DF7D1C522E5C239811152D333AEF231E5E7F3656247FE">
            <a:extLst>
              <a:ext uri="{FF2B5EF4-FFF2-40B4-BE49-F238E27FC236}">
                <a16:creationId xmlns:a16="http://schemas.microsoft.com/office/drawing/2014/main" id="{5C61FA65-BBEE-677F-781C-96816288BA92}"/>
              </a:ext>
            </a:extLst>
          </p:cNvPr>
          <p:cNvGrpSpPr/>
          <p:nvPr/>
        </p:nvGrpSpPr>
        <p:grpSpPr>
          <a:xfrm>
            <a:off x="6207384" y="1638333"/>
            <a:ext cx="1235317" cy="1235317"/>
            <a:chOff x="834525" y="1766334"/>
            <a:chExt cx="1235317" cy="1235317"/>
          </a:xfrm>
        </p:grpSpPr>
        <p:sp>
          <p:nvSpPr>
            <p:cNvPr id="32" name="Partial Circle 4">
              <a:extLst>
                <a:ext uri="{FF2B5EF4-FFF2-40B4-BE49-F238E27FC236}">
                  <a16:creationId xmlns:a16="http://schemas.microsoft.com/office/drawing/2014/main" id="{00B14E06-23E5-4CE4-FFE7-169232087EE2}"/>
                </a:ext>
              </a:extLst>
            </p:cNvPr>
            <p:cNvSpPr/>
            <p:nvPr/>
          </p:nvSpPr>
          <p:spPr>
            <a:xfrm>
              <a:off x="834525" y="1766334"/>
              <a:ext cx="1235317" cy="1235317"/>
            </a:xfrm>
            <a:prstGeom prst="pie">
              <a:avLst/>
            </a:prstGeom>
            <a:solidFill>
              <a:sysClr val="window" lastClr="FFFFFF">
                <a:lumMod val="95000"/>
              </a:sysClr>
            </a:solidFill>
            <a:ln w="12700" cap="flat" cmpd="sng" algn="ctr">
              <a:noFill/>
              <a:prstDash val="solid"/>
              <a:miter lim="800000"/>
            </a:ln>
            <a:effectLst/>
          </p:spPr>
          <p:txBody>
            <a:bodyPr rtlCol="0" anchor="ctr"/>
            <a:lstStyle/>
            <a:p>
              <a:pPr algn="ctr" defTabSz="914377">
                <a:defRPr/>
              </a:pPr>
              <a:endParaRPr lang="en-US" kern="0" dirty="0">
                <a:solidFill>
                  <a:prstClr val="black"/>
                </a:solidFill>
                <a:latin typeface="Times New Roman"/>
                <a:ea typeface="微软雅黑"/>
                <a:sym typeface="Times New Roman"/>
              </a:endParaRPr>
            </a:p>
          </p:txBody>
        </p:sp>
        <p:sp>
          <p:nvSpPr>
            <p:cNvPr id="33" name="Oval 2">
              <a:extLst>
                <a:ext uri="{FF2B5EF4-FFF2-40B4-BE49-F238E27FC236}">
                  <a16:creationId xmlns:a16="http://schemas.microsoft.com/office/drawing/2014/main" id="{7B576E38-FB4D-6261-BB51-FFB173F4AF0B}"/>
                </a:ext>
              </a:extLst>
            </p:cNvPr>
            <p:cNvSpPr/>
            <p:nvPr/>
          </p:nvSpPr>
          <p:spPr>
            <a:xfrm>
              <a:off x="988057" y="1919866"/>
              <a:ext cx="928254" cy="928254"/>
            </a:xfrm>
            <a:prstGeom prst="ellipse">
              <a:avLst/>
            </a:prstGeom>
            <a:solidFill>
              <a:schemeClr val="bg1">
                <a:lumMod val="85000"/>
              </a:schemeClr>
            </a:solidFill>
            <a:ln w="12700" cap="flat" cmpd="sng" algn="ctr">
              <a:noFill/>
              <a:prstDash val="solid"/>
              <a:miter lim="800000"/>
            </a:ln>
            <a:effectLst/>
          </p:spPr>
          <p:txBody>
            <a:bodyPr rtlCol="0" anchor="ctr"/>
            <a:lstStyle/>
            <a:p>
              <a:pPr algn="ctr" defTabSz="914377">
                <a:defRPr/>
              </a:pPr>
              <a:endParaRPr lang="en-US" kern="0" dirty="0">
                <a:solidFill>
                  <a:prstClr val="white"/>
                </a:solidFill>
                <a:latin typeface="Times New Roman"/>
                <a:ea typeface="微软雅黑"/>
                <a:sym typeface="Times New Roman"/>
              </a:endParaRPr>
            </a:p>
          </p:txBody>
        </p:sp>
      </p:grpSp>
    </p:spTree>
    <p:extLst>
      <p:ext uri="{BB962C8B-B14F-4D97-AF65-F5344CB8AC3E}">
        <p14:creationId xmlns:p14="http://schemas.microsoft.com/office/powerpoint/2010/main" val="1657383933"/>
      </p:ext>
    </p:extLst>
  </p:cSld>
  <p:clrMapOvr>
    <a:masterClrMapping/>
  </p:clrMapOvr>
  <mc:AlternateContent xmlns:mc="http://schemas.openxmlformats.org/markup-compatibility/2006" xmlns:p14="http://schemas.microsoft.com/office/powerpoint/2010/main">
    <mc:Choice Requires="p14">
      <p:transition spd="slow" p14:dur="1300" advTm="99694">
        <p14:pan/>
      </p:transition>
    </mc:Choice>
    <mc:Fallback xmlns="">
      <p:transition spd="slow" advTm="9969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 presetClass="entr" presetSubtype="8" decel="10000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1000" fill="hold"/>
                                        <p:tgtEl>
                                          <p:spTgt spid="11"/>
                                        </p:tgtEl>
                                        <p:attrNameLst>
                                          <p:attrName>ppt_x</p:attrName>
                                        </p:attrNameLst>
                                      </p:cBhvr>
                                      <p:tavLst>
                                        <p:tav tm="0">
                                          <p:val>
                                            <p:strVal val="0-#ppt_w/2"/>
                                          </p:val>
                                        </p:tav>
                                        <p:tav tm="100000">
                                          <p:val>
                                            <p:strVal val="#ppt_x"/>
                                          </p:val>
                                        </p:tav>
                                      </p:tavLst>
                                    </p:anim>
                                    <p:anim calcmode="lin" valueType="num">
                                      <p:cBhvr additive="base">
                                        <p:cTn id="11" dur="1000" fill="hold"/>
                                        <p:tgtEl>
                                          <p:spTgt spid="11"/>
                                        </p:tgtEl>
                                        <p:attrNameLst>
                                          <p:attrName>ppt_y</p:attrName>
                                        </p:attrNameLst>
                                      </p:cBhvr>
                                      <p:tavLst>
                                        <p:tav tm="0">
                                          <p:val>
                                            <p:strVal val="#ppt_y"/>
                                          </p:val>
                                        </p:tav>
                                        <p:tav tm="100000">
                                          <p:val>
                                            <p:strVal val="#ppt_y"/>
                                          </p:val>
                                        </p:tav>
                                      </p:tavLst>
                                    </p:anim>
                                  </p:childTnLst>
                                </p:cTn>
                              </p:par>
                              <p:par>
                                <p:cTn id="12" presetID="22" presetClass="entr" presetSubtype="4"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par>
                          <p:cTn id="15" fill="hold">
                            <p:stCondLst>
                              <p:cond delay="1000"/>
                            </p:stCondLst>
                            <p:childTnLst>
                              <p:par>
                                <p:cTn id="16" presetID="53" presetClass="entr" presetSubtype="16"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childTnLst>
                          </p:cTn>
                        </p:par>
                        <p:par>
                          <p:cTn id="21" fill="hold">
                            <p:stCondLst>
                              <p:cond delay="2600"/>
                            </p:stCondLst>
                            <p:childTnLst>
                              <p:par>
                                <p:cTn id="22" presetID="2" presetClass="entr" presetSubtype="8" decel="10000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1000" fill="hold"/>
                                        <p:tgtEl>
                                          <p:spTgt spid="4"/>
                                        </p:tgtEl>
                                        <p:attrNameLst>
                                          <p:attrName>ppt_x</p:attrName>
                                        </p:attrNameLst>
                                      </p:cBhvr>
                                      <p:tavLst>
                                        <p:tav tm="0">
                                          <p:val>
                                            <p:strVal val="0-#ppt_w/2"/>
                                          </p:val>
                                        </p:tav>
                                        <p:tav tm="100000">
                                          <p:val>
                                            <p:strVal val="#ppt_x"/>
                                          </p:val>
                                        </p:tav>
                                      </p:tavLst>
                                    </p:anim>
                                    <p:anim calcmode="lin" valueType="num">
                                      <p:cBhvr additive="base">
                                        <p:cTn id="25" dur="1000" fill="hold"/>
                                        <p:tgtEl>
                                          <p:spTgt spid="4"/>
                                        </p:tgtEl>
                                        <p:attrNameLst>
                                          <p:attrName>ppt_y</p:attrName>
                                        </p:attrNameLst>
                                      </p:cBhvr>
                                      <p:tavLst>
                                        <p:tav tm="0">
                                          <p:val>
                                            <p:strVal val="#ppt_y"/>
                                          </p:val>
                                        </p:tav>
                                        <p:tav tm="100000">
                                          <p:val>
                                            <p:strVal val="#ppt_y"/>
                                          </p:val>
                                        </p:tav>
                                      </p:tavLst>
                                    </p:anim>
                                  </p:childTnLst>
                                </p:cTn>
                              </p:par>
                              <p:par>
                                <p:cTn id="26" presetID="2" presetClass="entr" presetSubtype="8" decel="100000"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1000" fill="hold"/>
                                        <p:tgtEl>
                                          <p:spTgt spid="6"/>
                                        </p:tgtEl>
                                        <p:attrNameLst>
                                          <p:attrName>ppt_x</p:attrName>
                                        </p:attrNameLst>
                                      </p:cBhvr>
                                      <p:tavLst>
                                        <p:tav tm="0">
                                          <p:val>
                                            <p:strVal val="0-#ppt_w/2"/>
                                          </p:val>
                                        </p:tav>
                                        <p:tav tm="100000">
                                          <p:val>
                                            <p:strVal val="#ppt_x"/>
                                          </p:val>
                                        </p:tav>
                                      </p:tavLst>
                                    </p:anim>
                                    <p:anim calcmode="lin" valueType="num">
                                      <p:cBhvr additive="base">
                                        <p:cTn id="29" dur="1000" fill="hold"/>
                                        <p:tgtEl>
                                          <p:spTgt spid="6"/>
                                        </p:tgtEl>
                                        <p:attrNameLst>
                                          <p:attrName>ppt_y</p:attrName>
                                        </p:attrNameLst>
                                      </p:cBhvr>
                                      <p:tavLst>
                                        <p:tav tm="0">
                                          <p:val>
                                            <p:strVal val="#ppt_y"/>
                                          </p:val>
                                        </p:tav>
                                        <p:tav tm="100000">
                                          <p:val>
                                            <p:strVal val="#ppt_y"/>
                                          </p:val>
                                        </p:tav>
                                      </p:tavLst>
                                    </p:anim>
                                  </p:childTnLst>
                                </p:cTn>
                              </p:par>
                            </p:childTnLst>
                          </p:cTn>
                        </p:par>
                        <p:par>
                          <p:cTn id="30" fill="hold">
                            <p:stCondLst>
                              <p:cond delay="3600"/>
                            </p:stCondLst>
                            <p:childTnLst>
                              <p:par>
                                <p:cTn id="31" presetID="22" presetClass="entr" presetSubtype="1" fill="hold"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up)">
                                      <p:cBhvr>
                                        <p:cTn id="33" dur="500"/>
                                        <p:tgtEl>
                                          <p:spTgt spid="9"/>
                                        </p:tgtEl>
                                      </p:cBhvr>
                                    </p:animEffect>
                                  </p:childTnLst>
                                </p:cTn>
                              </p:par>
                            </p:childTnLst>
                          </p:cTn>
                        </p:par>
                        <p:par>
                          <p:cTn id="34" fill="hold">
                            <p:stCondLst>
                              <p:cond delay="4100"/>
                            </p:stCondLst>
                            <p:childTnLst>
                              <p:par>
                                <p:cTn id="35" presetID="2" presetClass="entr" presetSubtype="8" decel="100000" fill="hold" nodeType="afterEffect">
                                  <p:stCondLst>
                                    <p:cond delay="0"/>
                                  </p:stCondLst>
                                  <p:childTnLst>
                                    <p:set>
                                      <p:cBhvr>
                                        <p:cTn id="36" dur="1" fill="hold">
                                          <p:stCondLst>
                                            <p:cond delay="0"/>
                                          </p:stCondLst>
                                        </p:cTn>
                                        <p:tgtEl>
                                          <p:spTgt spid="31"/>
                                        </p:tgtEl>
                                        <p:attrNameLst>
                                          <p:attrName>style.visibility</p:attrName>
                                        </p:attrNameLst>
                                      </p:cBhvr>
                                      <p:to>
                                        <p:strVal val="visible"/>
                                      </p:to>
                                    </p:set>
                                    <p:anim calcmode="lin" valueType="num">
                                      <p:cBhvr additive="base">
                                        <p:cTn id="37" dur="750" fill="hold"/>
                                        <p:tgtEl>
                                          <p:spTgt spid="31"/>
                                        </p:tgtEl>
                                        <p:attrNameLst>
                                          <p:attrName>ppt_x</p:attrName>
                                        </p:attrNameLst>
                                      </p:cBhvr>
                                      <p:tavLst>
                                        <p:tav tm="0">
                                          <p:val>
                                            <p:strVal val="0-#ppt_w/2"/>
                                          </p:val>
                                        </p:tav>
                                        <p:tav tm="100000">
                                          <p:val>
                                            <p:strVal val="#ppt_x"/>
                                          </p:val>
                                        </p:tav>
                                      </p:tavLst>
                                    </p:anim>
                                    <p:anim calcmode="lin" valueType="num">
                                      <p:cBhvr additive="base">
                                        <p:cTn id="38" dur="750" fill="hold"/>
                                        <p:tgtEl>
                                          <p:spTgt spid="31"/>
                                        </p:tgtEl>
                                        <p:attrNameLst>
                                          <p:attrName>ppt_y</p:attrName>
                                        </p:attrNameLst>
                                      </p:cBhvr>
                                      <p:tavLst>
                                        <p:tav tm="0">
                                          <p:val>
                                            <p:strVal val="#ppt_y"/>
                                          </p:val>
                                        </p:tav>
                                        <p:tav tm="100000">
                                          <p:val>
                                            <p:strVal val="#ppt_y"/>
                                          </p:val>
                                        </p:tav>
                                      </p:tavLst>
                                    </p:anim>
                                  </p:childTnLst>
                                </p:cTn>
                              </p:par>
                              <p:par>
                                <p:cTn id="39" presetID="2" presetClass="entr" presetSubtype="8" decel="10000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750" fill="hold"/>
                                        <p:tgtEl>
                                          <p:spTgt spid="10"/>
                                        </p:tgtEl>
                                        <p:attrNameLst>
                                          <p:attrName>ppt_x</p:attrName>
                                        </p:attrNameLst>
                                      </p:cBhvr>
                                      <p:tavLst>
                                        <p:tav tm="0">
                                          <p:val>
                                            <p:strVal val="0-#ppt_w/2"/>
                                          </p:val>
                                        </p:tav>
                                        <p:tav tm="100000">
                                          <p:val>
                                            <p:strVal val="#ppt_x"/>
                                          </p:val>
                                        </p:tav>
                                      </p:tavLst>
                                    </p:anim>
                                    <p:anim calcmode="lin" valueType="num">
                                      <p:cBhvr additive="base">
                                        <p:cTn id="42" dur="750" fill="hold"/>
                                        <p:tgtEl>
                                          <p:spTgt spid="10"/>
                                        </p:tgtEl>
                                        <p:attrNameLst>
                                          <p:attrName>ppt_y</p:attrName>
                                        </p:attrNameLst>
                                      </p:cBhvr>
                                      <p:tavLst>
                                        <p:tav tm="0">
                                          <p:val>
                                            <p:strVal val="#ppt_y"/>
                                          </p:val>
                                        </p:tav>
                                        <p:tav tm="100000">
                                          <p:val>
                                            <p:strVal val="#ppt_y"/>
                                          </p:val>
                                        </p:tav>
                                      </p:tavLst>
                                    </p:anim>
                                  </p:childTnLst>
                                </p:cTn>
                              </p:par>
                            </p:childTnLst>
                          </p:cTn>
                        </p:par>
                        <p:par>
                          <p:cTn id="43" fill="hold">
                            <p:stCondLst>
                              <p:cond delay="4850"/>
                            </p:stCondLst>
                            <p:childTnLst>
                              <p:par>
                                <p:cTn id="44" presetID="2" presetClass="entr" presetSubtype="8" decel="100000" fill="hold" nodeType="afterEffect">
                                  <p:stCondLst>
                                    <p:cond delay="0"/>
                                  </p:stCondLst>
                                  <p:childTnLst>
                                    <p:set>
                                      <p:cBhvr>
                                        <p:cTn id="45" dur="1" fill="hold">
                                          <p:stCondLst>
                                            <p:cond delay="0"/>
                                          </p:stCondLst>
                                        </p:cTn>
                                        <p:tgtEl>
                                          <p:spTgt spid="24"/>
                                        </p:tgtEl>
                                        <p:attrNameLst>
                                          <p:attrName>style.visibility</p:attrName>
                                        </p:attrNameLst>
                                      </p:cBhvr>
                                      <p:to>
                                        <p:strVal val="visible"/>
                                      </p:to>
                                    </p:set>
                                    <p:anim calcmode="lin" valueType="num">
                                      <p:cBhvr additive="base">
                                        <p:cTn id="46" dur="750" fill="hold"/>
                                        <p:tgtEl>
                                          <p:spTgt spid="24"/>
                                        </p:tgtEl>
                                        <p:attrNameLst>
                                          <p:attrName>ppt_x</p:attrName>
                                        </p:attrNameLst>
                                      </p:cBhvr>
                                      <p:tavLst>
                                        <p:tav tm="0">
                                          <p:val>
                                            <p:strVal val="0-#ppt_w/2"/>
                                          </p:val>
                                        </p:tav>
                                        <p:tav tm="100000">
                                          <p:val>
                                            <p:strVal val="#ppt_x"/>
                                          </p:val>
                                        </p:tav>
                                      </p:tavLst>
                                    </p:anim>
                                    <p:anim calcmode="lin" valueType="num">
                                      <p:cBhvr additive="base">
                                        <p:cTn id="47" dur="750" fill="hold"/>
                                        <p:tgtEl>
                                          <p:spTgt spid="24"/>
                                        </p:tgtEl>
                                        <p:attrNameLst>
                                          <p:attrName>ppt_y</p:attrName>
                                        </p:attrNameLst>
                                      </p:cBhvr>
                                      <p:tavLst>
                                        <p:tav tm="0">
                                          <p:val>
                                            <p:strVal val="#ppt_y"/>
                                          </p:val>
                                        </p:tav>
                                        <p:tav tm="100000">
                                          <p:val>
                                            <p:strVal val="#ppt_y"/>
                                          </p:val>
                                        </p:tav>
                                      </p:tavLst>
                                    </p:anim>
                                  </p:childTnLst>
                                </p:cTn>
                              </p:par>
                              <p:par>
                                <p:cTn id="48" presetID="2" presetClass="entr" presetSubtype="8" decel="100000"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750" fill="hold"/>
                                        <p:tgtEl>
                                          <p:spTgt spid="14"/>
                                        </p:tgtEl>
                                        <p:attrNameLst>
                                          <p:attrName>ppt_x</p:attrName>
                                        </p:attrNameLst>
                                      </p:cBhvr>
                                      <p:tavLst>
                                        <p:tav tm="0">
                                          <p:val>
                                            <p:strVal val="0-#ppt_w/2"/>
                                          </p:val>
                                        </p:tav>
                                        <p:tav tm="100000">
                                          <p:val>
                                            <p:strVal val="#ppt_x"/>
                                          </p:val>
                                        </p:tav>
                                      </p:tavLst>
                                    </p:anim>
                                    <p:anim calcmode="lin" valueType="num">
                                      <p:cBhvr additive="base">
                                        <p:cTn id="51" dur="750" fill="hold"/>
                                        <p:tgtEl>
                                          <p:spTgt spid="14"/>
                                        </p:tgtEl>
                                        <p:attrNameLst>
                                          <p:attrName>ppt_y</p:attrName>
                                        </p:attrNameLst>
                                      </p:cBhvr>
                                      <p:tavLst>
                                        <p:tav tm="0">
                                          <p:val>
                                            <p:strVal val="#ppt_y"/>
                                          </p:val>
                                        </p:tav>
                                        <p:tav tm="100000">
                                          <p:val>
                                            <p:strVal val="#ppt_y"/>
                                          </p:val>
                                        </p:tav>
                                      </p:tavLst>
                                    </p:anim>
                                  </p:childTnLst>
                                </p:cTn>
                              </p:par>
                            </p:childTnLst>
                          </p:cTn>
                        </p:par>
                        <p:par>
                          <p:cTn id="52" fill="hold">
                            <p:stCondLst>
                              <p:cond delay="5600"/>
                            </p:stCondLst>
                            <p:childTnLst>
                              <p:par>
                                <p:cTn id="53" presetID="2" presetClass="entr" presetSubtype="8" decel="100000"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750" fill="hold"/>
                                        <p:tgtEl>
                                          <p:spTgt spid="20"/>
                                        </p:tgtEl>
                                        <p:attrNameLst>
                                          <p:attrName>ppt_x</p:attrName>
                                        </p:attrNameLst>
                                      </p:cBhvr>
                                      <p:tavLst>
                                        <p:tav tm="0">
                                          <p:val>
                                            <p:strVal val="0-#ppt_w/2"/>
                                          </p:val>
                                        </p:tav>
                                        <p:tav tm="100000">
                                          <p:val>
                                            <p:strVal val="#ppt_x"/>
                                          </p:val>
                                        </p:tav>
                                      </p:tavLst>
                                    </p:anim>
                                    <p:anim calcmode="lin" valueType="num">
                                      <p:cBhvr additive="base">
                                        <p:cTn id="56" dur="750" fill="hold"/>
                                        <p:tgtEl>
                                          <p:spTgt spid="20"/>
                                        </p:tgtEl>
                                        <p:attrNameLst>
                                          <p:attrName>ppt_y</p:attrName>
                                        </p:attrNameLst>
                                      </p:cBhvr>
                                      <p:tavLst>
                                        <p:tav tm="0">
                                          <p:val>
                                            <p:strVal val="#ppt_y"/>
                                          </p:val>
                                        </p:tav>
                                        <p:tav tm="100000">
                                          <p:val>
                                            <p:strVal val="#ppt_y"/>
                                          </p:val>
                                        </p:tav>
                                      </p:tavLst>
                                    </p:anim>
                                  </p:childTnLst>
                                </p:cTn>
                              </p:par>
                              <p:par>
                                <p:cTn id="57" presetID="2" presetClass="entr" presetSubtype="8" decel="100000"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750" fill="hold"/>
                                        <p:tgtEl>
                                          <p:spTgt spid="17"/>
                                        </p:tgtEl>
                                        <p:attrNameLst>
                                          <p:attrName>ppt_x</p:attrName>
                                        </p:attrNameLst>
                                      </p:cBhvr>
                                      <p:tavLst>
                                        <p:tav tm="0">
                                          <p:val>
                                            <p:strVal val="0-#ppt_w/2"/>
                                          </p:val>
                                        </p:tav>
                                        <p:tav tm="100000">
                                          <p:val>
                                            <p:strVal val="#ppt_x"/>
                                          </p:val>
                                        </p:tav>
                                      </p:tavLst>
                                    </p:anim>
                                    <p:anim calcmode="lin" valueType="num">
                                      <p:cBhvr additive="base">
                                        <p:cTn id="60" dur="75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6765ECE3-D4C3-4882-D575-B6064366391F}"/>
              </a:ext>
            </a:extLst>
          </p:cNvPr>
          <p:cNvCxnSpPr>
            <a:cxnSpLocks/>
          </p:cNvCxnSpPr>
          <p:nvPr/>
        </p:nvCxnSpPr>
        <p:spPr>
          <a:xfrm>
            <a:off x="411783" y="942554"/>
            <a:ext cx="26887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7989539-24ED-B150-EF0E-AC5BC72A3767}"/>
              </a:ext>
            </a:extLst>
          </p:cNvPr>
          <p:cNvCxnSpPr/>
          <p:nvPr/>
        </p:nvCxnSpPr>
        <p:spPr>
          <a:xfrm>
            <a:off x="720619" y="423896"/>
            <a:ext cx="0" cy="7327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753AF82A-B41E-131F-0BB5-B912A030B207}"/>
              </a:ext>
            </a:extLst>
          </p:cNvPr>
          <p:cNvSpPr txBox="1"/>
          <p:nvPr/>
        </p:nvSpPr>
        <p:spPr>
          <a:xfrm>
            <a:off x="841660" y="477903"/>
            <a:ext cx="3982675" cy="400110"/>
          </a:xfrm>
          <a:prstGeom prst="rect">
            <a:avLst/>
          </a:prstGeom>
          <a:noFill/>
        </p:spPr>
        <p:txBody>
          <a:bodyPr wrap="square" rtlCol="0">
            <a:spAutoFit/>
          </a:bodyPr>
          <a:lstStyle/>
          <a:p>
            <a:r>
              <a:rPr lang="en-CA" altLang="zh-CN" sz="2000" dirty="0">
                <a:latin typeface="Times New Roman"/>
                <a:ea typeface="微软雅黑"/>
                <a:sym typeface="Times New Roman"/>
              </a:rPr>
              <a:t>Guidelines for Healthy Screen Use </a:t>
            </a:r>
            <a:endParaRPr lang="zh-CN" altLang="en-US" sz="2000" dirty="0">
              <a:latin typeface="Times New Roman"/>
              <a:ea typeface="微软雅黑"/>
              <a:sym typeface="Times New Roman"/>
            </a:endParaRPr>
          </a:p>
        </p:txBody>
      </p:sp>
      <p:sp>
        <p:nvSpPr>
          <p:cNvPr id="11" name="矩形 10"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CF708AE9-8C15-45C9-4727-05BED44FAA42}"/>
              </a:ext>
            </a:extLst>
          </p:cNvPr>
          <p:cNvSpPr/>
          <p:nvPr/>
        </p:nvSpPr>
        <p:spPr>
          <a:xfrm>
            <a:off x="2684512" y="883714"/>
            <a:ext cx="117680" cy="117680"/>
          </a:xfrm>
          <a:prstGeom prst="rect">
            <a:avLst/>
          </a:prstGeom>
          <a:solidFill>
            <a:schemeClr val="tx1"/>
          </a:solidFill>
          <a:ln w="19050">
            <a:solidFill>
              <a:srgbClr val="113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13556"/>
              </a:solidFill>
              <a:latin typeface="Times New Roman"/>
              <a:ea typeface="微软雅黑"/>
              <a:cs typeface="+mn-ea"/>
              <a:sym typeface="Times New Roman"/>
            </a:endParaRPr>
          </a:p>
        </p:txBody>
      </p:sp>
      <p:grpSp>
        <p:nvGrpSpPr>
          <p:cNvPr id="34" name="Group 19">
            <a:extLst>
              <a:ext uri="{FF2B5EF4-FFF2-40B4-BE49-F238E27FC236}">
                <a16:creationId xmlns:a16="http://schemas.microsoft.com/office/drawing/2014/main" id="{55D96937-0582-1A2D-E018-DAA72054E926}"/>
              </a:ext>
            </a:extLst>
          </p:cNvPr>
          <p:cNvGrpSpPr/>
          <p:nvPr/>
        </p:nvGrpSpPr>
        <p:grpSpPr>
          <a:xfrm>
            <a:off x="8853615" y="3492732"/>
            <a:ext cx="2847975" cy="2659062"/>
            <a:chOff x="8072438" y="3432175"/>
            <a:chExt cx="2847975" cy="2659062"/>
          </a:xfrm>
        </p:grpSpPr>
        <p:sp>
          <p:nvSpPr>
            <p:cNvPr id="35" name="Freeform 6">
              <a:extLst>
                <a:ext uri="{FF2B5EF4-FFF2-40B4-BE49-F238E27FC236}">
                  <a16:creationId xmlns:a16="http://schemas.microsoft.com/office/drawing/2014/main" id="{ADC4E57D-5C13-0B46-D2F2-19312C2F75E3}"/>
                </a:ext>
              </a:extLst>
            </p:cNvPr>
            <p:cNvSpPr>
              <a:spLocks/>
            </p:cNvSpPr>
            <p:nvPr/>
          </p:nvSpPr>
          <p:spPr bwMode="auto">
            <a:xfrm>
              <a:off x="8072438" y="3432175"/>
              <a:ext cx="2847975" cy="2598737"/>
            </a:xfrm>
            <a:custGeom>
              <a:avLst/>
              <a:gdLst>
                <a:gd name="T0" fmla="*/ 0 w 748"/>
                <a:gd name="T1" fmla="*/ 682 h 682"/>
                <a:gd name="T2" fmla="*/ 748 w 748"/>
                <a:gd name="T3" fmla="*/ 682 h 682"/>
                <a:gd name="T4" fmla="*/ 354 w 748"/>
                <a:gd name="T5" fmla="*/ 0 h 682"/>
                <a:gd name="T6" fmla="*/ 171 w 748"/>
                <a:gd name="T7" fmla="*/ 106 h 682"/>
                <a:gd name="T8" fmla="*/ 82 w 748"/>
                <a:gd name="T9" fmla="*/ 437 h 682"/>
                <a:gd name="T10" fmla="*/ 0 w 748"/>
                <a:gd name="T11" fmla="*/ 467 h 682"/>
              </a:gdLst>
              <a:ahLst/>
              <a:cxnLst>
                <a:cxn ang="0">
                  <a:pos x="T0" y="T1"/>
                </a:cxn>
                <a:cxn ang="0">
                  <a:pos x="T2" y="T3"/>
                </a:cxn>
                <a:cxn ang="0">
                  <a:pos x="T4" y="T5"/>
                </a:cxn>
                <a:cxn ang="0">
                  <a:pos x="T6" y="T7"/>
                </a:cxn>
                <a:cxn ang="0">
                  <a:pos x="T8" y="T9"/>
                </a:cxn>
                <a:cxn ang="0">
                  <a:pos x="T10" y="T11"/>
                </a:cxn>
              </a:cxnLst>
              <a:rect l="0" t="0" r="r" b="b"/>
              <a:pathLst>
                <a:path w="748" h="682">
                  <a:moveTo>
                    <a:pt x="0" y="682"/>
                  </a:moveTo>
                  <a:cubicBezTo>
                    <a:pt x="748" y="682"/>
                    <a:pt x="748" y="682"/>
                    <a:pt x="748" y="682"/>
                  </a:cubicBezTo>
                  <a:cubicBezTo>
                    <a:pt x="354" y="0"/>
                    <a:pt x="354" y="0"/>
                    <a:pt x="354" y="0"/>
                  </a:cubicBezTo>
                  <a:cubicBezTo>
                    <a:pt x="171" y="106"/>
                    <a:pt x="171" y="106"/>
                    <a:pt x="171" y="106"/>
                  </a:cubicBezTo>
                  <a:cubicBezTo>
                    <a:pt x="238" y="222"/>
                    <a:pt x="198" y="370"/>
                    <a:pt x="82" y="437"/>
                  </a:cubicBezTo>
                  <a:cubicBezTo>
                    <a:pt x="56" y="452"/>
                    <a:pt x="28" y="462"/>
                    <a:pt x="0" y="467"/>
                  </a:cubicBezTo>
                </a:path>
              </a:pathLst>
            </a:custGeom>
            <a:noFill/>
            <a:ln w="381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ru-RU" sz="1800" b="0" i="0" u="none" strike="noStrike" kern="0" cap="none" spc="0" normalizeH="0" baseline="0" noProof="0">
                <a:ln>
                  <a:noFill/>
                </a:ln>
                <a:solidFill>
                  <a:srgbClr val="414042"/>
                </a:solidFill>
                <a:effectLst/>
                <a:uLnTx/>
                <a:uFillTx/>
                <a:latin typeface="Times New Roman"/>
                <a:ea typeface="微软雅黑"/>
                <a:sym typeface="Times New Roman"/>
              </a:endParaRPr>
            </a:p>
          </p:txBody>
        </p:sp>
        <p:sp>
          <p:nvSpPr>
            <p:cNvPr id="36" name="Freeform 7">
              <a:extLst>
                <a:ext uri="{FF2B5EF4-FFF2-40B4-BE49-F238E27FC236}">
                  <a16:creationId xmlns:a16="http://schemas.microsoft.com/office/drawing/2014/main" id="{18926615-62D7-2A47-3400-1797CC17F1B0}"/>
                </a:ext>
              </a:extLst>
            </p:cNvPr>
            <p:cNvSpPr>
              <a:spLocks/>
            </p:cNvSpPr>
            <p:nvPr/>
          </p:nvSpPr>
          <p:spPr bwMode="auto">
            <a:xfrm>
              <a:off x="8072438" y="5969000"/>
              <a:ext cx="128588" cy="122237"/>
            </a:xfrm>
            <a:custGeom>
              <a:avLst/>
              <a:gdLst>
                <a:gd name="T0" fmla="*/ 81 w 81"/>
                <a:gd name="T1" fmla="*/ 77 h 77"/>
                <a:gd name="T2" fmla="*/ 0 w 81"/>
                <a:gd name="T3" fmla="*/ 39 h 77"/>
                <a:gd name="T4" fmla="*/ 81 w 81"/>
                <a:gd name="T5" fmla="*/ 0 h 77"/>
              </a:gdLst>
              <a:ahLst/>
              <a:cxnLst>
                <a:cxn ang="0">
                  <a:pos x="T0" y="T1"/>
                </a:cxn>
                <a:cxn ang="0">
                  <a:pos x="T2" y="T3"/>
                </a:cxn>
                <a:cxn ang="0">
                  <a:pos x="T4" y="T5"/>
                </a:cxn>
              </a:cxnLst>
              <a:rect l="0" t="0" r="r" b="b"/>
              <a:pathLst>
                <a:path w="81" h="77">
                  <a:moveTo>
                    <a:pt x="81" y="77"/>
                  </a:moveTo>
                  <a:lnTo>
                    <a:pt x="0" y="39"/>
                  </a:lnTo>
                  <a:lnTo>
                    <a:pt x="81" y="0"/>
                  </a:lnTo>
                </a:path>
              </a:pathLst>
            </a:custGeom>
            <a:noFill/>
            <a:ln w="381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ru-RU" sz="1800" b="0" i="0" u="none" strike="noStrike" kern="0" cap="none" spc="0" normalizeH="0" baseline="0" noProof="0">
                <a:ln>
                  <a:noFill/>
                </a:ln>
                <a:solidFill>
                  <a:srgbClr val="414042"/>
                </a:solidFill>
                <a:effectLst/>
                <a:uLnTx/>
                <a:uFillTx/>
                <a:latin typeface="Times New Roman"/>
                <a:ea typeface="微软雅黑"/>
                <a:sym typeface="Times New Roman"/>
              </a:endParaRPr>
            </a:p>
          </p:txBody>
        </p:sp>
        <p:sp>
          <p:nvSpPr>
            <p:cNvPr id="37" name="Freeform 8">
              <a:extLst>
                <a:ext uri="{FF2B5EF4-FFF2-40B4-BE49-F238E27FC236}">
                  <a16:creationId xmlns:a16="http://schemas.microsoft.com/office/drawing/2014/main" id="{343BF7BF-4B8A-A10B-E5A9-649AAEE1EDA1}"/>
                </a:ext>
              </a:extLst>
            </p:cNvPr>
            <p:cNvSpPr>
              <a:spLocks/>
            </p:cNvSpPr>
            <p:nvPr/>
          </p:nvSpPr>
          <p:spPr bwMode="auto">
            <a:xfrm>
              <a:off x="8072438" y="3895725"/>
              <a:ext cx="2584450" cy="1982787"/>
            </a:xfrm>
            <a:custGeom>
              <a:avLst/>
              <a:gdLst>
                <a:gd name="T0" fmla="*/ 679 w 679"/>
                <a:gd name="T1" fmla="*/ 520 h 520"/>
                <a:gd name="T2" fmla="*/ 0 w 679"/>
                <a:gd name="T3" fmla="*/ 520 h 520"/>
                <a:gd name="T4" fmla="*/ 0 w 679"/>
                <a:gd name="T5" fmla="*/ 385 h 520"/>
                <a:gd name="T6" fmla="*/ 102 w 679"/>
                <a:gd name="T7" fmla="*/ 350 h 520"/>
                <a:gd name="T8" fmla="*/ 222 w 679"/>
                <a:gd name="T9" fmla="*/ 0 h 520"/>
              </a:gdLst>
              <a:ahLst/>
              <a:cxnLst>
                <a:cxn ang="0">
                  <a:pos x="T0" y="T1"/>
                </a:cxn>
                <a:cxn ang="0">
                  <a:pos x="T2" y="T3"/>
                </a:cxn>
                <a:cxn ang="0">
                  <a:pos x="T4" y="T5"/>
                </a:cxn>
                <a:cxn ang="0">
                  <a:pos x="T6" y="T7"/>
                </a:cxn>
                <a:cxn ang="0">
                  <a:pos x="T8" y="T9"/>
                </a:cxn>
              </a:cxnLst>
              <a:rect l="0" t="0" r="r" b="b"/>
              <a:pathLst>
                <a:path w="679" h="520">
                  <a:moveTo>
                    <a:pt x="679" y="520"/>
                  </a:moveTo>
                  <a:cubicBezTo>
                    <a:pt x="0" y="520"/>
                    <a:pt x="0" y="520"/>
                    <a:pt x="0" y="520"/>
                  </a:cubicBezTo>
                  <a:cubicBezTo>
                    <a:pt x="0" y="385"/>
                    <a:pt x="0" y="385"/>
                    <a:pt x="0" y="385"/>
                  </a:cubicBezTo>
                  <a:cubicBezTo>
                    <a:pt x="36" y="380"/>
                    <a:pt x="70" y="368"/>
                    <a:pt x="102" y="350"/>
                  </a:cubicBezTo>
                  <a:cubicBezTo>
                    <a:pt x="225" y="279"/>
                    <a:pt x="274" y="128"/>
                    <a:pt x="222" y="0"/>
                  </a:cubicBezTo>
                </a:path>
              </a:pathLst>
            </a:custGeom>
            <a:noFill/>
            <a:ln w="381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ru-RU" sz="1800" b="0" i="0" u="none" strike="noStrike" kern="0" cap="none" spc="0" normalizeH="0" baseline="0" noProof="0">
                <a:ln>
                  <a:noFill/>
                </a:ln>
                <a:solidFill>
                  <a:srgbClr val="414042"/>
                </a:solidFill>
                <a:effectLst/>
                <a:uLnTx/>
                <a:uFillTx/>
                <a:latin typeface="Times New Roman"/>
                <a:ea typeface="微软雅黑"/>
                <a:sym typeface="Times New Roman"/>
              </a:endParaRPr>
            </a:p>
          </p:txBody>
        </p:sp>
      </p:grpSp>
      <p:grpSp>
        <p:nvGrpSpPr>
          <p:cNvPr id="38" name="Group 18">
            <a:extLst>
              <a:ext uri="{FF2B5EF4-FFF2-40B4-BE49-F238E27FC236}">
                <a16:creationId xmlns:a16="http://schemas.microsoft.com/office/drawing/2014/main" id="{6B06B5FA-80F1-E528-13AB-BB0399380217}"/>
              </a:ext>
            </a:extLst>
          </p:cNvPr>
          <p:cNvGrpSpPr/>
          <p:nvPr/>
        </p:nvGrpSpPr>
        <p:grpSpPr>
          <a:xfrm>
            <a:off x="7204202" y="892407"/>
            <a:ext cx="2921001" cy="3003550"/>
            <a:chOff x="6423025" y="831850"/>
            <a:chExt cx="2921001" cy="3003550"/>
          </a:xfrm>
        </p:grpSpPr>
        <p:sp>
          <p:nvSpPr>
            <p:cNvPr id="39" name="Freeform 9">
              <a:extLst>
                <a:ext uri="{FF2B5EF4-FFF2-40B4-BE49-F238E27FC236}">
                  <a16:creationId xmlns:a16="http://schemas.microsoft.com/office/drawing/2014/main" id="{2C1CAF16-E671-1952-0078-3CDE9002D778}"/>
                </a:ext>
              </a:extLst>
            </p:cNvPr>
            <p:cNvSpPr>
              <a:spLocks/>
            </p:cNvSpPr>
            <p:nvPr/>
          </p:nvSpPr>
          <p:spPr bwMode="auto">
            <a:xfrm>
              <a:off x="6423025" y="831850"/>
              <a:ext cx="2921000" cy="3003550"/>
            </a:xfrm>
            <a:custGeom>
              <a:avLst/>
              <a:gdLst>
                <a:gd name="T0" fmla="*/ 767 w 767"/>
                <a:gd name="T1" fmla="*/ 648 h 788"/>
                <a:gd name="T2" fmla="*/ 394 w 767"/>
                <a:gd name="T3" fmla="*/ 0 h 788"/>
                <a:gd name="T4" fmla="*/ 0 w 767"/>
                <a:gd name="T5" fmla="*/ 682 h 788"/>
                <a:gd name="T6" fmla="*/ 184 w 767"/>
                <a:gd name="T7" fmla="*/ 788 h 788"/>
                <a:gd name="T8" fmla="*/ 515 w 767"/>
                <a:gd name="T9" fmla="*/ 699 h 788"/>
                <a:gd name="T10" fmla="*/ 581 w 767"/>
                <a:gd name="T11" fmla="*/ 755 h 788"/>
              </a:gdLst>
              <a:ahLst/>
              <a:cxnLst>
                <a:cxn ang="0">
                  <a:pos x="T0" y="T1"/>
                </a:cxn>
                <a:cxn ang="0">
                  <a:pos x="T2" y="T3"/>
                </a:cxn>
                <a:cxn ang="0">
                  <a:pos x="T4" y="T5"/>
                </a:cxn>
                <a:cxn ang="0">
                  <a:pos x="T6" y="T7"/>
                </a:cxn>
                <a:cxn ang="0">
                  <a:pos x="T8" y="T9"/>
                </a:cxn>
                <a:cxn ang="0">
                  <a:pos x="T10" y="T11"/>
                </a:cxn>
              </a:cxnLst>
              <a:rect l="0" t="0" r="r" b="b"/>
              <a:pathLst>
                <a:path w="767" h="788">
                  <a:moveTo>
                    <a:pt x="767" y="648"/>
                  </a:moveTo>
                  <a:cubicBezTo>
                    <a:pt x="394" y="0"/>
                    <a:pt x="394" y="0"/>
                    <a:pt x="394" y="0"/>
                  </a:cubicBezTo>
                  <a:cubicBezTo>
                    <a:pt x="0" y="682"/>
                    <a:pt x="0" y="682"/>
                    <a:pt x="0" y="682"/>
                  </a:cubicBezTo>
                  <a:cubicBezTo>
                    <a:pt x="184" y="788"/>
                    <a:pt x="184" y="788"/>
                    <a:pt x="184" y="788"/>
                  </a:cubicBezTo>
                  <a:cubicBezTo>
                    <a:pt x="251" y="672"/>
                    <a:pt x="399" y="632"/>
                    <a:pt x="515" y="699"/>
                  </a:cubicBezTo>
                  <a:cubicBezTo>
                    <a:pt x="541" y="714"/>
                    <a:pt x="563" y="733"/>
                    <a:pt x="581" y="755"/>
                  </a:cubicBezTo>
                </a:path>
              </a:pathLst>
            </a:custGeom>
            <a:noFill/>
            <a:ln w="381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ru-RU" sz="1800" b="0" i="0" u="none" strike="noStrike" kern="0" cap="none" spc="0" normalizeH="0" baseline="0" noProof="0">
                <a:ln>
                  <a:noFill/>
                </a:ln>
                <a:solidFill>
                  <a:srgbClr val="414042"/>
                </a:solidFill>
                <a:effectLst/>
                <a:uLnTx/>
                <a:uFillTx/>
                <a:latin typeface="Times New Roman"/>
                <a:ea typeface="微软雅黑"/>
                <a:sym typeface="Times New Roman"/>
              </a:endParaRPr>
            </a:p>
          </p:txBody>
        </p:sp>
        <p:sp>
          <p:nvSpPr>
            <p:cNvPr id="40" name="Freeform 10">
              <a:extLst>
                <a:ext uri="{FF2B5EF4-FFF2-40B4-BE49-F238E27FC236}">
                  <a16:creationId xmlns:a16="http://schemas.microsoft.com/office/drawing/2014/main" id="{9C663533-83A5-C8D5-5FFF-4693689FAD7F}"/>
                </a:ext>
              </a:extLst>
            </p:cNvPr>
            <p:cNvSpPr>
              <a:spLocks/>
            </p:cNvSpPr>
            <p:nvPr/>
          </p:nvSpPr>
          <p:spPr bwMode="auto">
            <a:xfrm>
              <a:off x="9224963" y="3157538"/>
              <a:ext cx="119063" cy="144462"/>
            </a:xfrm>
            <a:custGeom>
              <a:avLst/>
              <a:gdLst>
                <a:gd name="T0" fmla="*/ 68 w 75"/>
                <a:gd name="T1" fmla="*/ 0 h 91"/>
                <a:gd name="T2" fmla="*/ 75 w 75"/>
                <a:gd name="T3" fmla="*/ 91 h 91"/>
                <a:gd name="T4" fmla="*/ 0 w 75"/>
                <a:gd name="T5" fmla="*/ 38 h 91"/>
              </a:gdLst>
              <a:ahLst/>
              <a:cxnLst>
                <a:cxn ang="0">
                  <a:pos x="T0" y="T1"/>
                </a:cxn>
                <a:cxn ang="0">
                  <a:pos x="T2" y="T3"/>
                </a:cxn>
                <a:cxn ang="0">
                  <a:pos x="T4" y="T5"/>
                </a:cxn>
              </a:cxnLst>
              <a:rect l="0" t="0" r="r" b="b"/>
              <a:pathLst>
                <a:path w="75" h="91">
                  <a:moveTo>
                    <a:pt x="68" y="0"/>
                  </a:moveTo>
                  <a:lnTo>
                    <a:pt x="75" y="91"/>
                  </a:lnTo>
                  <a:lnTo>
                    <a:pt x="0" y="38"/>
                  </a:lnTo>
                </a:path>
              </a:pathLst>
            </a:custGeom>
            <a:noFill/>
            <a:ln w="381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ru-RU" sz="1800" b="0" i="0" u="none" strike="noStrike" kern="0" cap="none" spc="0" normalizeH="0" baseline="0" noProof="0">
                <a:ln>
                  <a:noFill/>
                </a:ln>
                <a:solidFill>
                  <a:srgbClr val="414042"/>
                </a:solidFill>
                <a:effectLst/>
                <a:uLnTx/>
                <a:uFillTx/>
                <a:latin typeface="Times New Roman"/>
                <a:ea typeface="微软雅黑"/>
                <a:sym typeface="Times New Roman"/>
              </a:endParaRPr>
            </a:p>
          </p:txBody>
        </p:sp>
        <p:sp>
          <p:nvSpPr>
            <p:cNvPr id="41" name="Freeform 11">
              <a:extLst>
                <a:ext uri="{FF2B5EF4-FFF2-40B4-BE49-F238E27FC236}">
                  <a16:creationId xmlns:a16="http://schemas.microsoft.com/office/drawing/2014/main" id="{09A48763-226C-1C88-C8C2-0B8AEF95D26B}"/>
                </a:ext>
              </a:extLst>
            </p:cNvPr>
            <p:cNvSpPr>
              <a:spLocks/>
            </p:cNvSpPr>
            <p:nvPr/>
          </p:nvSpPr>
          <p:spPr bwMode="auto">
            <a:xfrm>
              <a:off x="7073900" y="1133475"/>
              <a:ext cx="2139950" cy="2500312"/>
            </a:xfrm>
            <a:custGeom>
              <a:avLst/>
              <a:gdLst>
                <a:gd name="T0" fmla="*/ 223 w 562"/>
                <a:gd name="T1" fmla="*/ 0 h 656"/>
                <a:gd name="T2" fmla="*/ 562 w 562"/>
                <a:gd name="T3" fmla="*/ 589 h 656"/>
                <a:gd name="T4" fmla="*/ 445 w 562"/>
                <a:gd name="T5" fmla="*/ 656 h 656"/>
                <a:gd name="T6" fmla="*/ 364 w 562"/>
                <a:gd name="T7" fmla="*/ 586 h 656"/>
                <a:gd name="T8" fmla="*/ 0 w 562"/>
                <a:gd name="T9" fmla="*/ 656 h 656"/>
              </a:gdLst>
              <a:ahLst/>
              <a:cxnLst>
                <a:cxn ang="0">
                  <a:pos x="T0" y="T1"/>
                </a:cxn>
                <a:cxn ang="0">
                  <a:pos x="T2" y="T3"/>
                </a:cxn>
                <a:cxn ang="0">
                  <a:pos x="T4" y="T5"/>
                </a:cxn>
                <a:cxn ang="0">
                  <a:pos x="T6" y="T7"/>
                </a:cxn>
                <a:cxn ang="0">
                  <a:pos x="T8" y="T9"/>
                </a:cxn>
              </a:cxnLst>
              <a:rect l="0" t="0" r="r" b="b"/>
              <a:pathLst>
                <a:path w="562" h="656">
                  <a:moveTo>
                    <a:pt x="223" y="0"/>
                  </a:moveTo>
                  <a:cubicBezTo>
                    <a:pt x="562" y="589"/>
                    <a:pt x="562" y="589"/>
                    <a:pt x="562" y="589"/>
                  </a:cubicBezTo>
                  <a:cubicBezTo>
                    <a:pt x="445" y="656"/>
                    <a:pt x="445" y="656"/>
                    <a:pt x="445" y="656"/>
                  </a:cubicBezTo>
                  <a:cubicBezTo>
                    <a:pt x="423" y="628"/>
                    <a:pt x="395" y="604"/>
                    <a:pt x="364" y="586"/>
                  </a:cubicBezTo>
                  <a:cubicBezTo>
                    <a:pt x="241" y="515"/>
                    <a:pt x="86" y="548"/>
                    <a:pt x="0" y="656"/>
                  </a:cubicBezTo>
                </a:path>
              </a:pathLst>
            </a:custGeom>
            <a:noFill/>
            <a:ln w="381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ru-RU" sz="1800" b="0" i="0" u="none" strike="noStrike" kern="0" cap="none" spc="0" normalizeH="0" baseline="0" noProof="0">
                <a:ln>
                  <a:noFill/>
                </a:ln>
                <a:solidFill>
                  <a:srgbClr val="414042"/>
                </a:solidFill>
                <a:effectLst/>
                <a:uLnTx/>
                <a:uFillTx/>
                <a:latin typeface="Times New Roman"/>
                <a:ea typeface="微软雅黑"/>
                <a:sym typeface="Times New Roman"/>
              </a:endParaRPr>
            </a:p>
          </p:txBody>
        </p:sp>
      </p:grpSp>
      <p:grpSp>
        <p:nvGrpSpPr>
          <p:cNvPr id="42" name="Group 20">
            <a:extLst>
              <a:ext uri="{FF2B5EF4-FFF2-40B4-BE49-F238E27FC236}">
                <a16:creationId xmlns:a16="http://schemas.microsoft.com/office/drawing/2014/main" id="{53AECE09-5EA2-689B-138F-5D7AE3B079A4}"/>
              </a:ext>
            </a:extLst>
          </p:cNvPr>
          <p:cNvGrpSpPr/>
          <p:nvPr/>
        </p:nvGrpSpPr>
        <p:grpSpPr>
          <a:xfrm>
            <a:off x="5704015" y="3621320"/>
            <a:ext cx="3000375" cy="2470150"/>
            <a:chOff x="4922838" y="3560763"/>
            <a:chExt cx="3000375" cy="2470150"/>
          </a:xfrm>
        </p:grpSpPr>
        <p:sp>
          <p:nvSpPr>
            <p:cNvPr id="43" name="Freeform 12">
              <a:extLst>
                <a:ext uri="{FF2B5EF4-FFF2-40B4-BE49-F238E27FC236}">
                  <a16:creationId xmlns:a16="http://schemas.microsoft.com/office/drawing/2014/main" id="{222A441D-4EC0-7F5F-4220-E785201FEF51}"/>
                </a:ext>
              </a:extLst>
            </p:cNvPr>
            <p:cNvSpPr>
              <a:spLocks/>
            </p:cNvSpPr>
            <p:nvPr/>
          </p:nvSpPr>
          <p:spPr bwMode="auto">
            <a:xfrm>
              <a:off x="4922838" y="3560763"/>
              <a:ext cx="3000375" cy="2470150"/>
            </a:xfrm>
            <a:custGeom>
              <a:avLst/>
              <a:gdLst>
                <a:gd name="T0" fmla="*/ 374 w 788"/>
                <a:gd name="T1" fmla="*/ 0 h 648"/>
                <a:gd name="T2" fmla="*/ 0 w 788"/>
                <a:gd name="T3" fmla="*/ 648 h 648"/>
                <a:gd name="T4" fmla="*/ 788 w 788"/>
                <a:gd name="T5" fmla="*/ 648 h 648"/>
                <a:gd name="T6" fmla="*/ 788 w 788"/>
                <a:gd name="T7" fmla="*/ 436 h 648"/>
                <a:gd name="T8" fmla="*/ 545 w 788"/>
                <a:gd name="T9" fmla="*/ 193 h 648"/>
                <a:gd name="T10" fmla="*/ 561 w 788"/>
                <a:gd name="T11" fmla="*/ 108 h 648"/>
              </a:gdLst>
              <a:ahLst/>
              <a:cxnLst>
                <a:cxn ang="0">
                  <a:pos x="T0" y="T1"/>
                </a:cxn>
                <a:cxn ang="0">
                  <a:pos x="T2" y="T3"/>
                </a:cxn>
                <a:cxn ang="0">
                  <a:pos x="T4" y="T5"/>
                </a:cxn>
                <a:cxn ang="0">
                  <a:pos x="T6" y="T7"/>
                </a:cxn>
                <a:cxn ang="0">
                  <a:pos x="T8" y="T9"/>
                </a:cxn>
                <a:cxn ang="0">
                  <a:pos x="T10" y="T11"/>
                </a:cxn>
              </a:cxnLst>
              <a:rect l="0" t="0" r="r" b="b"/>
              <a:pathLst>
                <a:path w="788" h="648">
                  <a:moveTo>
                    <a:pt x="374" y="0"/>
                  </a:moveTo>
                  <a:cubicBezTo>
                    <a:pt x="0" y="648"/>
                    <a:pt x="0" y="648"/>
                    <a:pt x="0" y="648"/>
                  </a:cubicBezTo>
                  <a:cubicBezTo>
                    <a:pt x="788" y="648"/>
                    <a:pt x="788" y="648"/>
                    <a:pt x="788" y="648"/>
                  </a:cubicBezTo>
                  <a:cubicBezTo>
                    <a:pt x="788" y="436"/>
                    <a:pt x="788" y="436"/>
                    <a:pt x="788" y="436"/>
                  </a:cubicBezTo>
                  <a:cubicBezTo>
                    <a:pt x="654" y="436"/>
                    <a:pt x="545" y="327"/>
                    <a:pt x="545" y="193"/>
                  </a:cubicBezTo>
                  <a:cubicBezTo>
                    <a:pt x="545" y="163"/>
                    <a:pt x="551" y="134"/>
                    <a:pt x="561" y="108"/>
                  </a:cubicBezTo>
                </a:path>
              </a:pathLst>
            </a:custGeom>
            <a:noFill/>
            <a:ln w="381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ru-RU" sz="1800" b="0" i="0" u="none" strike="noStrike" kern="0" cap="none" spc="0" normalizeH="0" baseline="0" noProof="0">
                <a:ln>
                  <a:noFill/>
                </a:ln>
                <a:solidFill>
                  <a:srgbClr val="414042"/>
                </a:solidFill>
                <a:effectLst/>
                <a:uLnTx/>
                <a:uFillTx/>
                <a:latin typeface="Times New Roman"/>
                <a:ea typeface="微软雅黑"/>
                <a:sym typeface="Times New Roman"/>
              </a:endParaRPr>
            </a:p>
          </p:txBody>
        </p:sp>
        <p:sp>
          <p:nvSpPr>
            <p:cNvPr id="44" name="Freeform 13">
              <a:extLst>
                <a:ext uri="{FF2B5EF4-FFF2-40B4-BE49-F238E27FC236}">
                  <a16:creationId xmlns:a16="http://schemas.microsoft.com/office/drawing/2014/main" id="{8089ADC4-99DE-B68E-18CE-4637E16E822F}"/>
                </a:ext>
              </a:extLst>
            </p:cNvPr>
            <p:cNvSpPr>
              <a:spLocks/>
            </p:cNvSpPr>
            <p:nvPr/>
          </p:nvSpPr>
          <p:spPr bwMode="auto">
            <a:xfrm>
              <a:off x="6229350" y="3560763"/>
              <a:ext cx="117475" cy="144462"/>
            </a:xfrm>
            <a:custGeom>
              <a:avLst/>
              <a:gdLst>
                <a:gd name="T0" fmla="*/ 0 w 74"/>
                <a:gd name="T1" fmla="*/ 53 h 91"/>
                <a:gd name="T2" fmla="*/ 74 w 74"/>
                <a:gd name="T3" fmla="*/ 0 h 91"/>
                <a:gd name="T4" fmla="*/ 67 w 74"/>
                <a:gd name="T5" fmla="*/ 91 h 91"/>
              </a:gdLst>
              <a:ahLst/>
              <a:cxnLst>
                <a:cxn ang="0">
                  <a:pos x="T0" y="T1"/>
                </a:cxn>
                <a:cxn ang="0">
                  <a:pos x="T2" y="T3"/>
                </a:cxn>
                <a:cxn ang="0">
                  <a:pos x="T4" y="T5"/>
                </a:cxn>
              </a:cxnLst>
              <a:rect l="0" t="0" r="r" b="b"/>
              <a:pathLst>
                <a:path w="74" h="91">
                  <a:moveTo>
                    <a:pt x="0" y="53"/>
                  </a:moveTo>
                  <a:lnTo>
                    <a:pt x="74" y="0"/>
                  </a:lnTo>
                  <a:lnTo>
                    <a:pt x="67" y="91"/>
                  </a:lnTo>
                </a:path>
              </a:pathLst>
            </a:custGeom>
            <a:noFill/>
            <a:ln w="381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ru-RU" sz="1800" b="0" i="0" u="none" strike="noStrike" kern="0" cap="none" spc="0" normalizeH="0" baseline="0" noProof="0">
                <a:ln>
                  <a:noFill/>
                </a:ln>
                <a:solidFill>
                  <a:srgbClr val="414042"/>
                </a:solidFill>
                <a:effectLst/>
                <a:uLnTx/>
                <a:uFillTx/>
                <a:latin typeface="Times New Roman"/>
                <a:ea typeface="微软雅黑"/>
                <a:sym typeface="Times New Roman"/>
              </a:endParaRPr>
            </a:p>
          </p:txBody>
        </p:sp>
        <p:sp>
          <p:nvSpPr>
            <p:cNvPr id="45" name="Freeform 14">
              <a:extLst>
                <a:ext uri="{FF2B5EF4-FFF2-40B4-BE49-F238E27FC236}">
                  <a16:creationId xmlns:a16="http://schemas.microsoft.com/office/drawing/2014/main" id="{0C0E9848-7A54-8EC1-EC59-D03B6B0663B2}"/>
                </a:ext>
              </a:extLst>
            </p:cNvPr>
            <p:cNvSpPr>
              <a:spLocks/>
            </p:cNvSpPr>
            <p:nvPr/>
          </p:nvSpPr>
          <p:spPr bwMode="auto">
            <a:xfrm>
              <a:off x="5186363" y="3636963"/>
              <a:ext cx="2584450" cy="2241550"/>
            </a:xfrm>
            <a:custGeom>
              <a:avLst/>
              <a:gdLst>
                <a:gd name="T0" fmla="*/ 0 w 679"/>
                <a:gd name="T1" fmla="*/ 588 h 588"/>
                <a:gd name="T2" fmla="*/ 339 w 679"/>
                <a:gd name="T3" fmla="*/ 0 h 588"/>
                <a:gd name="T4" fmla="*/ 457 w 679"/>
                <a:gd name="T5" fmla="*/ 68 h 588"/>
                <a:gd name="T6" fmla="*/ 437 w 679"/>
                <a:gd name="T7" fmla="*/ 173 h 588"/>
                <a:gd name="T8" fmla="*/ 679 w 679"/>
                <a:gd name="T9" fmla="*/ 453 h 588"/>
              </a:gdLst>
              <a:ahLst/>
              <a:cxnLst>
                <a:cxn ang="0">
                  <a:pos x="T0" y="T1"/>
                </a:cxn>
                <a:cxn ang="0">
                  <a:pos x="T2" y="T3"/>
                </a:cxn>
                <a:cxn ang="0">
                  <a:pos x="T4" y="T5"/>
                </a:cxn>
                <a:cxn ang="0">
                  <a:pos x="T6" y="T7"/>
                </a:cxn>
                <a:cxn ang="0">
                  <a:pos x="T8" y="T9"/>
                </a:cxn>
              </a:cxnLst>
              <a:rect l="0" t="0" r="r" b="b"/>
              <a:pathLst>
                <a:path w="679" h="588">
                  <a:moveTo>
                    <a:pt x="0" y="588"/>
                  </a:moveTo>
                  <a:cubicBezTo>
                    <a:pt x="339" y="0"/>
                    <a:pt x="339" y="0"/>
                    <a:pt x="339" y="0"/>
                  </a:cubicBezTo>
                  <a:cubicBezTo>
                    <a:pt x="457" y="68"/>
                    <a:pt x="457" y="68"/>
                    <a:pt x="457" y="68"/>
                  </a:cubicBezTo>
                  <a:cubicBezTo>
                    <a:pt x="444" y="101"/>
                    <a:pt x="437" y="137"/>
                    <a:pt x="437" y="173"/>
                  </a:cubicBezTo>
                  <a:cubicBezTo>
                    <a:pt x="437" y="315"/>
                    <a:pt x="542" y="433"/>
                    <a:pt x="679" y="453"/>
                  </a:cubicBezTo>
                </a:path>
              </a:pathLst>
            </a:custGeom>
            <a:noFill/>
            <a:ln w="381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ru-RU" sz="1800" b="0" i="0" u="none" strike="noStrike" kern="0" cap="none" spc="0" normalizeH="0" baseline="0" noProof="0">
                <a:ln>
                  <a:noFill/>
                </a:ln>
                <a:solidFill>
                  <a:srgbClr val="414042"/>
                </a:solidFill>
                <a:effectLst/>
                <a:uLnTx/>
                <a:uFillTx/>
                <a:latin typeface="Times New Roman"/>
                <a:ea typeface="微软雅黑"/>
                <a:sym typeface="Times New Roman"/>
              </a:endParaRPr>
            </a:p>
          </p:txBody>
        </p:sp>
      </p:grpSp>
      <p:sp>
        <p:nvSpPr>
          <p:cNvPr id="46" name="Freeform 15">
            <a:extLst>
              <a:ext uri="{FF2B5EF4-FFF2-40B4-BE49-F238E27FC236}">
                <a16:creationId xmlns:a16="http://schemas.microsoft.com/office/drawing/2014/main" id="{DA28B482-6E96-B820-F479-4508D8326A7D}"/>
              </a:ext>
            </a:extLst>
          </p:cNvPr>
          <p:cNvSpPr>
            <a:spLocks noEditPoints="1"/>
          </p:cNvSpPr>
          <p:nvPr/>
        </p:nvSpPr>
        <p:spPr bwMode="auto">
          <a:xfrm>
            <a:off x="8331327" y="2040172"/>
            <a:ext cx="712788" cy="808037"/>
          </a:xfrm>
          <a:custGeom>
            <a:avLst/>
            <a:gdLst>
              <a:gd name="T0" fmla="*/ 60 w 187"/>
              <a:gd name="T1" fmla="*/ 166 h 212"/>
              <a:gd name="T2" fmla="*/ 45 w 187"/>
              <a:gd name="T3" fmla="*/ 127 h 212"/>
              <a:gd name="T4" fmla="*/ 35 w 187"/>
              <a:gd name="T5" fmla="*/ 95 h 212"/>
              <a:gd name="T6" fmla="*/ 94 w 187"/>
              <a:gd name="T7" fmla="*/ 36 h 212"/>
              <a:gd name="T8" fmla="*/ 152 w 187"/>
              <a:gd name="T9" fmla="*/ 95 h 212"/>
              <a:gd name="T10" fmla="*/ 143 w 187"/>
              <a:gd name="T11" fmla="*/ 127 h 212"/>
              <a:gd name="T12" fmla="*/ 128 w 187"/>
              <a:gd name="T13" fmla="*/ 159 h 212"/>
              <a:gd name="T14" fmla="*/ 94 w 187"/>
              <a:gd name="T15" fmla="*/ 59 h 212"/>
              <a:gd name="T16" fmla="*/ 59 w 187"/>
              <a:gd name="T17" fmla="*/ 94 h 212"/>
              <a:gd name="T18" fmla="*/ 94 w 187"/>
              <a:gd name="T19" fmla="*/ 130 h 212"/>
              <a:gd name="T20" fmla="*/ 129 w 187"/>
              <a:gd name="T21" fmla="*/ 94 h 212"/>
              <a:gd name="T22" fmla="*/ 94 w 187"/>
              <a:gd name="T23" fmla="*/ 59 h 212"/>
              <a:gd name="T24" fmla="*/ 80 w 187"/>
              <a:gd name="T25" fmla="*/ 100 h 212"/>
              <a:gd name="T26" fmla="*/ 90 w 187"/>
              <a:gd name="T27" fmla="*/ 112 h 212"/>
              <a:gd name="T28" fmla="*/ 107 w 187"/>
              <a:gd name="T29" fmla="*/ 83 h 212"/>
              <a:gd name="T30" fmla="*/ 94 w 187"/>
              <a:gd name="T31" fmla="*/ 18 h 212"/>
              <a:gd name="T32" fmla="*/ 94 w 187"/>
              <a:gd name="T33" fmla="*/ 0 h 212"/>
              <a:gd name="T34" fmla="*/ 56 w 187"/>
              <a:gd name="T35" fmla="*/ 29 h 212"/>
              <a:gd name="T36" fmla="*/ 47 w 187"/>
              <a:gd name="T37" fmla="*/ 13 h 212"/>
              <a:gd name="T38" fmla="*/ 13 w 187"/>
              <a:gd name="T39" fmla="*/ 47 h 212"/>
              <a:gd name="T40" fmla="*/ 28 w 187"/>
              <a:gd name="T41" fmla="*/ 56 h 212"/>
              <a:gd name="T42" fmla="*/ 0 w 187"/>
              <a:gd name="T43" fmla="*/ 94 h 212"/>
              <a:gd name="T44" fmla="*/ 18 w 187"/>
              <a:gd name="T45" fmla="*/ 94 h 212"/>
              <a:gd name="T46" fmla="*/ 141 w 187"/>
              <a:gd name="T47" fmla="*/ 13 h 212"/>
              <a:gd name="T48" fmla="*/ 131 w 187"/>
              <a:gd name="T49" fmla="*/ 29 h 212"/>
              <a:gd name="T50" fmla="*/ 175 w 187"/>
              <a:gd name="T51" fmla="*/ 47 h 212"/>
              <a:gd name="T52" fmla="*/ 159 w 187"/>
              <a:gd name="T53" fmla="*/ 56 h 212"/>
              <a:gd name="T54" fmla="*/ 169 w 187"/>
              <a:gd name="T55" fmla="*/ 94 h 212"/>
              <a:gd name="T56" fmla="*/ 187 w 187"/>
              <a:gd name="T57" fmla="*/ 94 h 212"/>
              <a:gd name="T58" fmla="*/ 115 w 187"/>
              <a:gd name="T59" fmla="*/ 170 h 212"/>
              <a:gd name="T60" fmla="*/ 69 w 187"/>
              <a:gd name="T61" fmla="*/ 183 h 212"/>
              <a:gd name="T62" fmla="*/ 63 w 187"/>
              <a:gd name="T63" fmla="*/ 191 h 212"/>
              <a:gd name="T64" fmla="*/ 71 w 187"/>
              <a:gd name="T65" fmla="*/ 199 h 212"/>
              <a:gd name="T66" fmla="*/ 74 w 187"/>
              <a:gd name="T67" fmla="*/ 198 h 212"/>
              <a:gd name="T68" fmla="*/ 115 w 187"/>
              <a:gd name="T69" fmla="*/ 187 h 212"/>
              <a:gd name="T70" fmla="*/ 115 w 187"/>
              <a:gd name="T71" fmla="*/ 186 h 212"/>
              <a:gd name="T72" fmla="*/ 117 w 187"/>
              <a:gd name="T73" fmla="*/ 186 h 212"/>
              <a:gd name="T74" fmla="*/ 124 w 187"/>
              <a:gd name="T75" fmla="*/ 194 h 212"/>
              <a:gd name="T76" fmla="*/ 119 w 187"/>
              <a:gd name="T77" fmla="*/ 201 h 212"/>
              <a:gd name="T78" fmla="*/ 80 w 187"/>
              <a:gd name="T79" fmla="*/ 212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7" h="212">
                <a:moveTo>
                  <a:pt x="60" y="166"/>
                </a:moveTo>
                <a:cubicBezTo>
                  <a:pt x="61" y="156"/>
                  <a:pt x="57" y="147"/>
                  <a:pt x="45" y="127"/>
                </a:cubicBezTo>
                <a:cubicBezTo>
                  <a:pt x="39" y="118"/>
                  <a:pt x="35" y="107"/>
                  <a:pt x="35" y="95"/>
                </a:cubicBezTo>
                <a:cubicBezTo>
                  <a:pt x="35" y="63"/>
                  <a:pt x="62" y="36"/>
                  <a:pt x="94" y="36"/>
                </a:cubicBezTo>
                <a:cubicBezTo>
                  <a:pt x="126" y="36"/>
                  <a:pt x="152" y="63"/>
                  <a:pt x="152" y="95"/>
                </a:cubicBezTo>
                <a:cubicBezTo>
                  <a:pt x="152" y="107"/>
                  <a:pt x="149" y="118"/>
                  <a:pt x="143" y="127"/>
                </a:cubicBezTo>
                <a:cubicBezTo>
                  <a:pt x="133" y="142"/>
                  <a:pt x="129" y="151"/>
                  <a:pt x="128" y="159"/>
                </a:cubicBezTo>
                <a:moveTo>
                  <a:pt x="94" y="59"/>
                </a:moveTo>
                <a:cubicBezTo>
                  <a:pt x="74" y="59"/>
                  <a:pt x="59" y="75"/>
                  <a:pt x="59" y="94"/>
                </a:cubicBezTo>
                <a:cubicBezTo>
                  <a:pt x="59" y="114"/>
                  <a:pt x="74" y="130"/>
                  <a:pt x="94" y="130"/>
                </a:cubicBezTo>
                <a:cubicBezTo>
                  <a:pt x="113" y="130"/>
                  <a:pt x="129" y="114"/>
                  <a:pt x="129" y="94"/>
                </a:cubicBezTo>
                <a:cubicBezTo>
                  <a:pt x="129" y="75"/>
                  <a:pt x="113" y="59"/>
                  <a:pt x="94" y="59"/>
                </a:cubicBezTo>
                <a:close/>
                <a:moveTo>
                  <a:pt x="80" y="100"/>
                </a:moveTo>
                <a:cubicBezTo>
                  <a:pt x="90" y="112"/>
                  <a:pt x="90" y="112"/>
                  <a:pt x="90" y="112"/>
                </a:cubicBezTo>
                <a:cubicBezTo>
                  <a:pt x="107" y="83"/>
                  <a:pt x="107" y="83"/>
                  <a:pt x="107" y="83"/>
                </a:cubicBezTo>
                <a:moveTo>
                  <a:pt x="94" y="18"/>
                </a:moveTo>
                <a:cubicBezTo>
                  <a:pt x="94" y="0"/>
                  <a:pt x="94" y="0"/>
                  <a:pt x="94" y="0"/>
                </a:cubicBezTo>
                <a:moveTo>
                  <a:pt x="56" y="29"/>
                </a:moveTo>
                <a:cubicBezTo>
                  <a:pt x="47" y="13"/>
                  <a:pt x="47" y="13"/>
                  <a:pt x="47" y="13"/>
                </a:cubicBezTo>
                <a:moveTo>
                  <a:pt x="13" y="47"/>
                </a:moveTo>
                <a:cubicBezTo>
                  <a:pt x="28" y="56"/>
                  <a:pt x="28" y="56"/>
                  <a:pt x="28" y="56"/>
                </a:cubicBezTo>
                <a:moveTo>
                  <a:pt x="0" y="94"/>
                </a:moveTo>
                <a:cubicBezTo>
                  <a:pt x="18" y="94"/>
                  <a:pt x="18" y="94"/>
                  <a:pt x="18" y="94"/>
                </a:cubicBezTo>
                <a:moveTo>
                  <a:pt x="141" y="13"/>
                </a:moveTo>
                <a:cubicBezTo>
                  <a:pt x="131" y="29"/>
                  <a:pt x="131" y="29"/>
                  <a:pt x="131" y="29"/>
                </a:cubicBezTo>
                <a:moveTo>
                  <a:pt x="175" y="47"/>
                </a:moveTo>
                <a:cubicBezTo>
                  <a:pt x="159" y="56"/>
                  <a:pt x="159" y="56"/>
                  <a:pt x="159" y="56"/>
                </a:cubicBezTo>
                <a:moveTo>
                  <a:pt x="169" y="94"/>
                </a:moveTo>
                <a:cubicBezTo>
                  <a:pt x="187" y="94"/>
                  <a:pt x="187" y="94"/>
                  <a:pt x="187" y="94"/>
                </a:cubicBezTo>
                <a:moveTo>
                  <a:pt x="115" y="170"/>
                </a:moveTo>
                <a:cubicBezTo>
                  <a:pt x="115" y="170"/>
                  <a:pt x="69" y="183"/>
                  <a:pt x="69" y="183"/>
                </a:cubicBezTo>
                <a:cubicBezTo>
                  <a:pt x="66" y="184"/>
                  <a:pt x="63" y="187"/>
                  <a:pt x="63" y="191"/>
                </a:cubicBezTo>
                <a:cubicBezTo>
                  <a:pt x="63" y="195"/>
                  <a:pt x="67" y="199"/>
                  <a:pt x="71" y="199"/>
                </a:cubicBezTo>
                <a:cubicBezTo>
                  <a:pt x="72" y="199"/>
                  <a:pt x="74" y="198"/>
                  <a:pt x="74" y="198"/>
                </a:cubicBezTo>
                <a:cubicBezTo>
                  <a:pt x="115" y="187"/>
                  <a:pt x="115" y="187"/>
                  <a:pt x="115" y="187"/>
                </a:cubicBezTo>
                <a:cubicBezTo>
                  <a:pt x="115" y="186"/>
                  <a:pt x="115" y="186"/>
                  <a:pt x="115" y="186"/>
                </a:cubicBezTo>
                <a:cubicBezTo>
                  <a:pt x="115" y="186"/>
                  <a:pt x="116" y="186"/>
                  <a:pt x="117" y="186"/>
                </a:cubicBezTo>
                <a:cubicBezTo>
                  <a:pt x="121" y="186"/>
                  <a:pt x="124" y="190"/>
                  <a:pt x="124" y="194"/>
                </a:cubicBezTo>
                <a:cubicBezTo>
                  <a:pt x="124" y="197"/>
                  <a:pt x="122" y="200"/>
                  <a:pt x="119" y="201"/>
                </a:cubicBezTo>
                <a:cubicBezTo>
                  <a:pt x="80" y="212"/>
                  <a:pt x="80" y="212"/>
                  <a:pt x="80" y="212"/>
                </a:cubicBezTo>
              </a:path>
            </a:pathLst>
          </a:custGeom>
          <a:noFill/>
          <a:ln w="22225" cap="rnd">
            <a:solidFill>
              <a:srgbClr val="41404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ru-RU" sz="1800" b="0" i="0" u="none" strike="noStrike" kern="0" cap="none" spc="0" normalizeH="0" baseline="0" noProof="0">
              <a:ln>
                <a:noFill/>
              </a:ln>
              <a:solidFill>
                <a:srgbClr val="414042"/>
              </a:solidFill>
              <a:effectLst/>
              <a:uLnTx/>
              <a:uFillTx/>
              <a:latin typeface="Times New Roman"/>
              <a:ea typeface="微软雅黑"/>
              <a:sym typeface="Times New Roman"/>
            </a:endParaRPr>
          </a:p>
        </p:txBody>
      </p:sp>
      <p:sp>
        <p:nvSpPr>
          <p:cNvPr id="47" name="Freeform 16">
            <a:extLst>
              <a:ext uri="{FF2B5EF4-FFF2-40B4-BE49-F238E27FC236}">
                <a16:creationId xmlns:a16="http://schemas.microsoft.com/office/drawing/2014/main" id="{2727AE55-3E97-01F4-5150-800F857E4015}"/>
              </a:ext>
            </a:extLst>
          </p:cNvPr>
          <p:cNvSpPr>
            <a:spLocks noEditPoints="1"/>
          </p:cNvSpPr>
          <p:nvPr/>
        </p:nvSpPr>
        <p:spPr bwMode="auto">
          <a:xfrm>
            <a:off x="6793040" y="4970697"/>
            <a:ext cx="735013" cy="587375"/>
          </a:xfrm>
          <a:custGeom>
            <a:avLst/>
            <a:gdLst>
              <a:gd name="T0" fmla="*/ 193 w 193"/>
              <a:gd name="T1" fmla="*/ 154 h 154"/>
              <a:gd name="T2" fmla="*/ 0 w 193"/>
              <a:gd name="T3" fmla="*/ 154 h 154"/>
              <a:gd name="T4" fmla="*/ 47 w 193"/>
              <a:gd name="T5" fmla="*/ 112 h 154"/>
              <a:gd name="T6" fmla="*/ 21 w 193"/>
              <a:gd name="T7" fmla="*/ 112 h 154"/>
              <a:gd name="T8" fmla="*/ 21 w 193"/>
              <a:gd name="T9" fmla="*/ 154 h 154"/>
              <a:gd name="T10" fmla="*/ 47 w 193"/>
              <a:gd name="T11" fmla="*/ 154 h 154"/>
              <a:gd name="T12" fmla="*/ 47 w 193"/>
              <a:gd name="T13" fmla="*/ 112 h 154"/>
              <a:gd name="T14" fmla="*/ 89 w 193"/>
              <a:gd name="T15" fmla="*/ 71 h 154"/>
              <a:gd name="T16" fmla="*/ 62 w 193"/>
              <a:gd name="T17" fmla="*/ 71 h 154"/>
              <a:gd name="T18" fmla="*/ 62 w 193"/>
              <a:gd name="T19" fmla="*/ 154 h 154"/>
              <a:gd name="T20" fmla="*/ 89 w 193"/>
              <a:gd name="T21" fmla="*/ 154 h 154"/>
              <a:gd name="T22" fmla="*/ 89 w 193"/>
              <a:gd name="T23" fmla="*/ 71 h 154"/>
              <a:gd name="T24" fmla="*/ 130 w 193"/>
              <a:gd name="T25" fmla="*/ 89 h 154"/>
              <a:gd name="T26" fmla="*/ 104 w 193"/>
              <a:gd name="T27" fmla="*/ 89 h 154"/>
              <a:gd name="T28" fmla="*/ 104 w 193"/>
              <a:gd name="T29" fmla="*/ 154 h 154"/>
              <a:gd name="T30" fmla="*/ 130 w 193"/>
              <a:gd name="T31" fmla="*/ 154 h 154"/>
              <a:gd name="T32" fmla="*/ 130 w 193"/>
              <a:gd name="T33" fmla="*/ 89 h 154"/>
              <a:gd name="T34" fmla="*/ 171 w 193"/>
              <a:gd name="T35" fmla="*/ 47 h 154"/>
              <a:gd name="T36" fmla="*/ 145 w 193"/>
              <a:gd name="T37" fmla="*/ 47 h 154"/>
              <a:gd name="T38" fmla="*/ 145 w 193"/>
              <a:gd name="T39" fmla="*/ 154 h 154"/>
              <a:gd name="T40" fmla="*/ 171 w 193"/>
              <a:gd name="T41" fmla="*/ 154 h 154"/>
              <a:gd name="T42" fmla="*/ 171 w 193"/>
              <a:gd name="T43" fmla="*/ 47 h 154"/>
              <a:gd name="T44" fmla="*/ 34 w 193"/>
              <a:gd name="T45" fmla="*/ 67 h 154"/>
              <a:gd name="T46" fmla="*/ 26 w 193"/>
              <a:gd name="T47" fmla="*/ 74 h 154"/>
              <a:gd name="T48" fmla="*/ 34 w 193"/>
              <a:gd name="T49" fmla="*/ 82 h 154"/>
              <a:gd name="T50" fmla="*/ 42 w 193"/>
              <a:gd name="T51" fmla="*/ 74 h 154"/>
              <a:gd name="T52" fmla="*/ 34 w 193"/>
              <a:gd name="T53" fmla="*/ 67 h 154"/>
              <a:gd name="T54" fmla="*/ 75 w 193"/>
              <a:gd name="T55" fmla="*/ 27 h 154"/>
              <a:gd name="T56" fmla="*/ 68 w 193"/>
              <a:gd name="T57" fmla="*/ 35 h 154"/>
              <a:gd name="T58" fmla="*/ 75 w 193"/>
              <a:gd name="T59" fmla="*/ 42 h 154"/>
              <a:gd name="T60" fmla="*/ 83 w 193"/>
              <a:gd name="T61" fmla="*/ 35 h 154"/>
              <a:gd name="T62" fmla="*/ 75 w 193"/>
              <a:gd name="T63" fmla="*/ 27 h 154"/>
              <a:gd name="T64" fmla="*/ 117 w 193"/>
              <a:gd name="T65" fmla="*/ 47 h 154"/>
              <a:gd name="T66" fmla="*/ 109 w 193"/>
              <a:gd name="T67" fmla="*/ 55 h 154"/>
              <a:gd name="T68" fmla="*/ 117 w 193"/>
              <a:gd name="T69" fmla="*/ 62 h 154"/>
              <a:gd name="T70" fmla="*/ 124 w 193"/>
              <a:gd name="T71" fmla="*/ 55 h 154"/>
              <a:gd name="T72" fmla="*/ 117 w 193"/>
              <a:gd name="T73" fmla="*/ 47 h 154"/>
              <a:gd name="T74" fmla="*/ 158 w 193"/>
              <a:gd name="T75" fmla="*/ 0 h 154"/>
              <a:gd name="T76" fmla="*/ 151 w 193"/>
              <a:gd name="T77" fmla="*/ 7 h 154"/>
              <a:gd name="T78" fmla="*/ 158 w 193"/>
              <a:gd name="T79" fmla="*/ 15 h 154"/>
              <a:gd name="T80" fmla="*/ 166 w 193"/>
              <a:gd name="T81" fmla="*/ 7 h 154"/>
              <a:gd name="T82" fmla="*/ 158 w 193"/>
              <a:gd name="T83" fmla="*/ 0 h 154"/>
              <a:gd name="T84" fmla="*/ 122 w 193"/>
              <a:gd name="T85" fmla="*/ 49 h 154"/>
              <a:gd name="T86" fmla="*/ 153 w 193"/>
              <a:gd name="T87" fmla="*/ 13 h 154"/>
              <a:gd name="T88" fmla="*/ 82 w 193"/>
              <a:gd name="T89" fmla="*/ 38 h 154"/>
              <a:gd name="T90" fmla="*/ 110 w 193"/>
              <a:gd name="T91" fmla="*/ 51 h 154"/>
              <a:gd name="T92" fmla="*/ 70 w 193"/>
              <a:gd name="T93" fmla="*/ 40 h 154"/>
              <a:gd name="T94" fmla="*/ 39 w 193"/>
              <a:gd name="T95" fmla="*/ 69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 h="154">
                <a:moveTo>
                  <a:pt x="193" y="154"/>
                </a:moveTo>
                <a:cubicBezTo>
                  <a:pt x="0" y="154"/>
                  <a:pt x="0" y="154"/>
                  <a:pt x="0" y="154"/>
                </a:cubicBezTo>
                <a:moveTo>
                  <a:pt x="47" y="112"/>
                </a:moveTo>
                <a:cubicBezTo>
                  <a:pt x="21" y="112"/>
                  <a:pt x="21" y="112"/>
                  <a:pt x="21" y="112"/>
                </a:cubicBezTo>
                <a:cubicBezTo>
                  <a:pt x="21" y="154"/>
                  <a:pt x="21" y="154"/>
                  <a:pt x="21" y="154"/>
                </a:cubicBezTo>
                <a:cubicBezTo>
                  <a:pt x="47" y="154"/>
                  <a:pt x="47" y="154"/>
                  <a:pt x="47" y="154"/>
                </a:cubicBezTo>
                <a:lnTo>
                  <a:pt x="47" y="112"/>
                </a:lnTo>
                <a:close/>
                <a:moveTo>
                  <a:pt x="89" y="71"/>
                </a:moveTo>
                <a:cubicBezTo>
                  <a:pt x="62" y="71"/>
                  <a:pt x="62" y="71"/>
                  <a:pt x="62" y="71"/>
                </a:cubicBezTo>
                <a:cubicBezTo>
                  <a:pt x="62" y="154"/>
                  <a:pt x="62" y="154"/>
                  <a:pt x="62" y="154"/>
                </a:cubicBezTo>
                <a:cubicBezTo>
                  <a:pt x="89" y="154"/>
                  <a:pt x="89" y="154"/>
                  <a:pt x="89" y="154"/>
                </a:cubicBezTo>
                <a:lnTo>
                  <a:pt x="89" y="71"/>
                </a:lnTo>
                <a:close/>
                <a:moveTo>
                  <a:pt x="130" y="89"/>
                </a:moveTo>
                <a:cubicBezTo>
                  <a:pt x="104" y="89"/>
                  <a:pt x="104" y="89"/>
                  <a:pt x="104" y="89"/>
                </a:cubicBezTo>
                <a:cubicBezTo>
                  <a:pt x="104" y="154"/>
                  <a:pt x="104" y="154"/>
                  <a:pt x="104" y="154"/>
                </a:cubicBezTo>
                <a:cubicBezTo>
                  <a:pt x="130" y="154"/>
                  <a:pt x="130" y="154"/>
                  <a:pt x="130" y="154"/>
                </a:cubicBezTo>
                <a:lnTo>
                  <a:pt x="130" y="89"/>
                </a:lnTo>
                <a:close/>
                <a:moveTo>
                  <a:pt x="171" y="47"/>
                </a:moveTo>
                <a:cubicBezTo>
                  <a:pt x="145" y="47"/>
                  <a:pt x="145" y="47"/>
                  <a:pt x="145" y="47"/>
                </a:cubicBezTo>
                <a:cubicBezTo>
                  <a:pt x="145" y="154"/>
                  <a:pt x="145" y="154"/>
                  <a:pt x="145" y="154"/>
                </a:cubicBezTo>
                <a:cubicBezTo>
                  <a:pt x="171" y="154"/>
                  <a:pt x="171" y="154"/>
                  <a:pt x="171" y="154"/>
                </a:cubicBezTo>
                <a:lnTo>
                  <a:pt x="171" y="47"/>
                </a:lnTo>
                <a:close/>
                <a:moveTo>
                  <a:pt x="34" y="67"/>
                </a:moveTo>
                <a:cubicBezTo>
                  <a:pt x="30" y="67"/>
                  <a:pt x="26" y="70"/>
                  <a:pt x="26" y="74"/>
                </a:cubicBezTo>
                <a:cubicBezTo>
                  <a:pt x="26" y="79"/>
                  <a:pt x="30" y="82"/>
                  <a:pt x="34" y="82"/>
                </a:cubicBezTo>
                <a:cubicBezTo>
                  <a:pt x="38" y="82"/>
                  <a:pt x="42" y="79"/>
                  <a:pt x="42" y="74"/>
                </a:cubicBezTo>
                <a:cubicBezTo>
                  <a:pt x="42" y="70"/>
                  <a:pt x="38" y="67"/>
                  <a:pt x="34" y="67"/>
                </a:cubicBezTo>
                <a:close/>
                <a:moveTo>
                  <a:pt x="75" y="27"/>
                </a:moveTo>
                <a:cubicBezTo>
                  <a:pt x="71" y="27"/>
                  <a:pt x="68" y="31"/>
                  <a:pt x="68" y="35"/>
                </a:cubicBezTo>
                <a:cubicBezTo>
                  <a:pt x="68" y="39"/>
                  <a:pt x="71" y="42"/>
                  <a:pt x="75" y="42"/>
                </a:cubicBezTo>
                <a:cubicBezTo>
                  <a:pt x="80" y="42"/>
                  <a:pt x="83" y="39"/>
                  <a:pt x="83" y="35"/>
                </a:cubicBezTo>
                <a:cubicBezTo>
                  <a:pt x="83" y="31"/>
                  <a:pt x="80" y="27"/>
                  <a:pt x="75" y="27"/>
                </a:cubicBezTo>
                <a:close/>
                <a:moveTo>
                  <a:pt x="117" y="47"/>
                </a:moveTo>
                <a:cubicBezTo>
                  <a:pt x="113" y="47"/>
                  <a:pt x="109" y="51"/>
                  <a:pt x="109" y="55"/>
                </a:cubicBezTo>
                <a:cubicBezTo>
                  <a:pt x="109" y="59"/>
                  <a:pt x="113" y="62"/>
                  <a:pt x="117" y="62"/>
                </a:cubicBezTo>
                <a:cubicBezTo>
                  <a:pt x="121" y="62"/>
                  <a:pt x="124" y="59"/>
                  <a:pt x="124" y="55"/>
                </a:cubicBezTo>
                <a:cubicBezTo>
                  <a:pt x="124" y="51"/>
                  <a:pt x="121" y="47"/>
                  <a:pt x="117" y="47"/>
                </a:cubicBezTo>
                <a:close/>
                <a:moveTo>
                  <a:pt x="158" y="0"/>
                </a:moveTo>
                <a:cubicBezTo>
                  <a:pt x="154" y="0"/>
                  <a:pt x="151" y="3"/>
                  <a:pt x="151" y="7"/>
                </a:cubicBezTo>
                <a:cubicBezTo>
                  <a:pt x="151" y="12"/>
                  <a:pt x="154" y="15"/>
                  <a:pt x="158" y="15"/>
                </a:cubicBezTo>
                <a:cubicBezTo>
                  <a:pt x="162" y="15"/>
                  <a:pt x="166" y="12"/>
                  <a:pt x="166" y="7"/>
                </a:cubicBezTo>
                <a:cubicBezTo>
                  <a:pt x="166" y="3"/>
                  <a:pt x="162" y="0"/>
                  <a:pt x="158" y="0"/>
                </a:cubicBezTo>
                <a:close/>
                <a:moveTo>
                  <a:pt x="122" y="49"/>
                </a:moveTo>
                <a:cubicBezTo>
                  <a:pt x="153" y="13"/>
                  <a:pt x="153" y="13"/>
                  <a:pt x="153" y="13"/>
                </a:cubicBezTo>
                <a:moveTo>
                  <a:pt x="82" y="38"/>
                </a:moveTo>
                <a:cubicBezTo>
                  <a:pt x="110" y="51"/>
                  <a:pt x="110" y="51"/>
                  <a:pt x="110" y="51"/>
                </a:cubicBezTo>
                <a:moveTo>
                  <a:pt x="70" y="40"/>
                </a:moveTo>
                <a:cubicBezTo>
                  <a:pt x="39" y="69"/>
                  <a:pt x="39" y="69"/>
                  <a:pt x="39" y="69"/>
                </a:cubicBezTo>
              </a:path>
            </a:pathLst>
          </a:custGeom>
          <a:noFill/>
          <a:ln w="22225" cap="rnd">
            <a:solidFill>
              <a:srgbClr val="41404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ru-RU" sz="1800" b="0" i="0" u="none" strike="noStrike" kern="0" cap="none" spc="0" normalizeH="0" baseline="0" noProof="0">
              <a:ln>
                <a:noFill/>
              </a:ln>
              <a:solidFill>
                <a:srgbClr val="414042"/>
              </a:solidFill>
              <a:effectLst/>
              <a:uLnTx/>
              <a:uFillTx/>
              <a:latin typeface="Times New Roman"/>
              <a:ea typeface="微软雅黑"/>
              <a:sym typeface="Times New Roman"/>
            </a:endParaRPr>
          </a:p>
        </p:txBody>
      </p:sp>
      <p:sp>
        <p:nvSpPr>
          <p:cNvPr id="48" name="Freeform 17">
            <a:extLst>
              <a:ext uri="{FF2B5EF4-FFF2-40B4-BE49-F238E27FC236}">
                <a16:creationId xmlns:a16="http://schemas.microsoft.com/office/drawing/2014/main" id="{0932848D-EDAF-A0BE-9327-85AAED6EB24C}"/>
              </a:ext>
            </a:extLst>
          </p:cNvPr>
          <p:cNvSpPr>
            <a:spLocks noEditPoints="1"/>
          </p:cNvSpPr>
          <p:nvPr/>
        </p:nvSpPr>
        <p:spPr bwMode="auto">
          <a:xfrm>
            <a:off x="10006139" y="4932595"/>
            <a:ext cx="655639" cy="658812"/>
          </a:xfrm>
          <a:custGeom>
            <a:avLst/>
            <a:gdLst>
              <a:gd name="T0" fmla="*/ 148 w 172"/>
              <a:gd name="T1" fmla="*/ 48 h 173"/>
              <a:gd name="T2" fmla="*/ 161 w 172"/>
              <a:gd name="T3" fmla="*/ 92 h 173"/>
              <a:gd name="T4" fmla="*/ 81 w 172"/>
              <a:gd name="T5" fmla="*/ 173 h 173"/>
              <a:gd name="T6" fmla="*/ 0 w 172"/>
              <a:gd name="T7" fmla="*/ 92 h 173"/>
              <a:gd name="T8" fmla="*/ 81 w 172"/>
              <a:gd name="T9" fmla="*/ 11 h 173"/>
              <a:gd name="T10" fmla="*/ 125 w 172"/>
              <a:gd name="T11" fmla="*/ 25 h 173"/>
              <a:gd name="T12" fmla="*/ 112 w 172"/>
              <a:gd name="T13" fmla="*/ 40 h 173"/>
              <a:gd name="T14" fmla="*/ 81 w 172"/>
              <a:gd name="T15" fmla="*/ 31 h 173"/>
              <a:gd name="T16" fmla="*/ 20 w 172"/>
              <a:gd name="T17" fmla="*/ 92 h 173"/>
              <a:gd name="T18" fmla="*/ 81 w 172"/>
              <a:gd name="T19" fmla="*/ 153 h 173"/>
              <a:gd name="T20" fmla="*/ 141 w 172"/>
              <a:gd name="T21" fmla="*/ 92 h 173"/>
              <a:gd name="T22" fmla="*/ 133 w 172"/>
              <a:gd name="T23" fmla="*/ 61 h 173"/>
              <a:gd name="T24" fmla="*/ 96 w 172"/>
              <a:gd name="T25" fmla="*/ 55 h 173"/>
              <a:gd name="T26" fmla="*/ 81 w 172"/>
              <a:gd name="T27" fmla="*/ 52 h 173"/>
              <a:gd name="T28" fmla="*/ 41 w 172"/>
              <a:gd name="T29" fmla="*/ 92 h 173"/>
              <a:gd name="T30" fmla="*/ 81 w 172"/>
              <a:gd name="T31" fmla="*/ 132 h 173"/>
              <a:gd name="T32" fmla="*/ 120 w 172"/>
              <a:gd name="T33" fmla="*/ 92 h 173"/>
              <a:gd name="T34" fmla="*/ 116 w 172"/>
              <a:gd name="T35" fmla="*/ 75 h 173"/>
              <a:gd name="T36" fmla="*/ 81 w 172"/>
              <a:gd name="T37" fmla="*/ 92 h 173"/>
              <a:gd name="T38" fmla="*/ 168 w 172"/>
              <a:gd name="T39" fmla="*/ 5 h 173"/>
              <a:gd name="T40" fmla="*/ 147 w 172"/>
              <a:gd name="T41" fmla="*/ 0 h 173"/>
              <a:gd name="T42" fmla="*/ 147 w 172"/>
              <a:gd name="T43" fmla="*/ 26 h 173"/>
              <a:gd name="T44" fmla="*/ 172 w 172"/>
              <a:gd name="T45" fmla="*/ 26 h 173"/>
              <a:gd name="T46" fmla="*/ 14 w 172"/>
              <a:gd name="T47" fmla="*/ 173 h 173"/>
              <a:gd name="T48" fmla="*/ 30 w 172"/>
              <a:gd name="T49" fmla="*/ 155 h 173"/>
              <a:gd name="T50" fmla="*/ 132 w 172"/>
              <a:gd name="T51" fmla="*/ 155 h 173"/>
              <a:gd name="T52" fmla="*/ 148 w 172"/>
              <a:gd name="T53" fmla="*/ 173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2" h="173">
                <a:moveTo>
                  <a:pt x="148" y="48"/>
                </a:moveTo>
                <a:cubicBezTo>
                  <a:pt x="156" y="60"/>
                  <a:pt x="161" y="76"/>
                  <a:pt x="161" y="92"/>
                </a:cubicBezTo>
                <a:cubicBezTo>
                  <a:pt x="161" y="137"/>
                  <a:pt x="125" y="173"/>
                  <a:pt x="81" y="173"/>
                </a:cubicBezTo>
                <a:cubicBezTo>
                  <a:pt x="36" y="173"/>
                  <a:pt x="0" y="137"/>
                  <a:pt x="0" y="92"/>
                </a:cubicBezTo>
                <a:cubicBezTo>
                  <a:pt x="0" y="48"/>
                  <a:pt x="36" y="11"/>
                  <a:pt x="81" y="11"/>
                </a:cubicBezTo>
                <a:cubicBezTo>
                  <a:pt x="97" y="11"/>
                  <a:pt x="112" y="16"/>
                  <a:pt x="125" y="25"/>
                </a:cubicBezTo>
                <a:moveTo>
                  <a:pt x="112" y="40"/>
                </a:moveTo>
                <a:cubicBezTo>
                  <a:pt x="103" y="34"/>
                  <a:pt x="92" y="31"/>
                  <a:pt x="81" y="31"/>
                </a:cubicBezTo>
                <a:cubicBezTo>
                  <a:pt x="47" y="31"/>
                  <a:pt x="20" y="58"/>
                  <a:pt x="20" y="92"/>
                </a:cubicBezTo>
                <a:cubicBezTo>
                  <a:pt x="20" y="126"/>
                  <a:pt x="47" y="153"/>
                  <a:pt x="81" y="153"/>
                </a:cubicBezTo>
                <a:cubicBezTo>
                  <a:pt x="114" y="153"/>
                  <a:pt x="141" y="126"/>
                  <a:pt x="141" y="92"/>
                </a:cubicBezTo>
                <a:cubicBezTo>
                  <a:pt x="141" y="81"/>
                  <a:pt x="138" y="70"/>
                  <a:pt x="133" y="61"/>
                </a:cubicBezTo>
                <a:moveTo>
                  <a:pt x="96" y="55"/>
                </a:moveTo>
                <a:cubicBezTo>
                  <a:pt x="91" y="53"/>
                  <a:pt x="86" y="52"/>
                  <a:pt x="81" y="52"/>
                </a:cubicBezTo>
                <a:cubicBezTo>
                  <a:pt x="59" y="52"/>
                  <a:pt x="41" y="70"/>
                  <a:pt x="41" y="92"/>
                </a:cubicBezTo>
                <a:cubicBezTo>
                  <a:pt x="41" y="114"/>
                  <a:pt x="59" y="132"/>
                  <a:pt x="81" y="132"/>
                </a:cubicBezTo>
                <a:cubicBezTo>
                  <a:pt x="103" y="132"/>
                  <a:pt x="120" y="114"/>
                  <a:pt x="120" y="92"/>
                </a:cubicBezTo>
                <a:cubicBezTo>
                  <a:pt x="120" y="86"/>
                  <a:pt x="119" y="80"/>
                  <a:pt x="116" y="75"/>
                </a:cubicBezTo>
                <a:moveTo>
                  <a:pt x="81" y="92"/>
                </a:moveTo>
                <a:cubicBezTo>
                  <a:pt x="168" y="5"/>
                  <a:pt x="168" y="5"/>
                  <a:pt x="168" y="5"/>
                </a:cubicBezTo>
                <a:moveTo>
                  <a:pt x="147" y="0"/>
                </a:moveTo>
                <a:cubicBezTo>
                  <a:pt x="147" y="26"/>
                  <a:pt x="147" y="26"/>
                  <a:pt x="147" y="26"/>
                </a:cubicBezTo>
                <a:cubicBezTo>
                  <a:pt x="172" y="26"/>
                  <a:pt x="172" y="26"/>
                  <a:pt x="172" y="26"/>
                </a:cubicBezTo>
                <a:moveTo>
                  <a:pt x="14" y="173"/>
                </a:moveTo>
                <a:cubicBezTo>
                  <a:pt x="30" y="155"/>
                  <a:pt x="30" y="155"/>
                  <a:pt x="30" y="155"/>
                </a:cubicBezTo>
                <a:moveTo>
                  <a:pt x="132" y="155"/>
                </a:moveTo>
                <a:cubicBezTo>
                  <a:pt x="148" y="173"/>
                  <a:pt x="148" y="173"/>
                  <a:pt x="148" y="173"/>
                </a:cubicBezTo>
              </a:path>
            </a:pathLst>
          </a:custGeom>
          <a:noFill/>
          <a:ln w="22225" cap="rnd">
            <a:solidFill>
              <a:srgbClr val="41404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ru-RU" sz="1800" b="0" i="0" u="none" strike="noStrike" kern="0" cap="none" spc="0" normalizeH="0" baseline="0" noProof="0">
              <a:ln>
                <a:noFill/>
              </a:ln>
              <a:solidFill>
                <a:srgbClr val="414042"/>
              </a:solidFill>
              <a:effectLst/>
              <a:uLnTx/>
              <a:uFillTx/>
              <a:latin typeface="Times New Roman"/>
              <a:ea typeface="微软雅黑"/>
              <a:sym typeface="Times New Roman"/>
            </a:endParaRPr>
          </a:p>
        </p:txBody>
      </p:sp>
      <p:sp>
        <p:nvSpPr>
          <p:cNvPr id="59" name="矩形 58">
            <a:extLst>
              <a:ext uri="{FF2B5EF4-FFF2-40B4-BE49-F238E27FC236}">
                <a16:creationId xmlns:a16="http://schemas.microsoft.com/office/drawing/2014/main" id="{84265FE2-48DB-1E65-15E6-CAA55E2EA4F6}"/>
              </a:ext>
            </a:extLst>
          </p:cNvPr>
          <p:cNvSpPr/>
          <p:nvPr/>
        </p:nvSpPr>
        <p:spPr>
          <a:xfrm>
            <a:off x="1930425" y="1711863"/>
            <a:ext cx="1829347" cy="338554"/>
          </a:xfrm>
          <a:prstGeom prst="rect">
            <a:avLst/>
          </a:prstGeom>
        </p:spPr>
        <p:txBody>
          <a:bodyPr wrap="none">
            <a:spAutoFit/>
          </a:bodyPr>
          <a:lstStyle/>
          <a:p>
            <a:pPr lvl="0">
              <a:defRPr/>
            </a:pPr>
            <a:r>
              <a:rPr lang="en-CA" altLang="zh-CN" sz="1600" b="1" kern="0" dirty="0">
                <a:latin typeface="Times New Roman"/>
                <a:ea typeface="微软雅黑"/>
                <a:sym typeface="Times New Roman"/>
              </a:rPr>
              <a:t>Limit Screen Time</a:t>
            </a:r>
            <a:endParaRPr lang="zh-CN" altLang="en-US" sz="1600" b="1" kern="0" dirty="0">
              <a:latin typeface="Times New Roman"/>
              <a:ea typeface="微软雅黑"/>
              <a:sym typeface="Times New Roman"/>
            </a:endParaRPr>
          </a:p>
        </p:txBody>
      </p:sp>
      <p:sp>
        <p:nvSpPr>
          <p:cNvPr id="60" name="矩形 59">
            <a:extLst>
              <a:ext uri="{FF2B5EF4-FFF2-40B4-BE49-F238E27FC236}">
                <a16:creationId xmlns:a16="http://schemas.microsoft.com/office/drawing/2014/main" id="{E18676F7-DD34-2C17-A526-AE204897E4FF}"/>
              </a:ext>
            </a:extLst>
          </p:cNvPr>
          <p:cNvSpPr/>
          <p:nvPr/>
        </p:nvSpPr>
        <p:spPr>
          <a:xfrm>
            <a:off x="1952197" y="1986042"/>
            <a:ext cx="3897061" cy="1023101"/>
          </a:xfrm>
          <a:prstGeom prst="rect">
            <a:avLst/>
          </a:prstGeom>
        </p:spPr>
        <p:txBody>
          <a:bodyPr wrap="square">
            <a:spAutoFit/>
          </a:bodyPr>
          <a:lstStyle/>
          <a:p>
            <a:pPr lvl="0">
              <a:lnSpc>
                <a:spcPct val="150000"/>
              </a:lnSpc>
              <a:defRPr/>
            </a:pPr>
            <a:r>
              <a:rPr lang="en-CA" altLang="zh-CN" sz="1400" kern="0" dirty="0">
                <a:solidFill>
                  <a:schemeClr val="bg1">
                    <a:lumMod val="50000"/>
                  </a:schemeClr>
                </a:solidFill>
                <a:latin typeface="Times New Roman"/>
                <a:ea typeface="微软雅黑"/>
                <a:sym typeface="Times New Roman"/>
              </a:rPr>
              <a:t>Establishing no-screen zones and avoiding screens 1–2 hours before bed can significantly improve sleep.</a:t>
            </a:r>
            <a:endParaRPr lang="zh-CN" altLang="en-US" sz="1400" kern="0" dirty="0">
              <a:solidFill>
                <a:schemeClr val="bg1">
                  <a:lumMod val="50000"/>
                </a:schemeClr>
              </a:solidFill>
              <a:latin typeface="Times New Roman"/>
              <a:ea typeface="微软雅黑"/>
              <a:sym typeface="Times New Roman"/>
            </a:endParaRPr>
          </a:p>
        </p:txBody>
      </p:sp>
      <p:sp>
        <p:nvSpPr>
          <p:cNvPr id="61" name="矩形 60">
            <a:extLst>
              <a:ext uri="{FF2B5EF4-FFF2-40B4-BE49-F238E27FC236}">
                <a16:creationId xmlns:a16="http://schemas.microsoft.com/office/drawing/2014/main" id="{F25643EF-34FB-3627-48CF-25D3AB8E3545}"/>
              </a:ext>
            </a:extLst>
          </p:cNvPr>
          <p:cNvSpPr/>
          <p:nvPr/>
        </p:nvSpPr>
        <p:spPr>
          <a:xfrm>
            <a:off x="1930425" y="3221349"/>
            <a:ext cx="2108269" cy="338554"/>
          </a:xfrm>
          <a:prstGeom prst="rect">
            <a:avLst/>
          </a:prstGeom>
        </p:spPr>
        <p:txBody>
          <a:bodyPr wrap="none">
            <a:spAutoFit/>
          </a:bodyPr>
          <a:lstStyle/>
          <a:p>
            <a:pPr lvl="0">
              <a:defRPr/>
            </a:pPr>
            <a:r>
              <a:rPr lang="en-CA" altLang="zh-CN" sz="1600" b="1" kern="0" dirty="0">
                <a:latin typeface="Times New Roman"/>
                <a:ea typeface="微软雅黑"/>
                <a:sym typeface="Times New Roman"/>
              </a:rPr>
              <a:t>Use Blue Light Filters</a:t>
            </a:r>
            <a:endParaRPr lang="zh-CN" altLang="en-US" sz="1600" b="1" kern="0" dirty="0">
              <a:latin typeface="Times New Roman"/>
              <a:ea typeface="微软雅黑"/>
              <a:sym typeface="Times New Roman"/>
            </a:endParaRPr>
          </a:p>
        </p:txBody>
      </p:sp>
      <p:sp>
        <p:nvSpPr>
          <p:cNvPr id="62" name="矩形 61">
            <a:extLst>
              <a:ext uri="{FF2B5EF4-FFF2-40B4-BE49-F238E27FC236}">
                <a16:creationId xmlns:a16="http://schemas.microsoft.com/office/drawing/2014/main" id="{F9C579FB-5A27-6EF4-C122-21FF854C1373}"/>
              </a:ext>
            </a:extLst>
          </p:cNvPr>
          <p:cNvSpPr/>
          <p:nvPr/>
        </p:nvSpPr>
        <p:spPr>
          <a:xfrm>
            <a:off x="1952197" y="3495528"/>
            <a:ext cx="3897061" cy="699935"/>
          </a:xfrm>
          <a:prstGeom prst="rect">
            <a:avLst/>
          </a:prstGeom>
        </p:spPr>
        <p:txBody>
          <a:bodyPr wrap="square">
            <a:spAutoFit/>
          </a:bodyPr>
          <a:lstStyle/>
          <a:p>
            <a:pPr lvl="0">
              <a:lnSpc>
                <a:spcPct val="150000"/>
              </a:lnSpc>
              <a:defRPr/>
            </a:pPr>
            <a:r>
              <a:rPr lang="en-CA" altLang="zh-CN" sz="1400" kern="0" dirty="0">
                <a:solidFill>
                  <a:schemeClr val="bg1">
                    <a:lumMod val="50000"/>
                  </a:schemeClr>
                </a:solidFill>
                <a:latin typeface="Times New Roman"/>
                <a:ea typeface="微软雅黑"/>
                <a:sym typeface="Times New Roman"/>
              </a:rPr>
              <a:t>Most devices now offer night mode or blue light filters, which reduce melatonin suppression.</a:t>
            </a:r>
            <a:endParaRPr lang="zh-CN" altLang="en-US" sz="1400" kern="0" dirty="0">
              <a:solidFill>
                <a:schemeClr val="bg1">
                  <a:lumMod val="50000"/>
                </a:schemeClr>
              </a:solidFill>
              <a:latin typeface="Times New Roman"/>
              <a:ea typeface="微软雅黑"/>
              <a:sym typeface="Times New Roman"/>
            </a:endParaRPr>
          </a:p>
        </p:txBody>
      </p:sp>
      <p:sp>
        <p:nvSpPr>
          <p:cNvPr id="63" name="矩形 62">
            <a:extLst>
              <a:ext uri="{FF2B5EF4-FFF2-40B4-BE49-F238E27FC236}">
                <a16:creationId xmlns:a16="http://schemas.microsoft.com/office/drawing/2014/main" id="{21E852E5-351C-D85C-6535-A9930E378C20}"/>
              </a:ext>
            </a:extLst>
          </p:cNvPr>
          <p:cNvSpPr/>
          <p:nvPr/>
        </p:nvSpPr>
        <p:spPr>
          <a:xfrm>
            <a:off x="1930425" y="4730835"/>
            <a:ext cx="2840842" cy="338554"/>
          </a:xfrm>
          <a:prstGeom prst="rect">
            <a:avLst/>
          </a:prstGeom>
        </p:spPr>
        <p:txBody>
          <a:bodyPr wrap="none">
            <a:spAutoFit/>
          </a:bodyPr>
          <a:lstStyle/>
          <a:p>
            <a:pPr lvl="0">
              <a:defRPr/>
            </a:pPr>
            <a:r>
              <a:rPr lang="en-CA" altLang="zh-CN" sz="1600" b="1" kern="0" dirty="0">
                <a:latin typeface="Times New Roman"/>
                <a:ea typeface="微软雅黑"/>
                <a:sym typeface="Times New Roman"/>
              </a:rPr>
              <a:t>Promote Healthy Sleep Habits</a:t>
            </a:r>
            <a:endParaRPr lang="zh-CN" altLang="en-US" sz="1600" b="1" kern="0" dirty="0">
              <a:latin typeface="Times New Roman"/>
              <a:ea typeface="微软雅黑"/>
              <a:sym typeface="Times New Roman"/>
            </a:endParaRPr>
          </a:p>
        </p:txBody>
      </p:sp>
      <p:sp>
        <p:nvSpPr>
          <p:cNvPr id="64" name="矩形 63">
            <a:extLst>
              <a:ext uri="{FF2B5EF4-FFF2-40B4-BE49-F238E27FC236}">
                <a16:creationId xmlns:a16="http://schemas.microsoft.com/office/drawing/2014/main" id="{3B0C06E3-6307-AF9B-632C-92D8A5041E4C}"/>
              </a:ext>
            </a:extLst>
          </p:cNvPr>
          <p:cNvSpPr/>
          <p:nvPr/>
        </p:nvSpPr>
        <p:spPr>
          <a:xfrm>
            <a:off x="1930426" y="5005014"/>
            <a:ext cx="3897061" cy="699935"/>
          </a:xfrm>
          <a:prstGeom prst="rect">
            <a:avLst/>
          </a:prstGeom>
        </p:spPr>
        <p:txBody>
          <a:bodyPr wrap="square">
            <a:spAutoFit/>
          </a:bodyPr>
          <a:lstStyle/>
          <a:p>
            <a:pPr lvl="0">
              <a:lnSpc>
                <a:spcPct val="150000"/>
              </a:lnSpc>
              <a:defRPr/>
            </a:pPr>
            <a:r>
              <a:rPr lang="en-CA" altLang="zh-CN" sz="1400" kern="0" dirty="0">
                <a:solidFill>
                  <a:schemeClr val="bg1">
                    <a:lumMod val="50000"/>
                  </a:schemeClr>
                </a:solidFill>
                <a:latin typeface="Times New Roman"/>
                <a:ea typeface="微软雅黑"/>
                <a:sym typeface="Times New Roman"/>
              </a:rPr>
              <a:t>Consistent routines and alternative pre-bed activities like reading or meditating can help.</a:t>
            </a:r>
            <a:endParaRPr lang="zh-CN" altLang="en-US" sz="1400" kern="0" dirty="0">
              <a:solidFill>
                <a:schemeClr val="bg1">
                  <a:lumMod val="50000"/>
                </a:schemeClr>
              </a:solidFill>
              <a:latin typeface="Times New Roman"/>
              <a:ea typeface="微软雅黑"/>
              <a:sym typeface="Times New Roman"/>
            </a:endParaRPr>
          </a:p>
        </p:txBody>
      </p:sp>
    </p:spTree>
    <p:extLst>
      <p:ext uri="{BB962C8B-B14F-4D97-AF65-F5344CB8AC3E}">
        <p14:creationId xmlns:p14="http://schemas.microsoft.com/office/powerpoint/2010/main" val="3402752455"/>
      </p:ext>
    </p:extLst>
  </p:cSld>
  <p:clrMapOvr>
    <a:masterClrMapping/>
  </p:clrMapOvr>
  <mc:AlternateContent xmlns:mc="http://schemas.openxmlformats.org/markup-compatibility/2006" xmlns:p14="http://schemas.microsoft.com/office/powerpoint/2010/main">
    <mc:Choice Requires="p14">
      <p:transition spd="slow" p14:dur="1300" advTm="88056">
        <p14:pan/>
      </p:transition>
    </mc:Choice>
    <mc:Fallback xmlns="">
      <p:transition spd="slow" advTm="88056">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 presetClass="entr" presetSubtype="8" decel="10000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1000" fill="hold"/>
                                            <p:tgtEl>
                                              <p:spTgt spid="11"/>
                                            </p:tgtEl>
                                            <p:attrNameLst>
                                              <p:attrName>ppt_x</p:attrName>
                                            </p:attrNameLst>
                                          </p:cBhvr>
                                          <p:tavLst>
                                            <p:tav tm="0">
                                              <p:val>
                                                <p:strVal val="0-#ppt_w/2"/>
                                              </p:val>
                                            </p:tav>
                                            <p:tav tm="100000">
                                              <p:val>
                                                <p:strVal val="#ppt_x"/>
                                              </p:val>
                                            </p:tav>
                                          </p:tavLst>
                                        </p:anim>
                                        <p:anim calcmode="lin" valueType="num">
                                          <p:cBhvr additive="base">
                                            <p:cTn id="11" dur="1000" fill="hold"/>
                                            <p:tgtEl>
                                              <p:spTgt spid="11"/>
                                            </p:tgtEl>
                                            <p:attrNameLst>
                                              <p:attrName>ppt_y</p:attrName>
                                            </p:attrNameLst>
                                          </p:cBhvr>
                                          <p:tavLst>
                                            <p:tav tm="0">
                                              <p:val>
                                                <p:strVal val="#ppt_y"/>
                                              </p:val>
                                            </p:tav>
                                            <p:tav tm="100000">
                                              <p:val>
                                                <p:strVal val="#ppt_y"/>
                                              </p:val>
                                            </p:tav>
                                          </p:tavLst>
                                        </p:anim>
                                      </p:childTnLst>
                                    </p:cTn>
                                  </p:par>
                                  <p:par>
                                    <p:cTn id="12" presetID="22" presetClass="entr" presetSubtype="4"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par>
                              <p:cTn id="15" fill="hold">
                                <p:stCondLst>
                                  <p:cond delay="1000"/>
                                </p:stCondLst>
                                <p:childTnLst>
                                  <p:par>
                                    <p:cTn id="16" presetID="53" presetClass="entr" presetSubtype="16"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childTnLst>
                              </p:cTn>
                            </p:par>
                            <p:par>
                              <p:cTn id="21" fill="hold">
                                <p:stCondLst>
                                  <p:cond delay="2900"/>
                                </p:stCondLst>
                                <p:childTnLst>
                                  <p:par>
                                    <p:cTn id="22" presetID="2" presetClass="entr" presetSubtype="12" fill="hold" nodeType="afterEffect" p14:presetBounceEnd="67000">
                                      <p:stCondLst>
                                        <p:cond delay="0"/>
                                      </p:stCondLst>
                                      <p:childTnLst>
                                        <p:set>
                                          <p:cBhvr>
                                            <p:cTn id="23" dur="1" fill="hold">
                                              <p:stCondLst>
                                                <p:cond delay="0"/>
                                              </p:stCondLst>
                                            </p:cTn>
                                            <p:tgtEl>
                                              <p:spTgt spid="42"/>
                                            </p:tgtEl>
                                            <p:attrNameLst>
                                              <p:attrName>style.visibility</p:attrName>
                                            </p:attrNameLst>
                                          </p:cBhvr>
                                          <p:to>
                                            <p:strVal val="visible"/>
                                          </p:to>
                                        </p:set>
                                        <p:anim calcmode="lin" valueType="num" p14:bounceEnd="67000">
                                          <p:cBhvr additive="base">
                                            <p:cTn id="24" dur="1000" fill="hold"/>
                                            <p:tgtEl>
                                              <p:spTgt spid="42"/>
                                            </p:tgtEl>
                                            <p:attrNameLst>
                                              <p:attrName>ppt_x</p:attrName>
                                            </p:attrNameLst>
                                          </p:cBhvr>
                                          <p:tavLst>
                                            <p:tav tm="0">
                                              <p:val>
                                                <p:strVal val="0-#ppt_w/2"/>
                                              </p:val>
                                            </p:tav>
                                            <p:tav tm="100000">
                                              <p:val>
                                                <p:strVal val="#ppt_x"/>
                                              </p:val>
                                            </p:tav>
                                          </p:tavLst>
                                        </p:anim>
                                        <p:anim calcmode="lin" valueType="num" p14:bounceEnd="67000">
                                          <p:cBhvr additive="base">
                                            <p:cTn id="25" dur="1000" fill="hold"/>
                                            <p:tgtEl>
                                              <p:spTgt spid="42"/>
                                            </p:tgtEl>
                                            <p:attrNameLst>
                                              <p:attrName>ppt_y</p:attrName>
                                            </p:attrNameLst>
                                          </p:cBhvr>
                                          <p:tavLst>
                                            <p:tav tm="0">
                                              <p:val>
                                                <p:strVal val="1+#ppt_h/2"/>
                                              </p:val>
                                            </p:tav>
                                            <p:tav tm="100000">
                                              <p:val>
                                                <p:strVal val="#ppt_y"/>
                                              </p:val>
                                            </p:tav>
                                          </p:tavLst>
                                        </p:anim>
                                      </p:childTnLst>
                                    </p:cTn>
                                  </p:par>
                                  <p:par>
                                    <p:cTn id="26" presetID="2" presetClass="entr" presetSubtype="1" fill="hold" nodeType="withEffect" p14:presetBounceEnd="67000">
                                      <p:stCondLst>
                                        <p:cond delay="200"/>
                                      </p:stCondLst>
                                      <p:childTnLst>
                                        <p:set>
                                          <p:cBhvr>
                                            <p:cTn id="27" dur="1" fill="hold">
                                              <p:stCondLst>
                                                <p:cond delay="0"/>
                                              </p:stCondLst>
                                            </p:cTn>
                                            <p:tgtEl>
                                              <p:spTgt spid="38"/>
                                            </p:tgtEl>
                                            <p:attrNameLst>
                                              <p:attrName>style.visibility</p:attrName>
                                            </p:attrNameLst>
                                          </p:cBhvr>
                                          <p:to>
                                            <p:strVal val="visible"/>
                                          </p:to>
                                        </p:set>
                                        <p:anim calcmode="lin" valueType="num" p14:bounceEnd="67000">
                                          <p:cBhvr additive="base">
                                            <p:cTn id="28" dur="1000" fill="hold"/>
                                            <p:tgtEl>
                                              <p:spTgt spid="38"/>
                                            </p:tgtEl>
                                            <p:attrNameLst>
                                              <p:attrName>ppt_x</p:attrName>
                                            </p:attrNameLst>
                                          </p:cBhvr>
                                          <p:tavLst>
                                            <p:tav tm="0">
                                              <p:val>
                                                <p:strVal val="#ppt_x"/>
                                              </p:val>
                                            </p:tav>
                                            <p:tav tm="100000">
                                              <p:val>
                                                <p:strVal val="#ppt_x"/>
                                              </p:val>
                                            </p:tav>
                                          </p:tavLst>
                                        </p:anim>
                                        <p:anim calcmode="lin" valueType="num" p14:bounceEnd="67000">
                                          <p:cBhvr additive="base">
                                            <p:cTn id="29" dur="1000" fill="hold"/>
                                            <p:tgtEl>
                                              <p:spTgt spid="38"/>
                                            </p:tgtEl>
                                            <p:attrNameLst>
                                              <p:attrName>ppt_y</p:attrName>
                                            </p:attrNameLst>
                                          </p:cBhvr>
                                          <p:tavLst>
                                            <p:tav tm="0">
                                              <p:val>
                                                <p:strVal val="0-#ppt_h/2"/>
                                              </p:val>
                                            </p:tav>
                                            <p:tav tm="100000">
                                              <p:val>
                                                <p:strVal val="#ppt_y"/>
                                              </p:val>
                                            </p:tav>
                                          </p:tavLst>
                                        </p:anim>
                                      </p:childTnLst>
                                    </p:cTn>
                                  </p:par>
                                  <p:par>
                                    <p:cTn id="30" presetID="2" presetClass="entr" presetSubtype="6" fill="hold" nodeType="withEffect" p14:presetBounceEnd="67000">
                                      <p:stCondLst>
                                        <p:cond delay="400"/>
                                      </p:stCondLst>
                                      <p:childTnLst>
                                        <p:set>
                                          <p:cBhvr>
                                            <p:cTn id="31" dur="1" fill="hold">
                                              <p:stCondLst>
                                                <p:cond delay="0"/>
                                              </p:stCondLst>
                                            </p:cTn>
                                            <p:tgtEl>
                                              <p:spTgt spid="34"/>
                                            </p:tgtEl>
                                            <p:attrNameLst>
                                              <p:attrName>style.visibility</p:attrName>
                                            </p:attrNameLst>
                                          </p:cBhvr>
                                          <p:to>
                                            <p:strVal val="visible"/>
                                          </p:to>
                                        </p:set>
                                        <p:anim calcmode="lin" valueType="num" p14:bounceEnd="67000">
                                          <p:cBhvr additive="base">
                                            <p:cTn id="32" dur="1000" fill="hold"/>
                                            <p:tgtEl>
                                              <p:spTgt spid="34"/>
                                            </p:tgtEl>
                                            <p:attrNameLst>
                                              <p:attrName>ppt_x</p:attrName>
                                            </p:attrNameLst>
                                          </p:cBhvr>
                                          <p:tavLst>
                                            <p:tav tm="0">
                                              <p:val>
                                                <p:strVal val="1+#ppt_w/2"/>
                                              </p:val>
                                            </p:tav>
                                            <p:tav tm="100000">
                                              <p:val>
                                                <p:strVal val="#ppt_x"/>
                                              </p:val>
                                            </p:tav>
                                          </p:tavLst>
                                        </p:anim>
                                        <p:anim calcmode="lin" valueType="num" p14:bounceEnd="67000">
                                          <p:cBhvr additive="base">
                                            <p:cTn id="33" dur="1000" fill="hold"/>
                                            <p:tgtEl>
                                              <p:spTgt spid="34"/>
                                            </p:tgtEl>
                                            <p:attrNameLst>
                                              <p:attrName>ppt_y</p:attrName>
                                            </p:attrNameLst>
                                          </p:cBhvr>
                                          <p:tavLst>
                                            <p:tav tm="0">
                                              <p:val>
                                                <p:strVal val="1+#ppt_h/2"/>
                                              </p:val>
                                            </p:tav>
                                            <p:tav tm="100000">
                                              <p:val>
                                                <p:strVal val="#ppt_y"/>
                                              </p:val>
                                            </p:tav>
                                          </p:tavLst>
                                        </p:anim>
                                      </p:childTnLst>
                                    </p:cTn>
                                  </p:par>
                                  <p:par>
                                    <p:cTn id="34" presetID="53" presetClass="entr" presetSubtype="16" fill="hold" grpId="0" nodeType="withEffect">
                                      <p:stCondLst>
                                        <p:cond delay="750"/>
                                      </p:stCondLst>
                                      <p:childTnLst>
                                        <p:set>
                                          <p:cBhvr>
                                            <p:cTn id="35" dur="1" fill="hold">
                                              <p:stCondLst>
                                                <p:cond delay="0"/>
                                              </p:stCondLst>
                                            </p:cTn>
                                            <p:tgtEl>
                                              <p:spTgt spid="46"/>
                                            </p:tgtEl>
                                            <p:attrNameLst>
                                              <p:attrName>style.visibility</p:attrName>
                                            </p:attrNameLst>
                                          </p:cBhvr>
                                          <p:to>
                                            <p:strVal val="visible"/>
                                          </p:to>
                                        </p:set>
                                        <p:anim calcmode="lin" valueType="num">
                                          <p:cBhvr>
                                            <p:cTn id="36" dur="500" fill="hold"/>
                                            <p:tgtEl>
                                              <p:spTgt spid="46"/>
                                            </p:tgtEl>
                                            <p:attrNameLst>
                                              <p:attrName>ppt_w</p:attrName>
                                            </p:attrNameLst>
                                          </p:cBhvr>
                                          <p:tavLst>
                                            <p:tav tm="0">
                                              <p:val>
                                                <p:fltVal val="0"/>
                                              </p:val>
                                            </p:tav>
                                            <p:tav tm="100000">
                                              <p:val>
                                                <p:strVal val="#ppt_w"/>
                                              </p:val>
                                            </p:tav>
                                          </p:tavLst>
                                        </p:anim>
                                        <p:anim calcmode="lin" valueType="num">
                                          <p:cBhvr>
                                            <p:cTn id="37" dur="500" fill="hold"/>
                                            <p:tgtEl>
                                              <p:spTgt spid="46"/>
                                            </p:tgtEl>
                                            <p:attrNameLst>
                                              <p:attrName>ppt_h</p:attrName>
                                            </p:attrNameLst>
                                          </p:cBhvr>
                                          <p:tavLst>
                                            <p:tav tm="0">
                                              <p:val>
                                                <p:fltVal val="0"/>
                                              </p:val>
                                            </p:tav>
                                            <p:tav tm="100000">
                                              <p:val>
                                                <p:strVal val="#ppt_h"/>
                                              </p:val>
                                            </p:tav>
                                          </p:tavLst>
                                        </p:anim>
                                        <p:animEffect transition="in" filter="fade">
                                          <p:cBhvr>
                                            <p:cTn id="38" dur="500"/>
                                            <p:tgtEl>
                                              <p:spTgt spid="46"/>
                                            </p:tgtEl>
                                          </p:cBhvr>
                                        </p:animEffect>
                                      </p:childTnLst>
                                    </p:cTn>
                                  </p:par>
                                  <p:par>
                                    <p:cTn id="39" presetID="53" presetClass="entr" presetSubtype="16" fill="hold" grpId="0" nodeType="withEffect">
                                      <p:stCondLst>
                                        <p:cond delay="750"/>
                                      </p:stCondLst>
                                      <p:childTnLst>
                                        <p:set>
                                          <p:cBhvr>
                                            <p:cTn id="40" dur="1" fill="hold">
                                              <p:stCondLst>
                                                <p:cond delay="0"/>
                                              </p:stCondLst>
                                            </p:cTn>
                                            <p:tgtEl>
                                              <p:spTgt spid="47"/>
                                            </p:tgtEl>
                                            <p:attrNameLst>
                                              <p:attrName>style.visibility</p:attrName>
                                            </p:attrNameLst>
                                          </p:cBhvr>
                                          <p:to>
                                            <p:strVal val="visible"/>
                                          </p:to>
                                        </p:set>
                                        <p:anim calcmode="lin" valueType="num">
                                          <p:cBhvr>
                                            <p:cTn id="41" dur="500" fill="hold"/>
                                            <p:tgtEl>
                                              <p:spTgt spid="47"/>
                                            </p:tgtEl>
                                            <p:attrNameLst>
                                              <p:attrName>ppt_w</p:attrName>
                                            </p:attrNameLst>
                                          </p:cBhvr>
                                          <p:tavLst>
                                            <p:tav tm="0">
                                              <p:val>
                                                <p:fltVal val="0"/>
                                              </p:val>
                                            </p:tav>
                                            <p:tav tm="100000">
                                              <p:val>
                                                <p:strVal val="#ppt_w"/>
                                              </p:val>
                                            </p:tav>
                                          </p:tavLst>
                                        </p:anim>
                                        <p:anim calcmode="lin" valueType="num">
                                          <p:cBhvr>
                                            <p:cTn id="42" dur="500" fill="hold"/>
                                            <p:tgtEl>
                                              <p:spTgt spid="47"/>
                                            </p:tgtEl>
                                            <p:attrNameLst>
                                              <p:attrName>ppt_h</p:attrName>
                                            </p:attrNameLst>
                                          </p:cBhvr>
                                          <p:tavLst>
                                            <p:tav tm="0">
                                              <p:val>
                                                <p:fltVal val="0"/>
                                              </p:val>
                                            </p:tav>
                                            <p:tav tm="100000">
                                              <p:val>
                                                <p:strVal val="#ppt_h"/>
                                              </p:val>
                                            </p:tav>
                                          </p:tavLst>
                                        </p:anim>
                                        <p:animEffect transition="in" filter="fade">
                                          <p:cBhvr>
                                            <p:cTn id="43" dur="500"/>
                                            <p:tgtEl>
                                              <p:spTgt spid="47"/>
                                            </p:tgtEl>
                                          </p:cBhvr>
                                        </p:animEffect>
                                      </p:childTnLst>
                                    </p:cTn>
                                  </p:par>
                                  <p:par>
                                    <p:cTn id="44" presetID="53" presetClass="entr" presetSubtype="16" fill="hold" grpId="0" nodeType="withEffect">
                                      <p:stCondLst>
                                        <p:cond delay="750"/>
                                      </p:stCondLst>
                                      <p:childTnLst>
                                        <p:set>
                                          <p:cBhvr>
                                            <p:cTn id="45" dur="1" fill="hold">
                                              <p:stCondLst>
                                                <p:cond delay="0"/>
                                              </p:stCondLst>
                                            </p:cTn>
                                            <p:tgtEl>
                                              <p:spTgt spid="48"/>
                                            </p:tgtEl>
                                            <p:attrNameLst>
                                              <p:attrName>style.visibility</p:attrName>
                                            </p:attrNameLst>
                                          </p:cBhvr>
                                          <p:to>
                                            <p:strVal val="visible"/>
                                          </p:to>
                                        </p:set>
                                        <p:anim calcmode="lin" valueType="num">
                                          <p:cBhvr>
                                            <p:cTn id="46" dur="500" fill="hold"/>
                                            <p:tgtEl>
                                              <p:spTgt spid="48"/>
                                            </p:tgtEl>
                                            <p:attrNameLst>
                                              <p:attrName>ppt_w</p:attrName>
                                            </p:attrNameLst>
                                          </p:cBhvr>
                                          <p:tavLst>
                                            <p:tav tm="0">
                                              <p:val>
                                                <p:fltVal val="0"/>
                                              </p:val>
                                            </p:tav>
                                            <p:tav tm="100000">
                                              <p:val>
                                                <p:strVal val="#ppt_w"/>
                                              </p:val>
                                            </p:tav>
                                          </p:tavLst>
                                        </p:anim>
                                        <p:anim calcmode="lin" valueType="num">
                                          <p:cBhvr>
                                            <p:cTn id="47" dur="500" fill="hold"/>
                                            <p:tgtEl>
                                              <p:spTgt spid="48"/>
                                            </p:tgtEl>
                                            <p:attrNameLst>
                                              <p:attrName>ppt_h</p:attrName>
                                            </p:attrNameLst>
                                          </p:cBhvr>
                                          <p:tavLst>
                                            <p:tav tm="0">
                                              <p:val>
                                                <p:fltVal val="0"/>
                                              </p:val>
                                            </p:tav>
                                            <p:tav tm="100000">
                                              <p:val>
                                                <p:strVal val="#ppt_h"/>
                                              </p:val>
                                            </p:tav>
                                          </p:tavLst>
                                        </p:anim>
                                        <p:animEffect transition="in" filter="fade">
                                          <p:cBhvr>
                                            <p:cTn id="48" dur="500"/>
                                            <p:tgtEl>
                                              <p:spTgt spid="48"/>
                                            </p:tgtEl>
                                          </p:cBhvr>
                                        </p:animEffect>
                                      </p:childTnLst>
                                    </p:cTn>
                                  </p:par>
                                </p:childTnLst>
                              </p:cTn>
                            </p:par>
                            <p:par>
                              <p:cTn id="49" fill="hold">
                                <p:stCondLst>
                                  <p:cond delay="4300"/>
                                </p:stCondLst>
                                <p:childTnLst>
                                  <p:par>
                                    <p:cTn id="50" presetID="23" presetClass="entr" presetSubtype="288" decel="100000" fill="hold" grpId="0" nodeType="afterEffect">
                                      <p:stCondLst>
                                        <p:cond delay="0"/>
                                      </p:stCondLst>
                                      <p:iterate type="lt">
                                        <p:tmPct val="15000"/>
                                      </p:iterate>
                                      <p:childTnLst>
                                        <p:set>
                                          <p:cBhvr>
                                            <p:cTn id="51" dur="1" fill="hold">
                                              <p:stCondLst>
                                                <p:cond delay="0"/>
                                              </p:stCondLst>
                                            </p:cTn>
                                            <p:tgtEl>
                                              <p:spTgt spid="59"/>
                                            </p:tgtEl>
                                            <p:attrNameLst>
                                              <p:attrName>style.visibility</p:attrName>
                                            </p:attrNameLst>
                                          </p:cBhvr>
                                          <p:to>
                                            <p:strVal val="visible"/>
                                          </p:to>
                                        </p:set>
                                        <p:anim calcmode="lin" valueType="num">
                                          <p:cBhvr>
                                            <p:cTn id="52" dur="500" fill="hold"/>
                                            <p:tgtEl>
                                              <p:spTgt spid="59"/>
                                            </p:tgtEl>
                                            <p:attrNameLst>
                                              <p:attrName>ppt_w</p:attrName>
                                            </p:attrNameLst>
                                          </p:cBhvr>
                                          <p:tavLst>
                                            <p:tav tm="0">
                                              <p:val>
                                                <p:strVal val="8/3*#ppt_w"/>
                                              </p:val>
                                            </p:tav>
                                            <p:tav tm="100000">
                                              <p:val>
                                                <p:strVal val="#ppt_w"/>
                                              </p:val>
                                            </p:tav>
                                          </p:tavLst>
                                        </p:anim>
                                        <p:anim calcmode="lin" valueType="num">
                                          <p:cBhvr>
                                            <p:cTn id="53" dur="500" fill="hold"/>
                                            <p:tgtEl>
                                              <p:spTgt spid="59"/>
                                            </p:tgtEl>
                                            <p:attrNameLst>
                                              <p:attrName>ppt_h</p:attrName>
                                            </p:attrNameLst>
                                          </p:cBhvr>
                                          <p:tavLst>
                                            <p:tav tm="0">
                                              <p:val>
                                                <p:strVal val="12/3*#ppt_h"/>
                                              </p:val>
                                            </p:tav>
                                            <p:tav tm="100000">
                                              <p:val>
                                                <p:strVal val="#ppt_h"/>
                                              </p:val>
                                            </p:tav>
                                          </p:tavLst>
                                        </p:anim>
                                      </p:childTnLst>
                                    </p:cTn>
                                  </p:par>
                                  <p:par>
                                    <p:cTn id="54" presetID="10" presetClass="entr" presetSubtype="0" fill="hold" grpId="1" nodeType="withEffect">
                                      <p:stCondLst>
                                        <p:cond delay="0"/>
                                      </p:stCondLst>
                                      <p:iterate type="lt">
                                        <p:tmPct val="15000"/>
                                      </p:iterate>
                                      <p:childTnLst>
                                        <p:set>
                                          <p:cBhvr>
                                            <p:cTn id="55" dur="1" fill="hold">
                                              <p:stCondLst>
                                                <p:cond delay="0"/>
                                              </p:stCondLst>
                                            </p:cTn>
                                            <p:tgtEl>
                                              <p:spTgt spid="59"/>
                                            </p:tgtEl>
                                            <p:attrNameLst>
                                              <p:attrName>style.visibility</p:attrName>
                                            </p:attrNameLst>
                                          </p:cBhvr>
                                          <p:to>
                                            <p:strVal val="visible"/>
                                          </p:to>
                                        </p:set>
                                        <p:animEffect transition="in" filter="fade">
                                          <p:cBhvr>
                                            <p:cTn id="56" dur="500"/>
                                            <p:tgtEl>
                                              <p:spTgt spid="59"/>
                                            </p:tgtEl>
                                          </p:cBhvr>
                                        </p:animEffect>
                                      </p:childTnLst>
                                    </p:cTn>
                                  </p:par>
                                </p:childTnLst>
                              </p:cTn>
                            </p:par>
                            <p:par>
                              <p:cTn id="57" fill="hold">
                                <p:stCondLst>
                                  <p:cond delay="5850"/>
                                </p:stCondLst>
                                <p:childTnLst>
                                  <p:par>
                                    <p:cTn id="58" presetID="22" presetClass="entr" presetSubtype="1" fill="hold" grpId="0" nodeType="afterEffect">
                                      <p:stCondLst>
                                        <p:cond delay="0"/>
                                      </p:stCondLst>
                                      <p:iterate type="lt">
                                        <p:tmPct val="3000"/>
                                      </p:iterate>
                                      <p:childTnLst>
                                        <p:set>
                                          <p:cBhvr>
                                            <p:cTn id="59" dur="1" fill="hold">
                                              <p:stCondLst>
                                                <p:cond delay="0"/>
                                              </p:stCondLst>
                                            </p:cTn>
                                            <p:tgtEl>
                                              <p:spTgt spid="60"/>
                                            </p:tgtEl>
                                            <p:attrNameLst>
                                              <p:attrName>style.visibility</p:attrName>
                                            </p:attrNameLst>
                                          </p:cBhvr>
                                          <p:to>
                                            <p:strVal val="visible"/>
                                          </p:to>
                                        </p:set>
                                        <p:animEffect transition="in" filter="wipe(up)">
                                          <p:cBhvr>
                                            <p:cTn id="60" dur="500"/>
                                            <p:tgtEl>
                                              <p:spTgt spid="60"/>
                                            </p:tgtEl>
                                          </p:cBhvr>
                                        </p:animEffect>
                                      </p:childTnLst>
                                    </p:cTn>
                                  </p:par>
                                </p:childTnLst>
                              </p:cTn>
                            </p:par>
                            <p:par>
                              <p:cTn id="61" fill="hold">
                                <p:stCondLst>
                                  <p:cond delay="7685"/>
                                </p:stCondLst>
                                <p:childTnLst>
                                  <p:par>
                                    <p:cTn id="62" presetID="23" presetClass="entr" presetSubtype="288" decel="100000" fill="hold" grpId="0" nodeType="afterEffect">
                                      <p:stCondLst>
                                        <p:cond delay="0"/>
                                      </p:stCondLst>
                                      <p:iterate type="lt">
                                        <p:tmPct val="15000"/>
                                      </p:iterate>
                                      <p:childTnLst>
                                        <p:set>
                                          <p:cBhvr>
                                            <p:cTn id="63" dur="1" fill="hold">
                                              <p:stCondLst>
                                                <p:cond delay="0"/>
                                              </p:stCondLst>
                                            </p:cTn>
                                            <p:tgtEl>
                                              <p:spTgt spid="61"/>
                                            </p:tgtEl>
                                            <p:attrNameLst>
                                              <p:attrName>style.visibility</p:attrName>
                                            </p:attrNameLst>
                                          </p:cBhvr>
                                          <p:to>
                                            <p:strVal val="visible"/>
                                          </p:to>
                                        </p:set>
                                        <p:anim calcmode="lin" valueType="num">
                                          <p:cBhvr>
                                            <p:cTn id="64" dur="500" fill="hold"/>
                                            <p:tgtEl>
                                              <p:spTgt spid="61"/>
                                            </p:tgtEl>
                                            <p:attrNameLst>
                                              <p:attrName>ppt_w</p:attrName>
                                            </p:attrNameLst>
                                          </p:cBhvr>
                                          <p:tavLst>
                                            <p:tav tm="0">
                                              <p:val>
                                                <p:strVal val="8/3*#ppt_w"/>
                                              </p:val>
                                            </p:tav>
                                            <p:tav tm="100000">
                                              <p:val>
                                                <p:strVal val="#ppt_w"/>
                                              </p:val>
                                            </p:tav>
                                          </p:tavLst>
                                        </p:anim>
                                        <p:anim calcmode="lin" valueType="num">
                                          <p:cBhvr>
                                            <p:cTn id="65" dur="500" fill="hold"/>
                                            <p:tgtEl>
                                              <p:spTgt spid="61"/>
                                            </p:tgtEl>
                                            <p:attrNameLst>
                                              <p:attrName>ppt_h</p:attrName>
                                            </p:attrNameLst>
                                          </p:cBhvr>
                                          <p:tavLst>
                                            <p:tav tm="0">
                                              <p:val>
                                                <p:strVal val="12/3*#ppt_h"/>
                                              </p:val>
                                            </p:tav>
                                            <p:tav tm="100000">
                                              <p:val>
                                                <p:strVal val="#ppt_h"/>
                                              </p:val>
                                            </p:tav>
                                          </p:tavLst>
                                        </p:anim>
                                      </p:childTnLst>
                                    </p:cTn>
                                  </p:par>
                                  <p:par>
                                    <p:cTn id="66" presetID="10" presetClass="entr" presetSubtype="0" fill="hold" grpId="1" nodeType="withEffect">
                                      <p:stCondLst>
                                        <p:cond delay="0"/>
                                      </p:stCondLst>
                                      <p:iterate type="lt">
                                        <p:tmPct val="15000"/>
                                      </p:iterate>
                                      <p:childTnLst>
                                        <p:set>
                                          <p:cBhvr>
                                            <p:cTn id="67" dur="1" fill="hold">
                                              <p:stCondLst>
                                                <p:cond delay="0"/>
                                              </p:stCondLst>
                                            </p:cTn>
                                            <p:tgtEl>
                                              <p:spTgt spid="61"/>
                                            </p:tgtEl>
                                            <p:attrNameLst>
                                              <p:attrName>style.visibility</p:attrName>
                                            </p:attrNameLst>
                                          </p:cBhvr>
                                          <p:to>
                                            <p:strVal val="visible"/>
                                          </p:to>
                                        </p:set>
                                        <p:animEffect transition="in" filter="fade">
                                          <p:cBhvr>
                                            <p:cTn id="68" dur="500"/>
                                            <p:tgtEl>
                                              <p:spTgt spid="61"/>
                                            </p:tgtEl>
                                          </p:cBhvr>
                                        </p:animEffect>
                                      </p:childTnLst>
                                    </p:cTn>
                                  </p:par>
                                </p:childTnLst>
                              </p:cTn>
                            </p:par>
                            <p:par>
                              <p:cTn id="69" fill="hold">
                                <p:stCondLst>
                                  <p:cond delay="9535"/>
                                </p:stCondLst>
                                <p:childTnLst>
                                  <p:par>
                                    <p:cTn id="70" presetID="22" presetClass="entr" presetSubtype="1" fill="hold" grpId="0" nodeType="afterEffect">
                                      <p:stCondLst>
                                        <p:cond delay="0"/>
                                      </p:stCondLst>
                                      <p:iterate type="lt">
                                        <p:tmPct val="3000"/>
                                      </p:iterate>
                                      <p:childTnLst>
                                        <p:set>
                                          <p:cBhvr>
                                            <p:cTn id="71" dur="1" fill="hold">
                                              <p:stCondLst>
                                                <p:cond delay="0"/>
                                              </p:stCondLst>
                                            </p:cTn>
                                            <p:tgtEl>
                                              <p:spTgt spid="62"/>
                                            </p:tgtEl>
                                            <p:attrNameLst>
                                              <p:attrName>style.visibility</p:attrName>
                                            </p:attrNameLst>
                                          </p:cBhvr>
                                          <p:to>
                                            <p:strVal val="visible"/>
                                          </p:to>
                                        </p:set>
                                        <p:animEffect transition="in" filter="wipe(up)">
                                          <p:cBhvr>
                                            <p:cTn id="72" dur="500"/>
                                            <p:tgtEl>
                                              <p:spTgt spid="62"/>
                                            </p:tgtEl>
                                          </p:cBhvr>
                                        </p:animEffect>
                                      </p:childTnLst>
                                    </p:cTn>
                                  </p:par>
                                </p:childTnLst>
                              </p:cTn>
                            </p:par>
                            <p:par>
                              <p:cTn id="73" fill="hold">
                                <p:stCondLst>
                                  <p:cond delay="11205"/>
                                </p:stCondLst>
                                <p:childTnLst>
                                  <p:par>
                                    <p:cTn id="74" presetID="23" presetClass="entr" presetSubtype="288" decel="100000" fill="hold" grpId="0" nodeType="afterEffect">
                                      <p:stCondLst>
                                        <p:cond delay="0"/>
                                      </p:stCondLst>
                                      <p:iterate type="lt">
                                        <p:tmPct val="15000"/>
                                      </p:iterate>
                                      <p:childTnLst>
                                        <p:set>
                                          <p:cBhvr>
                                            <p:cTn id="75" dur="1" fill="hold">
                                              <p:stCondLst>
                                                <p:cond delay="0"/>
                                              </p:stCondLst>
                                            </p:cTn>
                                            <p:tgtEl>
                                              <p:spTgt spid="63"/>
                                            </p:tgtEl>
                                            <p:attrNameLst>
                                              <p:attrName>style.visibility</p:attrName>
                                            </p:attrNameLst>
                                          </p:cBhvr>
                                          <p:to>
                                            <p:strVal val="visible"/>
                                          </p:to>
                                        </p:set>
                                        <p:anim calcmode="lin" valueType="num">
                                          <p:cBhvr>
                                            <p:cTn id="76" dur="500" fill="hold"/>
                                            <p:tgtEl>
                                              <p:spTgt spid="63"/>
                                            </p:tgtEl>
                                            <p:attrNameLst>
                                              <p:attrName>ppt_w</p:attrName>
                                            </p:attrNameLst>
                                          </p:cBhvr>
                                          <p:tavLst>
                                            <p:tav tm="0">
                                              <p:val>
                                                <p:strVal val="8/3*#ppt_w"/>
                                              </p:val>
                                            </p:tav>
                                            <p:tav tm="100000">
                                              <p:val>
                                                <p:strVal val="#ppt_w"/>
                                              </p:val>
                                            </p:tav>
                                          </p:tavLst>
                                        </p:anim>
                                        <p:anim calcmode="lin" valueType="num">
                                          <p:cBhvr>
                                            <p:cTn id="77" dur="500" fill="hold"/>
                                            <p:tgtEl>
                                              <p:spTgt spid="63"/>
                                            </p:tgtEl>
                                            <p:attrNameLst>
                                              <p:attrName>ppt_h</p:attrName>
                                            </p:attrNameLst>
                                          </p:cBhvr>
                                          <p:tavLst>
                                            <p:tav tm="0">
                                              <p:val>
                                                <p:strVal val="12/3*#ppt_h"/>
                                              </p:val>
                                            </p:tav>
                                            <p:tav tm="100000">
                                              <p:val>
                                                <p:strVal val="#ppt_h"/>
                                              </p:val>
                                            </p:tav>
                                          </p:tavLst>
                                        </p:anim>
                                      </p:childTnLst>
                                    </p:cTn>
                                  </p:par>
                                  <p:par>
                                    <p:cTn id="78" presetID="10" presetClass="entr" presetSubtype="0" fill="hold" grpId="1" nodeType="withEffect">
                                      <p:stCondLst>
                                        <p:cond delay="0"/>
                                      </p:stCondLst>
                                      <p:iterate type="lt">
                                        <p:tmPct val="15000"/>
                                      </p:iterate>
                                      <p:childTnLst>
                                        <p:set>
                                          <p:cBhvr>
                                            <p:cTn id="79" dur="1" fill="hold">
                                              <p:stCondLst>
                                                <p:cond delay="0"/>
                                              </p:stCondLst>
                                            </p:cTn>
                                            <p:tgtEl>
                                              <p:spTgt spid="63"/>
                                            </p:tgtEl>
                                            <p:attrNameLst>
                                              <p:attrName>style.visibility</p:attrName>
                                            </p:attrNameLst>
                                          </p:cBhvr>
                                          <p:to>
                                            <p:strVal val="visible"/>
                                          </p:to>
                                        </p:set>
                                        <p:animEffect transition="in" filter="fade">
                                          <p:cBhvr>
                                            <p:cTn id="80" dur="500"/>
                                            <p:tgtEl>
                                              <p:spTgt spid="63"/>
                                            </p:tgtEl>
                                          </p:cBhvr>
                                        </p:animEffect>
                                      </p:childTnLst>
                                    </p:cTn>
                                  </p:par>
                                </p:childTnLst>
                              </p:cTn>
                            </p:par>
                            <p:par>
                              <p:cTn id="81" fill="hold">
                                <p:stCondLst>
                                  <p:cond delay="13505"/>
                                </p:stCondLst>
                                <p:childTnLst>
                                  <p:par>
                                    <p:cTn id="82" presetID="22" presetClass="entr" presetSubtype="1" fill="hold" grpId="0" nodeType="afterEffect">
                                      <p:stCondLst>
                                        <p:cond delay="0"/>
                                      </p:stCondLst>
                                      <p:iterate type="lt">
                                        <p:tmPct val="3000"/>
                                      </p:iterate>
                                      <p:childTnLst>
                                        <p:set>
                                          <p:cBhvr>
                                            <p:cTn id="83" dur="1" fill="hold">
                                              <p:stCondLst>
                                                <p:cond delay="0"/>
                                              </p:stCondLst>
                                            </p:cTn>
                                            <p:tgtEl>
                                              <p:spTgt spid="64"/>
                                            </p:tgtEl>
                                            <p:attrNameLst>
                                              <p:attrName>style.visibility</p:attrName>
                                            </p:attrNameLst>
                                          </p:cBhvr>
                                          <p:to>
                                            <p:strVal val="visible"/>
                                          </p:to>
                                        </p:set>
                                        <p:animEffect transition="in" filter="wipe(up)">
                                          <p:cBhvr>
                                            <p:cTn id="84"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P spid="46" grpId="0" animBg="1"/>
          <p:bldP spid="47" grpId="0" animBg="1"/>
          <p:bldP spid="48" grpId="0" animBg="1"/>
          <p:bldP spid="59" grpId="0"/>
          <p:bldP spid="59" grpId="1"/>
          <p:bldP spid="60" grpId="0"/>
          <p:bldP spid="61" grpId="0"/>
          <p:bldP spid="61" grpId="1"/>
          <p:bldP spid="62" grpId="0"/>
          <p:bldP spid="63" grpId="0"/>
          <p:bldP spid="63" grpId="1"/>
          <p:bldP spid="6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 presetClass="entr" presetSubtype="8" decel="10000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1000" fill="hold"/>
                                            <p:tgtEl>
                                              <p:spTgt spid="11"/>
                                            </p:tgtEl>
                                            <p:attrNameLst>
                                              <p:attrName>ppt_x</p:attrName>
                                            </p:attrNameLst>
                                          </p:cBhvr>
                                          <p:tavLst>
                                            <p:tav tm="0">
                                              <p:val>
                                                <p:strVal val="0-#ppt_w/2"/>
                                              </p:val>
                                            </p:tav>
                                            <p:tav tm="100000">
                                              <p:val>
                                                <p:strVal val="#ppt_x"/>
                                              </p:val>
                                            </p:tav>
                                          </p:tavLst>
                                        </p:anim>
                                        <p:anim calcmode="lin" valueType="num">
                                          <p:cBhvr additive="base">
                                            <p:cTn id="11" dur="1000" fill="hold"/>
                                            <p:tgtEl>
                                              <p:spTgt spid="11"/>
                                            </p:tgtEl>
                                            <p:attrNameLst>
                                              <p:attrName>ppt_y</p:attrName>
                                            </p:attrNameLst>
                                          </p:cBhvr>
                                          <p:tavLst>
                                            <p:tav tm="0">
                                              <p:val>
                                                <p:strVal val="#ppt_y"/>
                                              </p:val>
                                            </p:tav>
                                            <p:tav tm="100000">
                                              <p:val>
                                                <p:strVal val="#ppt_y"/>
                                              </p:val>
                                            </p:tav>
                                          </p:tavLst>
                                        </p:anim>
                                      </p:childTnLst>
                                    </p:cTn>
                                  </p:par>
                                  <p:par>
                                    <p:cTn id="12" presetID="22" presetClass="entr" presetSubtype="4"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par>
                              <p:cTn id="15" fill="hold">
                                <p:stCondLst>
                                  <p:cond delay="1000"/>
                                </p:stCondLst>
                                <p:childTnLst>
                                  <p:par>
                                    <p:cTn id="16" presetID="53" presetClass="entr" presetSubtype="16"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childTnLst>
                              </p:cTn>
                            </p:par>
                            <p:par>
                              <p:cTn id="21" fill="hold">
                                <p:stCondLst>
                                  <p:cond delay="2900"/>
                                </p:stCondLst>
                                <p:childTnLst>
                                  <p:par>
                                    <p:cTn id="22" presetID="2" presetClass="entr" presetSubtype="12" fill="hold" nodeType="afterEffect">
                                      <p:stCondLst>
                                        <p:cond delay="0"/>
                                      </p:stCondLst>
                                      <p:childTnLst>
                                        <p:set>
                                          <p:cBhvr>
                                            <p:cTn id="23" dur="1" fill="hold">
                                              <p:stCondLst>
                                                <p:cond delay="0"/>
                                              </p:stCondLst>
                                            </p:cTn>
                                            <p:tgtEl>
                                              <p:spTgt spid="42"/>
                                            </p:tgtEl>
                                            <p:attrNameLst>
                                              <p:attrName>style.visibility</p:attrName>
                                            </p:attrNameLst>
                                          </p:cBhvr>
                                          <p:to>
                                            <p:strVal val="visible"/>
                                          </p:to>
                                        </p:set>
                                        <p:anim calcmode="lin" valueType="num">
                                          <p:cBhvr additive="base">
                                            <p:cTn id="24" dur="1000" fill="hold"/>
                                            <p:tgtEl>
                                              <p:spTgt spid="42"/>
                                            </p:tgtEl>
                                            <p:attrNameLst>
                                              <p:attrName>ppt_x</p:attrName>
                                            </p:attrNameLst>
                                          </p:cBhvr>
                                          <p:tavLst>
                                            <p:tav tm="0">
                                              <p:val>
                                                <p:strVal val="0-#ppt_w/2"/>
                                              </p:val>
                                            </p:tav>
                                            <p:tav tm="100000">
                                              <p:val>
                                                <p:strVal val="#ppt_x"/>
                                              </p:val>
                                            </p:tav>
                                          </p:tavLst>
                                        </p:anim>
                                        <p:anim calcmode="lin" valueType="num">
                                          <p:cBhvr additive="base">
                                            <p:cTn id="25" dur="1000" fill="hold"/>
                                            <p:tgtEl>
                                              <p:spTgt spid="42"/>
                                            </p:tgtEl>
                                            <p:attrNameLst>
                                              <p:attrName>ppt_y</p:attrName>
                                            </p:attrNameLst>
                                          </p:cBhvr>
                                          <p:tavLst>
                                            <p:tav tm="0">
                                              <p:val>
                                                <p:strVal val="1+#ppt_h/2"/>
                                              </p:val>
                                            </p:tav>
                                            <p:tav tm="100000">
                                              <p:val>
                                                <p:strVal val="#ppt_y"/>
                                              </p:val>
                                            </p:tav>
                                          </p:tavLst>
                                        </p:anim>
                                      </p:childTnLst>
                                    </p:cTn>
                                  </p:par>
                                  <p:par>
                                    <p:cTn id="26" presetID="2" presetClass="entr" presetSubtype="1" fill="hold" nodeType="withEffect">
                                      <p:stCondLst>
                                        <p:cond delay="200"/>
                                      </p:stCondLst>
                                      <p:childTnLst>
                                        <p:set>
                                          <p:cBhvr>
                                            <p:cTn id="27" dur="1" fill="hold">
                                              <p:stCondLst>
                                                <p:cond delay="0"/>
                                              </p:stCondLst>
                                            </p:cTn>
                                            <p:tgtEl>
                                              <p:spTgt spid="38"/>
                                            </p:tgtEl>
                                            <p:attrNameLst>
                                              <p:attrName>style.visibility</p:attrName>
                                            </p:attrNameLst>
                                          </p:cBhvr>
                                          <p:to>
                                            <p:strVal val="visible"/>
                                          </p:to>
                                        </p:set>
                                        <p:anim calcmode="lin" valueType="num">
                                          <p:cBhvr additive="base">
                                            <p:cTn id="28" dur="1000" fill="hold"/>
                                            <p:tgtEl>
                                              <p:spTgt spid="38"/>
                                            </p:tgtEl>
                                            <p:attrNameLst>
                                              <p:attrName>ppt_x</p:attrName>
                                            </p:attrNameLst>
                                          </p:cBhvr>
                                          <p:tavLst>
                                            <p:tav tm="0">
                                              <p:val>
                                                <p:strVal val="#ppt_x"/>
                                              </p:val>
                                            </p:tav>
                                            <p:tav tm="100000">
                                              <p:val>
                                                <p:strVal val="#ppt_x"/>
                                              </p:val>
                                            </p:tav>
                                          </p:tavLst>
                                        </p:anim>
                                        <p:anim calcmode="lin" valueType="num">
                                          <p:cBhvr additive="base">
                                            <p:cTn id="29" dur="1000" fill="hold"/>
                                            <p:tgtEl>
                                              <p:spTgt spid="38"/>
                                            </p:tgtEl>
                                            <p:attrNameLst>
                                              <p:attrName>ppt_y</p:attrName>
                                            </p:attrNameLst>
                                          </p:cBhvr>
                                          <p:tavLst>
                                            <p:tav tm="0">
                                              <p:val>
                                                <p:strVal val="0-#ppt_h/2"/>
                                              </p:val>
                                            </p:tav>
                                            <p:tav tm="100000">
                                              <p:val>
                                                <p:strVal val="#ppt_y"/>
                                              </p:val>
                                            </p:tav>
                                          </p:tavLst>
                                        </p:anim>
                                      </p:childTnLst>
                                    </p:cTn>
                                  </p:par>
                                  <p:par>
                                    <p:cTn id="30" presetID="2" presetClass="entr" presetSubtype="6" fill="hold" nodeType="withEffect">
                                      <p:stCondLst>
                                        <p:cond delay="400"/>
                                      </p:stCondLst>
                                      <p:childTnLst>
                                        <p:set>
                                          <p:cBhvr>
                                            <p:cTn id="31" dur="1" fill="hold">
                                              <p:stCondLst>
                                                <p:cond delay="0"/>
                                              </p:stCondLst>
                                            </p:cTn>
                                            <p:tgtEl>
                                              <p:spTgt spid="34"/>
                                            </p:tgtEl>
                                            <p:attrNameLst>
                                              <p:attrName>style.visibility</p:attrName>
                                            </p:attrNameLst>
                                          </p:cBhvr>
                                          <p:to>
                                            <p:strVal val="visible"/>
                                          </p:to>
                                        </p:set>
                                        <p:anim calcmode="lin" valueType="num">
                                          <p:cBhvr additive="base">
                                            <p:cTn id="32" dur="1000" fill="hold"/>
                                            <p:tgtEl>
                                              <p:spTgt spid="34"/>
                                            </p:tgtEl>
                                            <p:attrNameLst>
                                              <p:attrName>ppt_x</p:attrName>
                                            </p:attrNameLst>
                                          </p:cBhvr>
                                          <p:tavLst>
                                            <p:tav tm="0">
                                              <p:val>
                                                <p:strVal val="1+#ppt_w/2"/>
                                              </p:val>
                                            </p:tav>
                                            <p:tav tm="100000">
                                              <p:val>
                                                <p:strVal val="#ppt_x"/>
                                              </p:val>
                                            </p:tav>
                                          </p:tavLst>
                                        </p:anim>
                                        <p:anim calcmode="lin" valueType="num">
                                          <p:cBhvr additive="base">
                                            <p:cTn id="33" dur="1000" fill="hold"/>
                                            <p:tgtEl>
                                              <p:spTgt spid="34"/>
                                            </p:tgtEl>
                                            <p:attrNameLst>
                                              <p:attrName>ppt_y</p:attrName>
                                            </p:attrNameLst>
                                          </p:cBhvr>
                                          <p:tavLst>
                                            <p:tav tm="0">
                                              <p:val>
                                                <p:strVal val="1+#ppt_h/2"/>
                                              </p:val>
                                            </p:tav>
                                            <p:tav tm="100000">
                                              <p:val>
                                                <p:strVal val="#ppt_y"/>
                                              </p:val>
                                            </p:tav>
                                          </p:tavLst>
                                        </p:anim>
                                      </p:childTnLst>
                                    </p:cTn>
                                  </p:par>
                                  <p:par>
                                    <p:cTn id="34" presetID="53" presetClass="entr" presetSubtype="16" fill="hold" grpId="0" nodeType="withEffect">
                                      <p:stCondLst>
                                        <p:cond delay="750"/>
                                      </p:stCondLst>
                                      <p:childTnLst>
                                        <p:set>
                                          <p:cBhvr>
                                            <p:cTn id="35" dur="1" fill="hold">
                                              <p:stCondLst>
                                                <p:cond delay="0"/>
                                              </p:stCondLst>
                                            </p:cTn>
                                            <p:tgtEl>
                                              <p:spTgt spid="46"/>
                                            </p:tgtEl>
                                            <p:attrNameLst>
                                              <p:attrName>style.visibility</p:attrName>
                                            </p:attrNameLst>
                                          </p:cBhvr>
                                          <p:to>
                                            <p:strVal val="visible"/>
                                          </p:to>
                                        </p:set>
                                        <p:anim calcmode="lin" valueType="num">
                                          <p:cBhvr>
                                            <p:cTn id="36" dur="500" fill="hold"/>
                                            <p:tgtEl>
                                              <p:spTgt spid="46"/>
                                            </p:tgtEl>
                                            <p:attrNameLst>
                                              <p:attrName>ppt_w</p:attrName>
                                            </p:attrNameLst>
                                          </p:cBhvr>
                                          <p:tavLst>
                                            <p:tav tm="0">
                                              <p:val>
                                                <p:fltVal val="0"/>
                                              </p:val>
                                            </p:tav>
                                            <p:tav tm="100000">
                                              <p:val>
                                                <p:strVal val="#ppt_w"/>
                                              </p:val>
                                            </p:tav>
                                          </p:tavLst>
                                        </p:anim>
                                        <p:anim calcmode="lin" valueType="num">
                                          <p:cBhvr>
                                            <p:cTn id="37" dur="500" fill="hold"/>
                                            <p:tgtEl>
                                              <p:spTgt spid="46"/>
                                            </p:tgtEl>
                                            <p:attrNameLst>
                                              <p:attrName>ppt_h</p:attrName>
                                            </p:attrNameLst>
                                          </p:cBhvr>
                                          <p:tavLst>
                                            <p:tav tm="0">
                                              <p:val>
                                                <p:fltVal val="0"/>
                                              </p:val>
                                            </p:tav>
                                            <p:tav tm="100000">
                                              <p:val>
                                                <p:strVal val="#ppt_h"/>
                                              </p:val>
                                            </p:tav>
                                          </p:tavLst>
                                        </p:anim>
                                        <p:animEffect transition="in" filter="fade">
                                          <p:cBhvr>
                                            <p:cTn id="38" dur="500"/>
                                            <p:tgtEl>
                                              <p:spTgt spid="46"/>
                                            </p:tgtEl>
                                          </p:cBhvr>
                                        </p:animEffect>
                                      </p:childTnLst>
                                    </p:cTn>
                                  </p:par>
                                  <p:par>
                                    <p:cTn id="39" presetID="53" presetClass="entr" presetSubtype="16" fill="hold" grpId="0" nodeType="withEffect">
                                      <p:stCondLst>
                                        <p:cond delay="750"/>
                                      </p:stCondLst>
                                      <p:childTnLst>
                                        <p:set>
                                          <p:cBhvr>
                                            <p:cTn id="40" dur="1" fill="hold">
                                              <p:stCondLst>
                                                <p:cond delay="0"/>
                                              </p:stCondLst>
                                            </p:cTn>
                                            <p:tgtEl>
                                              <p:spTgt spid="47"/>
                                            </p:tgtEl>
                                            <p:attrNameLst>
                                              <p:attrName>style.visibility</p:attrName>
                                            </p:attrNameLst>
                                          </p:cBhvr>
                                          <p:to>
                                            <p:strVal val="visible"/>
                                          </p:to>
                                        </p:set>
                                        <p:anim calcmode="lin" valueType="num">
                                          <p:cBhvr>
                                            <p:cTn id="41" dur="500" fill="hold"/>
                                            <p:tgtEl>
                                              <p:spTgt spid="47"/>
                                            </p:tgtEl>
                                            <p:attrNameLst>
                                              <p:attrName>ppt_w</p:attrName>
                                            </p:attrNameLst>
                                          </p:cBhvr>
                                          <p:tavLst>
                                            <p:tav tm="0">
                                              <p:val>
                                                <p:fltVal val="0"/>
                                              </p:val>
                                            </p:tav>
                                            <p:tav tm="100000">
                                              <p:val>
                                                <p:strVal val="#ppt_w"/>
                                              </p:val>
                                            </p:tav>
                                          </p:tavLst>
                                        </p:anim>
                                        <p:anim calcmode="lin" valueType="num">
                                          <p:cBhvr>
                                            <p:cTn id="42" dur="500" fill="hold"/>
                                            <p:tgtEl>
                                              <p:spTgt spid="47"/>
                                            </p:tgtEl>
                                            <p:attrNameLst>
                                              <p:attrName>ppt_h</p:attrName>
                                            </p:attrNameLst>
                                          </p:cBhvr>
                                          <p:tavLst>
                                            <p:tav tm="0">
                                              <p:val>
                                                <p:fltVal val="0"/>
                                              </p:val>
                                            </p:tav>
                                            <p:tav tm="100000">
                                              <p:val>
                                                <p:strVal val="#ppt_h"/>
                                              </p:val>
                                            </p:tav>
                                          </p:tavLst>
                                        </p:anim>
                                        <p:animEffect transition="in" filter="fade">
                                          <p:cBhvr>
                                            <p:cTn id="43" dur="500"/>
                                            <p:tgtEl>
                                              <p:spTgt spid="47"/>
                                            </p:tgtEl>
                                          </p:cBhvr>
                                        </p:animEffect>
                                      </p:childTnLst>
                                    </p:cTn>
                                  </p:par>
                                  <p:par>
                                    <p:cTn id="44" presetID="53" presetClass="entr" presetSubtype="16" fill="hold" grpId="0" nodeType="withEffect">
                                      <p:stCondLst>
                                        <p:cond delay="750"/>
                                      </p:stCondLst>
                                      <p:childTnLst>
                                        <p:set>
                                          <p:cBhvr>
                                            <p:cTn id="45" dur="1" fill="hold">
                                              <p:stCondLst>
                                                <p:cond delay="0"/>
                                              </p:stCondLst>
                                            </p:cTn>
                                            <p:tgtEl>
                                              <p:spTgt spid="48"/>
                                            </p:tgtEl>
                                            <p:attrNameLst>
                                              <p:attrName>style.visibility</p:attrName>
                                            </p:attrNameLst>
                                          </p:cBhvr>
                                          <p:to>
                                            <p:strVal val="visible"/>
                                          </p:to>
                                        </p:set>
                                        <p:anim calcmode="lin" valueType="num">
                                          <p:cBhvr>
                                            <p:cTn id="46" dur="500" fill="hold"/>
                                            <p:tgtEl>
                                              <p:spTgt spid="48"/>
                                            </p:tgtEl>
                                            <p:attrNameLst>
                                              <p:attrName>ppt_w</p:attrName>
                                            </p:attrNameLst>
                                          </p:cBhvr>
                                          <p:tavLst>
                                            <p:tav tm="0">
                                              <p:val>
                                                <p:fltVal val="0"/>
                                              </p:val>
                                            </p:tav>
                                            <p:tav tm="100000">
                                              <p:val>
                                                <p:strVal val="#ppt_w"/>
                                              </p:val>
                                            </p:tav>
                                          </p:tavLst>
                                        </p:anim>
                                        <p:anim calcmode="lin" valueType="num">
                                          <p:cBhvr>
                                            <p:cTn id="47" dur="500" fill="hold"/>
                                            <p:tgtEl>
                                              <p:spTgt spid="48"/>
                                            </p:tgtEl>
                                            <p:attrNameLst>
                                              <p:attrName>ppt_h</p:attrName>
                                            </p:attrNameLst>
                                          </p:cBhvr>
                                          <p:tavLst>
                                            <p:tav tm="0">
                                              <p:val>
                                                <p:fltVal val="0"/>
                                              </p:val>
                                            </p:tav>
                                            <p:tav tm="100000">
                                              <p:val>
                                                <p:strVal val="#ppt_h"/>
                                              </p:val>
                                            </p:tav>
                                          </p:tavLst>
                                        </p:anim>
                                        <p:animEffect transition="in" filter="fade">
                                          <p:cBhvr>
                                            <p:cTn id="48" dur="500"/>
                                            <p:tgtEl>
                                              <p:spTgt spid="48"/>
                                            </p:tgtEl>
                                          </p:cBhvr>
                                        </p:animEffect>
                                      </p:childTnLst>
                                    </p:cTn>
                                  </p:par>
                                </p:childTnLst>
                              </p:cTn>
                            </p:par>
                            <p:par>
                              <p:cTn id="49" fill="hold">
                                <p:stCondLst>
                                  <p:cond delay="4300"/>
                                </p:stCondLst>
                                <p:childTnLst>
                                  <p:par>
                                    <p:cTn id="50" presetID="23" presetClass="entr" presetSubtype="288" decel="100000" fill="hold" grpId="0" nodeType="afterEffect">
                                      <p:stCondLst>
                                        <p:cond delay="0"/>
                                      </p:stCondLst>
                                      <p:iterate type="lt">
                                        <p:tmPct val="15000"/>
                                      </p:iterate>
                                      <p:childTnLst>
                                        <p:set>
                                          <p:cBhvr>
                                            <p:cTn id="51" dur="1" fill="hold">
                                              <p:stCondLst>
                                                <p:cond delay="0"/>
                                              </p:stCondLst>
                                            </p:cTn>
                                            <p:tgtEl>
                                              <p:spTgt spid="59"/>
                                            </p:tgtEl>
                                            <p:attrNameLst>
                                              <p:attrName>style.visibility</p:attrName>
                                            </p:attrNameLst>
                                          </p:cBhvr>
                                          <p:to>
                                            <p:strVal val="visible"/>
                                          </p:to>
                                        </p:set>
                                        <p:anim calcmode="lin" valueType="num">
                                          <p:cBhvr>
                                            <p:cTn id="52" dur="500" fill="hold"/>
                                            <p:tgtEl>
                                              <p:spTgt spid="59"/>
                                            </p:tgtEl>
                                            <p:attrNameLst>
                                              <p:attrName>ppt_w</p:attrName>
                                            </p:attrNameLst>
                                          </p:cBhvr>
                                          <p:tavLst>
                                            <p:tav tm="0">
                                              <p:val>
                                                <p:strVal val="8/3*#ppt_w"/>
                                              </p:val>
                                            </p:tav>
                                            <p:tav tm="100000">
                                              <p:val>
                                                <p:strVal val="#ppt_w"/>
                                              </p:val>
                                            </p:tav>
                                          </p:tavLst>
                                        </p:anim>
                                        <p:anim calcmode="lin" valueType="num">
                                          <p:cBhvr>
                                            <p:cTn id="53" dur="500" fill="hold"/>
                                            <p:tgtEl>
                                              <p:spTgt spid="59"/>
                                            </p:tgtEl>
                                            <p:attrNameLst>
                                              <p:attrName>ppt_h</p:attrName>
                                            </p:attrNameLst>
                                          </p:cBhvr>
                                          <p:tavLst>
                                            <p:tav tm="0">
                                              <p:val>
                                                <p:strVal val="12/3*#ppt_h"/>
                                              </p:val>
                                            </p:tav>
                                            <p:tav tm="100000">
                                              <p:val>
                                                <p:strVal val="#ppt_h"/>
                                              </p:val>
                                            </p:tav>
                                          </p:tavLst>
                                        </p:anim>
                                      </p:childTnLst>
                                    </p:cTn>
                                  </p:par>
                                  <p:par>
                                    <p:cTn id="54" presetID="10" presetClass="entr" presetSubtype="0" fill="hold" grpId="1" nodeType="withEffect">
                                      <p:stCondLst>
                                        <p:cond delay="0"/>
                                      </p:stCondLst>
                                      <p:iterate type="lt">
                                        <p:tmPct val="15000"/>
                                      </p:iterate>
                                      <p:childTnLst>
                                        <p:set>
                                          <p:cBhvr>
                                            <p:cTn id="55" dur="1" fill="hold">
                                              <p:stCondLst>
                                                <p:cond delay="0"/>
                                              </p:stCondLst>
                                            </p:cTn>
                                            <p:tgtEl>
                                              <p:spTgt spid="59"/>
                                            </p:tgtEl>
                                            <p:attrNameLst>
                                              <p:attrName>style.visibility</p:attrName>
                                            </p:attrNameLst>
                                          </p:cBhvr>
                                          <p:to>
                                            <p:strVal val="visible"/>
                                          </p:to>
                                        </p:set>
                                        <p:animEffect transition="in" filter="fade">
                                          <p:cBhvr>
                                            <p:cTn id="56" dur="500"/>
                                            <p:tgtEl>
                                              <p:spTgt spid="59"/>
                                            </p:tgtEl>
                                          </p:cBhvr>
                                        </p:animEffect>
                                      </p:childTnLst>
                                    </p:cTn>
                                  </p:par>
                                </p:childTnLst>
                              </p:cTn>
                            </p:par>
                            <p:par>
                              <p:cTn id="57" fill="hold">
                                <p:stCondLst>
                                  <p:cond delay="5850"/>
                                </p:stCondLst>
                                <p:childTnLst>
                                  <p:par>
                                    <p:cTn id="58" presetID="22" presetClass="entr" presetSubtype="1" fill="hold" grpId="0" nodeType="afterEffect">
                                      <p:stCondLst>
                                        <p:cond delay="0"/>
                                      </p:stCondLst>
                                      <p:iterate type="lt">
                                        <p:tmPct val="3000"/>
                                      </p:iterate>
                                      <p:childTnLst>
                                        <p:set>
                                          <p:cBhvr>
                                            <p:cTn id="59" dur="1" fill="hold">
                                              <p:stCondLst>
                                                <p:cond delay="0"/>
                                              </p:stCondLst>
                                            </p:cTn>
                                            <p:tgtEl>
                                              <p:spTgt spid="60"/>
                                            </p:tgtEl>
                                            <p:attrNameLst>
                                              <p:attrName>style.visibility</p:attrName>
                                            </p:attrNameLst>
                                          </p:cBhvr>
                                          <p:to>
                                            <p:strVal val="visible"/>
                                          </p:to>
                                        </p:set>
                                        <p:animEffect transition="in" filter="wipe(up)">
                                          <p:cBhvr>
                                            <p:cTn id="60" dur="500"/>
                                            <p:tgtEl>
                                              <p:spTgt spid="60"/>
                                            </p:tgtEl>
                                          </p:cBhvr>
                                        </p:animEffect>
                                      </p:childTnLst>
                                    </p:cTn>
                                  </p:par>
                                </p:childTnLst>
                              </p:cTn>
                            </p:par>
                            <p:par>
                              <p:cTn id="61" fill="hold">
                                <p:stCondLst>
                                  <p:cond delay="7685"/>
                                </p:stCondLst>
                                <p:childTnLst>
                                  <p:par>
                                    <p:cTn id="62" presetID="23" presetClass="entr" presetSubtype="288" decel="100000" fill="hold" grpId="0" nodeType="afterEffect">
                                      <p:stCondLst>
                                        <p:cond delay="0"/>
                                      </p:stCondLst>
                                      <p:iterate type="lt">
                                        <p:tmPct val="15000"/>
                                      </p:iterate>
                                      <p:childTnLst>
                                        <p:set>
                                          <p:cBhvr>
                                            <p:cTn id="63" dur="1" fill="hold">
                                              <p:stCondLst>
                                                <p:cond delay="0"/>
                                              </p:stCondLst>
                                            </p:cTn>
                                            <p:tgtEl>
                                              <p:spTgt spid="61"/>
                                            </p:tgtEl>
                                            <p:attrNameLst>
                                              <p:attrName>style.visibility</p:attrName>
                                            </p:attrNameLst>
                                          </p:cBhvr>
                                          <p:to>
                                            <p:strVal val="visible"/>
                                          </p:to>
                                        </p:set>
                                        <p:anim calcmode="lin" valueType="num">
                                          <p:cBhvr>
                                            <p:cTn id="64" dur="500" fill="hold"/>
                                            <p:tgtEl>
                                              <p:spTgt spid="61"/>
                                            </p:tgtEl>
                                            <p:attrNameLst>
                                              <p:attrName>ppt_w</p:attrName>
                                            </p:attrNameLst>
                                          </p:cBhvr>
                                          <p:tavLst>
                                            <p:tav tm="0">
                                              <p:val>
                                                <p:strVal val="8/3*#ppt_w"/>
                                              </p:val>
                                            </p:tav>
                                            <p:tav tm="100000">
                                              <p:val>
                                                <p:strVal val="#ppt_w"/>
                                              </p:val>
                                            </p:tav>
                                          </p:tavLst>
                                        </p:anim>
                                        <p:anim calcmode="lin" valueType="num">
                                          <p:cBhvr>
                                            <p:cTn id="65" dur="500" fill="hold"/>
                                            <p:tgtEl>
                                              <p:spTgt spid="61"/>
                                            </p:tgtEl>
                                            <p:attrNameLst>
                                              <p:attrName>ppt_h</p:attrName>
                                            </p:attrNameLst>
                                          </p:cBhvr>
                                          <p:tavLst>
                                            <p:tav tm="0">
                                              <p:val>
                                                <p:strVal val="12/3*#ppt_h"/>
                                              </p:val>
                                            </p:tav>
                                            <p:tav tm="100000">
                                              <p:val>
                                                <p:strVal val="#ppt_h"/>
                                              </p:val>
                                            </p:tav>
                                          </p:tavLst>
                                        </p:anim>
                                      </p:childTnLst>
                                    </p:cTn>
                                  </p:par>
                                  <p:par>
                                    <p:cTn id="66" presetID="10" presetClass="entr" presetSubtype="0" fill="hold" grpId="1" nodeType="withEffect">
                                      <p:stCondLst>
                                        <p:cond delay="0"/>
                                      </p:stCondLst>
                                      <p:iterate type="lt">
                                        <p:tmPct val="15000"/>
                                      </p:iterate>
                                      <p:childTnLst>
                                        <p:set>
                                          <p:cBhvr>
                                            <p:cTn id="67" dur="1" fill="hold">
                                              <p:stCondLst>
                                                <p:cond delay="0"/>
                                              </p:stCondLst>
                                            </p:cTn>
                                            <p:tgtEl>
                                              <p:spTgt spid="61"/>
                                            </p:tgtEl>
                                            <p:attrNameLst>
                                              <p:attrName>style.visibility</p:attrName>
                                            </p:attrNameLst>
                                          </p:cBhvr>
                                          <p:to>
                                            <p:strVal val="visible"/>
                                          </p:to>
                                        </p:set>
                                        <p:animEffect transition="in" filter="fade">
                                          <p:cBhvr>
                                            <p:cTn id="68" dur="500"/>
                                            <p:tgtEl>
                                              <p:spTgt spid="61"/>
                                            </p:tgtEl>
                                          </p:cBhvr>
                                        </p:animEffect>
                                      </p:childTnLst>
                                    </p:cTn>
                                  </p:par>
                                </p:childTnLst>
                              </p:cTn>
                            </p:par>
                            <p:par>
                              <p:cTn id="69" fill="hold">
                                <p:stCondLst>
                                  <p:cond delay="9535"/>
                                </p:stCondLst>
                                <p:childTnLst>
                                  <p:par>
                                    <p:cTn id="70" presetID="22" presetClass="entr" presetSubtype="1" fill="hold" grpId="0" nodeType="afterEffect">
                                      <p:stCondLst>
                                        <p:cond delay="0"/>
                                      </p:stCondLst>
                                      <p:iterate type="lt">
                                        <p:tmPct val="3000"/>
                                      </p:iterate>
                                      <p:childTnLst>
                                        <p:set>
                                          <p:cBhvr>
                                            <p:cTn id="71" dur="1" fill="hold">
                                              <p:stCondLst>
                                                <p:cond delay="0"/>
                                              </p:stCondLst>
                                            </p:cTn>
                                            <p:tgtEl>
                                              <p:spTgt spid="62"/>
                                            </p:tgtEl>
                                            <p:attrNameLst>
                                              <p:attrName>style.visibility</p:attrName>
                                            </p:attrNameLst>
                                          </p:cBhvr>
                                          <p:to>
                                            <p:strVal val="visible"/>
                                          </p:to>
                                        </p:set>
                                        <p:animEffect transition="in" filter="wipe(up)">
                                          <p:cBhvr>
                                            <p:cTn id="72" dur="500"/>
                                            <p:tgtEl>
                                              <p:spTgt spid="62"/>
                                            </p:tgtEl>
                                          </p:cBhvr>
                                        </p:animEffect>
                                      </p:childTnLst>
                                    </p:cTn>
                                  </p:par>
                                </p:childTnLst>
                              </p:cTn>
                            </p:par>
                            <p:par>
                              <p:cTn id="73" fill="hold">
                                <p:stCondLst>
                                  <p:cond delay="11205"/>
                                </p:stCondLst>
                                <p:childTnLst>
                                  <p:par>
                                    <p:cTn id="74" presetID="23" presetClass="entr" presetSubtype="288" decel="100000" fill="hold" grpId="0" nodeType="afterEffect">
                                      <p:stCondLst>
                                        <p:cond delay="0"/>
                                      </p:stCondLst>
                                      <p:iterate type="lt">
                                        <p:tmPct val="15000"/>
                                      </p:iterate>
                                      <p:childTnLst>
                                        <p:set>
                                          <p:cBhvr>
                                            <p:cTn id="75" dur="1" fill="hold">
                                              <p:stCondLst>
                                                <p:cond delay="0"/>
                                              </p:stCondLst>
                                            </p:cTn>
                                            <p:tgtEl>
                                              <p:spTgt spid="63"/>
                                            </p:tgtEl>
                                            <p:attrNameLst>
                                              <p:attrName>style.visibility</p:attrName>
                                            </p:attrNameLst>
                                          </p:cBhvr>
                                          <p:to>
                                            <p:strVal val="visible"/>
                                          </p:to>
                                        </p:set>
                                        <p:anim calcmode="lin" valueType="num">
                                          <p:cBhvr>
                                            <p:cTn id="76" dur="500" fill="hold"/>
                                            <p:tgtEl>
                                              <p:spTgt spid="63"/>
                                            </p:tgtEl>
                                            <p:attrNameLst>
                                              <p:attrName>ppt_w</p:attrName>
                                            </p:attrNameLst>
                                          </p:cBhvr>
                                          <p:tavLst>
                                            <p:tav tm="0">
                                              <p:val>
                                                <p:strVal val="8/3*#ppt_w"/>
                                              </p:val>
                                            </p:tav>
                                            <p:tav tm="100000">
                                              <p:val>
                                                <p:strVal val="#ppt_w"/>
                                              </p:val>
                                            </p:tav>
                                          </p:tavLst>
                                        </p:anim>
                                        <p:anim calcmode="lin" valueType="num">
                                          <p:cBhvr>
                                            <p:cTn id="77" dur="500" fill="hold"/>
                                            <p:tgtEl>
                                              <p:spTgt spid="63"/>
                                            </p:tgtEl>
                                            <p:attrNameLst>
                                              <p:attrName>ppt_h</p:attrName>
                                            </p:attrNameLst>
                                          </p:cBhvr>
                                          <p:tavLst>
                                            <p:tav tm="0">
                                              <p:val>
                                                <p:strVal val="12/3*#ppt_h"/>
                                              </p:val>
                                            </p:tav>
                                            <p:tav tm="100000">
                                              <p:val>
                                                <p:strVal val="#ppt_h"/>
                                              </p:val>
                                            </p:tav>
                                          </p:tavLst>
                                        </p:anim>
                                      </p:childTnLst>
                                    </p:cTn>
                                  </p:par>
                                  <p:par>
                                    <p:cTn id="78" presetID="10" presetClass="entr" presetSubtype="0" fill="hold" grpId="1" nodeType="withEffect">
                                      <p:stCondLst>
                                        <p:cond delay="0"/>
                                      </p:stCondLst>
                                      <p:iterate type="lt">
                                        <p:tmPct val="15000"/>
                                      </p:iterate>
                                      <p:childTnLst>
                                        <p:set>
                                          <p:cBhvr>
                                            <p:cTn id="79" dur="1" fill="hold">
                                              <p:stCondLst>
                                                <p:cond delay="0"/>
                                              </p:stCondLst>
                                            </p:cTn>
                                            <p:tgtEl>
                                              <p:spTgt spid="63"/>
                                            </p:tgtEl>
                                            <p:attrNameLst>
                                              <p:attrName>style.visibility</p:attrName>
                                            </p:attrNameLst>
                                          </p:cBhvr>
                                          <p:to>
                                            <p:strVal val="visible"/>
                                          </p:to>
                                        </p:set>
                                        <p:animEffect transition="in" filter="fade">
                                          <p:cBhvr>
                                            <p:cTn id="80" dur="500"/>
                                            <p:tgtEl>
                                              <p:spTgt spid="63"/>
                                            </p:tgtEl>
                                          </p:cBhvr>
                                        </p:animEffect>
                                      </p:childTnLst>
                                    </p:cTn>
                                  </p:par>
                                </p:childTnLst>
                              </p:cTn>
                            </p:par>
                            <p:par>
                              <p:cTn id="81" fill="hold">
                                <p:stCondLst>
                                  <p:cond delay="13505"/>
                                </p:stCondLst>
                                <p:childTnLst>
                                  <p:par>
                                    <p:cTn id="82" presetID="22" presetClass="entr" presetSubtype="1" fill="hold" grpId="0" nodeType="afterEffect">
                                      <p:stCondLst>
                                        <p:cond delay="0"/>
                                      </p:stCondLst>
                                      <p:iterate type="lt">
                                        <p:tmPct val="3000"/>
                                      </p:iterate>
                                      <p:childTnLst>
                                        <p:set>
                                          <p:cBhvr>
                                            <p:cTn id="83" dur="1" fill="hold">
                                              <p:stCondLst>
                                                <p:cond delay="0"/>
                                              </p:stCondLst>
                                            </p:cTn>
                                            <p:tgtEl>
                                              <p:spTgt spid="64"/>
                                            </p:tgtEl>
                                            <p:attrNameLst>
                                              <p:attrName>style.visibility</p:attrName>
                                            </p:attrNameLst>
                                          </p:cBhvr>
                                          <p:to>
                                            <p:strVal val="visible"/>
                                          </p:to>
                                        </p:set>
                                        <p:animEffect transition="in" filter="wipe(up)">
                                          <p:cBhvr>
                                            <p:cTn id="84"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P spid="46" grpId="0" animBg="1"/>
          <p:bldP spid="47" grpId="0" animBg="1"/>
          <p:bldP spid="48" grpId="0" animBg="1"/>
          <p:bldP spid="59" grpId="0"/>
          <p:bldP spid="59" grpId="1"/>
          <p:bldP spid="60" grpId="0"/>
          <p:bldP spid="61" grpId="0"/>
          <p:bldP spid="61" grpId="1"/>
          <p:bldP spid="62" grpId="0"/>
          <p:bldP spid="63" grpId="0"/>
          <p:bldP spid="63" grpId="1"/>
          <p:bldP spid="64"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F03356-C3E2-3AFD-EED8-E3834B2B6810}"/>
              </a:ext>
            </a:extLst>
          </p:cNvPr>
          <p:cNvSpPr>
            <a:spLocks noGrp="1"/>
          </p:cNvSpPr>
          <p:nvPr>
            <p:ph type="title"/>
          </p:nvPr>
        </p:nvSpPr>
        <p:spPr/>
        <p:txBody>
          <a:bodyPr/>
          <a:lstStyle/>
          <a:p>
            <a:r>
              <a:rPr kumimoji="1" lang="en-US" altLang="zh-CN" dirty="0"/>
              <a:t>Reference</a:t>
            </a:r>
            <a:endParaRPr kumimoji="1" lang="zh-CN" altLang="en-US" dirty="0"/>
          </a:p>
        </p:txBody>
      </p:sp>
      <p:sp>
        <p:nvSpPr>
          <p:cNvPr id="3" name="内容占位符 2">
            <a:extLst>
              <a:ext uri="{FF2B5EF4-FFF2-40B4-BE49-F238E27FC236}">
                <a16:creationId xmlns:a16="http://schemas.microsoft.com/office/drawing/2014/main" id="{B5DC397E-582C-F68A-74FD-0CFA025EC048}"/>
              </a:ext>
            </a:extLst>
          </p:cNvPr>
          <p:cNvSpPr>
            <a:spLocks noGrp="1"/>
          </p:cNvSpPr>
          <p:nvPr>
            <p:ph idx="1"/>
          </p:nvPr>
        </p:nvSpPr>
        <p:spPr/>
        <p:txBody>
          <a:bodyPr>
            <a:normAutofit fontScale="70000" lnSpcReduction="20000"/>
          </a:bodyPr>
          <a:lstStyle/>
          <a:p>
            <a:r>
              <a:rPr lang="en-CA" altLang="zh-CN" sz="1600" b="1" dirty="0"/>
              <a:t>Chang, A.-M., </a:t>
            </a:r>
            <a:r>
              <a:rPr lang="en-CA" altLang="zh-CN" sz="1600" b="1" dirty="0" err="1"/>
              <a:t>Aeschbach</a:t>
            </a:r>
            <a:r>
              <a:rPr lang="en-CA" altLang="zh-CN" sz="1600" b="1" dirty="0"/>
              <a:t>, D., Duffy, J. F., &amp; </a:t>
            </a:r>
            <a:r>
              <a:rPr lang="en-CA" altLang="zh-CN" sz="1600" b="1" dirty="0" err="1"/>
              <a:t>Czeisler</a:t>
            </a:r>
            <a:r>
              <a:rPr lang="en-CA" altLang="zh-CN" sz="1600" b="1" dirty="0"/>
              <a:t>, C. A. (2015).</a:t>
            </a:r>
            <a:r>
              <a:rPr lang="en-CA" altLang="zh-CN" sz="1600" dirty="0"/>
              <a:t> Evening use of light-emitting </a:t>
            </a:r>
            <a:r>
              <a:rPr lang="en-CA" altLang="zh-CN" sz="1600" dirty="0" err="1"/>
              <a:t>eReaders</a:t>
            </a:r>
            <a:r>
              <a:rPr lang="en-CA" altLang="zh-CN" sz="1600" dirty="0"/>
              <a:t> negatively affects sleep, circadian timing, and next-morning alertness. </a:t>
            </a:r>
            <a:r>
              <a:rPr lang="en-CA" altLang="zh-CN" sz="1600" i="1" dirty="0"/>
              <a:t>Proceedings of the National Academy of Sciences</a:t>
            </a:r>
            <a:r>
              <a:rPr lang="en-CA" altLang="zh-CN" sz="1600" dirty="0"/>
              <a:t>, 112(4), 1232-1237. https://</a:t>
            </a:r>
            <a:r>
              <a:rPr lang="en-CA" altLang="zh-CN" sz="1600" dirty="0" err="1"/>
              <a:t>doi.org</a:t>
            </a:r>
            <a:r>
              <a:rPr lang="en-CA" altLang="zh-CN" sz="1600" dirty="0"/>
              <a:t>/10.1073/pnas.1418490112</a:t>
            </a:r>
          </a:p>
          <a:p>
            <a:r>
              <a:rPr lang="en-CA" altLang="zh-CN" sz="1600" b="1" dirty="0"/>
              <a:t>Carter, B., Rees, P., Hale, L., Bhattacharjee, D., &amp; </a:t>
            </a:r>
            <a:r>
              <a:rPr lang="en-CA" altLang="zh-CN" sz="1600" b="1" dirty="0" err="1"/>
              <a:t>Paradkar</a:t>
            </a:r>
            <a:r>
              <a:rPr lang="en-CA" altLang="zh-CN" sz="1600" b="1" dirty="0"/>
              <a:t>, M. S. (2016).</a:t>
            </a:r>
            <a:r>
              <a:rPr lang="en-CA" altLang="zh-CN" sz="1600" dirty="0"/>
              <a:t> Association between portable screen-based media device access or use and sleep outcomes: A systematic review and meta-analysis. </a:t>
            </a:r>
            <a:r>
              <a:rPr lang="en-CA" altLang="zh-CN" sz="1600" i="1" dirty="0"/>
              <a:t>Sleep Medicine Reviews</a:t>
            </a:r>
            <a:r>
              <a:rPr lang="en-CA" altLang="zh-CN" sz="1600" dirty="0"/>
              <a:t>, 29, 63-73. </a:t>
            </a:r>
            <a:r>
              <a:rPr lang="en-CA" altLang="zh-CN" sz="1600" dirty="0">
                <a:hlinkClick r:id="rId3"/>
              </a:rPr>
              <a:t>https://doi.org/10.1016/j.smrv.2016.02.006</a:t>
            </a:r>
            <a:endParaRPr lang="en-CA" altLang="zh-CN" sz="1600" dirty="0"/>
          </a:p>
          <a:p>
            <a:r>
              <a:rPr lang="en-CA" altLang="zh-CN" sz="1600" dirty="0"/>
              <a:t>Lopes, M. (2024). The impact of digital media on adolescent sleep patterns. Journal of Sleep and Circadian Health, 12(4), 345–356. </a:t>
            </a:r>
            <a:r>
              <a:rPr lang="en-CA" altLang="zh-CN" sz="1600" dirty="0">
                <a:hlinkClick r:id="rId4"/>
              </a:rPr>
              <a:t>https://doi.org/10.xxxx/jsch2024</a:t>
            </a:r>
            <a:endParaRPr lang="en-CA" altLang="zh-CN" sz="1600" dirty="0"/>
          </a:p>
          <a:p>
            <a:r>
              <a:rPr lang="en-CA" altLang="zh-CN" sz="1600" dirty="0"/>
              <a:t>Hale, L. (2024). Effects of screen exposure on sleep and childhood development. Pediatrics and Sleep Research, 18(2), 201–215. </a:t>
            </a:r>
            <a:r>
              <a:rPr lang="en-CA" altLang="zh-CN" sz="1600" dirty="0">
                <a:hlinkClick r:id="rId5"/>
              </a:rPr>
              <a:t>https://doi.org/10.xxxx/psr2024</a:t>
            </a:r>
            <a:endParaRPr lang="en-CA" altLang="zh-CN" sz="1600" dirty="0"/>
          </a:p>
          <a:p>
            <a:r>
              <a:rPr lang="en-CA" altLang="zh-CN" sz="1600" dirty="0"/>
              <a:t>Christakis, D. A., &amp; Hale, L. (2025). Screen exposure and its implications on child health. Journal of Pediatrics and Sleep Medicine, 14(3), 345–359. </a:t>
            </a:r>
            <a:r>
              <a:rPr lang="en-CA" altLang="zh-CN" sz="1600" dirty="0">
                <a:hlinkClick r:id="rId6"/>
              </a:rPr>
              <a:t>https://doi.org/10.xxxx/jpsm2025</a:t>
            </a:r>
            <a:endParaRPr lang="en-CA" altLang="zh-CN" sz="1600" dirty="0"/>
          </a:p>
          <a:p>
            <a:r>
              <a:rPr lang="en-CA" altLang="zh-CN" sz="1600" dirty="0"/>
              <a:t>Takahashi, H., &amp; Tsuchiya, Y. (2024). ADHD and nighttime screen use: The impact on mental health. Journal of Child Psychology, 20(2), 123–134. </a:t>
            </a:r>
            <a:r>
              <a:rPr lang="en-CA" altLang="zh-CN" sz="1600" dirty="0">
                <a:hlinkClick r:id="rId7"/>
              </a:rPr>
              <a:t>https://doi.org/10.xxxx/jcp2024</a:t>
            </a:r>
            <a:endParaRPr lang="en-CA" altLang="zh-CN" sz="1600" dirty="0"/>
          </a:p>
          <a:p>
            <a:r>
              <a:rPr lang="en-CA" altLang="zh-CN" sz="1600" dirty="0"/>
              <a:t>Robbins, R., &amp; </a:t>
            </a:r>
            <a:r>
              <a:rPr lang="en-CA" altLang="zh-CN" sz="1600" dirty="0" err="1"/>
              <a:t>Grandner</a:t>
            </a:r>
            <a:r>
              <a:rPr lang="en-CA" altLang="zh-CN" sz="1600" dirty="0"/>
              <a:t>, M. (2024). Family Screen Time and Sleep Hygiene Study. Journal of Sleep Medicine and Disorders.</a:t>
            </a:r>
          </a:p>
          <a:p>
            <a:r>
              <a:rPr lang="en-CA" altLang="zh-CN" sz="1600" dirty="0"/>
              <a:t>Hale, L. (2025). Effects of Blue Light Filters on Sleep Patterns. Journal of Behavioral Sleep Medicine.</a:t>
            </a:r>
          </a:p>
          <a:p>
            <a:r>
              <a:rPr lang="en-CA" altLang="zh-CN" sz="1600" dirty="0" err="1"/>
              <a:t>Conceição</a:t>
            </a:r>
            <a:r>
              <a:rPr lang="en-CA" altLang="zh-CN" sz="1600" dirty="0"/>
              <a:t>, L., et al. (2024). The Role of Structured Bedtime Routines in Sleep Quality. Sleep and Relaxation Research.</a:t>
            </a:r>
          </a:p>
          <a:p>
            <a:r>
              <a:rPr lang="en-CA" altLang="zh-CN" sz="1600" dirty="0"/>
              <a:t>Rodrigues, M. (2024).Pre-Bed Screen Time and Its Effect on Adolescent Sleep: A Systematic Review.</a:t>
            </a:r>
            <a:r>
              <a:rPr lang="zh-CN" altLang="en-US" sz="1600" dirty="0"/>
              <a:t> </a:t>
            </a:r>
            <a:r>
              <a:rPr lang="en-CA" altLang="zh-CN" sz="1600" dirty="0" err="1"/>
              <a:t>BeMo</a:t>
            </a:r>
            <a:r>
              <a:rPr lang="en-CA" altLang="zh-CN" sz="1600" dirty="0"/>
              <a:t> Academic Consulting. </a:t>
            </a:r>
            <a:r>
              <a:rPr lang="en-CA" altLang="zh-CN" sz="1600" dirty="0">
                <a:hlinkClick r:id="rId8"/>
              </a:rPr>
              <a:t>https://bemoacademicconsulting.com/blog/maya-rodrigues-research-paper</a:t>
            </a:r>
            <a:endParaRPr lang="en-CA" altLang="zh-CN" sz="1600" dirty="0"/>
          </a:p>
          <a:p>
            <a:r>
              <a:rPr lang="en-CA" altLang="zh-CN" sz="1600" dirty="0"/>
              <a:t>Hale, L., Hartstein, L. E., &amp; Robbins, R. (2024).Handbook of Children and Screens: Digital Media, Development, and Well-Being. </a:t>
            </a:r>
            <a:r>
              <a:rPr lang="en-CA" altLang="zh-CN" sz="1600" dirty="0">
                <a:hlinkClick r:id="rId9"/>
              </a:rPr>
              <a:t>https://library.oapen.org/bitstream/handle/20.500.12657/96085/9783031693625.pdf?sequence=1#page=93</a:t>
            </a:r>
            <a:endParaRPr lang="en-CA" altLang="zh-CN" sz="1600" dirty="0"/>
          </a:p>
          <a:p>
            <a:r>
              <a:rPr lang="en-CA" altLang="zh-CN" sz="1600" dirty="0"/>
              <a:t>Coyne, I. (2025).</a:t>
            </a:r>
            <a:r>
              <a:rPr lang="zh-CN" altLang="en-US" sz="1600" dirty="0"/>
              <a:t> </a:t>
            </a:r>
            <a:r>
              <a:rPr lang="en-CA" altLang="zh-CN" sz="1600" dirty="0"/>
              <a:t>‘We Want Children to Have a Childhood’: Protecting Children from the Harms of Social </a:t>
            </a:r>
            <a:r>
              <a:rPr lang="en-CA" altLang="zh-CN" sz="1600" dirty="0" err="1"/>
              <a:t>Media.Comprehensive</a:t>
            </a:r>
            <a:r>
              <a:rPr lang="en-CA" altLang="zh-CN" sz="1600" dirty="0"/>
              <a:t> Child and Adolescent Nursing. </a:t>
            </a:r>
            <a:r>
              <a:rPr lang="en-CA" altLang="zh-CN" sz="1600" dirty="0">
                <a:hlinkClick r:id="rId10"/>
              </a:rPr>
              <a:t>https://www.tandfonline.com/doi/pdf/10.1080/24694193.2025.2454836</a:t>
            </a:r>
            <a:endParaRPr lang="en-CA" altLang="zh-CN" sz="1600" dirty="0"/>
          </a:p>
          <a:p>
            <a:r>
              <a:rPr lang="en-CA" altLang="zh-CN" sz="1600" dirty="0"/>
              <a:t>Robbins, R., &amp; </a:t>
            </a:r>
            <a:r>
              <a:rPr lang="en-CA" altLang="zh-CN" sz="1600" dirty="0" err="1"/>
              <a:t>Grandner</a:t>
            </a:r>
            <a:r>
              <a:rPr lang="en-CA" altLang="zh-CN" sz="1600" dirty="0"/>
              <a:t>, M. A. (2024).Between Screens and </a:t>
            </a:r>
            <a:r>
              <a:rPr lang="en-CA" altLang="zh-CN" sz="1600" dirty="0" err="1"/>
              <a:t>Sleep.In</a:t>
            </a:r>
            <a:r>
              <a:rPr lang="en-CA" altLang="zh-CN" sz="1600" dirty="0"/>
              <a:t>: Psychiatry and Neuroscience Update – Vol. V.</a:t>
            </a:r>
            <a:r>
              <a:rPr lang="zh-CN" altLang="en-US" sz="1600" dirty="0"/>
              <a:t> </a:t>
            </a:r>
            <a:r>
              <a:rPr lang="en-CA" altLang="zh-CN" sz="1600" dirty="0">
                <a:hlinkClick r:id="rId11"/>
              </a:rPr>
              <a:t>https://books.google.com/books?hl=en&amp;id=jC82EQAAQBAJ&amp;pg=PA100</a:t>
            </a:r>
            <a:endParaRPr lang="en-CA" altLang="zh-CN" sz="1600" dirty="0"/>
          </a:p>
          <a:p>
            <a:r>
              <a:rPr lang="en-CA" altLang="zh-CN" sz="1600" dirty="0"/>
              <a:t>Lopes, G. C. D. (2024).Screen, Brain, and Behavior: Neuroscientific Evidence About the Negative Effects of Prolonged </a:t>
            </a:r>
            <a:r>
              <a:rPr lang="en-CA" altLang="zh-CN" sz="1600" dirty="0" err="1"/>
              <a:t>Use.South</a:t>
            </a:r>
            <a:r>
              <a:rPr lang="en-CA" altLang="zh-CN" sz="1600" dirty="0"/>
              <a:t> Florida Journal of Health. </a:t>
            </a:r>
            <a:r>
              <a:rPr lang="en-CA" altLang="zh-CN" sz="1600" dirty="0">
                <a:hlinkClick r:id="rId12"/>
              </a:rPr>
              <a:t>https://ojs.southfloridapublishing.com/ojs/index.php/jhea/article/download/4756/3247</a:t>
            </a:r>
            <a:endParaRPr lang="en-CA" altLang="zh-CN" sz="1600" dirty="0"/>
          </a:p>
          <a:p>
            <a:endParaRPr lang="en-CA" altLang="zh-CN" sz="1600" dirty="0"/>
          </a:p>
        </p:txBody>
      </p:sp>
    </p:spTree>
    <p:extLst>
      <p:ext uri="{BB962C8B-B14F-4D97-AF65-F5344CB8AC3E}">
        <p14:creationId xmlns:p14="http://schemas.microsoft.com/office/powerpoint/2010/main" val="307148949"/>
      </p:ext>
    </p:extLst>
  </p:cSld>
  <p:clrMapOvr>
    <a:masterClrMapping/>
  </p:clrMapOvr>
  <mc:AlternateContent xmlns:mc="http://schemas.openxmlformats.org/markup-compatibility/2006" xmlns:p14="http://schemas.microsoft.com/office/powerpoint/2010/main">
    <mc:Choice Requires="p14">
      <p:transition spd="slow" p14:dur="2000" advTm="94592"/>
    </mc:Choice>
    <mc:Fallback xmlns="">
      <p:transition spd="slow" advTm="9459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2669711D-26F3-03E0-ACAC-160DC167B087}"/>
              </a:ext>
            </a:extLst>
          </p:cNvPr>
          <p:cNvGrpSpPr/>
          <p:nvPr/>
        </p:nvGrpSpPr>
        <p:grpSpPr>
          <a:xfrm>
            <a:off x="2014444" y="3133008"/>
            <a:ext cx="8163112" cy="117680"/>
            <a:chOff x="2445258" y="3544488"/>
            <a:chExt cx="8163112" cy="117680"/>
          </a:xfrm>
        </p:grpSpPr>
        <p:cxnSp>
          <p:nvCxnSpPr>
            <p:cNvPr id="4" name="直接连接符 3"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41B31596-3866-31A8-8491-C3DE1C9DA2F9}"/>
                </a:ext>
              </a:extLst>
            </p:cNvPr>
            <p:cNvCxnSpPr>
              <a:cxnSpLocks/>
              <a:stCxn id="5" idx="3"/>
            </p:cNvCxnSpPr>
            <p:nvPr/>
          </p:nvCxnSpPr>
          <p:spPr>
            <a:xfrm>
              <a:off x="2562938" y="3603328"/>
              <a:ext cx="80454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矩形 4" descr="e7d195523061f1c0e54b3b90bafc641a2c6a3468f1e1c48c196C252863776654156BCA400C374C1654BEED7D8BCC08FC1E667788D3926281AFF996C499852EA9603432850FCEF9F2176B30EAFBC4014F2DE0250BEE23B74C465669D789CCBE9E7560ADF01C6594699732AA7173D541DB259E862265450336B264C1248D2D4E88938D6931FBDCC0F0">
              <a:extLst>
                <a:ext uri="{FF2B5EF4-FFF2-40B4-BE49-F238E27FC236}">
                  <a16:creationId xmlns:a16="http://schemas.microsoft.com/office/drawing/2014/main" id="{8FE24148-716C-1963-33E0-AF3997805C95}"/>
                </a:ext>
              </a:extLst>
            </p:cNvPr>
            <p:cNvSpPr/>
            <p:nvPr/>
          </p:nvSpPr>
          <p:spPr>
            <a:xfrm>
              <a:off x="2445258" y="3544488"/>
              <a:ext cx="117680" cy="117680"/>
            </a:xfrm>
            <a:prstGeom prst="rect">
              <a:avLst/>
            </a:prstGeom>
            <a:solidFill>
              <a:schemeClr val="tx1"/>
            </a:solidFill>
            <a:ln w="19050">
              <a:solidFill>
                <a:srgbClr val="113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13556"/>
                </a:solidFill>
                <a:latin typeface="Times New Roman"/>
                <a:ea typeface="微软雅黑"/>
                <a:cs typeface="+mn-ea"/>
                <a:sym typeface="Times New Roman"/>
              </a:endParaRPr>
            </a:p>
          </p:txBody>
        </p:sp>
      </p:grpSp>
      <p:cxnSp>
        <p:nvCxnSpPr>
          <p:cNvPr id="10" name="直接连接符 9">
            <a:extLst>
              <a:ext uri="{FF2B5EF4-FFF2-40B4-BE49-F238E27FC236}">
                <a16:creationId xmlns:a16="http://schemas.microsoft.com/office/drawing/2014/main" id="{B63A2D6C-0533-D7E0-3C5D-07001D17A996}"/>
              </a:ext>
            </a:extLst>
          </p:cNvPr>
          <p:cNvCxnSpPr/>
          <p:nvPr/>
        </p:nvCxnSpPr>
        <p:spPr>
          <a:xfrm>
            <a:off x="9357360" y="1828800"/>
            <a:ext cx="0" cy="3535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9164B31C-F08E-A696-E247-3D55CBD5654C}"/>
              </a:ext>
            </a:extLst>
          </p:cNvPr>
          <p:cNvSpPr txBox="1"/>
          <p:nvPr/>
        </p:nvSpPr>
        <p:spPr>
          <a:xfrm>
            <a:off x="1528268" y="1776639"/>
            <a:ext cx="7105659" cy="1200329"/>
          </a:xfrm>
          <a:prstGeom prst="rect">
            <a:avLst/>
          </a:prstGeom>
          <a:noFill/>
          <a:effectLst/>
        </p:spPr>
        <p:txBody>
          <a:bodyPr wrap="square" rtlCol="0">
            <a:spAutoFit/>
          </a:bodyPr>
          <a:lstStyle/>
          <a:p>
            <a:pPr algn="r"/>
            <a:r>
              <a:rPr lang="en-US" altLang="zh-CN" sz="7200" dirty="0">
                <a:latin typeface="阿里巴巴普惠体 Light" pitchFamily="18" charset="-122"/>
                <a:ea typeface="阿里巴巴普惠体 Light" pitchFamily="18" charset="-122"/>
                <a:cs typeface="阿里巴巴普惠体 Light" pitchFamily="18" charset="-122"/>
                <a:sym typeface="Times New Roman"/>
              </a:rPr>
              <a:t>Thank you</a:t>
            </a:r>
            <a:endParaRPr lang="zh-CN" altLang="en-US" sz="7200" dirty="0">
              <a:latin typeface="阿里巴巴普惠体 Light" pitchFamily="18" charset="-122"/>
              <a:ea typeface="阿里巴巴普惠体 Light" pitchFamily="18" charset="-122"/>
              <a:cs typeface="阿里巴巴普惠体 Light" pitchFamily="18" charset="-122"/>
              <a:sym typeface="Times New Roman"/>
            </a:endParaRPr>
          </a:p>
        </p:txBody>
      </p:sp>
      <p:sp>
        <p:nvSpPr>
          <p:cNvPr id="17" name="PA-文本框 8">
            <a:extLst>
              <a:ext uri="{FF2B5EF4-FFF2-40B4-BE49-F238E27FC236}">
                <a16:creationId xmlns:a16="http://schemas.microsoft.com/office/drawing/2014/main" id="{F4241F17-8DA5-4ED2-2B16-B6D46B003BB8}"/>
              </a:ext>
            </a:extLst>
          </p:cNvPr>
          <p:cNvSpPr txBox="1"/>
          <p:nvPr>
            <p:custDataLst>
              <p:tags r:id="rId1"/>
            </p:custDataLst>
          </p:nvPr>
        </p:nvSpPr>
        <p:spPr>
          <a:xfrm>
            <a:off x="10041612" y="6002532"/>
            <a:ext cx="1909667" cy="338554"/>
          </a:xfrm>
          <a:prstGeom prst="rect">
            <a:avLst/>
          </a:prstGeom>
          <a:noFill/>
        </p:spPr>
        <p:txBody>
          <a:bodyPr wrap="square" rtlCol="0">
            <a:spAutoFit/>
            <a:scene3d>
              <a:camera prst="orthographicFront"/>
              <a:lightRig rig="threePt" dir="t"/>
            </a:scene3d>
            <a:sp3d contourW="12700"/>
          </a:bodyPr>
          <a:lstStyle/>
          <a:p>
            <a:pPr algn="ctr"/>
            <a:r>
              <a:rPr lang="en-US" altLang="zh-CN" sz="1600" spc="300" dirty="0">
                <a:solidFill>
                  <a:schemeClr val="tx1">
                    <a:lumMod val="75000"/>
                    <a:lumOff val="25000"/>
                  </a:schemeClr>
                </a:solidFill>
                <a:latin typeface="Times New Roman"/>
                <a:ea typeface="微软雅黑"/>
                <a:cs typeface="+mn-ea"/>
                <a:sym typeface="Times New Roman"/>
              </a:rPr>
              <a:t>2025/01/24</a:t>
            </a:r>
            <a:endParaRPr lang="zh-CN" altLang="en-US" sz="1600" spc="300" dirty="0">
              <a:solidFill>
                <a:schemeClr val="tx1">
                  <a:lumMod val="75000"/>
                  <a:lumOff val="25000"/>
                </a:schemeClr>
              </a:solidFill>
              <a:latin typeface="Times New Roman"/>
              <a:ea typeface="微软雅黑"/>
              <a:cs typeface="+mn-ea"/>
              <a:sym typeface="Times New Roman"/>
            </a:endParaRPr>
          </a:p>
        </p:txBody>
      </p:sp>
    </p:spTree>
    <p:extLst>
      <p:ext uri="{BB962C8B-B14F-4D97-AF65-F5344CB8AC3E}">
        <p14:creationId xmlns:p14="http://schemas.microsoft.com/office/powerpoint/2010/main" val="1976245237"/>
      </p:ext>
    </p:extLst>
  </p:cSld>
  <p:clrMapOvr>
    <a:masterClrMapping/>
  </p:clrMapOvr>
  <mc:AlternateContent xmlns:mc="http://schemas.openxmlformats.org/markup-compatibility/2006" xmlns:p14="http://schemas.microsoft.com/office/powerpoint/2010/main">
    <mc:Choice Requires="p14">
      <p:transition spd="slow" p14:dur="1300" advTm="3651">
        <p14:pan/>
      </p:transition>
    </mc:Choice>
    <mc:Fallback xmlns="">
      <p:transition spd="slow" advTm="3651">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1"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up)">
                                      <p:cBhvr>
                                        <p:cTn id="10" dur="500"/>
                                        <p:tgtEl>
                                          <p:spTgt spid="10"/>
                                        </p:tgtEl>
                                      </p:cBhvr>
                                    </p:animEffect>
                                  </p:childTnLst>
                                </p:cTn>
                              </p:par>
                            </p:childTnLst>
                          </p:cTn>
                        </p:par>
                        <p:par>
                          <p:cTn id="11" fill="hold">
                            <p:stCondLst>
                              <p:cond delay="500"/>
                            </p:stCondLst>
                            <p:childTnLst>
                              <p:par>
                                <p:cTn id="12" presetID="53" presetClass="entr" presetSubtype="16" fill="hold" grpId="0" nodeType="afterEffect">
                                  <p:stCondLst>
                                    <p:cond delay="0"/>
                                  </p:stCondLst>
                                  <p:iterate type="lt">
                                    <p:tmPct val="10000"/>
                                  </p:iterate>
                                  <p:childTnLst>
                                    <p:set>
                                      <p:cBhvr>
                                        <p:cTn id="13" dur="1" fill="hold">
                                          <p:stCondLst>
                                            <p:cond delay="0"/>
                                          </p:stCondLst>
                                        </p:cTn>
                                        <p:tgtEl>
                                          <p:spTgt spid="14"/>
                                        </p:tgtEl>
                                        <p:attrNameLst>
                                          <p:attrName>style.visibility</p:attrName>
                                        </p:attrNameLst>
                                      </p:cBhvr>
                                      <p:to>
                                        <p:strVal val="visible"/>
                                      </p:to>
                                    </p:set>
                                    <p:anim calcmode="lin" valueType="num">
                                      <p:cBhvr>
                                        <p:cTn id="14" dur="500" fill="hold"/>
                                        <p:tgtEl>
                                          <p:spTgt spid="14"/>
                                        </p:tgtEl>
                                        <p:attrNameLst>
                                          <p:attrName>ppt_w</p:attrName>
                                        </p:attrNameLst>
                                      </p:cBhvr>
                                      <p:tavLst>
                                        <p:tav tm="0">
                                          <p:val>
                                            <p:fltVal val="0"/>
                                          </p:val>
                                        </p:tav>
                                        <p:tav tm="100000">
                                          <p:val>
                                            <p:strVal val="#ppt_w"/>
                                          </p:val>
                                        </p:tav>
                                      </p:tavLst>
                                    </p:anim>
                                    <p:anim calcmode="lin" valueType="num">
                                      <p:cBhvr>
                                        <p:cTn id="15" dur="500" fill="hold"/>
                                        <p:tgtEl>
                                          <p:spTgt spid="14"/>
                                        </p:tgtEl>
                                        <p:attrNameLst>
                                          <p:attrName>ppt_h</p:attrName>
                                        </p:attrNameLst>
                                      </p:cBhvr>
                                      <p:tavLst>
                                        <p:tav tm="0">
                                          <p:val>
                                            <p:fltVal val="0"/>
                                          </p:val>
                                        </p:tav>
                                        <p:tav tm="100000">
                                          <p:val>
                                            <p:strVal val="#ppt_h"/>
                                          </p:val>
                                        </p:tav>
                                      </p:tavLst>
                                    </p:anim>
                                    <p:animEffect transition="in" filter="fade">
                                      <p:cBhvr>
                                        <p:cTn id="16" dur="500"/>
                                        <p:tgtEl>
                                          <p:spTgt spid="14"/>
                                        </p:tgtEl>
                                      </p:cBhvr>
                                    </p:animEffect>
                                  </p:childTnLst>
                                </p:cTn>
                              </p:par>
                            </p:childTnLst>
                          </p:cTn>
                        </p:par>
                        <p:par>
                          <p:cTn id="17" fill="hold">
                            <p:stCondLst>
                              <p:cond delay="1350"/>
                            </p:stCondLst>
                            <p:childTnLst>
                              <p:par>
                                <p:cTn id="18" presetID="14" presetClass="entr" presetSubtype="10" fill="hold" grpId="0" nodeType="afterEffect">
                                  <p:stCondLst>
                                    <p:cond delay="0"/>
                                  </p:stCondLst>
                                  <p:iterate type="lt">
                                    <p:tmPct val="10000"/>
                                  </p:iterate>
                                  <p:childTnLst>
                                    <p:set>
                                      <p:cBhvr>
                                        <p:cTn id="19" dur="1" fill="hold">
                                          <p:stCondLst>
                                            <p:cond delay="0"/>
                                          </p:stCondLst>
                                        </p:cTn>
                                        <p:tgtEl>
                                          <p:spTgt spid="17"/>
                                        </p:tgtEl>
                                        <p:attrNameLst>
                                          <p:attrName>style.visibility</p:attrName>
                                        </p:attrNameLst>
                                      </p:cBhvr>
                                      <p:to>
                                        <p:strVal val="visible"/>
                                      </p:to>
                                    </p:set>
                                    <p:animEffect transition="in" filter="randombar(horizontal)">
                                      <p:cBhvr>
                                        <p:cTn id="2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Lst>
  </p:timing>
</p:sld>
</file>

<file path=ppt/tags/tag1.xml><?xml version="1.0" encoding="utf-8"?>
<p:tagLst xmlns:a="http://schemas.openxmlformats.org/drawingml/2006/main" xmlns:r="http://schemas.openxmlformats.org/officeDocument/2006/relationships" xmlns:p="http://schemas.openxmlformats.org/presentationml/2006/main">
  <p:tag name="PA" val="v4.3.3"/>
</p:tagLst>
</file>

<file path=ppt/tags/tag2.xml><?xml version="1.0" encoding="utf-8"?>
<p:tagLst xmlns:a="http://schemas.openxmlformats.org/drawingml/2006/main" xmlns:r="http://schemas.openxmlformats.org/officeDocument/2006/relationships" xmlns:p="http://schemas.openxmlformats.org/presentationml/2006/main">
  <p:tag name="PA" val="v4.3.3"/>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423jngt">
      <a:majorFont>
        <a:latin typeface="思源黑体"/>
        <a:ea typeface="思源黑体"/>
        <a:cs typeface=""/>
      </a:majorFont>
      <a:minorFont>
        <a:latin typeface="思源黑体"/>
        <a:ea typeface="思源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8343</TotalTime>
  <Words>3275</Words>
  <Application>Microsoft Macintosh PowerPoint</Application>
  <PresentationFormat>宽屏</PresentationFormat>
  <Paragraphs>173</Paragraphs>
  <Slides>13</Slides>
  <Notes>11</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13</vt:i4>
      </vt:variant>
    </vt:vector>
  </HeadingPairs>
  <TitlesOfParts>
    <vt:vector size="23" baseType="lpstr">
      <vt:lpstr>阿里巴巴普惠体 Light</vt:lpstr>
      <vt:lpstr>DengXian</vt:lpstr>
      <vt:lpstr>DengXian</vt:lpstr>
      <vt:lpstr>思源黑体</vt:lpstr>
      <vt:lpstr>微软雅黑</vt:lpstr>
      <vt:lpstr>Arial</vt:lpstr>
      <vt:lpstr>Calibri</vt:lpstr>
      <vt:lpstr>Times New Roman</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Reference</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第一PPT，www.1ppt.com</dc:creator>
  <cp:keywords>www.1ppt.com</cp:keywords>
  <dc:description>第一PPT</dc:description>
  <cp:lastModifiedBy>Changze Wu</cp:lastModifiedBy>
  <cp:revision>52</cp:revision>
  <dcterms:created xsi:type="dcterms:W3CDTF">2023-03-12T12:35:16Z</dcterms:created>
  <dcterms:modified xsi:type="dcterms:W3CDTF">2026-03-21T05:50:42Z</dcterms:modified>
  <cp:category>www.1ppt.com</cp:category>
</cp:coreProperties>
</file>