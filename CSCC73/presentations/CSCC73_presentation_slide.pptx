
<file path=[Content_Types].xml><?xml version="1.0" encoding="utf-8"?>
<Types xmlns="http://schemas.openxmlformats.org/package/2006/content-types">
  <Default Extension="jpeg" ContentType="image/jpeg"/>
  <Default Extension="JPG" ContentType="image/.jpg"/>
  <Default Extension="emf" ContentType="image/x-emf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3"/>
    <p:sldMasterId id="2147483653" r:id="rId4"/>
  </p:sldMasterIdLst>
  <p:notesMasterIdLst>
    <p:notesMasterId r:id="rId6"/>
  </p:notesMasterIdLst>
  <p:sldIdLst>
    <p:sldId id="280" r:id="rId5"/>
    <p:sldId id="281" r:id="rId7"/>
    <p:sldId id="283" r:id="rId8"/>
    <p:sldId id="287" r:id="rId9"/>
    <p:sldId id="289" r:id="rId10"/>
    <p:sldId id="304" r:id="rId11"/>
    <p:sldId id="303" r:id="rId12"/>
    <p:sldId id="306" r:id="rId13"/>
    <p:sldId id="307" r:id="rId14"/>
    <p:sldId id="310" r:id="rId15"/>
    <p:sldId id="309" r:id="rId16"/>
    <p:sldId id="312" r:id="rId17"/>
    <p:sldId id="311" r:id="rId18"/>
    <p:sldId id="298" r:id="rId19"/>
    <p:sldId id="301" r:id="rId20"/>
  </p:sldIdLst>
  <p:sldSz cx="12192000" cy="6858000"/>
  <p:notesSz cx="9144000" cy="6858000"/>
  <p:custDataLst>
    <p:tags r:id="rId2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6" userDrawn="1">
          <p15:clr>
            <a:srgbClr val="A4A3A4"/>
          </p15:clr>
        </p15:guide>
        <p15:guide id="2" pos="3897" userDrawn="1">
          <p15:clr>
            <a:srgbClr val="A4A3A4"/>
          </p15:clr>
        </p15:guide>
        <p15:guide id="3" orient="horz" pos="292" userDrawn="1">
          <p15:clr>
            <a:srgbClr val="A4A3A4"/>
          </p15:clr>
        </p15:guide>
        <p15:guide id="4" orient="horz" pos="4065" userDrawn="1">
          <p15:clr>
            <a:srgbClr val="A4A3A4"/>
          </p15:clr>
        </p15:guide>
        <p15:guide id="5" pos="289" userDrawn="1">
          <p15:clr>
            <a:srgbClr val="A4A3A4"/>
          </p15:clr>
        </p15:guide>
        <p15:guide id="6" pos="7430" userDrawn="1">
          <p15:clr>
            <a:srgbClr val="A4A3A4"/>
          </p15:clr>
        </p15:guide>
        <p15:guide id="7" orient="horz" pos="556" userDrawn="1">
          <p15:clr>
            <a:srgbClr val="A4A3A4"/>
          </p15:clr>
        </p15:guide>
        <p15:guide id="8" pos="499" userDrawn="1">
          <p15:clr>
            <a:srgbClr val="A4A3A4"/>
          </p15:clr>
        </p15:guide>
        <p15:guide id="9" orient="horz" pos="3874" userDrawn="1">
          <p15:clr>
            <a:srgbClr val="A4A3A4"/>
          </p15:clr>
        </p15:guide>
        <p15:guide id="10" pos="6711" userDrawn="1">
          <p15:clr>
            <a:srgbClr val="A4A3A4"/>
          </p15:clr>
        </p15:guide>
        <p15:guide id="11" orient="horz" pos="3130" userDrawn="1">
          <p15:clr>
            <a:srgbClr val="A4A3A4"/>
          </p15:clr>
        </p15:guide>
        <p15:guide id="12" pos="5304" userDrawn="1">
          <p15:clr>
            <a:srgbClr val="A4A3A4"/>
          </p15:clr>
        </p15:guide>
        <p15:guide id="13" pos="2447" userDrawn="1">
          <p15:clr>
            <a:srgbClr val="A4A3A4"/>
          </p15:clr>
        </p15:guide>
        <p15:guide id="14" pos="720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842"/>
    <p:restoredTop sz="69509"/>
  </p:normalViewPr>
  <p:slideViewPr>
    <p:cSldViewPr snapToGrid="0" snapToObjects="1" showGuides="1">
      <p:cViewPr varScale="1">
        <p:scale>
          <a:sx n="92" d="100"/>
          <a:sy n="92" d="100"/>
        </p:scale>
        <p:origin x="1128" y="176"/>
      </p:cViewPr>
      <p:guideLst>
        <p:guide orient="horz" pos="2186"/>
        <p:guide pos="3897"/>
        <p:guide orient="horz" pos="292"/>
        <p:guide orient="horz" pos="4065"/>
        <p:guide pos="289"/>
        <p:guide pos="7430"/>
        <p:guide orient="horz" pos="556"/>
        <p:guide pos="499"/>
        <p:guide orient="horz" pos="3874"/>
        <p:guide pos="6711"/>
        <p:guide orient="horz" pos="3130"/>
        <p:guide pos="5304"/>
        <p:guide pos="2447"/>
        <p:guide pos="720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18" d="100"/>
        <a:sy n="118" d="100"/>
      </p:scale>
      <p:origin x="0" y="0"/>
    </p:cViewPr>
  </p:sorter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4" Type="http://schemas.openxmlformats.org/officeDocument/2006/relationships/tags" Target="tags/tag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4F202D-56AB-AD46-8B88-A20FB594FC0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第二级</a:t>
            </a:r>
            <a:endParaRPr kumimoji="1" lang="zh-CN" altLang="en-US"/>
          </a:p>
          <a:p>
            <a:pPr lvl="2"/>
            <a:r>
              <a:rPr kumimoji="1" lang="zh-CN" altLang="en-US"/>
              <a:t>第三级</a:t>
            </a:r>
            <a:endParaRPr kumimoji="1" lang="zh-CN" altLang="en-US"/>
          </a:p>
          <a:p>
            <a:pPr lvl="3"/>
            <a:r>
              <a:rPr kumimoji="1" lang="zh-CN" altLang="en-US"/>
              <a:t>第四级</a:t>
            </a:r>
            <a:endParaRPr kumimoji="1" lang="zh-CN" altLang="en-US"/>
          </a:p>
          <a:p>
            <a:pPr lvl="4"/>
            <a:r>
              <a:rPr kumimoji="1" lang="zh-CN" altLang="en-US"/>
              <a:t>第五级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B5C9AC-9A58-5B43-8EE4-456B288E9FA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Hello, everyone, </a:t>
            </a:r>
            <a:endParaRPr kumimoji="1"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CA" altLang="zh-CN" b="1" dirty="0"/>
              <a:t>Our topic today is titled Fox and Dinner: Solving Graph Matching with Max-Flow. It’s based on a </a:t>
            </a:r>
            <a:r>
              <a:rPr lang="en-CA" altLang="zh-CN" b="1" dirty="0" err="1"/>
              <a:t>Codeforces</a:t>
            </a:r>
            <a:r>
              <a:rPr lang="en-CA" altLang="zh-CN" b="1" dirty="0"/>
              <a:t> problem that combines ideas from number theory and graph algorithms</a:t>
            </a:r>
            <a:endParaRPr lang="en-CA" altLang="zh-CN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CA" altLang="zh-CN" b="1" dirty="0"/>
              <a:t>Over the next few minutes, we’ll walk you through how this seemingly simple dinner party problem reveals a deep and elegant solution using flow networks.</a:t>
            </a:r>
            <a:endParaRPr lang="en-CA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CA" altLang="zh-CN" dirty="0"/>
          </a:p>
          <a:p>
            <a:endParaRPr kumimoji="1"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CA" altLang="zh-CN" b="1" dirty="0"/>
              <a:t>Here’s an overview of our presentation.</a:t>
            </a:r>
            <a:endParaRPr lang="en-CA" altLang="zh-CN" dirty="0"/>
          </a:p>
          <a:p>
            <a:pPr>
              <a:buNone/>
            </a:pPr>
            <a:r>
              <a:rPr lang="en-CA" altLang="zh-CN" b="1" dirty="0"/>
              <a:t>Part 1: We’ll begin with the background and definition of the problem — what the fox is trying to do, and what constraints he faces.”</a:t>
            </a:r>
            <a:endParaRPr lang="en-CA" altLang="zh-CN" dirty="0"/>
          </a:p>
          <a:p>
            <a:pPr>
              <a:buNone/>
            </a:pPr>
            <a:r>
              <a:rPr lang="en-CA" altLang="zh-CN" b="1" dirty="0"/>
              <a:t>Part 2: Then, I’ll walk you through the algorithm intuition — how we go from ingredients and prime numbers to a matching problem.”</a:t>
            </a:r>
            <a:endParaRPr lang="en-CA" altLang="zh-CN" dirty="0"/>
          </a:p>
          <a:p>
            <a:pPr>
              <a:buNone/>
            </a:pPr>
            <a:r>
              <a:rPr lang="en-CA" altLang="zh-CN" b="1" dirty="0"/>
              <a:t>Part 3: My teammate will then describe the actual algorithm in detail, including how we build the graph and how we compute the max-flow.”</a:t>
            </a:r>
            <a:endParaRPr lang="en-CA" altLang="zh-CN" dirty="0"/>
          </a:p>
          <a:p>
            <a:pPr>
              <a:buNone/>
            </a:pPr>
            <a:r>
              <a:rPr lang="en-CA" altLang="zh-CN" b="1" dirty="0"/>
              <a:t>And finally, in Part 4, I’ll return to discuss the correctness proof and time complexity of our approach.”</a:t>
            </a:r>
            <a:endParaRPr lang="en-CA" altLang="zh-CN" dirty="0"/>
          </a:p>
          <a:p>
            <a:r>
              <a:rPr lang="en-CA" altLang="zh-CN" b="1" dirty="0"/>
              <a:t>“Let’s begin with the background of the problem.”</a:t>
            </a:r>
            <a:endParaRPr lang="en-CA" altLang="zh-CN" dirty="0"/>
          </a:p>
          <a:p>
            <a:endParaRPr kumimoji="1"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CA" altLang="zh-CN" dirty="0"/>
              <a:t>Alright, let’s start with the problem setup. </a:t>
            </a:r>
            <a:endParaRPr lang="en-CA" altLang="zh-CN" dirty="0"/>
          </a:p>
          <a:p>
            <a:pPr>
              <a:buNone/>
            </a:pPr>
            <a:r>
              <a:rPr lang="en-CA" altLang="zh-CN" dirty="0"/>
              <a:t>So, Fox Ciel is throwing a dinner party in the </a:t>
            </a:r>
            <a:r>
              <a:rPr lang="en-CA" altLang="zh-CN" b="1" dirty="0"/>
              <a:t>Prime Kingdom</a:t>
            </a:r>
            <a:r>
              <a:rPr lang="en-CA" altLang="zh-CN" dirty="0"/>
              <a:t>, and there are </a:t>
            </a:r>
            <a:r>
              <a:rPr lang="en-CA" altLang="zh-CN" b="1" dirty="0"/>
              <a:t>n foxes</a:t>
            </a:r>
            <a:r>
              <a:rPr lang="en-CA" altLang="zh-CN" dirty="0"/>
              <a:t>, each with a positive integer age. </a:t>
            </a:r>
            <a:endParaRPr lang="en-CA" altLang="zh-CN" dirty="0"/>
          </a:p>
          <a:p>
            <a:pPr>
              <a:buNone/>
            </a:pPr>
            <a:r>
              <a:rPr lang="en-CA" altLang="zh-CN" dirty="0"/>
              <a:t>These foxes need to sit around one or more </a:t>
            </a:r>
            <a:r>
              <a:rPr lang="en-CA" altLang="zh-CN" b="1" dirty="0"/>
              <a:t>round tables</a:t>
            </a:r>
            <a:r>
              <a:rPr lang="en-CA" altLang="zh-CN" dirty="0"/>
              <a:t> for dinner. But there’s a catch — a few rules must be followed. </a:t>
            </a:r>
            <a:endParaRPr lang="en-CA" altLang="zh-CN" dirty="0"/>
          </a:p>
          <a:p>
            <a:pPr>
              <a:buNone/>
            </a:pPr>
            <a:endParaRPr kumimoji="1" lang="en-CA" altLang="zh-CN" dirty="0"/>
          </a:p>
          <a:p>
            <a:pPr>
              <a:buNone/>
            </a:pPr>
            <a:r>
              <a:rPr lang="en-CA" altLang="zh-CN" b="1" dirty="0"/>
              <a:t>First</a:t>
            </a:r>
            <a:r>
              <a:rPr lang="en-CA" altLang="zh-CN" dirty="0"/>
              <a:t>, every fox must sit at </a:t>
            </a:r>
            <a:r>
              <a:rPr lang="en-CA" altLang="zh-CN" b="1" dirty="0"/>
              <a:t>exactly one</a:t>
            </a:r>
            <a:r>
              <a:rPr lang="en-CA" altLang="zh-CN" dirty="0"/>
              <a:t> table. </a:t>
            </a:r>
            <a:endParaRPr lang="en-CA" altLang="zh-CN" dirty="0"/>
          </a:p>
          <a:p>
            <a:pPr>
              <a:buNone/>
            </a:pPr>
            <a:r>
              <a:rPr lang="en-CA" altLang="zh-CN" b="1" dirty="0"/>
              <a:t>Second</a:t>
            </a:r>
            <a:r>
              <a:rPr lang="en-CA" altLang="zh-CN" dirty="0"/>
              <a:t>, each table must have at least </a:t>
            </a:r>
            <a:r>
              <a:rPr lang="en-CA" altLang="zh-CN" b="1" dirty="0"/>
              <a:t>three foxes</a:t>
            </a:r>
            <a:r>
              <a:rPr lang="en-CA" altLang="zh-CN" dirty="0"/>
              <a:t> — no small, private dinner for two here. </a:t>
            </a:r>
            <a:endParaRPr lang="en-CA" altLang="zh-CN" dirty="0"/>
          </a:p>
          <a:p>
            <a:pPr>
              <a:buNone/>
            </a:pPr>
            <a:r>
              <a:rPr lang="en-CA" altLang="zh-CN" dirty="0"/>
              <a:t>And here’s the most interesting constraint: for </a:t>
            </a:r>
            <a:r>
              <a:rPr lang="en-CA" altLang="zh-CN" b="1" dirty="0"/>
              <a:t>any two adjacent foxes sitting at the same table</a:t>
            </a:r>
            <a:r>
              <a:rPr lang="en-CA" altLang="zh-CN" dirty="0"/>
              <a:t>, the </a:t>
            </a:r>
            <a:r>
              <a:rPr lang="en-CA" altLang="zh-CN" b="1" dirty="0"/>
              <a:t>sum of their ages must be a prime number</a:t>
            </a:r>
            <a:r>
              <a:rPr lang="en-CA" altLang="zh-CN" dirty="0"/>
              <a:t>. And remember — because the tables are circular, the </a:t>
            </a:r>
            <a:r>
              <a:rPr lang="en-CA" altLang="zh-CN" b="1" dirty="0"/>
              <a:t>first and last fox are also adjacent</a:t>
            </a:r>
            <a:r>
              <a:rPr lang="en-CA" altLang="zh-CN" dirty="0"/>
              <a:t>. </a:t>
            </a:r>
            <a:endParaRPr lang="en-CA" altLang="zh-CN" dirty="0"/>
          </a:p>
          <a:p>
            <a:pPr>
              <a:buNone/>
            </a:pPr>
            <a:endParaRPr kumimoji="1" lang="en-CA" altLang="zh-CN" dirty="0"/>
          </a:p>
          <a:p>
            <a:pPr>
              <a:buNone/>
            </a:pPr>
            <a:r>
              <a:rPr lang="en-CA" altLang="zh-CN" dirty="0"/>
              <a:t>So what’s our goal? </a:t>
            </a:r>
            <a:endParaRPr lang="en-CA" altLang="zh-CN" dirty="0"/>
          </a:p>
          <a:p>
            <a:pPr>
              <a:buNone/>
            </a:pPr>
            <a:r>
              <a:rPr lang="en-CA" altLang="zh-CN" dirty="0"/>
              <a:t>We need to </a:t>
            </a:r>
            <a:r>
              <a:rPr lang="en-CA" altLang="zh-CN" b="1" dirty="0"/>
              <a:t>assign all foxes to tables</a:t>
            </a:r>
            <a:r>
              <a:rPr lang="en-CA" altLang="zh-CN" dirty="0"/>
              <a:t>, following these rules. If it’s possible to do that, we’ll output the seating arrangement. If not, we just say "Impossible". </a:t>
            </a:r>
            <a:endParaRPr lang="en-CA" altLang="zh-CN" dirty="0"/>
          </a:p>
          <a:p>
            <a:pPr>
              <a:buNone/>
            </a:pPr>
            <a:endParaRPr kumimoji="1" lang="en-CA" altLang="zh-CN" dirty="0"/>
          </a:p>
          <a:p>
            <a:pPr>
              <a:buNone/>
            </a:pPr>
            <a:r>
              <a:rPr lang="en-CA" altLang="zh-CN" dirty="0"/>
              <a:t>So, that’s the scenario and the challenge — we need to place all the foxes around tables so that every adjacent pair adds up to a prime, and each table has at least 3 foxes. </a:t>
            </a:r>
            <a:endParaRPr lang="en-CA" altLang="zh-CN" dirty="0"/>
          </a:p>
          <a:p>
            <a:pPr>
              <a:buNone/>
            </a:pPr>
            <a:r>
              <a:rPr lang="en-CA" altLang="zh-CN" dirty="0"/>
              <a:t>Now that we understand the rules, let’s take a look at the </a:t>
            </a:r>
            <a:r>
              <a:rPr lang="en-CA" altLang="zh-CN" b="1" dirty="0"/>
              <a:t>formal definition</a:t>
            </a:r>
            <a:r>
              <a:rPr lang="en-CA" altLang="zh-CN" dirty="0"/>
              <a:t> of the problem — which brings us to </a:t>
            </a:r>
            <a:r>
              <a:rPr lang="en-CA" altLang="zh-CN" b="1" dirty="0"/>
              <a:t>Slide 3</a:t>
            </a:r>
            <a:r>
              <a:rPr lang="en-CA" altLang="zh-CN" dirty="0"/>
              <a:t>. 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90204" pitchFamily="34" charset="0"/>
              <a:buChar char="•"/>
            </a:pPr>
            <a:r>
              <a:rPr kumimoji="1" lang="en-CA" altLang="zh-CN" dirty="0"/>
              <a:t>Now that we’ve seen the problem setup, let’s define everything formally.</a:t>
            </a:r>
            <a:endParaRPr kumimoji="1" lang="en-CA" altLang="zh-CN" dirty="0"/>
          </a:p>
          <a:p>
            <a:pPr>
              <a:buFont typeface="Arial" panose="020B0604020202090204" pitchFamily="34" charset="0"/>
              <a:buChar char="•"/>
            </a:pPr>
            <a:endParaRPr kumimoji="1" lang="en-CA" altLang="zh-CN" dirty="0"/>
          </a:p>
          <a:p>
            <a:pPr>
              <a:buNone/>
            </a:pPr>
            <a:r>
              <a:rPr lang="en-CA" altLang="zh-CN" dirty="0"/>
              <a:t>We’re given an integer n, which represents the number of foxes. Each fox has an age </a:t>
            </a:r>
            <a:r>
              <a:rPr lang="en-CA" altLang="zh-CN" dirty="0" err="1"/>
              <a:t>a_i</a:t>
            </a:r>
            <a:r>
              <a:rPr lang="en-CA" altLang="zh-CN" dirty="0"/>
              <a:t>, so we’re given an array A = [a_1, a_2, \dots, </a:t>
            </a:r>
            <a:r>
              <a:rPr lang="en-CA" altLang="zh-CN" dirty="0" err="1"/>
              <a:t>a_n</a:t>
            </a:r>
            <a:r>
              <a:rPr lang="en-CA" altLang="zh-CN" dirty="0"/>
              <a:t>]. Each age is a positive integer between 2 and 10,000. </a:t>
            </a:r>
            <a:br>
              <a:rPr lang="en-CA" altLang="zh-CN" dirty="0"/>
            </a:br>
            <a:endParaRPr lang="en-CA" altLang="zh-CN" dirty="0"/>
          </a:p>
          <a:p>
            <a:pPr>
              <a:buNone/>
            </a:pPr>
            <a:r>
              <a:rPr lang="en-CA" altLang="zh-CN" dirty="0"/>
              <a:t>So far, very simple. </a:t>
            </a:r>
            <a:endParaRPr kumimoji="1" lang="en-CA" altLang="zh-CN" dirty="0"/>
          </a:p>
          <a:p>
            <a:pPr>
              <a:buNone/>
            </a:pPr>
            <a:endParaRPr kumimoji="1" lang="en-CA" altLang="zh-CN" dirty="0"/>
          </a:p>
          <a:p>
            <a:pPr>
              <a:buNone/>
            </a:pPr>
            <a:endParaRPr kumimoji="1" lang="en-CA" altLang="zh-CN" dirty="0"/>
          </a:p>
          <a:p>
            <a:pPr>
              <a:buNone/>
            </a:pPr>
            <a:r>
              <a:rPr lang="en-CA" altLang="zh-CN" dirty="0"/>
              <a:t>Now, we need to form </a:t>
            </a:r>
            <a:r>
              <a:rPr lang="en-CA" altLang="zh-CN" b="1" dirty="0"/>
              <a:t>one or more tables</a:t>
            </a:r>
            <a:r>
              <a:rPr lang="en-CA" altLang="zh-CN" dirty="0"/>
              <a:t>, where each table is a </a:t>
            </a:r>
            <a:r>
              <a:rPr lang="en-CA" altLang="zh-CN" b="1" dirty="0"/>
              <a:t>cycle</a:t>
            </a:r>
            <a:r>
              <a:rPr lang="en-CA" altLang="zh-CN" dirty="0"/>
              <a:t> of fox indices. But not just any cycle — each table must meet the following conditions: </a:t>
            </a:r>
            <a:endParaRPr lang="en-CA" altLang="zh-CN" dirty="0"/>
          </a:p>
          <a:p>
            <a:pPr>
              <a:buNone/>
            </a:pPr>
            <a:endParaRPr kumimoji="1" lang="en-CA" altLang="zh-CN" dirty="0"/>
          </a:p>
          <a:p>
            <a:pPr>
              <a:buFont typeface="Arial" panose="020B0604020202090204" pitchFamily="34" charset="0"/>
              <a:buChar char="•"/>
            </a:pPr>
            <a:r>
              <a:rPr lang="en-CA" altLang="zh-CN" dirty="0"/>
              <a:t>It must contain </a:t>
            </a:r>
            <a:r>
              <a:rPr lang="en-CA" altLang="zh-CN" b="1" dirty="0"/>
              <a:t>at least 3 foxes</a:t>
            </a:r>
            <a:r>
              <a:rPr lang="en-CA" altLang="zh-CN" dirty="0"/>
              <a:t>. </a:t>
            </a:r>
            <a:endParaRPr lang="en-CA" altLang="zh-CN" dirty="0"/>
          </a:p>
          <a:p>
            <a:pPr>
              <a:buFont typeface="Arial" panose="020B0604020202090204" pitchFamily="34" charset="0"/>
              <a:buChar char="•"/>
            </a:pPr>
            <a:r>
              <a:rPr lang="en-CA" altLang="zh-CN" dirty="0"/>
              <a:t>All foxes at the table are distinct and arranged in a </a:t>
            </a:r>
            <a:r>
              <a:rPr lang="en-CA" altLang="zh-CN" b="1" dirty="0"/>
              <a:t>circle</a:t>
            </a:r>
            <a:r>
              <a:rPr lang="en-CA" altLang="zh-CN" dirty="0"/>
              <a:t>. </a:t>
            </a:r>
            <a:endParaRPr lang="en-CA" altLang="zh-CN" dirty="0"/>
          </a:p>
          <a:p>
            <a:pPr>
              <a:buFont typeface="Arial" panose="020B0604020202090204" pitchFamily="34" charset="0"/>
              <a:buChar char="•"/>
            </a:pPr>
            <a:r>
              <a:rPr lang="en-CA" altLang="zh-CN" dirty="0"/>
              <a:t>And for </a:t>
            </a:r>
            <a:r>
              <a:rPr lang="en-CA" altLang="zh-CN" b="1" dirty="0"/>
              <a:t>every pair of adjacent foxes</a:t>
            </a:r>
            <a:r>
              <a:rPr lang="en-CA" altLang="zh-CN" dirty="0"/>
              <a:t> around that table — including the last and the first — their </a:t>
            </a:r>
            <a:r>
              <a:rPr lang="en-CA" altLang="zh-CN" b="1" dirty="0"/>
              <a:t>ages must add up to a prime number</a:t>
            </a:r>
            <a:r>
              <a:rPr lang="en-CA" altLang="zh-CN" dirty="0"/>
              <a:t>. </a:t>
            </a:r>
            <a:endParaRPr lang="en-CA" altLang="zh-CN" dirty="0"/>
          </a:p>
          <a:p>
            <a:pPr>
              <a:buNone/>
            </a:pPr>
            <a:endParaRPr kumimoji="1" lang="en-US" altLang="zh-CN" dirty="0"/>
          </a:p>
          <a:p>
            <a:pPr>
              <a:buNone/>
            </a:pPr>
            <a:endParaRPr kumimoji="1" lang="en-US" altLang="zh-CN" dirty="0"/>
          </a:p>
          <a:p>
            <a:pPr>
              <a:buNone/>
            </a:pPr>
            <a:r>
              <a:rPr lang="en-CA" altLang="zh-CN" dirty="0"/>
              <a:t>So for example, if a table has foxes with indices f_1, f_2, \dots, </a:t>
            </a:r>
            <a:r>
              <a:rPr lang="en-CA" altLang="zh-CN" dirty="0" err="1"/>
              <a:t>f_k</a:t>
            </a:r>
            <a:r>
              <a:rPr lang="en-CA" altLang="zh-CN" dirty="0"/>
              <a:t>, we check that a_{f_1} + a_{f_2}, a_{f_2} + a_{f_3}, … and also a_{</a:t>
            </a:r>
            <a:r>
              <a:rPr lang="en-CA" altLang="zh-CN" dirty="0" err="1"/>
              <a:t>f_k</a:t>
            </a:r>
            <a:r>
              <a:rPr lang="en-CA" altLang="zh-CN" dirty="0"/>
              <a:t>} + a_{f_1} are all primes. </a:t>
            </a:r>
            <a:endParaRPr lang="en-CA" altLang="zh-CN" dirty="0"/>
          </a:p>
          <a:p>
            <a:pPr>
              <a:buNone/>
            </a:pPr>
            <a:endParaRPr kumimoji="1" lang="en-CA" altLang="zh-CN" dirty="0"/>
          </a:p>
          <a:p>
            <a:pPr>
              <a:buNone/>
            </a:pPr>
            <a:endParaRPr kumimoji="1" lang="en-CA" altLang="zh-CN" dirty="0"/>
          </a:p>
          <a:p>
            <a:pPr>
              <a:buNone/>
            </a:pPr>
            <a:r>
              <a:rPr lang="en-CA" altLang="zh-CN" dirty="0"/>
              <a:t>Our </a:t>
            </a:r>
            <a:r>
              <a:rPr lang="en-CA" altLang="zh-CN" b="1" dirty="0"/>
              <a:t>goal</a:t>
            </a:r>
            <a:r>
              <a:rPr lang="en-CA" altLang="zh-CN" dirty="0"/>
              <a:t> is to assign all foxes into such tables — meaning, we find a </a:t>
            </a:r>
            <a:r>
              <a:rPr lang="en-CA" altLang="zh-CN" b="1" dirty="0"/>
              <a:t>partition</a:t>
            </a:r>
            <a:r>
              <a:rPr lang="en-CA" altLang="zh-CN" dirty="0"/>
              <a:t> of the foxes into valid cycles of size 3 or more, where all adjacent pairs satisfy the prime condition. </a:t>
            </a:r>
            <a:br>
              <a:rPr lang="en-CA" altLang="zh-CN" dirty="0"/>
            </a:br>
            <a:endParaRPr lang="en-CA" altLang="zh-CN" dirty="0"/>
          </a:p>
          <a:p>
            <a:pPr>
              <a:buNone/>
            </a:pPr>
            <a:r>
              <a:rPr lang="en-CA" altLang="zh-CN" dirty="0"/>
              <a:t>If it’s possible, we print the table arrangements. If it’s not, we simply print "Impossible". </a:t>
            </a:r>
            <a:endParaRPr kumimoji="1" lang="en-CA" altLang="zh-CN" dirty="0"/>
          </a:p>
          <a:p>
            <a:pPr>
              <a:buNone/>
            </a:pPr>
            <a:endParaRPr kumimoji="1" lang="en-CA" altLang="zh-CN" dirty="0"/>
          </a:p>
          <a:p>
            <a:pPr>
              <a:buNone/>
            </a:pPr>
            <a:r>
              <a:rPr lang="en-CA" altLang="zh-CN" dirty="0"/>
              <a:t>So that’s our formal problem — and next we’ll move on to how we can approach solving it. 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CA" altLang="zh-CN" dirty="0"/>
              <a:t>Alright, so here’s where we get into the core of our algorithm — the main idea is to reduce this problem into something we know how to solve: a </a:t>
            </a:r>
            <a:r>
              <a:rPr lang="en-CA" altLang="zh-CN" b="1" dirty="0"/>
              <a:t>graph problem</a:t>
            </a:r>
            <a:r>
              <a:rPr lang="en-CA" altLang="zh-CN" dirty="0"/>
              <a:t>, more specifically, </a:t>
            </a:r>
            <a:r>
              <a:rPr lang="en-CA" altLang="zh-CN" b="1" dirty="0"/>
              <a:t>a cycle covering problem under prime adjacency constraints</a:t>
            </a:r>
            <a:r>
              <a:rPr lang="en-CA" altLang="zh-CN" dirty="0"/>
              <a:t>.</a:t>
            </a:r>
            <a:endParaRPr lang="en-CA" altLang="zh-CN" dirty="0"/>
          </a:p>
          <a:p>
            <a:pPr>
              <a:buNone/>
            </a:pPr>
            <a:br>
              <a:rPr lang="en-CA" altLang="zh-CN" dirty="0"/>
            </a:br>
            <a:endParaRPr lang="en-CA" altLang="zh-CN" dirty="0"/>
          </a:p>
          <a:p>
            <a:pPr>
              <a:buNone/>
            </a:pPr>
            <a:r>
              <a:rPr lang="en-CA" altLang="zh-CN" dirty="0"/>
              <a:t>We start by turning each fox into a </a:t>
            </a:r>
            <a:r>
              <a:rPr lang="en-CA" altLang="zh-CN" b="1" dirty="0"/>
              <a:t>node</a:t>
            </a:r>
            <a:r>
              <a:rPr lang="en-CA" altLang="zh-CN" dirty="0"/>
              <a:t>. Then, we draw an </a:t>
            </a:r>
            <a:r>
              <a:rPr lang="en-CA" altLang="zh-CN" b="1" dirty="0"/>
              <a:t>edge</a:t>
            </a:r>
            <a:r>
              <a:rPr lang="en-CA" altLang="zh-CN" dirty="0"/>
              <a:t> between any two foxes if the sum of their ages is a </a:t>
            </a:r>
            <a:r>
              <a:rPr lang="en-CA" altLang="zh-CN" b="1" dirty="0"/>
              <a:t>prime number</a:t>
            </a:r>
            <a:r>
              <a:rPr lang="en-CA" altLang="zh-CN" dirty="0"/>
              <a:t> — that’s our main condition. This gives us an undirected graph.</a:t>
            </a:r>
            <a:endParaRPr lang="en-CA" altLang="zh-CN" dirty="0"/>
          </a:p>
          <a:p>
            <a:pPr>
              <a:buNone/>
            </a:pPr>
            <a:br>
              <a:rPr lang="en-CA" altLang="zh-CN" dirty="0"/>
            </a:br>
            <a:endParaRPr lang="en-CA" altLang="zh-CN" dirty="0"/>
          </a:p>
          <a:p>
            <a:pPr>
              <a:buNone/>
            </a:pPr>
            <a:r>
              <a:rPr lang="en-CA" altLang="zh-CN" dirty="0"/>
              <a:t>But we’re not just matching foxes into pairs. The problem asks us to </a:t>
            </a:r>
            <a:r>
              <a:rPr lang="en-CA" altLang="zh-CN" b="1" dirty="0"/>
              <a:t>seat all foxes in cycles</a:t>
            </a:r>
            <a:r>
              <a:rPr lang="en-CA" altLang="zh-CN" dirty="0"/>
              <a:t>, each cycle having </a:t>
            </a:r>
            <a:r>
              <a:rPr lang="en-CA" altLang="zh-CN" b="1" dirty="0"/>
              <a:t>at least 3</a:t>
            </a:r>
            <a:r>
              <a:rPr lang="en-CA" altLang="zh-CN" dirty="0"/>
              <a:t> foxes, where every adjacent pair has a prime-sum edge. So instead of pair matching, we want to </a:t>
            </a:r>
            <a:r>
              <a:rPr lang="en-CA" altLang="zh-CN" b="1" dirty="0"/>
              <a:t>cover the entire graph using disjoint cycles of size at least 3</a:t>
            </a:r>
            <a:r>
              <a:rPr lang="en-CA" altLang="zh-CN" dirty="0"/>
              <a:t>.</a:t>
            </a:r>
            <a:endParaRPr lang="en-CA" altLang="zh-CN" dirty="0"/>
          </a:p>
          <a:p>
            <a:pPr>
              <a:buNone/>
            </a:pPr>
            <a:br>
              <a:rPr lang="en-CA" altLang="zh-CN" dirty="0"/>
            </a:br>
            <a:endParaRPr lang="en-CA" altLang="zh-CN" dirty="0"/>
          </a:p>
          <a:p>
            <a:pPr>
              <a:buNone/>
            </a:pPr>
            <a:r>
              <a:rPr lang="en-CA" altLang="zh-CN" dirty="0"/>
              <a:t>To make this tractable, we model it as a </a:t>
            </a:r>
            <a:r>
              <a:rPr lang="en-CA" altLang="zh-CN" b="1" dirty="0"/>
              <a:t>network flow problem</a:t>
            </a:r>
            <a:r>
              <a:rPr lang="en-CA" altLang="zh-CN" dirty="0"/>
              <a:t>.</a:t>
            </a:r>
            <a:endParaRPr lang="en-CA" altLang="zh-CN" dirty="0"/>
          </a:p>
          <a:p>
            <a:pPr>
              <a:buNone/>
            </a:pPr>
            <a:br>
              <a:rPr lang="en-CA" altLang="zh-CN" dirty="0"/>
            </a:br>
            <a:endParaRPr lang="en-CA" altLang="zh-CN" dirty="0"/>
          </a:p>
          <a:p>
            <a:pPr>
              <a:buNone/>
            </a:pPr>
            <a:r>
              <a:rPr lang="en-CA" altLang="zh-CN" dirty="0"/>
              <a:t>We first split the nodes into </a:t>
            </a:r>
            <a:r>
              <a:rPr lang="en-CA" altLang="zh-CN" b="1" dirty="0"/>
              <a:t>odd-aged foxes</a:t>
            </a:r>
            <a:r>
              <a:rPr lang="en-CA" altLang="zh-CN" dirty="0"/>
              <a:t> and </a:t>
            </a:r>
            <a:r>
              <a:rPr lang="en-CA" altLang="zh-CN" b="1" dirty="0"/>
              <a:t>even-aged foxes</a:t>
            </a:r>
            <a:r>
              <a:rPr lang="en-CA" altLang="zh-CN" dirty="0"/>
              <a:t>. Why? Because the sum of two odd or two even numbers is always even — and even + even is rarely prime. So a prime sum typically happens between an odd and an even number.</a:t>
            </a:r>
            <a:endParaRPr lang="en-CA" altLang="zh-CN" dirty="0"/>
          </a:p>
          <a:p>
            <a:pPr>
              <a:buNone/>
            </a:pPr>
            <a:br>
              <a:rPr lang="en-CA" altLang="zh-CN" dirty="0"/>
            </a:br>
            <a:endParaRPr lang="en-CA" altLang="zh-CN" dirty="0"/>
          </a:p>
          <a:p>
            <a:pPr>
              <a:buNone/>
            </a:pPr>
            <a:r>
              <a:rPr lang="en-CA" altLang="zh-CN" dirty="0"/>
              <a:t>This naturally leads to a </a:t>
            </a:r>
            <a:r>
              <a:rPr lang="en-CA" altLang="zh-CN" b="1" dirty="0"/>
              <a:t>bipartite graph</a:t>
            </a:r>
            <a:r>
              <a:rPr lang="en-CA" altLang="zh-CN" dirty="0"/>
              <a:t> between odd and even foxes. Then we:</a:t>
            </a:r>
            <a:endParaRPr lang="en-CA" altLang="zh-CN" dirty="0"/>
          </a:p>
          <a:p>
            <a:pPr>
              <a:buFont typeface="+mj-lt"/>
              <a:buAutoNum type="arabicPeriod"/>
            </a:pPr>
            <a:r>
              <a:rPr lang="en-CA" altLang="zh-CN" dirty="0"/>
              <a:t>Add a </a:t>
            </a:r>
            <a:r>
              <a:rPr lang="en-CA" altLang="zh-CN" b="1" dirty="0"/>
              <a:t>source node</a:t>
            </a:r>
            <a:r>
              <a:rPr lang="en-CA" altLang="zh-CN" dirty="0"/>
              <a:t> connected to all odd foxes, and a </a:t>
            </a:r>
            <a:r>
              <a:rPr lang="en-CA" altLang="zh-CN" b="1" dirty="0"/>
              <a:t>sink node</a:t>
            </a:r>
            <a:r>
              <a:rPr lang="en-CA" altLang="zh-CN" dirty="0"/>
              <a:t> connected to all even foxes.</a:t>
            </a:r>
            <a:endParaRPr lang="en-CA" altLang="zh-CN" dirty="0"/>
          </a:p>
          <a:p>
            <a:pPr>
              <a:buFont typeface="+mj-lt"/>
              <a:buAutoNum type="arabicPeriod"/>
            </a:pPr>
            <a:r>
              <a:rPr lang="en-CA" altLang="zh-CN" dirty="0"/>
              <a:t>The edges between odd and even foxes exist if their age sum is prime — and we set all these edge capacities to 1.</a:t>
            </a:r>
            <a:endParaRPr lang="en-CA" altLang="zh-CN" dirty="0"/>
          </a:p>
          <a:p>
            <a:pPr>
              <a:buFont typeface="+mj-lt"/>
              <a:buAutoNum type="arabicPeriod"/>
            </a:pPr>
            <a:r>
              <a:rPr lang="en-CA" altLang="zh-CN" dirty="0"/>
              <a:t>The source-to-odd and even-to-sink edge capacities are set to 2. This enforces that every fox participates in exactly two edges, which is perfect because we want each fox to be part of a cycle.</a:t>
            </a:r>
            <a:endParaRPr lang="en-CA" altLang="zh-CN" dirty="0"/>
          </a:p>
          <a:p>
            <a:pPr>
              <a:buNone/>
            </a:pPr>
            <a:br>
              <a:rPr lang="en-CA" altLang="zh-CN" dirty="0"/>
            </a:br>
            <a:endParaRPr lang="en-CA" altLang="zh-CN" dirty="0"/>
          </a:p>
          <a:p>
            <a:pPr>
              <a:buNone/>
            </a:pPr>
            <a:r>
              <a:rPr lang="en-CA" altLang="zh-CN" dirty="0"/>
              <a:t>Finally, we run a max flow algorithm, like </a:t>
            </a:r>
            <a:r>
              <a:rPr lang="en-CA" altLang="zh-CN" b="1" dirty="0"/>
              <a:t>Ford-Fulkerson</a:t>
            </a:r>
            <a:r>
              <a:rPr lang="en-CA" altLang="zh-CN" dirty="0"/>
              <a:t> or </a:t>
            </a:r>
            <a:r>
              <a:rPr lang="en-CA" altLang="zh-CN" b="1" dirty="0" err="1"/>
              <a:t>Dinic’s</a:t>
            </a:r>
            <a:r>
              <a:rPr lang="en-CA" altLang="zh-CN" dirty="0"/>
              <a:t>. If the flow we get is less than n, it means there’s no way to seat all foxes validly, so we return </a:t>
            </a:r>
            <a:r>
              <a:rPr lang="en-CA" altLang="zh-CN" b="1" dirty="0"/>
              <a:t>Impossible</a:t>
            </a:r>
            <a:r>
              <a:rPr lang="en-CA" altLang="zh-CN" dirty="0"/>
              <a:t>.</a:t>
            </a:r>
            <a:endParaRPr lang="en-CA" altLang="zh-CN" dirty="0"/>
          </a:p>
          <a:p>
            <a:pPr>
              <a:buNone/>
            </a:pPr>
            <a:br>
              <a:rPr lang="en-CA" altLang="zh-CN" dirty="0"/>
            </a:br>
            <a:endParaRPr lang="en-CA" altLang="zh-CN" dirty="0"/>
          </a:p>
          <a:p>
            <a:pPr>
              <a:buNone/>
            </a:pPr>
            <a:r>
              <a:rPr lang="en-CA" altLang="zh-CN" dirty="0"/>
              <a:t>Otherwise, we can extract the matching from the residual graph and reconstruct all the valid cycles.</a:t>
            </a:r>
            <a:endParaRPr lang="en-CA" altLang="zh-CN" dirty="0"/>
          </a:p>
          <a:p>
            <a:pPr>
              <a:buNone/>
            </a:pPr>
            <a:br>
              <a:rPr lang="en-CA" altLang="zh-CN" dirty="0"/>
            </a:br>
            <a:endParaRPr lang="en-CA" altLang="zh-CN" dirty="0"/>
          </a:p>
          <a:p>
            <a:r>
              <a:rPr lang="en-CA" altLang="zh-CN" dirty="0"/>
              <a:t>That’s the whole plan: convert the problem to a graph, encode the constraints as edges and capacities, then let max flow handle the hard work.</a:t>
            </a:r>
            <a:endParaRPr lang="en-CA" altLang="zh-CN" dirty="0"/>
          </a:p>
          <a:p>
            <a:pPr>
              <a:buNone/>
            </a:pPr>
            <a:endParaRPr kumimoji="1"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CA" altLang="zh-CN" dirty="0"/>
              <a:t>Alright, so here’s where we get into the core of our algorithm — the main idea is to reduce this problem into something we know how to solve: a </a:t>
            </a:r>
            <a:r>
              <a:rPr lang="en-CA" altLang="zh-CN" b="1" dirty="0"/>
              <a:t>graph problem</a:t>
            </a:r>
            <a:r>
              <a:rPr lang="en-CA" altLang="zh-CN" dirty="0"/>
              <a:t>, more specifically, </a:t>
            </a:r>
            <a:r>
              <a:rPr lang="en-CA" altLang="zh-CN" b="1" dirty="0"/>
              <a:t>a cycle covering problem under prime adjacency constraints</a:t>
            </a:r>
            <a:r>
              <a:rPr lang="en-CA" altLang="zh-CN" dirty="0"/>
              <a:t>.</a:t>
            </a:r>
            <a:endParaRPr lang="en-CA" altLang="zh-CN" dirty="0"/>
          </a:p>
          <a:p>
            <a:pPr>
              <a:buNone/>
            </a:pPr>
            <a:br>
              <a:rPr lang="en-CA" altLang="zh-CN" dirty="0"/>
            </a:br>
            <a:endParaRPr lang="en-CA" altLang="zh-CN" dirty="0"/>
          </a:p>
          <a:p>
            <a:pPr>
              <a:buNone/>
            </a:pPr>
            <a:r>
              <a:rPr lang="en-CA" altLang="zh-CN" dirty="0"/>
              <a:t>We start by turning each fox into a </a:t>
            </a:r>
            <a:r>
              <a:rPr lang="en-CA" altLang="zh-CN" b="1" dirty="0"/>
              <a:t>node</a:t>
            </a:r>
            <a:r>
              <a:rPr lang="en-CA" altLang="zh-CN" dirty="0"/>
              <a:t>. Then, we draw an </a:t>
            </a:r>
            <a:r>
              <a:rPr lang="en-CA" altLang="zh-CN" b="1" dirty="0"/>
              <a:t>edge</a:t>
            </a:r>
            <a:r>
              <a:rPr lang="en-CA" altLang="zh-CN" dirty="0"/>
              <a:t> between any two foxes if the sum of their ages is a </a:t>
            </a:r>
            <a:r>
              <a:rPr lang="en-CA" altLang="zh-CN" b="1" dirty="0"/>
              <a:t>prime number</a:t>
            </a:r>
            <a:r>
              <a:rPr lang="en-CA" altLang="zh-CN" dirty="0"/>
              <a:t> — that’s our main condition. This gives us an undirected graph.</a:t>
            </a:r>
            <a:endParaRPr lang="en-CA" altLang="zh-CN" dirty="0"/>
          </a:p>
          <a:p>
            <a:pPr>
              <a:buNone/>
            </a:pPr>
            <a:br>
              <a:rPr lang="en-CA" altLang="zh-CN" dirty="0"/>
            </a:br>
            <a:endParaRPr lang="en-CA" altLang="zh-CN" dirty="0"/>
          </a:p>
          <a:p>
            <a:pPr>
              <a:buNone/>
            </a:pPr>
            <a:r>
              <a:rPr lang="en-CA" altLang="zh-CN" dirty="0"/>
              <a:t>But we’re not just matching foxes into pairs. The problem asks us to </a:t>
            </a:r>
            <a:r>
              <a:rPr lang="en-CA" altLang="zh-CN" b="1" dirty="0"/>
              <a:t>seat all foxes in cycles</a:t>
            </a:r>
            <a:r>
              <a:rPr lang="en-CA" altLang="zh-CN" dirty="0"/>
              <a:t>, each cycle having </a:t>
            </a:r>
            <a:r>
              <a:rPr lang="en-CA" altLang="zh-CN" b="1" dirty="0"/>
              <a:t>at least 3</a:t>
            </a:r>
            <a:r>
              <a:rPr lang="en-CA" altLang="zh-CN" dirty="0"/>
              <a:t> foxes, where every adjacent pair has a prime-sum edge. So instead of pair matching, we want to </a:t>
            </a:r>
            <a:r>
              <a:rPr lang="en-CA" altLang="zh-CN" b="1" dirty="0"/>
              <a:t>cover the entire graph using disjoint cycles of size at least 3</a:t>
            </a:r>
            <a:r>
              <a:rPr lang="en-CA" altLang="zh-CN" dirty="0"/>
              <a:t>.</a:t>
            </a:r>
            <a:endParaRPr lang="en-CA" altLang="zh-CN" dirty="0"/>
          </a:p>
          <a:p>
            <a:pPr>
              <a:buNone/>
            </a:pPr>
            <a:br>
              <a:rPr lang="en-CA" altLang="zh-CN" dirty="0"/>
            </a:br>
            <a:endParaRPr lang="en-CA" altLang="zh-CN" dirty="0"/>
          </a:p>
          <a:p>
            <a:pPr>
              <a:buNone/>
            </a:pPr>
            <a:r>
              <a:rPr lang="en-CA" altLang="zh-CN" dirty="0"/>
              <a:t>To make this tractable, we model it as a </a:t>
            </a:r>
            <a:r>
              <a:rPr lang="en-CA" altLang="zh-CN" b="1" dirty="0"/>
              <a:t>network flow problem</a:t>
            </a:r>
            <a:r>
              <a:rPr lang="en-CA" altLang="zh-CN" dirty="0"/>
              <a:t>.</a:t>
            </a:r>
            <a:endParaRPr lang="en-CA" altLang="zh-CN" dirty="0"/>
          </a:p>
          <a:p>
            <a:pPr>
              <a:buNone/>
            </a:pPr>
            <a:br>
              <a:rPr lang="en-CA" altLang="zh-CN" dirty="0"/>
            </a:br>
            <a:endParaRPr lang="en-CA" altLang="zh-CN" dirty="0"/>
          </a:p>
          <a:p>
            <a:pPr>
              <a:buNone/>
            </a:pPr>
            <a:r>
              <a:rPr lang="en-CA" altLang="zh-CN" dirty="0"/>
              <a:t>We first split the nodes into </a:t>
            </a:r>
            <a:r>
              <a:rPr lang="en-CA" altLang="zh-CN" b="1" dirty="0"/>
              <a:t>odd-aged foxes</a:t>
            </a:r>
            <a:r>
              <a:rPr lang="en-CA" altLang="zh-CN" dirty="0"/>
              <a:t> and </a:t>
            </a:r>
            <a:r>
              <a:rPr lang="en-CA" altLang="zh-CN" b="1" dirty="0"/>
              <a:t>even-aged foxes</a:t>
            </a:r>
            <a:r>
              <a:rPr lang="en-CA" altLang="zh-CN" dirty="0"/>
              <a:t>. Why? Because the sum of two odd or two even numbers is always even — and even + even is rarely prime. So a prime sum typically happens between an odd and an even number.</a:t>
            </a:r>
            <a:endParaRPr lang="en-CA" altLang="zh-CN" dirty="0"/>
          </a:p>
          <a:p>
            <a:pPr>
              <a:buNone/>
            </a:pPr>
            <a:br>
              <a:rPr lang="en-CA" altLang="zh-CN" dirty="0"/>
            </a:br>
            <a:endParaRPr lang="en-CA" altLang="zh-CN" dirty="0"/>
          </a:p>
          <a:p>
            <a:pPr>
              <a:buNone/>
            </a:pPr>
            <a:r>
              <a:rPr lang="en-CA" altLang="zh-CN" dirty="0"/>
              <a:t>This naturally leads to a </a:t>
            </a:r>
            <a:r>
              <a:rPr lang="en-CA" altLang="zh-CN" b="1" dirty="0"/>
              <a:t>bipartite graph</a:t>
            </a:r>
            <a:r>
              <a:rPr lang="en-CA" altLang="zh-CN" dirty="0"/>
              <a:t> between odd and even foxes. Then we:</a:t>
            </a:r>
            <a:endParaRPr lang="en-CA" altLang="zh-CN" dirty="0"/>
          </a:p>
          <a:p>
            <a:pPr>
              <a:buFont typeface="+mj-lt"/>
              <a:buAutoNum type="arabicPeriod"/>
            </a:pPr>
            <a:r>
              <a:rPr lang="en-CA" altLang="zh-CN" dirty="0"/>
              <a:t>Add a </a:t>
            </a:r>
            <a:r>
              <a:rPr lang="en-CA" altLang="zh-CN" b="1" dirty="0"/>
              <a:t>source node</a:t>
            </a:r>
            <a:r>
              <a:rPr lang="en-CA" altLang="zh-CN" dirty="0"/>
              <a:t> connected to all odd foxes, and a </a:t>
            </a:r>
            <a:r>
              <a:rPr lang="en-CA" altLang="zh-CN" b="1" dirty="0"/>
              <a:t>sink node</a:t>
            </a:r>
            <a:r>
              <a:rPr lang="en-CA" altLang="zh-CN" dirty="0"/>
              <a:t> connected to all even foxes.</a:t>
            </a:r>
            <a:endParaRPr lang="en-CA" altLang="zh-CN" dirty="0"/>
          </a:p>
          <a:p>
            <a:pPr>
              <a:buFont typeface="+mj-lt"/>
              <a:buAutoNum type="arabicPeriod"/>
            </a:pPr>
            <a:r>
              <a:rPr lang="en-CA" altLang="zh-CN" dirty="0"/>
              <a:t>The edges between odd and even foxes exist if their age sum is prime — and we set all these edge capacities to 1.</a:t>
            </a:r>
            <a:endParaRPr lang="en-CA" altLang="zh-CN" dirty="0"/>
          </a:p>
          <a:p>
            <a:pPr>
              <a:buFont typeface="+mj-lt"/>
              <a:buAutoNum type="arabicPeriod"/>
            </a:pPr>
            <a:r>
              <a:rPr lang="en-CA" altLang="zh-CN" dirty="0"/>
              <a:t>The source-to-odd and even-to-sink edge capacities are set to 2. This enforces that every fox participates in exactly two edges, which is perfect because we want each fox to be part of a cycle.</a:t>
            </a:r>
            <a:endParaRPr lang="en-CA" altLang="zh-CN" dirty="0"/>
          </a:p>
          <a:p>
            <a:pPr>
              <a:buNone/>
            </a:pPr>
            <a:br>
              <a:rPr lang="en-CA" altLang="zh-CN" dirty="0"/>
            </a:br>
            <a:endParaRPr lang="en-CA" altLang="zh-CN" dirty="0"/>
          </a:p>
          <a:p>
            <a:pPr>
              <a:buNone/>
            </a:pPr>
            <a:r>
              <a:rPr lang="en-CA" altLang="zh-CN" dirty="0"/>
              <a:t>Finally, we run a max flow algorithm, like </a:t>
            </a:r>
            <a:r>
              <a:rPr lang="en-CA" altLang="zh-CN" b="1" dirty="0"/>
              <a:t>Ford-Fulkerson</a:t>
            </a:r>
            <a:r>
              <a:rPr lang="en-CA" altLang="zh-CN" dirty="0"/>
              <a:t> or </a:t>
            </a:r>
            <a:r>
              <a:rPr lang="en-CA" altLang="zh-CN" b="1" dirty="0" err="1"/>
              <a:t>Dinic’s</a:t>
            </a:r>
            <a:r>
              <a:rPr lang="en-CA" altLang="zh-CN" dirty="0"/>
              <a:t>. If the flow we get is less than n, it means there’s no way to seat all foxes validly, so we return </a:t>
            </a:r>
            <a:r>
              <a:rPr lang="en-CA" altLang="zh-CN" b="1" dirty="0"/>
              <a:t>Impossible</a:t>
            </a:r>
            <a:r>
              <a:rPr lang="en-CA" altLang="zh-CN" dirty="0"/>
              <a:t>.</a:t>
            </a:r>
            <a:endParaRPr lang="en-CA" altLang="zh-CN" dirty="0"/>
          </a:p>
          <a:p>
            <a:pPr>
              <a:buNone/>
            </a:pPr>
            <a:br>
              <a:rPr lang="en-CA" altLang="zh-CN" dirty="0"/>
            </a:br>
            <a:endParaRPr lang="en-CA" altLang="zh-CN" dirty="0"/>
          </a:p>
          <a:p>
            <a:pPr>
              <a:buNone/>
            </a:pPr>
            <a:r>
              <a:rPr lang="en-CA" altLang="zh-CN" dirty="0"/>
              <a:t>Otherwise, we can extract the matching from the residual graph and reconstruct all the valid cycles.</a:t>
            </a:r>
            <a:endParaRPr lang="en-CA" altLang="zh-CN" dirty="0"/>
          </a:p>
          <a:p>
            <a:pPr>
              <a:buNone/>
            </a:pPr>
            <a:br>
              <a:rPr lang="en-CA" altLang="zh-CN" dirty="0"/>
            </a:br>
            <a:endParaRPr lang="en-CA" altLang="zh-CN" dirty="0"/>
          </a:p>
          <a:p>
            <a:r>
              <a:rPr lang="en-CA" altLang="zh-CN" dirty="0"/>
              <a:t>That’s the whole plan: convert the problem to a graph, encode the constraints as edges and capacities, then let max flow handle the hard work.</a:t>
            </a:r>
            <a:endParaRPr lang="en-CA" altLang="zh-CN" dirty="0"/>
          </a:p>
          <a:p>
            <a:pPr>
              <a:buNone/>
            </a:pPr>
            <a:endParaRPr kumimoji="1"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CA" altLang="zh-CN" dirty="0"/>
              <a:t>Alright, so here’s where we get into the core of our algorithm — the main idea is to reduce this problem into something we know how to solve: a </a:t>
            </a:r>
            <a:r>
              <a:rPr lang="en-CA" altLang="zh-CN" b="1" dirty="0"/>
              <a:t>graph problem</a:t>
            </a:r>
            <a:r>
              <a:rPr lang="en-CA" altLang="zh-CN" dirty="0"/>
              <a:t>, more specifically, </a:t>
            </a:r>
            <a:r>
              <a:rPr lang="en-CA" altLang="zh-CN" b="1" dirty="0"/>
              <a:t>a cycle covering problem under prime adjacency constraints</a:t>
            </a:r>
            <a:r>
              <a:rPr lang="en-CA" altLang="zh-CN" dirty="0"/>
              <a:t>.</a:t>
            </a:r>
            <a:endParaRPr lang="en-CA" altLang="zh-CN" dirty="0"/>
          </a:p>
          <a:p>
            <a:pPr>
              <a:buNone/>
            </a:pPr>
            <a:br>
              <a:rPr lang="en-CA" altLang="zh-CN" dirty="0"/>
            </a:br>
            <a:endParaRPr lang="en-CA" altLang="zh-CN" dirty="0"/>
          </a:p>
          <a:p>
            <a:pPr>
              <a:buNone/>
            </a:pPr>
            <a:r>
              <a:rPr lang="en-CA" altLang="zh-CN" dirty="0"/>
              <a:t>We start by turning each fox into a </a:t>
            </a:r>
            <a:r>
              <a:rPr lang="en-CA" altLang="zh-CN" b="1" dirty="0"/>
              <a:t>node</a:t>
            </a:r>
            <a:r>
              <a:rPr lang="en-CA" altLang="zh-CN" dirty="0"/>
              <a:t>. Then, we draw an </a:t>
            </a:r>
            <a:r>
              <a:rPr lang="en-CA" altLang="zh-CN" b="1" dirty="0"/>
              <a:t>edge</a:t>
            </a:r>
            <a:r>
              <a:rPr lang="en-CA" altLang="zh-CN" dirty="0"/>
              <a:t> between any two foxes if the sum of their ages is a </a:t>
            </a:r>
            <a:r>
              <a:rPr lang="en-CA" altLang="zh-CN" b="1" dirty="0"/>
              <a:t>prime number</a:t>
            </a:r>
            <a:r>
              <a:rPr lang="en-CA" altLang="zh-CN" dirty="0"/>
              <a:t> — that’s our main condition. This gives us an undirected graph.</a:t>
            </a:r>
            <a:endParaRPr lang="en-CA" altLang="zh-CN" dirty="0"/>
          </a:p>
          <a:p>
            <a:pPr>
              <a:buNone/>
            </a:pPr>
            <a:br>
              <a:rPr lang="en-CA" altLang="zh-CN" dirty="0"/>
            </a:br>
            <a:endParaRPr lang="en-CA" altLang="zh-CN" dirty="0"/>
          </a:p>
          <a:p>
            <a:pPr>
              <a:buNone/>
            </a:pPr>
            <a:r>
              <a:rPr lang="en-CA" altLang="zh-CN" dirty="0"/>
              <a:t>But we’re not just matching foxes into pairs. The problem asks us to </a:t>
            </a:r>
            <a:r>
              <a:rPr lang="en-CA" altLang="zh-CN" b="1" dirty="0"/>
              <a:t>seat all foxes in cycles</a:t>
            </a:r>
            <a:r>
              <a:rPr lang="en-CA" altLang="zh-CN" dirty="0"/>
              <a:t>, each cycle having </a:t>
            </a:r>
            <a:r>
              <a:rPr lang="en-CA" altLang="zh-CN" b="1" dirty="0"/>
              <a:t>at least 3</a:t>
            </a:r>
            <a:r>
              <a:rPr lang="en-CA" altLang="zh-CN" dirty="0"/>
              <a:t> foxes, where every adjacent pair has a prime-sum edge. So instead of pair matching, we want to </a:t>
            </a:r>
            <a:r>
              <a:rPr lang="en-CA" altLang="zh-CN" b="1" dirty="0"/>
              <a:t>cover the entire graph using disjoint cycles of size at least 3</a:t>
            </a:r>
            <a:r>
              <a:rPr lang="en-CA" altLang="zh-CN" dirty="0"/>
              <a:t>.</a:t>
            </a:r>
            <a:endParaRPr lang="en-CA" altLang="zh-CN" dirty="0"/>
          </a:p>
          <a:p>
            <a:pPr>
              <a:buNone/>
            </a:pPr>
            <a:br>
              <a:rPr lang="en-CA" altLang="zh-CN" dirty="0"/>
            </a:br>
            <a:endParaRPr lang="en-CA" altLang="zh-CN" dirty="0"/>
          </a:p>
          <a:p>
            <a:pPr>
              <a:buNone/>
            </a:pPr>
            <a:r>
              <a:rPr lang="en-CA" altLang="zh-CN" dirty="0"/>
              <a:t>To make this tractable, we model it as a </a:t>
            </a:r>
            <a:r>
              <a:rPr lang="en-CA" altLang="zh-CN" b="1" dirty="0"/>
              <a:t>network flow problem</a:t>
            </a:r>
            <a:r>
              <a:rPr lang="en-CA" altLang="zh-CN" dirty="0"/>
              <a:t>.</a:t>
            </a:r>
            <a:endParaRPr lang="en-CA" altLang="zh-CN" dirty="0"/>
          </a:p>
          <a:p>
            <a:pPr>
              <a:buNone/>
            </a:pPr>
            <a:br>
              <a:rPr lang="en-CA" altLang="zh-CN" dirty="0"/>
            </a:br>
            <a:endParaRPr lang="en-CA" altLang="zh-CN" dirty="0"/>
          </a:p>
          <a:p>
            <a:pPr>
              <a:buNone/>
            </a:pPr>
            <a:r>
              <a:rPr lang="en-CA" altLang="zh-CN" dirty="0"/>
              <a:t>We first split the nodes into </a:t>
            </a:r>
            <a:r>
              <a:rPr lang="en-CA" altLang="zh-CN" b="1" dirty="0"/>
              <a:t>odd-aged foxes</a:t>
            </a:r>
            <a:r>
              <a:rPr lang="en-CA" altLang="zh-CN" dirty="0"/>
              <a:t> and </a:t>
            </a:r>
            <a:r>
              <a:rPr lang="en-CA" altLang="zh-CN" b="1" dirty="0"/>
              <a:t>even-aged foxes</a:t>
            </a:r>
            <a:r>
              <a:rPr lang="en-CA" altLang="zh-CN" dirty="0"/>
              <a:t>. Why? Because the sum of two odd or two even numbers is always even — and even + even is rarely prime. So a prime sum typically happens between an odd and an even number.</a:t>
            </a:r>
            <a:endParaRPr lang="en-CA" altLang="zh-CN" dirty="0"/>
          </a:p>
          <a:p>
            <a:pPr>
              <a:buNone/>
            </a:pPr>
            <a:br>
              <a:rPr lang="en-CA" altLang="zh-CN" dirty="0"/>
            </a:br>
            <a:endParaRPr lang="en-CA" altLang="zh-CN" dirty="0"/>
          </a:p>
          <a:p>
            <a:pPr>
              <a:buNone/>
            </a:pPr>
            <a:r>
              <a:rPr lang="en-CA" altLang="zh-CN" dirty="0"/>
              <a:t>This naturally leads to a </a:t>
            </a:r>
            <a:r>
              <a:rPr lang="en-CA" altLang="zh-CN" b="1" dirty="0"/>
              <a:t>bipartite graph</a:t>
            </a:r>
            <a:r>
              <a:rPr lang="en-CA" altLang="zh-CN" dirty="0"/>
              <a:t> between odd and even foxes. Then we:</a:t>
            </a:r>
            <a:endParaRPr lang="en-CA" altLang="zh-CN" dirty="0"/>
          </a:p>
          <a:p>
            <a:pPr>
              <a:buFont typeface="+mj-lt"/>
              <a:buAutoNum type="arabicPeriod"/>
            </a:pPr>
            <a:r>
              <a:rPr lang="en-CA" altLang="zh-CN" dirty="0"/>
              <a:t>Add a </a:t>
            </a:r>
            <a:r>
              <a:rPr lang="en-CA" altLang="zh-CN" b="1" dirty="0"/>
              <a:t>source node</a:t>
            </a:r>
            <a:r>
              <a:rPr lang="en-CA" altLang="zh-CN" dirty="0"/>
              <a:t> connected to all odd foxes, and a </a:t>
            </a:r>
            <a:r>
              <a:rPr lang="en-CA" altLang="zh-CN" b="1" dirty="0"/>
              <a:t>sink node</a:t>
            </a:r>
            <a:r>
              <a:rPr lang="en-CA" altLang="zh-CN" dirty="0"/>
              <a:t> connected to all even foxes.</a:t>
            </a:r>
            <a:endParaRPr lang="en-CA" altLang="zh-CN" dirty="0"/>
          </a:p>
          <a:p>
            <a:pPr>
              <a:buFont typeface="+mj-lt"/>
              <a:buAutoNum type="arabicPeriod"/>
            </a:pPr>
            <a:r>
              <a:rPr lang="en-CA" altLang="zh-CN" dirty="0"/>
              <a:t>The edges between odd and even foxes exist if their age sum is prime — and we set all these edge capacities to 1.</a:t>
            </a:r>
            <a:endParaRPr lang="en-CA" altLang="zh-CN" dirty="0"/>
          </a:p>
          <a:p>
            <a:pPr>
              <a:buFont typeface="+mj-lt"/>
              <a:buAutoNum type="arabicPeriod"/>
            </a:pPr>
            <a:r>
              <a:rPr lang="en-CA" altLang="zh-CN" dirty="0"/>
              <a:t>The source-to-odd and even-to-sink edge capacities are set to 2. This enforces that every fox participates in exactly two edges, which is perfect because we want each fox to be part of a cycle.</a:t>
            </a:r>
            <a:endParaRPr lang="en-CA" altLang="zh-CN" dirty="0"/>
          </a:p>
          <a:p>
            <a:pPr>
              <a:buNone/>
            </a:pPr>
            <a:br>
              <a:rPr lang="en-CA" altLang="zh-CN" dirty="0"/>
            </a:br>
            <a:endParaRPr lang="en-CA" altLang="zh-CN" dirty="0"/>
          </a:p>
          <a:p>
            <a:pPr>
              <a:buNone/>
            </a:pPr>
            <a:r>
              <a:rPr lang="en-CA" altLang="zh-CN" dirty="0"/>
              <a:t>Finally, we run a max flow algorithm, like </a:t>
            </a:r>
            <a:r>
              <a:rPr lang="en-CA" altLang="zh-CN" b="1" dirty="0"/>
              <a:t>Ford-Fulkerson</a:t>
            </a:r>
            <a:r>
              <a:rPr lang="en-CA" altLang="zh-CN" dirty="0"/>
              <a:t> or </a:t>
            </a:r>
            <a:r>
              <a:rPr lang="en-CA" altLang="zh-CN" b="1" dirty="0" err="1"/>
              <a:t>Dinic’s</a:t>
            </a:r>
            <a:r>
              <a:rPr lang="en-CA" altLang="zh-CN" dirty="0"/>
              <a:t>. If the flow we get is less than n, it means there’s no way to seat all foxes validly, so we return </a:t>
            </a:r>
            <a:r>
              <a:rPr lang="en-CA" altLang="zh-CN" b="1" dirty="0"/>
              <a:t>Impossible</a:t>
            </a:r>
            <a:r>
              <a:rPr lang="en-CA" altLang="zh-CN" dirty="0"/>
              <a:t>.</a:t>
            </a:r>
            <a:endParaRPr lang="en-CA" altLang="zh-CN" dirty="0"/>
          </a:p>
          <a:p>
            <a:pPr>
              <a:buNone/>
            </a:pPr>
            <a:br>
              <a:rPr lang="en-CA" altLang="zh-CN" dirty="0"/>
            </a:br>
            <a:endParaRPr lang="en-CA" altLang="zh-CN" dirty="0"/>
          </a:p>
          <a:p>
            <a:pPr>
              <a:buNone/>
            </a:pPr>
            <a:r>
              <a:rPr lang="en-CA" altLang="zh-CN" dirty="0"/>
              <a:t>Otherwise, we can extract the matching from the residual graph and reconstruct all the valid cycles.</a:t>
            </a:r>
            <a:endParaRPr lang="en-CA" altLang="zh-CN" dirty="0"/>
          </a:p>
          <a:p>
            <a:pPr>
              <a:buNone/>
            </a:pPr>
            <a:br>
              <a:rPr lang="en-CA" altLang="zh-CN" dirty="0"/>
            </a:br>
            <a:endParaRPr lang="en-CA" altLang="zh-CN" dirty="0"/>
          </a:p>
          <a:p>
            <a:r>
              <a:rPr lang="en-CA" altLang="zh-CN" dirty="0"/>
              <a:t>That’s the whole plan: convert the problem to a graph, encode the constraints as edges and capacities, then let max flow handle the hard work.</a:t>
            </a:r>
            <a:endParaRPr lang="en-CA" altLang="zh-CN" dirty="0"/>
          </a:p>
          <a:p>
            <a:pPr>
              <a:buNone/>
            </a:pPr>
            <a:endParaRPr kumimoji="1"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CA" altLang="zh-CN" dirty="0"/>
              <a:t>Alright, so here’s where we get into the core of our algorithm — the main idea is to reduce this problem into something we know how to solve: a </a:t>
            </a:r>
            <a:r>
              <a:rPr lang="en-CA" altLang="zh-CN" b="1" dirty="0"/>
              <a:t>graph problem</a:t>
            </a:r>
            <a:r>
              <a:rPr lang="en-CA" altLang="zh-CN" dirty="0"/>
              <a:t>, more specifically, </a:t>
            </a:r>
            <a:r>
              <a:rPr lang="en-CA" altLang="zh-CN" b="1" dirty="0"/>
              <a:t>a cycle covering problem under prime adjacency constraints</a:t>
            </a:r>
            <a:r>
              <a:rPr lang="en-CA" altLang="zh-CN" dirty="0"/>
              <a:t>.</a:t>
            </a:r>
            <a:endParaRPr lang="en-CA" altLang="zh-CN" dirty="0"/>
          </a:p>
          <a:p>
            <a:pPr>
              <a:buNone/>
            </a:pPr>
            <a:br>
              <a:rPr lang="en-CA" altLang="zh-CN" dirty="0"/>
            </a:br>
            <a:endParaRPr lang="en-CA" altLang="zh-CN" dirty="0"/>
          </a:p>
          <a:p>
            <a:pPr>
              <a:buNone/>
            </a:pPr>
            <a:r>
              <a:rPr lang="en-CA" altLang="zh-CN" dirty="0"/>
              <a:t>We start by turning each fox into a </a:t>
            </a:r>
            <a:r>
              <a:rPr lang="en-CA" altLang="zh-CN" b="1" dirty="0"/>
              <a:t>node</a:t>
            </a:r>
            <a:r>
              <a:rPr lang="en-CA" altLang="zh-CN" dirty="0"/>
              <a:t>. Then, we draw an </a:t>
            </a:r>
            <a:r>
              <a:rPr lang="en-CA" altLang="zh-CN" b="1" dirty="0"/>
              <a:t>edge</a:t>
            </a:r>
            <a:r>
              <a:rPr lang="en-CA" altLang="zh-CN" dirty="0"/>
              <a:t> between any two foxes if the sum of their ages is a </a:t>
            </a:r>
            <a:r>
              <a:rPr lang="en-CA" altLang="zh-CN" b="1" dirty="0"/>
              <a:t>prime number</a:t>
            </a:r>
            <a:r>
              <a:rPr lang="en-CA" altLang="zh-CN" dirty="0"/>
              <a:t> — that’s our main condition. This gives us an undirected graph.</a:t>
            </a:r>
            <a:endParaRPr lang="en-CA" altLang="zh-CN" dirty="0"/>
          </a:p>
          <a:p>
            <a:pPr>
              <a:buNone/>
            </a:pPr>
            <a:br>
              <a:rPr lang="en-CA" altLang="zh-CN" dirty="0"/>
            </a:br>
            <a:endParaRPr lang="en-CA" altLang="zh-CN" dirty="0"/>
          </a:p>
          <a:p>
            <a:pPr>
              <a:buNone/>
            </a:pPr>
            <a:r>
              <a:rPr lang="en-CA" altLang="zh-CN" dirty="0"/>
              <a:t>But we’re not just matching foxes into pairs. The problem asks us to </a:t>
            </a:r>
            <a:r>
              <a:rPr lang="en-CA" altLang="zh-CN" b="1" dirty="0"/>
              <a:t>seat all foxes in cycles</a:t>
            </a:r>
            <a:r>
              <a:rPr lang="en-CA" altLang="zh-CN" dirty="0"/>
              <a:t>, each cycle having </a:t>
            </a:r>
            <a:r>
              <a:rPr lang="en-CA" altLang="zh-CN" b="1" dirty="0"/>
              <a:t>at least 3</a:t>
            </a:r>
            <a:r>
              <a:rPr lang="en-CA" altLang="zh-CN" dirty="0"/>
              <a:t> foxes, where every adjacent pair has a prime-sum edge. So instead of pair matching, we want to </a:t>
            </a:r>
            <a:r>
              <a:rPr lang="en-CA" altLang="zh-CN" b="1" dirty="0"/>
              <a:t>cover the entire graph using disjoint cycles of size at least 3</a:t>
            </a:r>
            <a:r>
              <a:rPr lang="en-CA" altLang="zh-CN" dirty="0"/>
              <a:t>.</a:t>
            </a:r>
            <a:endParaRPr lang="en-CA" altLang="zh-CN" dirty="0"/>
          </a:p>
          <a:p>
            <a:pPr>
              <a:buNone/>
            </a:pPr>
            <a:br>
              <a:rPr lang="en-CA" altLang="zh-CN" dirty="0"/>
            </a:br>
            <a:endParaRPr lang="en-CA" altLang="zh-CN" dirty="0"/>
          </a:p>
          <a:p>
            <a:pPr>
              <a:buNone/>
            </a:pPr>
            <a:r>
              <a:rPr lang="en-CA" altLang="zh-CN" dirty="0"/>
              <a:t>To make this tractable, we model it as a </a:t>
            </a:r>
            <a:r>
              <a:rPr lang="en-CA" altLang="zh-CN" b="1" dirty="0"/>
              <a:t>network flow problem</a:t>
            </a:r>
            <a:r>
              <a:rPr lang="en-CA" altLang="zh-CN" dirty="0"/>
              <a:t>.</a:t>
            </a:r>
            <a:endParaRPr lang="en-CA" altLang="zh-CN" dirty="0"/>
          </a:p>
          <a:p>
            <a:pPr>
              <a:buNone/>
            </a:pPr>
            <a:br>
              <a:rPr lang="en-CA" altLang="zh-CN" dirty="0"/>
            </a:br>
            <a:endParaRPr lang="en-CA" altLang="zh-CN" dirty="0"/>
          </a:p>
          <a:p>
            <a:pPr>
              <a:buNone/>
            </a:pPr>
            <a:r>
              <a:rPr lang="en-CA" altLang="zh-CN" dirty="0"/>
              <a:t>We first split the nodes into </a:t>
            </a:r>
            <a:r>
              <a:rPr lang="en-CA" altLang="zh-CN" b="1" dirty="0"/>
              <a:t>odd-aged foxes</a:t>
            </a:r>
            <a:r>
              <a:rPr lang="en-CA" altLang="zh-CN" dirty="0"/>
              <a:t> and </a:t>
            </a:r>
            <a:r>
              <a:rPr lang="en-CA" altLang="zh-CN" b="1" dirty="0"/>
              <a:t>even-aged foxes</a:t>
            </a:r>
            <a:r>
              <a:rPr lang="en-CA" altLang="zh-CN" dirty="0"/>
              <a:t>. Why? Because the sum of two odd or two even numbers is always even — and even + even is rarely prime. So a prime sum typically happens between an odd and an even number.</a:t>
            </a:r>
            <a:endParaRPr lang="en-CA" altLang="zh-CN" dirty="0"/>
          </a:p>
          <a:p>
            <a:pPr>
              <a:buNone/>
            </a:pPr>
            <a:br>
              <a:rPr lang="en-CA" altLang="zh-CN" dirty="0"/>
            </a:br>
            <a:endParaRPr lang="en-CA" altLang="zh-CN" dirty="0"/>
          </a:p>
          <a:p>
            <a:pPr>
              <a:buNone/>
            </a:pPr>
            <a:r>
              <a:rPr lang="en-CA" altLang="zh-CN" dirty="0"/>
              <a:t>This naturally leads to a </a:t>
            </a:r>
            <a:r>
              <a:rPr lang="en-CA" altLang="zh-CN" b="1" dirty="0"/>
              <a:t>bipartite graph</a:t>
            </a:r>
            <a:r>
              <a:rPr lang="en-CA" altLang="zh-CN" dirty="0"/>
              <a:t> between odd and even foxes. Then we:</a:t>
            </a:r>
            <a:endParaRPr lang="en-CA" altLang="zh-CN" dirty="0"/>
          </a:p>
          <a:p>
            <a:pPr>
              <a:buFont typeface="+mj-lt"/>
              <a:buAutoNum type="arabicPeriod"/>
            </a:pPr>
            <a:r>
              <a:rPr lang="en-CA" altLang="zh-CN" dirty="0"/>
              <a:t>Add a </a:t>
            </a:r>
            <a:r>
              <a:rPr lang="en-CA" altLang="zh-CN" b="1" dirty="0"/>
              <a:t>source node</a:t>
            </a:r>
            <a:r>
              <a:rPr lang="en-CA" altLang="zh-CN" dirty="0"/>
              <a:t> connected to all odd foxes, and a </a:t>
            </a:r>
            <a:r>
              <a:rPr lang="en-CA" altLang="zh-CN" b="1" dirty="0"/>
              <a:t>sink node</a:t>
            </a:r>
            <a:r>
              <a:rPr lang="en-CA" altLang="zh-CN" dirty="0"/>
              <a:t> connected to all even foxes.</a:t>
            </a:r>
            <a:endParaRPr lang="en-CA" altLang="zh-CN" dirty="0"/>
          </a:p>
          <a:p>
            <a:pPr>
              <a:buFont typeface="+mj-lt"/>
              <a:buAutoNum type="arabicPeriod"/>
            </a:pPr>
            <a:r>
              <a:rPr lang="en-CA" altLang="zh-CN" dirty="0"/>
              <a:t>The edges between odd and even foxes exist if their age sum is prime — and we set all these edge capacities to 1.</a:t>
            </a:r>
            <a:endParaRPr lang="en-CA" altLang="zh-CN" dirty="0"/>
          </a:p>
          <a:p>
            <a:pPr>
              <a:buFont typeface="+mj-lt"/>
              <a:buAutoNum type="arabicPeriod"/>
            </a:pPr>
            <a:r>
              <a:rPr lang="en-CA" altLang="zh-CN" dirty="0"/>
              <a:t>The source-to-odd and even-to-sink edge capacities are set to 2. This enforces that every fox participates in exactly two edges, which is perfect because we want each fox to be part of a cycle.</a:t>
            </a:r>
            <a:endParaRPr lang="en-CA" altLang="zh-CN" dirty="0"/>
          </a:p>
          <a:p>
            <a:pPr>
              <a:buNone/>
            </a:pPr>
            <a:br>
              <a:rPr lang="en-CA" altLang="zh-CN" dirty="0"/>
            </a:br>
            <a:endParaRPr lang="en-CA" altLang="zh-CN" dirty="0"/>
          </a:p>
          <a:p>
            <a:pPr>
              <a:buNone/>
            </a:pPr>
            <a:r>
              <a:rPr lang="en-CA" altLang="zh-CN" dirty="0"/>
              <a:t>Finally, we run a max flow algorithm, like </a:t>
            </a:r>
            <a:r>
              <a:rPr lang="en-CA" altLang="zh-CN" b="1" dirty="0"/>
              <a:t>Ford-Fulkerson</a:t>
            </a:r>
            <a:r>
              <a:rPr lang="en-CA" altLang="zh-CN" dirty="0"/>
              <a:t> or </a:t>
            </a:r>
            <a:r>
              <a:rPr lang="en-CA" altLang="zh-CN" b="1" dirty="0" err="1"/>
              <a:t>Dinic’s</a:t>
            </a:r>
            <a:r>
              <a:rPr lang="en-CA" altLang="zh-CN" dirty="0"/>
              <a:t>. If the flow we get is less than n, it means there’s no way to seat all foxes validly, so we return </a:t>
            </a:r>
            <a:r>
              <a:rPr lang="en-CA" altLang="zh-CN" b="1" dirty="0"/>
              <a:t>Impossible</a:t>
            </a:r>
            <a:r>
              <a:rPr lang="en-CA" altLang="zh-CN" dirty="0"/>
              <a:t>.</a:t>
            </a:r>
            <a:endParaRPr lang="en-CA" altLang="zh-CN" dirty="0"/>
          </a:p>
          <a:p>
            <a:pPr>
              <a:buNone/>
            </a:pPr>
            <a:br>
              <a:rPr lang="en-CA" altLang="zh-CN" dirty="0"/>
            </a:br>
            <a:endParaRPr lang="en-CA" altLang="zh-CN" dirty="0"/>
          </a:p>
          <a:p>
            <a:pPr>
              <a:buNone/>
            </a:pPr>
            <a:r>
              <a:rPr lang="en-CA" altLang="zh-CN" dirty="0"/>
              <a:t>Otherwise, we can extract the matching from the residual graph and reconstruct all the valid cycles.</a:t>
            </a:r>
            <a:endParaRPr lang="en-CA" altLang="zh-CN" dirty="0"/>
          </a:p>
          <a:p>
            <a:pPr>
              <a:buNone/>
            </a:pPr>
            <a:br>
              <a:rPr lang="en-CA" altLang="zh-CN" dirty="0"/>
            </a:br>
            <a:endParaRPr lang="en-CA" altLang="zh-CN" dirty="0"/>
          </a:p>
          <a:p>
            <a:r>
              <a:rPr lang="en-CA" altLang="zh-CN" dirty="0"/>
              <a:t>That’s the whole plan: convert the problem to a graph, encode the constraints as edges and capacities, then let max flow handle the hard work.</a:t>
            </a:r>
            <a:endParaRPr lang="en-CA" altLang="zh-CN" dirty="0"/>
          </a:p>
          <a:p>
            <a:pPr>
              <a:buNone/>
            </a:pPr>
            <a:endParaRPr kumimoji="1"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CA" altLang="zh-CN" dirty="0"/>
              <a:t>Alright, so here’s where we get into the core of our algorithm — the main idea is to reduce this problem into something we know how to solve: a </a:t>
            </a:r>
            <a:r>
              <a:rPr lang="en-CA" altLang="zh-CN" b="1" dirty="0"/>
              <a:t>graph problem</a:t>
            </a:r>
            <a:r>
              <a:rPr lang="en-CA" altLang="zh-CN" dirty="0"/>
              <a:t>, more specifically, </a:t>
            </a:r>
            <a:r>
              <a:rPr lang="en-CA" altLang="zh-CN" b="1" dirty="0"/>
              <a:t>a cycle covering problem under prime adjacency constraints</a:t>
            </a:r>
            <a:r>
              <a:rPr lang="en-CA" altLang="zh-CN" dirty="0"/>
              <a:t>.</a:t>
            </a:r>
            <a:endParaRPr lang="en-CA" altLang="zh-CN" dirty="0"/>
          </a:p>
          <a:p>
            <a:pPr>
              <a:buNone/>
            </a:pPr>
            <a:br>
              <a:rPr lang="en-CA" altLang="zh-CN" dirty="0"/>
            </a:br>
            <a:endParaRPr lang="en-CA" altLang="zh-CN" dirty="0"/>
          </a:p>
          <a:p>
            <a:pPr>
              <a:buNone/>
            </a:pPr>
            <a:r>
              <a:rPr lang="en-CA" altLang="zh-CN" dirty="0"/>
              <a:t>We start by turning each fox into a </a:t>
            </a:r>
            <a:r>
              <a:rPr lang="en-CA" altLang="zh-CN" b="1" dirty="0"/>
              <a:t>node</a:t>
            </a:r>
            <a:r>
              <a:rPr lang="en-CA" altLang="zh-CN" dirty="0"/>
              <a:t>. Then, we draw an </a:t>
            </a:r>
            <a:r>
              <a:rPr lang="en-CA" altLang="zh-CN" b="1" dirty="0"/>
              <a:t>edge</a:t>
            </a:r>
            <a:r>
              <a:rPr lang="en-CA" altLang="zh-CN" dirty="0"/>
              <a:t> between any two foxes if the sum of their ages is a </a:t>
            </a:r>
            <a:r>
              <a:rPr lang="en-CA" altLang="zh-CN" b="1" dirty="0"/>
              <a:t>prime number</a:t>
            </a:r>
            <a:r>
              <a:rPr lang="en-CA" altLang="zh-CN" dirty="0"/>
              <a:t> — that’s our main condition. This gives us an undirected graph.</a:t>
            </a:r>
            <a:endParaRPr lang="en-CA" altLang="zh-CN" dirty="0"/>
          </a:p>
          <a:p>
            <a:pPr>
              <a:buNone/>
            </a:pPr>
            <a:br>
              <a:rPr lang="en-CA" altLang="zh-CN" dirty="0"/>
            </a:br>
            <a:endParaRPr lang="en-CA" altLang="zh-CN" dirty="0"/>
          </a:p>
          <a:p>
            <a:pPr>
              <a:buNone/>
            </a:pPr>
            <a:r>
              <a:rPr lang="en-CA" altLang="zh-CN" dirty="0"/>
              <a:t>But we’re not just matching foxes into pairs. The problem asks us to </a:t>
            </a:r>
            <a:r>
              <a:rPr lang="en-CA" altLang="zh-CN" b="1" dirty="0"/>
              <a:t>seat all foxes in cycles</a:t>
            </a:r>
            <a:r>
              <a:rPr lang="en-CA" altLang="zh-CN" dirty="0"/>
              <a:t>, each cycle having </a:t>
            </a:r>
            <a:r>
              <a:rPr lang="en-CA" altLang="zh-CN" b="1" dirty="0"/>
              <a:t>at least 3</a:t>
            </a:r>
            <a:r>
              <a:rPr lang="en-CA" altLang="zh-CN" dirty="0"/>
              <a:t> foxes, where every adjacent pair has a prime-sum edge. So instead of pair matching, we want to </a:t>
            </a:r>
            <a:r>
              <a:rPr lang="en-CA" altLang="zh-CN" b="1" dirty="0"/>
              <a:t>cover the entire graph using disjoint cycles of size at least 3</a:t>
            </a:r>
            <a:r>
              <a:rPr lang="en-CA" altLang="zh-CN" dirty="0"/>
              <a:t>.</a:t>
            </a:r>
            <a:endParaRPr lang="en-CA" altLang="zh-CN" dirty="0"/>
          </a:p>
          <a:p>
            <a:pPr>
              <a:buNone/>
            </a:pPr>
            <a:br>
              <a:rPr lang="en-CA" altLang="zh-CN" dirty="0"/>
            </a:br>
            <a:endParaRPr lang="en-CA" altLang="zh-CN" dirty="0"/>
          </a:p>
          <a:p>
            <a:pPr>
              <a:buNone/>
            </a:pPr>
            <a:r>
              <a:rPr lang="en-CA" altLang="zh-CN" dirty="0"/>
              <a:t>To make this tractable, we model it as a </a:t>
            </a:r>
            <a:r>
              <a:rPr lang="en-CA" altLang="zh-CN" b="1" dirty="0"/>
              <a:t>network flow problem</a:t>
            </a:r>
            <a:r>
              <a:rPr lang="en-CA" altLang="zh-CN" dirty="0"/>
              <a:t>.</a:t>
            </a:r>
            <a:endParaRPr lang="en-CA" altLang="zh-CN" dirty="0"/>
          </a:p>
          <a:p>
            <a:pPr>
              <a:buNone/>
            </a:pPr>
            <a:br>
              <a:rPr lang="en-CA" altLang="zh-CN" dirty="0"/>
            </a:br>
            <a:endParaRPr lang="en-CA" altLang="zh-CN" dirty="0"/>
          </a:p>
          <a:p>
            <a:pPr>
              <a:buNone/>
            </a:pPr>
            <a:r>
              <a:rPr lang="en-CA" altLang="zh-CN" dirty="0"/>
              <a:t>We first split the nodes into </a:t>
            </a:r>
            <a:r>
              <a:rPr lang="en-CA" altLang="zh-CN" b="1" dirty="0"/>
              <a:t>odd-aged foxes</a:t>
            </a:r>
            <a:r>
              <a:rPr lang="en-CA" altLang="zh-CN" dirty="0"/>
              <a:t> and </a:t>
            </a:r>
            <a:r>
              <a:rPr lang="en-CA" altLang="zh-CN" b="1" dirty="0"/>
              <a:t>even-aged foxes</a:t>
            </a:r>
            <a:r>
              <a:rPr lang="en-CA" altLang="zh-CN" dirty="0"/>
              <a:t>. Why? Because the sum of two odd or two even numbers is always even — and even + even is rarely prime. So a prime sum typically happens between an odd and an even number.</a:t>
            </a:r>
            <a:endParaRPr lang="en-CA" altLang="zh-CN" dirty="0"/>
          </a:p>
          <a:p>
            <a:pPr>
              <a:buNone/>
            </a:pPr>
            <a:br>
              <a:rPr lang="en-CA" altLang="zh-CN" dirty="0"/>
            </a:br>
            <a:endParaRPr lang="en-CA" altLang="zh-CN" dirty="0"/>
          </a:p>
          <a:p>
            <a:pPr>
              <a:buNone/>
            </a:pPr>
            <a:r>
              <a:rPr lang="en-CA" altLang="zh-CN" dirty="0"/>
              <a:t>This naturally leads to a </a:t>
            </a:r>
            <a:r>
              <a:rPr lang="en-CA" altLang="zh-CN" b="1" dirty="0"/>
              <a:t>bipartite graph</a:t>
            </a:r>
            <a:r>
              <a:rPr lang="en-CA" altLang="zh-CN" dirty="0"/>
              <a:t> between odd and even foxes. Then we:</a:t>
            </a:r>
            <a:endParaRPr lang="en-CA" altLang="zh-CN" dirty="0"/>
          </a:p>
          <a:p>
            <a:pPr>
              <a:buFont typeface="+mj-lt"/>
              <a:buAutoNum type="arabicPeriod"/>
            </a:pPr>
            <a:r>
              <a:rPr lang="en-CA" altLang="zh-CN" dirty="0"/>
              <a:t>Add a </a:t>
            </a:r>
            <a:r>
              <a:rPr lang="en-CA" altLang="zh-CN" b="1" dirty="0"/>
              <a:t>source node</a:t>
            </a:r>
            <a:r>
              <a:rPr lang="en-CA" altLang="zh-CN" dirty="0"/>
              <a:t> connected to all odd foxes, and a </a:t>
            </a:r>
            <a:r>
              <a:rPr lang="en-CA" altLang="zh-CN" b="1" dirty="0"/>
              <a:t>sink node</a:t>
            </a:r>
            <a:r>
              <a:rPr lang="en-CA" altLang="zh-CN" dirty="0"/>
              <a:t> connected to all even foxes.</a:t>
            </a:r>
            <a:endParaRPr lang="en-CA" altLang="zh-CN" dirty="0"/>
          </a:p>
          <a:p>
            <a:pPr>
              <a:buFont typeface="+mj-lt"/>
              <a:buAutoNum type="arabicPeriod"/>
            </a:pPr>
            <a:r>
              <a:rPr lang="en-CA" altLang="zh-CN" dirty="0"/>
              <a:t>The edges between odd and even foxes exist if their age sum is prime — and we set all these edge capacities to 1.</a:t>
            </a:r>
            <a:endParaRPr lang="en-CA" altLang="zh-CN" dirty="0"/>
          </a:p>
          <a:p>
            <a:pPr>
              <a:buFont typeface="+mj-lt"/>
              <a:buAutoNum type="arabicPeriod"/>
            </a:pPr>
            <a:r>
              <a:rPr lang="en-CA" altLang="zh-CN" dirty="0"/>
              <a:t>The source-to-odd and even-to-sink edge capacities are set to 2. This enforces that every fox participates in exactly two edges, which is perfect because we want each fox to be part of a cycle.</a:t>
            </a:r>
            <a:endParaRPr lang="en-CA" altLang="zh-CN" dirty="0"/>
          </a:p>
          <a:p>
            <a:pPr>
              <a:buNone/>
            </a:pPr>
            <a:br>
              <a:rPr lang="en-CA" altLang="zh-CN" dirty="0"/>
            </a:br>
            <a:endParaRPr lang="en-CA" altLang="zh-CN" dirty="0"/>
          </a:p>
          <a:p>
            <a:pPr>
              <a:buNone/>
            </a:pPr>
            <a:r>
              <a:rPr lang="en-CA" altLang="zh-CN" dirty="0"/>
              <a:t>Finally, we run a max flow algorithm, like </a:t>
            </a:r>
            <a:r>
              <a:rPr lang="en-CA" altLang="zh-CN" b="1" dirty="0"/>
              <a:t>Ford-Fulkerson</a:t>
            </a:r>
            <a:r>
              <a:rPr lang="en-CA" altLang="zh-CN" dirty="0"/>
              <a:t> or </a:t>
            </a:r>
            <a:r>
              <a:rPr lang="en-CA" altLang="zh-CN" b="1" dirty="0" err="1"/>
              <a:t>Dinic’s</a:t>
            </a:r>
            <a:r>
              <a:rPr lang="en-CA" altLang="zh-CN" dirty="0"/>
              <a:t>. If the flow we get is less than n, it means there’s no way to seat all foxes validly, so we return </a:t>
            </a:r>
            <a:r>
              <a:rPr lang="en-CA" altLang="zh-CN" b="1" dirty="0"/>
              <a:t>Impossible</a:t>
            </a:r>
            <a:r>
              <a:rPr lang="en-CA" altLang="zh-CN" dirty="0"/>
              <a:t>.</a:t>
            </a:r>
            <a:endParaRPr lang="en-CA" altLang="zh-CN" dirty="0"/>
          </a:p>
          <a:p>
            <a:pPr>
              <a:buNone/>
            </a:pPr>
            <a:br>
              <a:rPr lang="en-CA" altLang="zh-CN" dirty="0"/>
            </a:br>
            <a:endParaRPr lang="en-CA" altLang="zh-CN" dirty="0"/>
          </a:p>
          <a:p>
            <a:pPr>
              <a:buNone/>
            </a:pPr>
            <a:r>
              <a:rPr lang="en-CA" altLang="zh-CN" dirty="0"/>
              <a:t>Otherwise, we can extract the matching from the residual graph and reconstruct all the valid cycles.</a:t>
            </a:r>
            <a:endParaRPr lang="en-CA" altLang="zh-CN" dirty="0"/>
          </a:p>
          <a:p>
            <a:pPr>
              <a:buNone/>
            </a:pPr>
            <a:br>
              <a:rPr lang="en-CA" altLang="zh-CN" dirty="0"/>
            </a:br>
            <a:endParaRPr lang="en-CA" altLang="zh-CN" dirty="0"/>
          </a:p>
          <a:p>
            <a:r>
              <a:rPr lang="en-CA" altLang="zh-CN" dirty="0"/>
              <a:t>That’s the whole plan: convert the problem to a graph, encode the constraints as edges and capacities, then let max flow handle the hard work.</a:t>
            </a:r>
            <a:endParaRPr lang="en-CA" altLang="zh-CN" dirty="0"/>
          </a:p>
          <a:p>
            <a:pPr>
              <a:buNone/>
            </a:pPr>
            <a:endParaRPr kumimoji="1"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CA" altLang="zh-CN" dirty="0"/>
              <a:t>Alright, so here’s where we get into the core of our algorithm — the main idea is to reduce this problem into something we know how to solve: a </a:t>
            </a:r>
            <a:r>
              <a:rPr lang="en-CA" altLang="zh-CN" b="1" dirty="0"/>
              <a:t>graph problem</a:t>
            </a:r>
            <a:r>
              <a:rPr lang="en-CA" altLang="zh-CN" dirty="0"/>
              <a:t>, more specifically, </a:t>
            </a:r>
            <a:r>
              <a:rPr lang="en-CA" altLang="zh-CN" b="1" dirty="0"/>
              <a:t>a cycle covering problem under prime adjacency constraints</a:t>
            </a:r>
            <a:r>
              <a:rPr lang="en-CA" altLang="zh-CN" dirty="0"/>
              <a:t>.</a:t>
            </a:r>
            <a:endParaRPr lang="en-CA" altLang="zh-CN" dirty="0"/>
          </a:p>
          <a:p>
            <a:pPr>
              <a:buNone/>
            </a:pPr>
            <a:br>
              <a:rPr lang="en-CA" altLang="zh-CN" dirty="0"/>
            </a:br>
            <a:endParaRPr lang="en-CA" altLang="zh-CN" dirty="0"/>
          </a:p>
          <a:p>
            <a:pPr>
              <a:buNone/>
            </a:pPr>
            <a:r>
              <a:rPr lang="en-CA" altLang="zh-CN" dirty="0"/>
              <a:t>We start by turning each fox into a </a:t>
            </a:r>
            <a:r>
              <a:rPr lang="en-CA" altLang="zh-CN" b="1" dirty="0"/>
              <a:t>node</a:t>
            </a:r>
            <a:r>
              <a:rPr lang="en-CA" altLang="zh-CN" dirty="0"/>
              <a:t>. Then, we draw an </a:t>
            </a:r>
            <a:r>
              <a:rPr lang="en-CA" altLang="zh-CN" b="1" dirty="0"/>
              <a:t>edge</a:t>
            </a:r>
            <a:r>
              <a:rPr lang="en-CA" altLang="zh-CN" dirty="0"/>
              <a:t> between any two foxes if the sum of their ages is a </a:t>
            </a:r>
            <a:r>
              <a:rPr lang="en-CA" altLang="zh-CN" b="1" dirty="0"/>
              <a:t>prime number</a:t>
            </a:r>
            <a:r>
              <a:rPr lang="en-CA" altLang="zh-CN" dirty="0"/>
              <a:t> — that’s our main condition. This gives us an undirected graph.</a:t>
            </a:r>
            <a:endParaRPr lang="en-CA" altLang="zh-CN" dirty="0"/>
          </a:p>
          <a:p>
            <a:pPr>
              <a:buNone/>
            </a:pPr>
            <a:br>
              <a:rPr lang="en-CA" altLang="zh-CN" dirty="0"/>
            </a:br>
            <a:endParaRPr lang="en-CA" altLang="zh-CN" dirty="0"/>
          </a:p>
          <a:p>
            <a:pPr>
              <a:buNone/>
            </a:pPr>
            <a:r>
              <a:rPr lang="en-CA" altLang="zh-CN" dirty="0"/>
              <a:t>But we’re not just matching foxes into pairs. The problem asks us to </a:t>
            </a:r>
            <a:r>
              <a:rPr lang="en-CA" altLang="zh-CN" b="1" dirty="0"/>
              <a:t>seat all foxes in cycles</a:t>
            </a:r>
            <a:r>
              <a:rPr lang="en-CA" altLang="zh-CN" dirty="0"/>
              <a:t>, each cycle having </a:t>
            </a:r>
            <a:r>
              <a:rPr lang="en-CA" altLang="zh-CN" b="1" dirty="0"/>
              <a:t>at least 3</a:t>
            </a:r>
            <a:r>
              <a:rPr lang="en-CA" altLang="zh-CN" dirty="0"/>
              <a:t> foxes, where every adjacent pair has a prime-sum edge. So instead of pair matching, we want to </a:t>
            </a:r>
            <a:r>
              <a:rPr lang="en-CA" altLang="zh-CN" b="1" dirty="0"/>
              <a:t>cover the entire graph using disjoint cycles of size at least 3</a:t>
            </a:r>
            <a:r>
              <a:rPr lang="en-CA" altLang="zh-CN" dirty="0"/>
              <a:t>.</a:t>
            </a:r>
            <a:endParaRPr lang="en-CA" altLang="zh-CN" dirty="0"/>
          </a:p>
          <a:p>
            <a:pPr>
              <a:buNone/>
            </a:pPr>
            <a:br>
              <a:rPr lang="en-CA" altLang="zh-CN" dirty="0"/>
            </a:br>
            <a:endParaRPr lang="en-CA" altLang="zh-CN" dirty="0"/>
          </a:p>
          <a:p>
            <a:pPr>
              <a:buNone/>
            </a:pPr>
            <a:r>
              <a:rPr lang="en-CA" altLang="zh-CN" dirty="0"/>
              <a:t>To make this tractable, we model it as a </a:t>
            </a:r>
            <a:r>
              <a:rPr lang="en-CA" altLang="zh-CN" b="1" dirty="0"/>
              <a:t>network flow problem</a:t>
            </a:r>
            <a:r>
              <a:rPr lang="en-CA" altLang="zh-CN" dirty="0"/>
              <a:t>.</a:t>
            </a:r>
            <a:endParaRPr lang="en-CA" altLang="zh-CN" dirty="0"/>
          </a:p>
          <a:p>
            <a:pPr>
              <a:buNone/>
            </a:pPr>
            <a:br>
              <a:rPr lang="en-CA" altLang="zh-CN" dirty="0"/>
            </a:br>
            <a:endParaRPr lang="en-CA" altLang="zh-CN" dirty="0"/>
          </a:p>
          <a:p>
            <a:pPr>
              <a:buNone/>
            </a:pPr>
            <a:r>
              <a:rPr lang="en-CA" altLang="zh-CN" dirty="0"/>
              <a:t>We first split the nodes into </a:t>
            </a:r>
            <a:r>
              <a:rPr lang="en-CA" altLang="zh-CN" b="1" dirty="0"/>
              <a:t>odd-aged foxes</a:t>
            </a:r>
            <a:r>
              <a:rPr lang="en-CA" altLang="zh-CN" dirty="0"/>
              <a:t> and </a:t>
            </a:r>
            <a:r>
              <a:rPr lang="en-CA" altLang="zh-CN" b="1" dirty="0"/>
              <a:t>even-aged foxes</a:t>
            </a:r>
            <a:r>
              <a:rPr lang="en-CA" altLang="zh-CN" dirty="0"/>
              <a:t>. Why? Because the sum of two odd or two even numbers is always even — and even + even is rarely prime. So a prime sum typically happens between an odd and an even number.</a:t>
            </a:r>
            <a:endParaRPr lang="en-CA" altLang="zh-CN" dirty="0"/>
          </a:p>
          <a:p>
            <a:pPr>
              <a:buNone/>
            </a:pPr>
            <a:br>
              <a:rPr lang="en-CA" altLang="zh-CN" dirty="0"/>
            </a:br>
            <a:endParaRPr lang="en-CA" altLang="zh-CN" dirty="0"/>
          </a:p>
          <a:p>
            <a:pPr>
              <a:buNone/>
            </a:pPr>
            <a:r>
              <a:rPr lang="en-CA" altLang="zh-CN" dirty="0"/>
              <a:t>This naturally leads to a </a:t>
            </a:r>
            <a:r>
              <a:rPr lang="en-CA" altLang="zh-CN" b="1" dirty="0"/>
              <a:t>bipartite graph</a:t>
            </a:r>
            <a:r>
              <a:rPr lang="en-CA" altLang="zh-CN" dirty="0"/>
              <a:t> between odd and even foxes. Then we:</a:t>
            </a:r>
            <a:endParaRPr lang="en-CA" altLang="zh-CN" dirty="0"/>
          </a:p>
          <a:p>
            <a:pPr>
              <a:buFont typeface="+mj-lt"/>
              <a:buAutoNum type="arabicPeriod"/>
            </a:pPr>
            <a:r>
              <a:rPr lang="en-CA" altLang="zh-CN" dirty="0"/>
              <a:t>Add a </a:t>
            </a:r>
            <a:r>
              <a:rPr lang="en-CA" altLang="zh-CN" b="1" dirty="0"/>
              <a:t>source node</a:t>
            </a:r>
            <a:r>
              <a:rPr lang="en-CA" altLang="zh-CN" dirty="0"/>
              <a:t> connected to all odd foxes, and a </a:t>
            </a:r>
            <a:r>
              <a:rPr lang="en-CA" altLang="zh-CN" b="1" dirty="0"/>
              <a:t>sink node</a:t>
            </a:r>
            <a:r>
              <a:rPr lang="en-CA" altLang="zh-CN" dirty="0"/>
              <a:t> connected to all even foxes.</a:t>
            </a:r>
            <a:endParaRPr lang="en-CA" altLang="zh-CN" dirty="0"/>
          </a:p>
          <a:p>
            <a:pPr>
              <a:buFont typeface="+mj-lt"/>
              <a:buAutoNum type="arabicPeriod"/>
            </a:pPr>
            <a:r>
              <a:rPr lang="en-CA" altLang="zh-CN" dirty="0"/>
              <a:t>The edges between odd and even foxes exist if their age sum is prime — and we set all these edge capacities to 1.</a:t>
            </a:r>
            <a:endParaRPr lang="en-CA" altLang="zh-CN" dirty="0"/>
          </a:p>
          <a:p>
            <a:pPr>
              <a:buFont typeface="+mj-lt"/>
              <a:buAutoNum type="arabicPeriod"/>
            </a:pPr>
            <a:r>
              <a:rPr lang="en-CA" altLang="zh-CN" dirty="0"/>
              <a:t>The source-to-odd and even-to-sink edge capacities are set to 2. This enforces that every fox participates in exactly two edges, which is perfect because we want each fox to be part of a cycle.</a:t>
            </a:r>
            <a:endParaRPr lang="en-CA" altLang="zh-CN" dirty="0"/>
          </a:p>
          <a:p>
            <a:pPr>
              <a:buNone/>
            </a:pPr>
            <a:br>
              <a:rPr lang="en-CA" altLang="zh-CN" dirty="0"/>
            </a:br>
            <a:endParaRPr lang="en-CA" altLang="zh-CN" dirty="0"/>
          </a:p>
          <a:p>
            <a:pPr>
              <a:buNone/>
            </a:pPr>
            <a:r>
              <a:rPr lang="en-CA" altLang="zh-CN" dirty="0"/>
              <a:t>Finally, we run a max flow algorithm, like </a:t>
            </a:r>
            <a:r>
              <a:rPr lang="en-CA" altLang="zh-CN" b="1" dirty="0"/>
              <a:t>Ford-Fulkerson</a:t>
            </a:r>
            <a:r>
              <a:rPr lang="en-CA" altLang="zh-CN" dirty="0"/>
              <a:t> or </a:t>
            </a:r>
            <a:r>
              <a:rPr lang="en-CA" altLang="zh-CN" b="1" dirty="0" err="1"/>
              <a:t>Dinic’s</a:t>
            </a:r>
            <a:r>
              <a:rPr lang="en-CA" altLang="zh-CN" dirty="0"/>
              <a:t>. If the flow we get is less than n, it means there’s no way to seat all foxes validly, so we return </a:t>
            </a:r>
            <a:r>
              <a:rPr lang="en-CA" altLang="zh-CN" b="1" dirty="0"/>
              <a:t>Impossible</a:t>
            </a:r>
            <a:r>
              <a:rPr lang="en-CA" altLang="zh-CN" dirty="0"/>
              <a:t>.</a:t>
            </a:r>
            <a:endParaRPr lang="en-CA" altLang="zh-CN" dirty="0"/>
          </a:p>
          <a:p>
            <a:pPr>
              <a:buNone/>
            </a:pPr>
            <a:br>
              <a:rPr lang="en-CA" altLang="zh-CN" dirty="0"/>
            </a:br>
            <a:endParaRPr lang="en-CA" altLang="zh-CN" dirty="0"/>
          </a:p>
          <a:p>
            <a:pPr>
              <a:buNone/>
            </a:pPr>
            <a:r>
              <a:rPr lang="en-CA" altLang="zh-CN" dirty="0"/>
              <a:t>Otherwise, we can extract the matching from the residual graph and reconstruct all the valid cycles.</a:t>
            </a:r>
            <a:endParaRPr lang="en-CA" altLang="zh-CN" dirty="0"/>
          </a:p>
          <a:p>
            <a:pPr>
              <a:buNone/>
            </a:pPr>
            <a:br>
              <a:rPr lang="en-CA" altLang="zh-CN" dirty="0"/>
            </a:br>
            <a:endParaRPr lang="en-CA" altLang="zh-CN" dirty="0"/>
          </a:p>
          <a:p>
            <a:r>
              <a:rPr lang="en-CA" altLang="zh-CN" dirty="0"/>
              <a:t>That’s the whole plan: convert the problem to a graph, encode the constraints as edges and capacities, then let max flow handle the hard work.</a:t>
            </a:r>
            <a:endParaRPr lang="en-CA" altLang="zh-CN" dirty="0"/>
          </a:p>
          <a:p>
            <a:pPr>
              <a:buNone/>
            </a:pPr>
            <a:endParaRPr kumimoji="1"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CA" altLang="zh-CN" dirty="0"/>
              <a:t>Alright, so here’s where we get into the core of our algorithm — the main idea is to reduce this problem into something we know how to solve: a </a:t>
            </a:r>
            <a:r>
              <a:rPr lang="en-CA" altLang="zh-CN" b="1" dirty="0"/>
              <a:t>graph problem</a:t>
            </a:r>
            <a:r>
              <a:rPr lang="en-CA" altLang="zh-CN" dirty="0"/>
              <a:t>, more specifically, </a:t>
            </a:r>
            <a:r>
              <a:rPr lang="en-CA" altLang="zh-CN" b="1" dirty="0"/>
              <a:t>a cycle covering problem under prime adjacency constraints</a:t>
            </a:r>
            <a:r>
              <a:rPr lang="en-CA" altLang="zh-CN" dirty="0"/>
              <a:t>.</a:t>
            </a:r>
            <a:endParaRPr lang="en-CA" altLang="zh-CN" dirty="0"/>
          </a:p>
          <a:p>
            <a:pPr>
              <a:buNone/>
            </a:pPr>
            <a:br>
              <a:rPr lang="en-CA" altLang="zh-CN" dirty="0"/>
            </a:br>
            <a:endParaRPr lang="en-CA" altLang="zh-CN" dirty="0"/>
          </a:p>
          <a:p>
            <a:pPr>
              <a:buNone/>
            </a:pPr>
            <a:r>
              <a:rPr lang="en-CA" altLang="zh-CN" dirty="0"/>
              <a:t>We start by turning each fox into a </a:t>
            </a:r>
            <a:r>
              <a:rPr lang="en-CA" altLang="zh-CN" b="1" dirty="0"/>
              <a:t>node</a:t>
            </a:r>
            <a:r>
              <a:rPr lang="en-CA" altLang="zh-CN" dirty="0"/>
              <a:t>. Then, we draw an </a:t>
            </a:r>
            <a:r>
              <a:rPr lang="en-CA" altLang="zh-CN" b="1" dirty="0"/>
              <a:t>edge</a:t>
            </a:r>
            <a:r>
              <a:rPr lang="en-CA" altLang="zh-CN" dirty="0"/>
              <a:t> between any two foxes if the sum of their ages is a </a:t>
            </a:r>
            <a:r>
              <a:rPr lang="en-CA" altLang="zh-CN" b="1" dirty="0"/>
              <a:t>prime number</a:t>
            </a:r>
            <a:r>
              <a:rPr lang="en-CA" altLang="zh-CN" dirty="0"/>
              <a:t> — that’s our main condition. This gives us an undirected graph.</a:t>
            </a:r>
            <a:endParaRPr lang="en-CA" altLang="zh-CN" dirty="0"/>
          </a:p>
          <a:p>
            <a:pPr>
              <a:buNone/>
            </a:pPr>
            <a:br>
              <a:rPr lang="en-CA" altLang="zh-CN" dirty="0"/>
            </a:br>
            <a:endParaRPr lang="en-CA" altLang="zh-CN" dirty="0"/>
          </a:p>
          <a:p>
            <a:pPr>
              <a:buNone/>
            </a:pPr>
            <a:r>
              <a:rPr lang="en-CA" altLang="zh-CN" dirty="0"/>
              <a:t>But we’re not just matching foxes into pairs. The problem asks us to </a:t>
            </a:r>
            <a:r>
              <a:rPr lang="en-CA" altLang="zh-CN" b="1" dirty="0"/>
              <a:t>seat all foxes in cycles</a:t>
            </a:r>
            <a:r>
              <a:rPr lang="en-CA" altLang="zh-CN" dirty="0"/>
              <a:t>, each cycle having </a:t>
            </a:r>
            <a:r>
              <a:rPr lang="en-CA" altLang="zh-CN" b="1" dirty="0"/>
              <a:t>at least 3</a:t>
            </a:r>
            <a:r>
              <a:rPr lang="en-CA" altLang="zh-CN" dirty="0"/>
              <a:t> foxes, where every adjacent pair has a prime-sum edge. So instead of pair matching, we want to </a:t>
            </a:r>
            <a:r>
              <a:rPr lang="en-CA" altLang="zh-CN" b="1" dirty="0"/>
              <a:t>cover the entire graph using disjoint cycles of size at least 3</a:t>
            </a:r>
            <a:r>
              <a:rPr lang="en-CA" altLang="zh-CN" dirty="0"/>
              <a:t>.</a:t>
            </a:r>
            <a:endParaRPr lang="en-CA" altLang="zh-CN" dirty="0"/>
          </a:p>
          <a:p>
            <a:pPr>
              <a:buNone/>
            </a:pPr>
            <a:br>
              <a:rPr lang="en-CA" altLang="zh-CN" dirty="0"/>
            </a:br>
            <a:endParaRPr lang="en-CA" altLang="zh-CN" dirty="0"/>
          </a:p>
          <a:p>
            <a:pPr>
              <a:buNone/>
            </a:pPr>
            <a:r>
              <a:rPr lang="en-CA" altLang="zh-CN" dirty="0"/>
              <a:t>To make this tractable, we model it as a </a:t>
            </a:r>
            <a:r>
              <a:rPr lang="en-CA" altLang="zh-CN" b="1" dirty="0"/>
              <a:t>network flow problem</a:t>
            </a:r>
            <a:r>
              <a:rPr lang="en-CA" altLang="zh-CN" dirty="0"/>
              <a:t>.</a:t>
            </a:r>
            <a:endParaRPr lang="en-CA" altLang="zh-CN" dirty="0"/>
          </a:p>
          <a:p>
            <a:pPr>
              <a:buNone/>
            </a:pPr>
            <a:br>
              <a:rPr lang="en-CA" altLang="zh-CN" dirty="0"/>
            </a:br>
            <a:endParaRPr lang="en-CA" altLang="zh-CN" dirty="0"/>
          </a:p>
          <a:p>
            <a:pPr>
              <a:buNone/>
            </a:pPr>
            <a:r>
              <a:rPr lang="en-CA" altLang="zh-CN" dirty="0"/>
              <a:t>We first split the nodes into </a:t>
            </a:r>
            <a:r>
              <a:rPr lang="en-CA" altLang="zh-CN" b="1" dirty="0"/>
              <a:t>odd-aged foxes</a:t>
            </a:r>
            <a:r>
              <a:rPr lang="en-CA" altLang="zh-CN" dirty="0"/>
              <a:t> and </a:t>
            </a:r>
            <a:r>
              <a:rPr lang="en-CA" altLang="zh-CN" b="1" dirty="0"/>
              <a:t>even-aged foxes</a:t>
            </a:r>
            <a:r>
              <a:rPr lang="en-CA" altLang="zh-CN" dirty="0"/>
              <a:t>. Why? Because the sum of two odd or two even numbers is always even — and even + even is rarely prime. So a prime sum typically happens between an odd and an even number.</a:t>
            </a:r>
            <a:endParaRPr lang="en-CA" altLang="zh-CN" dirty="0"/>
          </a:p>
          <a:p>
            <a:pPr>
              <a:buNone/>
            </a:pPr>
            <a:br>
              <a:rPr lang="en-CA" altLang="zh-CN" dirty="0"/>
            </a:br>
            <a:endParaRPr lang="en-CA" altLang="zh-CN" dirty="0"/>
          </a:p>
          <a:p>
            <a:pPr>
              <a:buNone/>
            </a:pPr>
            <a:r>
              <a:rPr lang="en-CA" altLang="zh-CN" dirty="0"/>
              <a:t>This naturally leads to a </a:t>
            </a:r>
            <a:r>
              <a:rPr lang="en-CA" altLang="zh-CN" b="1" dirty="0"/>
              <a:t>bipartite graph</a:t>
            </a:r>
            <a:r>
              <a:rPr lang="en-CA" altLang="zh-CN" dirty="0"/>
              <a:t> between odd and even foxes. Then we:</a:t>
            </a:r>
            <a:endParaRPr lang="en-CA" altLang="zh-CN" dirty="0"/>
          </a:p>
          <a:p>
            <a:pPr>
              <a:buFont typeface="+mj-lt"/>
              <a:buAutoNum type="arabicPeriod"/>
            </a:pPr>
            <a:r>
              <a:rPr lang="en-CA" altLang="zh-CN" dirty="0"/>
              <a:t>Add a </a:t>
            </a:r>
            <a:r>
              <a:rPr lang="en-CA" altLang="zh-CN" b="1" dirty="0"/>
              <a:t>source node</a:t>
            </a:r>
            <a:r>
              <a:rPr lang="en-CA" altLang="zh-CN" dirty="0"/>
              <a:t> connected to all odd foxes, and a </a:t>
            </a:r>
            <a:r>
              <a:rPr lang="en-CA" altLang="zh-CN" b="1" dirty="0"/>
              <a:t>sink node</a:t>
            </a:r>
            <a:r>
              <a:rPr lang="en-CA" altLang="zh-CN" dirty="0"/>
              <a:t> connected to all even foxes.</a:t>
            </a:r>
            <a:endParaRPr lang="en-CA" altLang="zh-CN" dirty="0"/>
          </a:p>
          <a:p>
            <a:pPr>
              <a:buFont typeface="+mj-lt"/>
              <a:buAutoNum type="arabicPeriod"/>
            </a:pPr>
            <a:r>
              <a:rPr lang="en-CA" altLang="zh-CN" dirty="0"/>
              <a:t>The edges between odd and even foxes exist if their age sum is prime — and we set all these edge capacities to 1.</a:t>
            </a:r>
            <a:endParaRPr lang="en-CA" altLang="zh-CN" dirty="0"/>
          </a:p>
          <a:p>
            <a:pPr>
              <a:buFont typeface="+mj-lt"/>
              <a:buAutoNum type="arabicPeriod"/>
            </a:pPr>
            <a:r>
              <a:rPr lang="en-CA" altLang="zh-CN" dirty="0"/>
              <a:t>The source-to-odd and even-to-sink edge capacities are set to 2. This enforces that every fox participates in exactly two edges, which is perfect because we want each fox to be part of a cycle.</a:t>
            </a:r>
            <a:endParaRPr lang="en-CA" altLang="zh-CN" dirty="0"/>
          </a:p>
          <a:p>
            <a:pPr>
              <a:buNone/>
            </a:pPr>
            <a:br>
              <a:rPr lang="en-CA" altLang="zh-CN" dirty="0"/>
            </a:br>
            <a:endParaRPr lang="en-CA" altLang="zh-CN" dirty="0"/>
          </a:p>
          <a:p>
            <a:pPr>
              <a:buNone/>
            </a:pPr>
            <a:r>
              <a:rPr lang="en-CA" altLang="zh-CN" dirty="0"/>
              <a:t>Finally, we run a max flow algorithm, like </a:t>
            </a:r>
            <a:r>
              <a:rPr lang="en-CA" altLang="zh-CN" b="1" dirty="0"/>
              <a:t>Ford-Fulkerson</a:t>
            </a:r>
            <a:r>
              <a:rPr lang="en-CA" altLang="zh-CN" dirty="0"/>
              <a:t> or </a:t>
            </a:r>
            <a:r>
              <a:rPr lang="en-CA" altLang="zh-CN" b="1" dirty="0" err="1"/>
              <a:t>Dinic’s</a:t>
            </a:r>
            <a:r>
              <a:rPr lang="en-CA" altLang="zh-CN" dirty="0"/>
              <a:t>. If the flow we get is less than n, it means there’s no way to seat all foxes validly, so we return </a:t>
            </a:r>
            <a:r>
              <a:rPr lang="en-CA" altLang="zh-CN" b="1" dirty="0"/>
              <a:t>Impossible</a:t>
            </a:r>
            <a:r>
              <a:rPr lang="en-CA" altLang="zh-CN" dirty="0"/>
              <a:t>.</a:t>
            </a:r>
            <a:endParaRPr lang="en-CA" altLang="zh-CN" dirty="0"/>
          </a:p>
          <a:p>
            <a:pPr>
              <a:buNone/>
            </a:pPr>
            <a:br>
              <a:rPr lang="en-CA" altLang="zh-CN" dirty="0"/>
            </a:br>
            <a:endParaRPr lang="en-CA" altLang="zh-CN" dirty="0"/>
          </a:p>
          <a:p>
            <a:pPr>
              <a:buNone/>
            </a:pPr>
            <a:r>
              <a:rPr lang="en-CA" altLang="zh-CN" dirty="0"/>
              <a:t>Otherwise, we can extract the matching from the residual graph and reconstruct all the valid cycles.</a:t>
            </a:r>
            <a:endParaRPr lang="en-CA" altLang="zh-CN" dirty="0"/>
          </a:p>
          <a:p>
            <a:pPr>
              <a:buNone/>
            </a:pPr>
            <a:br>
              <a:rPr lang="en-CA" altLang="zh-CN" dirty="0"/>
            </a:br>
            <a:endParaRPr lang="en-CA" altLang="zh-CN" dirty="0"/>
          </a:p>
          <a:p>
            <a:r>
              <a:rPr lang="en-CA" altLang="zh-CN" dirty="0"/>
              <a:t>That’s the whole plan: convert the problem to a graph, encode the constraints as edges and capacities, then let max flow handle the hard work.</a:t>
            </a:r>
            <a:endParaRPr lang="en-CA" altLang="zh-CN" dirty="0"/>
          </a:p>
          <a:p>
            <a:pPr>
              <a:buNone/>
            </a:pPr>
            <a:endParaRPr kumimoji="1"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CA" altLang="zh-CN" dirty="0"/>
              <a:t>Alright, so here’s where we get into the core of our algorithm — the main idea is to reduce this problem into something we know how to solve: a </a:t>
            </a:r>
            <a:r>
              <a:rPr lang="en-CA" altLang="zh-CN" b="1" dirty="0"/>
              <a:t>graph problem</a:t>
            </a:r>
            <a:r>
              <a:rPr lang="en-CA" altLang="zh-CN" dirty="0"/>
              <a:t>, more specifically, </a:t>
            </a:r>
            <a:r>
              <a:rPr lang="en-CA" altLang="zh-CN" b="1" dirty="0"/>
              <a:t>a cycle covering problem under prime adjacency constraints</a:t>
            </a:r>
            <a:r>
              <a:rPr lang="en-CA" altLang="zh-CN" dirty="0"/>
              <a:t>.</a:t>
            </a:r>
            <a:endParaRPr lang="en-CA" altLang="zh-CN" dirty="0"/>
          </a:p>
          <a:p>
            <a:pPr>
              <a:buNone/>
            </a:pPr>
            <a:br>
              <a:rPr lang="en-CA" altLang="zh-CN" dirty="0"/>
            </a:br>
            <a:endParaRPr lang="en-CA" altLang="zh-CN" dirty="0"/>
          </a:p>
          <a:p>
            <a:pPr>
              <a:buNone/>
            </a:pPr>
            <a:r>
              <a:rPr lang="en-CA" altLang="zh-CN" dirty="0"/>
              <a:t>We start by turning each fox into a </a:t>
            </a:r>
            <a:r>
              <a:rPr lang="en-CA" altLang="zh-CN" b="1" dirty="0"/>
              <a:t>node</a:t>
            </a:r>
            <a:r>
              <a:rPr lang="en-CA" altLang="zh-CN" dirty="0"/>
              <a:t>. Then, we draw an </a:t>
            </a:r>
            <a:r>
              <a:rPr lang="en-CA" altLang="zh-CN" b="1" dirty="0"/>
              <a:t>edge</a:t>
            </a:r>
            <a:r>
              <a:rPr lang="en-CA" altLang="zh-CN" dirty="0"/>
              <a:t> between any two foxes if the sum of their ages is a </a:t>
            </a:r>
            <a:r>
              <a:rPr lang="en-CA" altLang="zh-CN" b="1" dirty="0"/>
              <a:t>prime number</a:t>
            </a:r>
            <a:r>
              <a:rPr lang="en-CA" altLang="zh-CN" dirty="0"/>
              <a:t> — that’s our main condition. This gives us an undirected graph.</a:t>
            </a:r>
            <a:endParaRPr lang="en-CA" altLang="zh-CN" dirty="0"/>
          </a:p>
          <a:p>
            <a:pPr>
              <a:buNone/>
            </a:pPr>
            <a:br>
              <a:rPr lang="en-CA" altLang="zh-CN" dirty="0"/>
            </a:br>
            <a:endParaRPr lang="en-CA" altLang="zh-CN" dirty="0"/>
          </a:p>
          <a:p>
            <a:pPr>
              <a:buNone/>
            </a:pPr>
            <a:r>
              <a:rPr lang="en-CA" altLang="zh-CN" dirty="0"/>
              <a:t>But we’re not just matching foxes into pairs. The problem asks us to </a:t>
            </a:r>
            <a:r>
              <a:rPr lang="en-CA" altLang="zh-CN" b="1" dirty="0"/>
              <a:t>seat all foxes in cycles</a:t>
            </a:r>
            <a:r>
              <a:rPr lang="en-CA" altLang="zh-CN" dirty="0"/>
              <a:t>, each cycle having </a:t>
            </a:r>
            <a:r>
              <a:rPr lang="en-CA" altLang="zh-CN" b="1" dirty="0"/>
              <a:t>at least 3</a:t>
            </a:r>
            <a:r>
              <a:rPr lang="en-CA" altLang="zh-CN" dirty="0"/>
              <a:t> foxes, where every adjacent pair has a prime-sum edge. So instead of pair matching, we want to </a:t>
            </a:r>
            <a:r>
              <a:rPr lang="en-CA" altLang="zh-CN" b="1" dirty="0"/>
              <a:t>cover the entire graph using disjoint cycles of size at least 3</a:t>
            </a:r>
            <a:r>
              <a:rPr lang="en-CA" altLang="zh-CN" dirty="0"/>
              <a:t>.</a:t>
            </a:r>
            <a:endParaRPr lang="en-CA" altLang="zh-CN" dirty="0"/>
          </a:p>
          <a:p>
            <a:pPr>
              <a:buNone/>
            </a:pPr>
            <a:br>
              <a:rPr lang="en-CA" altLang="zh-CN" dirty="0"/>
            </a:br>
            <a:endParaRPr lang="en-CA" altLang="zh-CN" dirty="0"/>
          </a:p>
          <a:p>
            <a:pPr>
              <a:buNone/>
            </a:pPr>
            <a:r>
              <a:rPr lang="en-CA" altLang="zh-CN" dirty="0"/>
              <a:t>To make this tractable, we model it as a </a:t>
            </a:r>
            <a:r>
              <a:rPr lang="en-CA" altLang="zh-CN" b="1" dirty="0"/>
              <a:t>network flow problem</a:t>
            </a:r>
            <a:r>
              <a:rPr lang="en-CA" altLang="zh-CN" dirty="0"/>
              <a:t>.</a:t>
            </a:r>
            <a:endParaRPr lang="en-CA" altLang="zh-CN" dirty="0"/>
          </a:p>
          <a:p>
            <a:pPr>
              <a:buNone/>
            </a:pPr>
            <a:br>
              <a:rPr lang="en-CA" altLang="zh-CN" dirty="0"/>
            </a:br>
            <a:endParaRPr lang="en-CA" altLang="zh-CN" dirty="0"/>
          </a:p>
          <a:p>
            <a:pPr>
              <a:buNone/>
            </a:pPr>
            <a:r>
              <a:rPr lang="en-CA" altLang="zh-CN" dirty="0"/>
              <a:t>We first split the nodes into </a:t>
            </a:r>
            <a:r>
              <a:rPr lang="en-CA" altLang="zh-CN" b="1" dirty="0"/>
              <a:t>odd-aged foxes</a:t>
            </a:r>
            <a:r>
              <a:rPr lang="en-CA" altLang="zh-CN" dirty="0"/>
              <a:t> and </a:t>
            </a:r>
            <a:r>
              <a:rPr lang="en-CA" altLang="zh-CN" b="1" dirty="0"/>
              <a:t>even-aged foxes</a:t>
            </a:r>
            <a:r>
              <a:rPr lang="en-CA" altLang="zh-CN" dirty="0"/>
              <a:t>. Why? Because the sum of two odd or two even numbers is always even — and even + even is rarely prime. So a prime sum typically happens between an odd and an even number.</a:t>
            </a:r>
            <a:endParaRPr lang="en-CA" altLang="zh-CN" dirty="0"/>
          </a:p>
          <a:p>
            <a:pPr>
              <a:buNone/>
            </a:pPr>
            <a:br>
              <a:rPr lang="en-CA" altLang="zh-CN" dirty="0"/>
            </a:br>
            <a:endParaRPr lang="en-CA" altLang="zh-CN" dirty="0"/>
          </a:p>
          <a:p>
            <a:pPr>
              <a:buNone/>
            </a:pPr>
            <a:r>
              <a:rPr lang="en-CA" altLang="zh-CN" dirty="0"/>
              <a:t>This naturally leads to a </a:t>
            </a:r>
            <a:r>
              <a:rPr lang="en-CA" altLang="zh-CN" b="1" dirty="0"/>
              <a:t>bipartite graph</a:t>
            </a:r>
            <a:r>
              <a:rPr lang="en-CA" altLang="zh-CN" dirty="0"/>
              <a:t> between odd and even foxes. Then we:</a:t>
            </a:r>
            <a:endParaRPr lang="en-CA" altLang="zh-CN" dirty="0"/>
          </a:p>
          <a:p>
            <a:pPr>
              <a:buFont typeface="+mj-lt"/>
              <a:buAutoNum type="arabicPeriod"/>
            </a:pPr>
            <a:r>
              <a:rPr lang="en-CA" altLang="zh-CN" dirty="0"/>
              <a:t>Add a </a:t>
            </a:r>
            <a:r>
              <a:rPr lang="en-CA" altLang="zh-CN" b="1" dirty="0"/>
              <a:t>source node</a:t>
            </a:r>
            <a:r>
              <a:rPr lang="en-CA" altLang="zh-CN" dirty="0"/>
              <a:t> connected to all odd foxes, and a </a:t>
            </a:r>
            <a:r>
              <a:rPr lang="en-CA" altLang="zh-CN" b="1" dirty="0"/>
              <a:t>sink node</a:t>
            </a:r>
            <a:r>
              <a:rPr lang="en-CA" altLang="zh-CN" dirty="0"/>
              <a:t> connected to all even foxes.</a:t>
            </a:r>
            <a:endParaRPr lang="en-CA" altLang="zh-CN" dirty="0"/>
          </a:p>
          <a:p>
            <a:pPr>
              <a:buFont typeface="+mj-lt"/>
              <a:buAutoNum type="arabicPeriod"/>
            </a:pPr>
            <a:r>
              <a:rPr lang="en-CA" altLang="zh-CN" dirty="0"/>
              <a:t>The edges between odd and even foxes exist if their age sum is prime — and we set all these edge capacities to 1.</a:t>
            </a:r>
            <a:endParaRPr lang="en-CA" altLang="zh-CN" dirty="0"/>
          </a:p>
          <a:p>
            <a:pPr>
              <a:buFont typeface="+mj-lt"/>
              <a:buAutoNum type="arabicPeriod"/>
            </a:pPr>
            <a:r>
              <a:rPr lang="en-CA" altLang="zh-CN" dirty="0"/>
              <a:t>The source-to-odd and even-to-sink edge capacities are set to 2. This enforces that every fox participates in exactly two edges, which is perfect because we want each fox to be part of a cycle.</a:t>
            </a:r>
            <a:endParaRPr lang="en-CA" altLang="zh-CN" dirty="0"/>
          </a:p>
          <a:p>
            <a:pPr>
              <a:buNone/>
            </a:pPr>
            <a:br>
              <a:rPr lang="en-CA" altLang="zh-CN" dirty="0"/>
            </a:br>
            <a:endParaRPr lang="en-CA" altLang="zh-CN" dirty="0"/>
          </a:p>
          <a:p>
            <a:pPr>
              <a:buNone/>
            </a:pPr>
            <a:r>
              <a:rPr lang="en-CA" altLang="zh-CN" dirty="0"/>
              <a:t>Finally, we run a max flow algorithm, like </a:t>
            </a:r>
            <a:r>
              <a:rPr lang="en-CA" altLang="zh-CN" b="1" dirty="0"/>
              <a:t>Ford-Fulkerson</a:t>
            </a:r>
            <a:r>
              <a:rPr lang="en-CA" altLang="zh-CN" dirty="0"/>
              <a:t> or </a:t>
            </a:r>
            <a:r>
              <a:rPr lang="en-CA" altLang="zh-CN" b="1" dirty="0" err="1"/>
              <a:t>Dinic’s</a:t>
            </a:r>
            <a:r>
              <a:rPr lang="en-CA" altLang="zh-CN" dirty="0"/>
              <a:t>. If the flow we get is less than n, it means there’s no way to seat all foxes validly, so we return </a:t>
            </a:r>
            <a:r>
              <a:rPr lang="en-CA" altLang="zh-CN" b="1" dirty="0"/>
              <a:t>Impossible</a:t>
            </a:r>
            <a:r>
              <a:rPr lang="en-CA" altLang="zh-CN" dirty="0"/>
              <a:t>.</a:t>
            </a:r>
            <a:endParaRPr lang="en-CA" altLang="zh-CN" dirty="0"/>
          </a:p>
          <a:p>
            <a:pPr>
              <a:buNone/>
            </a:pPr>
            <a:br>
              <a:rPr lang="en-CA" altLang="zh-CN" dirty="0"/>
            </a:br>
            <a:endParaRPr lang="en-CA" altLang="zh-CN" dirty="0"/>
          </a:p>
          <a:p>
            <a:pPr>
              <a:buNone/>
            </a:pPr>
            <a:r>
              <a:rPr lang="en-CA" altLang="zh-CN" dirty="0"/>
              <a:t>Otherwise, we can extract the matching from the residual graph and reconstruct all the valid cycles.</a:t>
            </a:r>
            <a:endParaRPr lang="en-CA" altLang="zh-CN" dirty="0"/>
          </a:p>
          <a:p>
            <a:pPr>
              <a:buNone/>
            </a:pPr>
            <a:br>
              <a:rPr lang="en-CA" altLang="zh-CN" dirty="0"/>
            </a:br>
            <a:endParaRPr lang="en-CA" altLang="zh-CN" dirty="0"/>
          </a:p>
          <a:p>
            <a:r>
              <a:rPr lang="en-CA" altLang="zh-CN" dirty="0"/>
              <a:t>That’s the whole plan: convert the problem to a graph, encode the constraints as edges and capacities, then let max flow handle the hard work.</a:t>
            </a:r>
            <a:endParaRPr lang="en-CA" altLang="zh-CN" dirty="0"/>
          </a:p>
          <a:p>
            <a:pPr>
              <a:buNone/>
            </a:pPr>
            <a:endParaRPr kumimoji="1"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hangye/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74D82C0C-C644-4A82-88A5-DF470663871D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kumimoji="1" lang="zh-CN" altLang="en-US" smtClean="0"/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965031" y="3367444"/>
            <a:ext cx="453650" cy="13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  <a:endParaRPr lang="en-US" altLang="zh-CN" sz="100">
              <a:solidFill>
                <a:schemeClr val="tx1">
                  <a:alpha val="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8"/>
          <p:cNvSpPr txBox="1"/>
          <p:nvPr/>
        </p:nvSpPr>
        <p:spPr>
          <a:xfrm>
            <a:off x="7509627" y="2215277"/>
            <a:ext cx="540060" cy="13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  <a:endParaRPr lang="en-US" altLang="zh-CN" sz="100">
              <a:solidFill>
                <a:schemeClr val="tx1">
                  <a:alpha val="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标题 1"/>
          <p:cNvSpPr txBox="1"/>
          <p:nvPr/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44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j-lt"/>
                <a:ea typeface="+mj-ea"/>
                <a:cs typeface="+mj-cs"/>
                <a:sym typeface="Wingdings" panose="05000000000000000000"/>
              </a:defRPr>
            </a:lvl1pPr>
            <a:lvl2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90204"/>
                <a:ea typeface="Arial" panose="020B0604020202090204"/>
                <a:cs typeface="Arial" panose="020B0604020202090204"/>
                <a:sym typeface="Wingdings" panose="05000000000000000000"/>
              </a:defRPr>
            </a:lvl2pPr>
            <a:lvl3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90204"/>
                <a:ea typeface="Arial" panose="020B0604020202090204"/>
                <a:cs typeface="Arial" panose="020B0604020202090204"/>
                <a:sym typeface="Wingdings" panose="05000000000000000000"/>
              </a:defRPr>
            </a:lvl3pPr>
            <a:lvl4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90204"/>
                <a:ea typeface="Arial" panose="020B0604020202090204"/>
                <a:cs typeface="Arial" panose="020B0604020202090204"/>
                <a:sym typeface="Wingdings" panose="05000000000000000000"/>
              </a:defRPr>
            </a:lvl4pPr>
            <a:lvl5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90204"/>
                <a:ea typeface="Arial" panose="020B0604020202090204"/>
                <a:cs typeface="Arial" panose="020B0604020202090204"/>
                <a:sym typeface="Wingdings" panose="05000000000000000000"/>
              </a:defRPr>
            </a:lvl5pPr>
            <a:lvl6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90204"/>
                <a:ea typeface="Arial" panose="020B0604020202090204"/>
                <a:cs typeface="Arial" panose="020B0604020202090204"/>
                <a:sym typeface="Wingdings" panose="05000000000000000000"/>
              </a:defRPr>
            </a:lvl6pPr>
            <a:lvl7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90204"/>
                <a:ea typeface="Arial" panose="020B0604020202090204"/>
                <a:cs typeface="Arial" panose="020B0604020202090204"/>
                <a:sym typeface="Wingdings" panose="05000000000000000000"/>
              </a:defRPr>
            </a:lvl7pPr>
            <a:lvl8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90204"/>
                <a:ea typeface="Arial" panose="020B0604020202090204"/>
                <a:cs typeface="Arial" panose="020B0604020202090204"/>
                <a:sym typeface="Wingdings" panose="05000000000000000000"/>
              </a:defRPr>
            </a:lvl8pPr>
            <a:lvl9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90204"/>
                <a:ea typeface="Arial" panose="020B0604020202090204"/>
                <a:cs typeface="Arial" panose="020B0604020202090204"/>
                <a:sym typeface="Wingdings" panose="05000000000000000000"/>
              </a:defRPr>
            </a:lvl9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8" name="文本占位符 2"/>
          <p:cNvSpPr txBox="1"/>
          <p:nvPr/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 kumimoji="0" sz="24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1pPr>
            <a:lvl2pPr marL="457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 kumimoji="0" sz="20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2pPr>
            <a:lvl3pPr marL="9144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 kumimoji="0" sz="18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3pPr>
            <a:lvl4pPr marL="13716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4pPr>
            <a:lvl5pPr marL="18288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5pPr>
            <a:lvl6pPr marL="22860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6pPr>
            <a:lvl7pPr marL="2743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7pPr>
            <a:lvl8pPr marL="32004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8pPr>
            <a:lvl9pPr marL="36576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9" name="内容占位符 3"/>
          <p:cNvSpPr txBox="1"/>
          <p:nvPr/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•"/>
              <a:defRPr kumimoji="0" sz="2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1pPr>
            <a:lvl2pPr marL="685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•"/>
              <a:defRPr kumimoji="0" sz="24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•"/>
              <a:defRPr kumimoji="0" sz="20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5pPr>
            <a:lvl6pPr marL="25146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6pPr>
            <a:lvl7pPr marL="2971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7pPr>
            <a:lvl8pPr marL="3429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8pPr>
            <a:lvl9pPr marL="3886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0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1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2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3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9B957CC-A438-4D82-B305-2291493474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596E7-3A35-364D-89E6-9FEF85698C7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46954-FD34-F94F-A008-7A5046FE25D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transition spd="slow">
    <p:fade/>
  </p:transition>
  <p:hf sldNum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7596E7-3A35-364D-89E6-9FEF85698C7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46954-FD34-F94F-A008-7A5046FE25D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 spd="slow">
    <p:fade/>
  </p:transition>
  <p:hf sldNum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emf"/><Relationship Id="rId1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emf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microsoft.com/office/2007/relationships/hdphoto" Target="../media/image5.wdp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9.png"/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3.emf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emf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3.emf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image" Target="../media/image13.emf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3.emf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2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emf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32.png"/><Relationship Id="rId8" Type="http://schemas.openxmlformats.org/officeDocument/2006/relationships/image" Target="../media/image31.png"/><Relationship Id="rId7" Type="http://schemas.openxmlformats.org/officeDocument/2006/relationships/image" Target="../media/image30.png"/><Relationship Id="rId6" Type="http://schemas.openxmlformats.org/officeDocument/2006/relationships/image" Target="../media/image29.png"/><Relationship Id="rId5" Type="http://schemas.openxmlformats.org/officeDocument/2006/relationships/image" Target="../media/image18.png"/><Relationship Id="rId4" Type="http://schemas.openxmlformats.org/officeDocument/2006/relationships/image" Target="../media/image28.png"/><Relationship Id="rId3" Type="http://schemas.openxmlformats.org/officeDocument/2006/relationships/image" Target="../media/image27.png"/><Relationship Id="rId2" Type="http://schemas.openxmlformats.org/officeDocument/2006/relationships/image" Target="../media/image17.png"/><Relationship Id="rId12" Type="http://schemas.openxmlformats.org/officeDocument/2006/relationships/notesSlide" Target="../notesSlides/notesSlide13.x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33.png"/><Relationship Id="rId1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5.emf"/><Relationship Id="rId1" Type="http://schemas.openxmlformats.org/officeDocument/2006/relationships/image" Target="../media/image34.emf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hyperlink" Target="https://en.wikipedia.org/wiki/Primality_test#Heuristic_tests" TargetMode="External"/><Relationship Id="rId2" Type="http://schemas.openxmlformats.org/officeDocument/2006/relationships/hyperlink" Target="https://codeforces.com/blog/entry/16173" TargetMode="External"/><Relationship Id="rId1" Type="http://schemas.openxmlformats.org/officeDocument/2006/relationships/hyperlink" Target="https://codeforces.com/contest/510/problem/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/>
          <p:cNvSpPr/>
          <p:nvPr/>
        </p:nvSpPr>
        <p:spPr>
          <a:xfrm>
            <a:off x="407986" y="424515"/>
            <a:ext cx="11376028" cy="60286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9711301" y="448125"/>
            <a:ext cx="2072713" cy="2056478"/>
            <a:chOff x="6473736" y="1499330"/>
            <a:chExt cx="3300348" cy="3300348"/>
          </a:xfrm>
        </p:grpSpPr>
        <p:pic>
          <p:nvPicPr>
            <p:cNvPr id="5" name="图片 4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473736" y="1499330"/>
              <a:ext cx="3300348" cy="3300348"/>
            </a:xfrm>
            <a:prstGeom prst="rect">
              <a:avLst/>
            </a:prstGeom>
          </p:spPr>
        </p:pic>
        <p:pic>
          <p:nvPicPr>
            <p:cNvPr id="7" name="图片 6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012857" y="2084025"/>
              <a:ext cx="2268878" cy="2219554"/>
            </a:xfrm>
            <a:prstGeom prst="rect">
              <a:avLst/>
            </a:prstGeom>
          </p:spPr>
        </p:pic>
      </p:grpSp>
      <p:sp>
        <p:nvSpPr>
          <p:cNvPr id="8" name="文本框 7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/>
          <p:cNvSpPr txBox="1"/>
          <p:nvPr/>
        </p:nvSpPr>
        <p:spPr>
          <a:xfrm>
            <a:off x="3834130" y="4394835"/>
            <a:ext cx="4210685" cy="450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en-US" altLang="en-US" spc="200" dirty="0">
                <a:solidFill>
                  <a:schemeClr val="tx1">
                    <a:lumMod val="85000"/>
                    <a:lumOff val="15000"/>
                  </a:schemeClr>
                </a:solidFill>
                <a:latin typeface="Corbel" panose="020B0503020204020204" pitchFamily="34" charset="0"/>
                <a:ea typeface="Josefin Sans" charset="0"/>
                <a:cs typeface="Times New Roman" panose="02020503050405090304" pitchFamily="18" charset="0"/>
              </a:rPr>
              <a:t>Changze Wu &amp; Yucheng Cheng</a:t>
            </a:r>
            <a:endParaRPr kumimoji="1" lang="zh-CN" altLang="en-US" spc="200" dirty="0">
              <a:solidFill>
                <a:schemeClr val="tx1">
                  <a:lumMod val="85000"/>
                  <a:lumOff val="15000"/>
                </a:schemeClr>
              </a:solidFill>
              <a:latin typeface="Corbel" panose="020B0503020204020204" pitchFamily="34" charset="0"/>
              <a:ea typeface="Josefin Sans" charset="0"/>
              <a:cs typeface="Times New Roman" panose="02020503050405090304" pitchFamily="18" charset="0"/>
            </a:endParaRPr>
          </a:p>
        </p:txBody>
      </p:sp>
      <p:sp>
        <p:nvSpPr>
          <p:cNvPr id="12" name="文本框 11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/>
          <p:cNvSpPr txBox="1"/>
          <p:nvPr/>
        </p:nvSpPr>
        <p:spPr>
          <a:xfrm>
            <a:off x="1828800" y="2231277"/>
            <a:ext cx="8221084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en-US" sz="3200" b="1" spc="800" dirty="0">
                <a:solidFill>
                  <a:srgbClr val="C00000"/>
                </a:solidFill>
                <a:latin typeface="Times New Roman" panose="02020503050405090304" pitchFamily="18" charset="0"/>
                <a:ea typeface="Josefin Sans" charset="0"/>
                <a:cs typeface="Times New Roman" panose="02020503050405090304" pitchFamily="18" charset="0"/>
              </a:rPr>
              <a:t>Fox and Dinner: </a:t>
            </a:r>
            <a:endParaRPr kumimoji="1" lang="en-US" altLang="en-US" sz="3200" b="1" spc="800" dirty="0">
              <a:solidFill>
                <a:srgbClr val="C00000"/>
              </a:solidFill>
              <a:latin typeface="Times New Roman" panose="02020503050405090304" pitchFamily="18" charset="0"/>
              <a:ea typeface="Josefin Sans" charset="0"/>
              <a:cs typeface="Times New Roman" panose="02020503050405090304" pitchFamily="18" charset="0"/>
            </a:endParaRPr>
          </a:p>
          <a:p>
            <a:pPr algn="ctr"/>
            <a:r>
              <a:rPr kumimoji="1" lang="en-US" altLang="en-US" sz="3200" b="1" spc="800" dirty="0">
                <a:latin typeface="Times New Roman" panose="02020503050405090304" pitchFamily="18" charset="0"/>
                <a:ea typeface="Josefin Sans" charset="0"/>
                <a:cs typeface="Times New Roman" panose="02020503050405090304" pitchFamily="18" charset="0"/>
              </a:rPr>
              <a:t>Using Max-Flow</a:t>
            </a:r>
            <a:endParaRPr kumimoji="1" lang="zh-CN" altLang="en-US" sz="3200" b="1" spc="800" dirty="0">
              <a:latin typeface="Times New Roman" panose="02020503050405090304" pitchFamily="18" charset="0"/>
              <a:ea typeface="Josefin Sans" charset="0"/>
              <a:cs typeface="Times New Roman" panose="02020503050405090304" pitchFamily="18" charset="0"/>
            </a:endParaRPr>
          </a:p>
        </p:txBody>
      </p:sp>
      <p:sp>
        <p:nvSpPr>
          <p:cNvPr id="18" name="矩形 17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/>
          <p:cNvSpPr/>
          <p:nvPr/>
        </p:nvSpPr>
        <p:spPr>
          <a:xfrm>
            <a:off x="407986" y="4941889"/>
            <a:ext cx="1150938" cy="1511300"/>
          </a:xfrm>
          <a:prstGeom prst="rect">
            <a:avLst/>
          </a:prstGeom>
          <a:pattFill prst="wdUpDiag">
            <a:fgClr>
              <a:schemeClr val="bg2">
                <a:lumMod val="1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e7d195523061f1c0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 hidden="1"/>
          <p:cNvSpPr txBox="1"/>
          <p:nvPr/>
        </p:nvSpPr>
        <p:spPr>
          <a:xfrm>
            <a:off x="-355600" y="1803400"/>
            <a:ext cx="262251" cy="1016000"/>
          </a:xfrm>
          <a:prstGeom prst="rect">
            <a:avLst/>
          </a:prstGeom>
          <a:noFill/>
        </p:spPr>
        <p:txBody>
          <a:bodyPr vert="wordArtVert" rtlCol="0">
            <a:spAutoFit/>
          </a:bodyPr>
          <a:lstStyle/>
          <a:p>
            <a:r>
              <a:rPr lang="en-US" altLang="zh-CN" sz="100"/>
              <a:t>e7d195523061f1c01d60fa9f1cfcbfb3d7dea265119d71e15FBB43640B43E9A75E03FE54C774D5D4779ED45933E78901D3CB0E69E39D04A9E1E9B25CF060C4BCA4D072860494D0D8E683C2FE58414E15A257B8C98CAC931B2A91D95E391D8F56A6B197C339044743E4A827576812018FE092D8F796C38DC487F641821CDDB0736DD3EE0F684ACE40</a:t>
            </a:r>
            <a:endParaRPr lang="zh-CN" altLang="en-US" sz="100"/>
          </a:p>
        </p:txBody>
      </p:sp>
      <p:sp>
        <p:nvSpPr>
          <p:cNvPr id="4" name="文本框 3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/>
          <p:cNvSpPr txBox="1"/>
          <p:nvPr/>
        </p:nvSpPr>
        <p:spPr>
          <a:xfrm>
            <a:off x="1828800" y="3877594"/>
            <a:ext cx="8221084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b="1" spc="800" dirty="0">
                <a:latin typeface="Times New Roman" panose="02020503050405090304" pitchFamily="18" charset="0"/>
                <a:ea typeface="Josefin Sans" charset="0"/>
                <a:cs typeface="Times New Roman" panose="02020503050405090304" pitchFamily="18" charset="0"/>
              </a:rPr>
              <a:t>CSCC73 Final Presentation</a:t>
            </a:r>
            <a:endParaRPr kumimoji="1" lang="zh-CN" altLang="en-US" b="1" spc="800" dirty="0">
              <a:latin typeface="Times New Roman" panose="02020503050405090304" pitchFamily="18" charset="0"/>
              <a:ea typeface="Josefin Sans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/>
          <p:cNvSpPr txBox="1"/>
          <p:nvPr/>
        </p:nvSpPr>
        <p:spPr>
          <a:xfrm rot="5400000">
            <a:off x="1673501" y="2607598"/>
            <a:ext cx="59230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haroni" pitchFamily="2" charset="-79"/>
                <a:ea typeface="Josefin Sans" charset="0"/>
                <a:cs typeface="Aharoni" pitchFamily="2" charset="-79"/>
              </a:rPr>
              <a:t>C   O   N   T   E   N   T</a:t>
            </a:r>
            <a:endParaRPr kumimoji="1" lang="zh-CN" altLang="en-US" sz="4000" b="1" dirty="0">
              <a:solidFill>
                <a:schemeClr val="tx1">
                  <a:lumMod val="85000"/>
                  <a:lumOff val="15000"/>
                </a:schemeClr>
              </a:solidFill>
              <a:latin typeface="Aharoni" pitchFamily="2" charset="-79"/>
              <a:ea typeface="Josefin Sans" charset="0"/>
              <a:cs typeface="Aharoni" pitchFamily="2" charset="-79"/>
            </a:endParaRPr>
          </a:p>
        </p:txBody>
      </p:sp>
      <p:pic>
        <p:nvPicPr>
          <p:cNvPr id="20" name="图片 19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675055" y="-631780"/>
            <a:ext cx="7945003" cy="8121559"/>
          </a:xfrm>
          <a:prstGeom prst="rect">
            <a:avLst/>
          </a:prstGeom>
        </p:spPr>
      </p:pic>
      <p:sp>
        <p:nvSpPr>
          <p:cNvPr id="6" name="e7d195523061f1c0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 hidden="1"/>
          <p:cNvSpPr txBox="1"/>
          <p:nvPr/>
        </p:nvSpPr>
        <p:spPr>
          <a:xfrm>
            <a:off x="-355600" y="1803400"/>
            <a:ext cx="262251" cy="1016000"/>
          </a:xfrm>
          <a:prstGeom prst="rect">
            <a:avLst/>
          </a:prstGeom>
          <a:noFill/>
        </p:spPr>
        <p:txBody>
          <a:bodyPr vert="wordArtVert" rtlCol="0">
            <a:spAutoFit/>
          </a:bodyPr>
          <a:lstStyle/>
          <a:p>
            <a:r>
              <a:rPr lang="en-US" altLang="zh-CN" sz="100"/>
              <a:t>e7d195523061f1c01d60fa9f1cfcbfb3d7dea265119d71e15FBB43640B43E9A75E03FE54C774D5D4779ED45933E78901D3CB0E69E39D04A9E1E9B25CF060C4BCA4D072860494D0D8E683C2FE58414E15A257B8C98CAC931B2A91D95E391D8F56A6B197C339044743E4A827576812018FE092D8F796C38DC487F641821CDDB0736DD3EE0F684ACE40</a:t>
            </a:r>
            <a:endParaRPr lang="zh-CN" altLang="en-US" sz="100"/>
          </a:p>
        </p:txBody>
      </p:sp>
      <p:grpSp>
        <p:nvGrpSpPr>
          <p:cNvPr id="3" name="组合 2"/>
          <p:cNvGrpSpPr/>
          <p:nvPr/>
        </p:nvGrpSpPr>
        <p:grpSpPr>
          <a:xfrm>
            <a:off x="6096000" y="968750"/>
            <a:ext cx="5734067" cy="4388405"/>
            <a:chOff x="5763167" y="834280"/>
            <a:chExt cx="5734067" cy="4388405"/>
          </a:xfrm>
        </p:grpSpPr>
        <p:sp>
          <p:nvSpPr>
            <p:cNvPr id="13" name="文本框 12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/>
            <p:cNvSpPr txBox="1"/>
            <p:nvPr/>
          </p:nvSpPr>
          <p:spPr>
            <a:xfrm>
              <a:off x="5763168" y="834280"/>
              <a:ext cx="4698643" cy="7988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Josefin Sans" charset="0"/>
                  <a:ea typeface="Josefin Sans" charset="0"/>
                  <a:cs typeface="Josefin Sans" charset="0"/>
                </a:rPr>
                <a:t>Part.01</a:t>
              </a:r>
              <a:endParaRPr kumimoji="1"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Josefin Sans" charset="0"/>
                <a:ea typeface="Josefin Sans" charset="0"/>
                <a:cs typeface="Josefin Sans" charset="0"/>
              </a:endParaRPr>
            </a:p>
            <a:p>
              <a:r>
                <a:rPr kumimoji="1"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Josefin Sans" charset="0"/>
                  <a:ea typeface="Josefin Sans" charset="0"/>
                  <a:cs typeface="Josefin Sans" charset="0"/>
                </a:rPr>
                <a:t>Problem Background &amp; Definition</a:t>
              </a:r>
              <a:endParaRPr kumimoji="1"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Josefin Sans" charset="0"/>
                <a:ea typeface="Josefin Sans" charset="0"/>
                <a:cs typeface="Josefin Sans" charset="0"/>
              </a:endParaRPr>
            </a:p>
          </p:txBody>
        </p:sp>
        <p:sp>
          <p:nvSpPr>
            <p:cNvPr id="14" name="文本框 13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/>
            <p:cNvSpPr txBox="1"/>
            <p:nvPr/>
          </p:nvSpPr>
          <p:spPr>
            <a:xfrm>
              <a:off x="5763167" y="2030620"/>
              <a:ext cx="2524760" cy="7988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Josefin Sans" charset="0"/>
                  <a:ea typeface="Josefin Sans" charset="0"/>
                  <a:cs typeface="Josefin Sans" charset="0"/>
                </a:rPr>
                <a:t>Part.02</a:t>
              </a:r>
              <a:endParaRPr kumimoji="1"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Josefin Sans" charset="0"/>
                <a:ea typeface="Josefin Sans" charset="0"/>
                <a:cs typeface="Josefin Sans" charset="0"/>
              </a:endParaRPr>
            </a:p>
            <a:p>
              <a:r>
                <a:rPr kumimoji="1"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Josefin Sans" charset="0"/>
                  <a:ea typeface="Josefin Sans" charset="0"/>
                  <a:cs typeface="Josefin Sans" charset="0"/>
                </a:rPr>
                <a:t>Algorithm Intuition</a:t>
              </a:r>
              <a:endParaRPr kumimoji="1"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Josefin Sans" charset="0"/>
                <a:ea typeface="Josefin Sans" charset="0"/>
                <a:cs typeface="Josefin Sans" charset="0"/>
              </a:endParaRPr>
            </a:p>
          </p:txBody>
        </p:sp>
        <p:sp>
          <p:nvSpPr>
            <p:cNvPr id="12" name="文本框 11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/>
            <p:cNvSpPr txBox="1"/>
            <p:nvPr/>
          </p:nvSpPr>
          <p:spPr>
            <a:xfrm>
              <a:off x="5763167" y="3227330"/>
              <a:ext cx="5424785" cy="7988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Josefin Sans" charset="0"/>
                  <a:ea typeface="Josefin Sans" charset="0"/>
                  <a:cs typeface="Josefin Sans" charset="0"/>
                </a:rPr>
                <a:t>Part.03</a:t>
              </a:r>
              <a:endParaRPr kumimoji="1"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Josefin Sans" charset="0"/>
                <a:ea typeface="Josefin Sans" charset="0"/>
                <a:cs typeface="Josefin Sans" charset="0"/>
              </a:endParaRPr>
            </a:p>
            <a:p>
              <a:r>
                <a:rPr kumimoji="1"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Josefin Sans" charset="0"/>
                  <a:ea typeface="Josefin Sans" charset="0"/>
                  <a:cs typeface="Josefin Sans" charset="0"/>
                </a:rPr>
                <a:t>Algorithm Description &amp; Time Complexity</a:t>
              </a:r>
              <a:endParaRPr kumimoji="1"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Josefin Sans" charset="0"/>
                <a:ea typeface="Josefin Sans" charset="0"/>
                <a:cs typeface="Josefin Sans" charset="0"/>
              </a:endParaRPr>
            </a:p>
          </p:txBody>
        </p:sp>
        <p:sp>
          <p:nvSpPr>
            <p:cNvPr id="2" name="文本框 1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/>
            <p:cNvSpPr txBox="1"/>
            <p:nvPr/>
          </p:nvSpPr>
          <p:spPr>
            <a:xfrm>
              <a:off x="5763167" y="4423855"/>
              <a:ext cx="5734067" cy="7988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Josefin Sans" charset="0"/>
                  <a:ea typeface="Josefin Sans" charset="0"/>
                  <a:cs typeface="Josefin Sans" charset="0"/>
                </a:rPr>
                <a:t>Part.04</a:t>
              </a:r>
              <a:endParaRPr kumimoji="1"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Josefin Sans" charset="0"/>
                <a:ea typeface="Josefin Sans" charset="0"/>
                <a:cs typeface="Josefin Sans" charset="0"/>
              </a:endParaRPr>
            </a:p>
            <a:p>
              <a:r>
                <a:rPr kumimoji="1"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Josefin Sans" charset="0"/>
                  <a:ea typeface="Josefin Sans" charset="0"/>
                  <a:cs typeface="Josefin Sans" charset="0"/>
                </a:rPr>
                <a:t>Proof of Correctness &amp; Time Analysis</a:t>
              </a:r>
              <a:endParaRPr kumimoji="1"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Josefin Sans" charset="0"/>
                <a:ea typeface="Josefin Sans" charset="0"/>
                <a:cs typeface="Josefin Sans" charset="0"/>
              </a:endParaRPr>
            </a:p>
          </p:txBody>
        </p:sp>
      </p:grp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/>
          <p:cNvSpPr txBox="1"/>
          <p:nvPr/>
        </p:nvSpPr>
        <p:spPr>
          <a:xfrm>
            <a:off x="145686" y="223898"/>
            <a:ext cx="47111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en-US" spc="100" dirty="0">
                <a:solidFill>
                  <a:schemeClr val="tx1">
                    <a:lumMod val="85000"/>
                    <a:lumOff val="15000"/>
                  </a:schemeClr>
                </a:solidFill>
                <a:ea typeface="Playfair Display" panose="00000500000000000000" charset="0"/>
                <a:cs typeface="Playfair Display" panose="00000500000000000000" charset="0"/>
              </a:rPr>
              <a:t>Part.01 Problem Background &amp; Definition</a:t>
            </a:r>
            <a:endParaRPr kumimoji="1" lang="zh-CN" altLang="en-US" spc="100" dirty="0">
              <a:solidFill>
                <a:schemeClr val="tx1">
                  <a:lumMod val="85000"/>
                  <a:lumOff val="15000"/>
                </a:schemeClr>
              </a:solidFill>
              <a:ea typeface="Playfair Display" panose="00000500000000000000" charset="0"/>
              <a:cs typeface="Playfair Display" panose="00000500000000000000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641854" y="797279"/>
            <a:ext cx="5126355" cy="2406015"/>
            <a:chOff x="699004" y="854429"/>
            <a:chExt cx="5126355" cy="2406015"/>
          </a:xfrm>
        </p:grpSpPr>
        <p:sp>
          <p:nvSpPr>
            <p:cNvPr id="10" name="文本框 9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/>
            <p:cNvSpPr txBox="1"/>
            <p:nvPr/>
          </p:nvSpPr>
          <p:spPr>
            <a:xfrm>
              <a:off x="699004" y="854429"/>
              <a:ext cx="471119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lt"/>
                  <a:ea typeface="Josefin Sans" charset="0"/>
                  <a:cs typeface="Josefin Sans" charset="0"/>
                </a:rPr>
                <a:t>The Scenario</a:t>
              </a:r>
              <a:endParaRPr kumimoji="1" lang="en-US" altLang="zh-CN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Josefin Sans" charset="0"/>
                <a:cs typeface="Josefin Sans" charset="0"/>
              </a:endParaRPr>
            </a:p>
          </p:txBody>
        </p:sp>
        <p:sp>
          <p:nvSpPr>
            <p:cNvPr id="11" name="Rectangle 7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/>
            <p:cNvSpPr/>
            <p:nvPr/>
          </p:nvSpPr>
          <p:spPr>
            <a:xfrm>
              <a:off x="789809" y="1342109"/>
              <a:ext cx="5035550" cy="191833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10000"/>
                </a:lnSpc>
                <a:buFont typeface="Arial" panose="020B0604020202090204" pitchFamily="34" charset="0"/>
                <a:buChar char="•"/>
              </a:pPr>
              <a:r>
                <a:rPr lang="en-CA" altLang="zh-CN" dirty="0">
                  <a:ea typeface="Josefin Sans" charset="0"/>
                  <a:cs typeface="Josefin Sans" charset="0"/>
                </a:rPr>
                <a:t>Fox Ciel is hosting a dinner party in the </a:t>
              </a:r>
              <a:r>
                <a:rPr lang="en-CA" altLang="zh-CN" dirty="0">
                  <a:solidFill>
                    <a:srgbClr val="C00000"/>
                  </a:solidFill>
                  <a:ea typeface="Josefin Sans" charset="0"/>
                  <a:cs typeface="Josefin Sans" charset="0"/>
                </a:rPr>
                <a:t>Prime Kingdom</a:t>
              </a:r>
              <a:r>
                <a:rPr lang="en-CA" altLang="zh-CN" dirty="0">
                  <a:ea typeface="Josefin Sans" charset="0"/>
                  <a:cs typeface="Josefin Sans" charset="0"/>
                </a:rPr>
                <a:t>.</a:t>
              </a:r>
              <a:endParaRPr lang="en-CA" altLang="zh-CN" dirty="0">
                <a:ea typeface="Josefin Sans" charset="0"/>
                <a:cs typeface="Josefin Sans" charset="0"/>
              </a:endParaRPr>
            </a:p>
            <a:p>
              <a:pPr marL="285750" indent="-285750">
                <a:lnSpc>
                  <a:spcPct val="110000"/>
                </a:lnSpc>
                <a:buFont typeface="Arial" panose="020B0604020202090204" pitchFamily="34" charset="0"/>
                <a:buChar char="•"/>
              </a:pPr>
              <a:r>
                <a:rPr lang="en-CA" altLang="zh-CN" dirty="0">
                  <a:ea typeface="Josefin Sans" charset="0"/>
                  <a:cs typeface="Josefin Sans" charset="0"/>
                </a:rPr>
                <a:t>There are </a:t>
              </a:r>
              <a:r>
                <a:rPr lang="en-CA" altLang="zh-CN" dirty="0">
                  <a:solidFill>
                    <a:srgbClr val="C00000"/>
                  </a:solidFill>
                  <a:ea typeface="Josefin Sans" charset="0"/>
                  <a:cs typeface="Josefin Sans" charset="0"/>
                </a:rPr>
                <a:t>n foxes</a:t>
              </a:r>
              <a:r>
                <a:rPr lang="en-CA" altLang="zh-CN" dirty="0">
                  <a:ea typeface="Josefin Sans" charset="0"/>
                  <a:cs typeface="Josefin Sans" charset="0"/>
                </a:rPr>
                <a:t>, each with a positive integer age.</a:t>
              </a:r>
              <a:endParaRPr lang="en-CA" altLang="zh-CN" dirty="0">
                <a:ea typeface="Josefin Sans" charset="0"/>
                <a:cs typeface="Josefin Sans" charset="0"/>
              </a:endParaRPr>
            </a:p>
            <a:p>
              <a:pPr marL="285750" indent="-285750">
                <a:lnSpc>
                  <a:spcPct val="110000"/>
                </a:lnSpc>
                <a:buFont typeface="Arial" panose="020B0604020202090204" pitchFamily="34" charset="0"/>
                <a:buChar char="•"/>
              </a:pPr>
              <a:r>
                <a:rPr lang="en-CA" altLang="zh-CN" dirty="0">
                  <a:ea typeface="Josefin Sans" charset="0"/>
                  <a:cs typeface="Josefin Sans" charset="0"/>
                </a:rPr>
                <a:t>The foxes must sit around one or more </a:t>
              </a:r>
              <a:r>
                <a:rPr lang="en-CA" altLang="zh-CN" dirty="0">
                  <a:solidFill>
                    <a:srgbClr val="C00000"/>
                  </a:solidFill>
                  <a:ea typeface="Josefin Sans" charset="0"/>
                  <a:cs typeface="Josefin Sans" charset="0"/>
                </a:rPr>
                <a:t>round tables </a:t>
              </a:r>
              <a:r>
                <a:rPr lang="en-CA" altLang="zh-CN" dirty="0">
                  <a:ea typeface="Josefin Sans" charset="0"/>
                  <a:cs typeface="Josefin Sans" charset="0"/>
                </a:rPr>
                <a:t>for dinner.</a:t>
              </a:r>
              <a:endParaRPr lang="en-CA" altLang="zh-CN" dirty="0">
                <a:ea typeface="Josefin Sans" charset="0"/>
                <a:cs typeface="Josefin Sans" charset="0"/>
              </a:endParaRPr>
            </a:p>
          </p:txBody>
        </p:sp>
      </p:grpSp>
      <p:sp>
        <p:nvSpPr>
          <p:cNvPr id="4" name="e7d195523061f1c0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 hidden="1"/>
          <p:cNvSpPr txBox="1"/>
          <p:nvPr/>
        </p:nvSpPr>
        <p:spPr>
          <a:xfrm>
            <a:off x="-355600" y="1803400"/>
            <a:ext cx="262251" cy="1016000"/>
          </a:xfrm>
          <a:prstGeom prst="rect">
            <a:avLst/>
          </a:prstGeom>
          <a:noFill/>
        </p:spPr>
        <p:txBody>
          <a:bodyPr vert="wordArtVert" rtlCol="0">
            <a:spAutoFit/>
          </a:bodyPr>
          <a:lstStyle/>
          <a:p>
            <a:r>
              <a:rPr lang="en-US" altLang="zh-CN" sz="100"/>
              <a:t>e7d195523061f1c01d60fa9f1cfcbfb3d7dea265119d71e15FBB43640B43E9A75E03FE54C774D5D4779ED45933E78901D3CB0E69E39D04A9E1E9B25CF060C4BCA4D072860494D0D8E683C2FE58414E15A257B8C98CAC931B2A91D95E391D8F56A6B197C339044743E4A827576812018FE092D8F796C38DC487F641821CDDB0736DD3EE0F684ACE40</a:t>
            </a:r>
            <a:endParaRPr lang="zh-CN" altLang="en-US" sz="10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0"/>
                </a:srgbClr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10814" b="89186" l="10000" r="90000">
                        <a14:backgroundMark x1="7700" y1="42188" x2="7700" y2="42188"/>
                        <a14:backgroundMark x1="10338" y1="42188" x2="11603" y2="70938"/>
                        <a14:backgroundMark x1="11920" y1="24063" x2="12025" y2="48750"/>
                        <a14:backgroundMark x1="12025" y1="48750" x2="18565" y2="7203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018" b="1018"/>
          <a:stretch>
            <a:fillRect/>
          </a:stretch>
        </p:blipFill>
        <p:spPr>
          <a:xfrm>
            <a:off x="6781803" y="293980"/>
            <a:ext cx="4119827" cy="272470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grpSp>
        <p:nvGrpSpPr>
          <p:cNvPr id="12" name="组合 11"/>
          <p:cNvGrpSpPr/>
          <p:nvPr/>
        </p:nvGrpSpPr>
        <p:grpSpPr>
          <a:xfrm>
            <a:off x="664714" y="3495084"/>
            <a:ext cx="5274310" cy="2689225"/>
            <a:chOff x="699004" y="854429"/>
            <a:chExt cx="5274310" cy="2689225"/>
          </a:xfrm>
        </p:grpSpPr>
        <p:sp>
          <p:nvSpPr>
            <p:cNvPr id="13" name="文本框 12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/>
            <p:cNvSpPr txBox="1"/>
            <p:nvPr/>
          </p:nvSpPr>
          <p:spPr>
            <a:xfrm>
              <a:off x="699004" y="854429"/>
              <a:ext cx="471119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lt"/>
                  <a:ea typeface="Josefin Sans" charset="0"/>
                  <a:cs typeface="Josefin Sans" charset="0"/>
                </a:rPr>
                <a:t>The Constraints</a:t>
              </a:r>
              <a:endParaRPr kumimoji="1" lang="en-US" altLang="zh-CN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Josefin Sans" charset="0"/>
                <a:cs typeface="Josefin Sans" charset="0"/>
              </a:endParaRPr>
            </a:p>
          </p:txBody>
        </p:sp>
        <p:sp>
          <p:nvSpPr>
            <p:cNvPr id="14" name="Rectangle 7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/>
            <p:cNvSpPr/>
            <p:nvPr/>
          </p:nvSpPr>
          <p:spPr>
            <a:xfrm>
              <a:off x="789809" y="1320519"/>
              <a:ext cx="5183505" cy="222313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10000"/>
                </a:lnSpc>
                <a:buFont typeface="Arial" panose="020B0604020202090204" pitchFamily="34" charset="0"/>
                <a:buChar char="•"/>
              </a:pPr>
              <a:r>
                <a:rPr lang="en-US" dirty="0">
                  <a:ea typeface="Josefin Sans" charset="0"/>
                  <a:cs typeface="Josefin Sans" charset="0"/>
                </a:rPr>
                <a:t>Each fox must sit </a:t>
              </a:r>
              <a:r>
                <a:rPr lang="en-US" dirty="0">
                  <a:solidFill>
                    <a:srgbClr val="C00000"/>
                  </a:solidFill>
                  <a:ea typeface="Josefin Sans" charset="0"/>
                  <a:cs typeface="Josefin Sans" charset="0"/>
                </a:rPr>
                <a:t>at exactly one table</a:t>
              </a:r>
              <a:r>
                <a:rPr lang="en-US" dirty="0">
                  <a:ea typeface="Josefin Sans" charset="0"/>
                  <a:cs typeface="Josefin Sans" charset="0"/>
                </a:rPr>
                <a:t>.</a:t>
              </a:r>
              <a:endParaRPr lang="en-US" dirty="0">
                <a:ea typeface="Josefin Sans" charset="0"/>
                <a:cs typeface="Josefin Sans" charset="0"/>
              </a:endParaRPr>
            </a:p>
            <a:p>
              <a:pPr marL="285750" indent="-285750">
                <a:lnSpc>
                  <a:spcPct val="110000"/>
                </a:lnSpc>
                <a:buFont typeface="Arial" panose="020B0604020202090204" pitchFamily="34" charset="0"/>
                <a:buChar char="•"/>
              </a:pPr>
              <a:r>
                <a:rPr lang="en-US" dirty="0">
                  <a:ea typeface="Josefin Sans" charset="0"/>
                  <a:cs typeface="Josefin Sans" charset="0"/>
                </a:rPr>
                <a:t>Each table must seat </a:t>
              </a:r>
              <a:r>
                <a:rPr lang="en-US" dirty="0">
                  <a:solidFill>
                    <a:srgbClr val="C00000"/>
                  </a:solidFill>
                  <a:ea typeface="Josefin Sans" charset="0"/>
                  <a:cs typeface="Josefin Sans" charset="0"/>
                </a:rPr>
                <a:t>at least 3 foxes</a:t>
              </a:r>
              <a:r>
                <a:rPr lang="en-US" dirty="0">
                  <a:ea typeface="Josefin Sans" charset="0"/>
                  <a:cs typeface="Josefin Sans" charset="0"/>
                </a:rPr>
                <a:t>.</a:t>
              </a:r>
              <a:endParaRPr lang="en-US" dirty="0">
                <a:ea typeface="Josefin Sans" charset="0"/>
                <a:cs typeface="Josefin Sans" charset="0"/>
              </a:endParaRPr>
            </a:p>
            <a:p>
              <a:pPr marL="285750" indent="-285750">
                <a:lnSpc>
                  <a:spcPct val="110000"/>
                </a:lnSpc>
                <a:buFont typeface="Arial" panose="020B0604020202090204" pitchFamily="34" charset="0"/>
                <a:buChar char="•"/>
              </a:pPr>
              <a:r>
                <a:rPr lang="en-US" dirty="0">
                  <a:ea typeface="Josefin Sans" charset="0"/>
                  <a:cs typeface="Josefin Sans" charset="0"/>
                </a:rPr>
                <a:t>At each table, foxes are arranged in a </a:t>
              </a:r>
              <a:r>
                <a:rPr lang="en-US" dirty="0">
                  <a:solidFill>
                    <a:srgbClr val="C00000"/>
                  </a:solidFill>
                  <a:ea typeface="Josefin Sans" charset="0"/>
                  <a:cs typeface="Josefin Sans" charset="0"/>
                </a:rPr>
                <a:t>circle</a:t>
              </a:r>
              <a:r>
                <a:rPr lang="en-US" dirty="0">
                  <a:ea typeface="Josefin Sans" charset="0"/>
                  <a:cs typeface="Josefin Sans" charset="0"/>
                </a:rPr>
                <a:t>.</a:t>
              </a:r>
              <a:endParaRPr lang="en-US" dirty="0">
                <a:ea typeface="Josefin Sans" charset="0"/>
                <a:cs typeface="Josefin Sans" charset="0"/>
              </a:endParaRPr>
            </a:p>
            <a:p>
              <a:pPr marL="285750" indent="-285750">
                <a:lnSpc>
                  <a:spcPct val="110000"/>
                </a:lnSpc>
                <a:buFont typeface="Arial" panose="020B0604020202090204" pitchFamily="34" charset="0"/>
                <a:buChar char="•"/>
              </a:pPr>
              <a:r>
                <a:rPr lang="en-US" dirty="0">
                  <a:ea typeface="Josefin Sans" charset="0"/>
                  <a:cs typeface="Josefin Sans" charset="0"/>
                </a:rPr>
                <a:t>The </a:t>
              </a:r>
              <a:r>
                <a:rPr lang="en-US" dirty="0">
                  <a:solidFill>
                    <a:srgbClr val="C00000"/>
                  </a:solidFill>
                  <a:ea typeface="Josefin Sans" charset="0"/>
                  <a:cs typeface="Josefin Sans" charset="0"/>
                </a:rPr>
                <a:t>sum of ages</a:t>
              </a:r>
              <a:r>
                <a:rPr lang="en-US" dirty="0">
                  <a:ea typeface="Josefin Sans" charset="0"/>
                  <a:cs typeface="Josefin Sans" charset="0"/>
                </a:rPr>
                <a:t> of every pair of </a:t>
              </a:r>
              <a:r>
                <a:rPr lang="en-US" dirty="0">
                  <a:solidFill>
                    <a:srgbClr val="C00000"/>
                  </a:solidFill>
                  <a:ea typeface="Josefin Sans" charset="0"/>
                  <a:cs typeface="Josefin Sans" charset="0"/>
                </a:rPr>
                <a:t>adjacent foxes </a:t>
              </a:r>
              <a:r>
                <a:rPr lang="en-US" dirty="0">
                  <a:ea typeface="Josefin Sans" charset="0"/>
                  <a:cs typeface="Josefin Sans" charset="0"/>
                </a:rPr>
                <a:t>at a table must be a </a:t>
              </a:r>
              <a:r>
                <a:rPr lang="en-US" dirty="0">
                  <a:solidFill>
                    <a:srgbClr val="C00000"/>
                  </a:solidFill>
                  <a:ea typeface="Josefin Sans" charset="0"/>
                  <a:cs typeface="Josefin Sans" charset="0"/>
                </a:rPr>
                <a:t>prime number</a:t>
              </a:r>
              <a:r>
                <a:rPr lang="en-US" dirty="0">
                  <a:ea typeface="Josefin Sans" charset="0"/>
                  <a:cs typeface="Josefin Sans" charset="0"/>
                </a:rPr>
                <a:t>.</a:t>
              </a:r>
              <a:endParaRPr lang="en-US" dirty="0">
                <a:ea typeface="Josefin Sans" charset="0"/>
                <a:cs typeface="Josefin Sans" charset="0"/>
              </a:endParaRPr>
            </a:p>
            <a:p>
              <a:pPr marL="285750" indent="-285750">
                <a:lnSpc>
                  <a:spcPct val="110000"/>
                </a:lnSpc>
                <a:buFont typeface="Arial" panose="020B0604020202090204" pitchFamily="34" charset="0"/>
                <a:buChar char="•"/>
              </a:pPr>
              <a:r>
                <a:rPr lang="en-US" dirty="0">
                  <a:ea typeface="Josefin Sans" charset="0"/>
                  <a:cs typeface="Josefin Sans" charset="0"/>
                </a:rPr>
                <a:t>Because the table is round, the </a:t>
              </a:r>
              <a:r>
                <a:rPr lang="en-US" dirty="0">
                  <a:solidFill>
                    <a:srgbClr val="C00000"/>
                  </a:solidFill>
                  <a:ea typeface="Josefin Sans" charset="0"/>
                  <a:cs typeface="Josefin Sans" charset="0"/>
                </a:rPr>
                <a:t>first and last fox </a:t>
              </a:r>
              <a:r>
                <a:rPr lang="en-US" dirty="0">
                  <a:ea typeface="Josefin Sans" charset="0"/>
                  <a:cs typeface="Josefin Sans" charset="0"/>
                </a:rPr>
                <a:t>are also adjacent.</a:t>
              </a:r>
              <a:endParaRPr lang="en-US" dirty="0">
                <a:ea typeface="Josefin Sans" charset="0"/>
                <a:cs typeface="Josefin Sans" charset="0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6518144" y="4394728"/>
            <a:ext cx="5015996" cy="1775298"/>
            <a:chOff x="699004" y="854429"/>
            <a:chExt cx="5015996" cy="1775298"/>
          </a:xfrm>
        </p:grpSpPr>
        <p:sp>
          <p:nvSpPr>
            <p:cNvPr id="16" name="文本框 15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/>
            <p:cNvSpPr txBox="1"/>
            <p:nvPr/>
          </p:nvSpPr>
          <p:spPr>
            <a:xfrm>
              <a:off x="699004" y="854429"/>
              <a:ext cx="471119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lt"/>
                  <a:ea typeface="Josefin Sans" charset="0"/>
                  <a:cs typeface="Josefin Sans" charset="0"/>
                </a:rPr>
                <a:t>The Goal</a:t>
              </a:r>
              <a:endParaRPr kumimoji="1" lang="en-US" altLang="zh-CN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Josefin Sans" charset="0"/>
                <a:cs typeface="Josefin Sans" charset="0"/>
              </a:endParaRPr>
            </a:p>
          </p:txBody>
        </p:sp>
        <p:sp>
          <p:nvSpPr>
            <p:cNvPr id="17" name="Rectangle 7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/>
            <p:cNvSpPr/>
            <p:nvPr/>
          </p:nvSpPr>
          <p:spPr>
            <a:xfrm>
              <a:off x="789870" y="1320357"/>
              <a:ext cx="4925130" cy="13093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10000"/>
                </a:lnSpc>
                <a:buFont typeface="Arial" panose="020B0604020202090204" pitchFamily="34" charset="0"/>
                <a:buChar char="•"/>
              </a:pPr>
              <a:r>
                <a:rPr lang="en-US" dirty="0">
                  <a:ea typeface="Josefin Sans" charset="0"/>
                  <a:cs typeface="Josefin Sans" charset="0"/>
                </a:rPr>
                <a:t>Determine whether it is possible to partition the foxes into tables that meet all the rules.</a:t>
              </a:r>
              <a:endParaRPr lang="en-US" dirty="0">
                <a:ea typeface="Josefin Sans" charset="0"/>
                <a:cs typeface="Josefin Sans" charset="0"/>
              </a:endParaRPr>
            </a:p>
            <a:p>
              <a:pPr marL="285750" indent="-285750">
                <a:lnSpc>
                  <a:spcPct val="110000"/>
                </a:lnSpc>
                <a:buFont typeface="Arial" panose="020B0604020202090204" pitchFamily="34" charset="0"/>
                <a:buChar char="•"/>
              </a:pPr>
              <a:r>
                <a:rPr lang="en-US" dirty="0">
                  <a:ea typeface="Josefin Sans" charset="0"/>
                  <a:cs typeface="Josefin Sans" charset="0"/>
                </a:rPr>
                <a:t>If possible, print the table assignments; otherwise, print "Impossible".</a:t>
              </a:r>
              <a:endParaRPr lang="en-US" dirty="0">
                <a:ea typeface="Josefin Sans" charset="0"/>
                <a:cs typeface="Josefin Sans" charset="0"/>
              </a:endParaRPr>
            </a:p>
          </p:txBody>
        </p:sp>
      </p:grp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7d195523061f1c0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 hidden="1"/>
          <p:cNvSpPr txBox="1"/>
          <p:nvPr/>
        </p:nvSpPr>
        <p:spPr>
          <a:xfrm>
            <a:off x="-355600" y="1803400"/>
            <a:ext cx="262251" cy="1016000"/>
          </a:xfrm>
          <a:prstGeom prst="rect">
            <a:avLst/>
          </a:prstGeom>
          <a:noFill/>
        </p:spPr>
        <p:txBody>
          <a:bodyPr vert="wordArtVert" rtlCol="0">
            <a:spAutoFit/>
          </a:bodyPr>
          <a:lstStyle/>
          <a:p>
            <a:r>
              <a:rPr lang="en-US" altLang="zh-CN" sz="100"/>
              <a:t>e7d195523061f1c01d60fa9f1cfcbfb3d7dea265119d71e15FBB43640B43E9A75E03FE54C774D5D4779ED45933E78901D3CB0E69E39D04A9E1E9B25CF060C4BCA4D072860494D0D8E683C2FE58414E15A257B8C98CAC931B2A91D95E391D8F56A6B197C339044743E4A827576812018FE092D8F796C38DC487F641821CDDB0736DD3EE0F684ACE40</a:t>
            </a:r>
            <a:endParaRPr lang="zh-CN" altLang="en-US" sz="100"/>
          </a:p>
        </p:txBody>
      </p:sp>
      <p:sp>
        <p:nvSpPr>
          <p:cNvPr id="5" name="文本框 4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/>
          <p:cNvSpPr txBox="1"/>
          <p:nvPr/>
        </p:nvSpPr>
        <p:spPr>
          <a:xfrm>
            <a:off x="145415" y="293370"/>
            <a:ext cx="43211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en-US" spc="100" dirty="0">
                <a:solidFill>
                  <a:schemeClr val="tx1">
                    <a:lumMod val="85000"/>
                    <a:lumOff val="15000"/>
                  </a:schemeClr>
                </a:solidFill>
                <a:ea typeface="Playfair Display" panose="00000500000000000000" charset="0"/>
                <a:cs typeface="Playfair Display" panose="00000500000000000000" charset="0"/>
              </a:rPr>
              <a:t>Part.0</a:t>
            </a:r>
            <a:r>
              <a:rPr kumimoji="1" lang="en-US" altLang="zh-CN" spc="100" dirty="0">
                <a:solidFill>
                  <a:schemeClr val="tx1">
                    <a:lumMod val="85000"/>
                    <a:lumOff val="15000"/>
                  </a:schemeClr>
                </a:solidFill>
                <a:ea typeface="Playfair Display" panose="00000500000000000000" charset="0"/>
                <a:cs typeface="Playfair Display" panose="00000500000000000000" charset="0"/>
              </a:rPr>
              <a:t>1</a:t>
            </a:r>
            <a:r>
              <a:rPr kumimoji="1" lang="en-US" altLang="en-US" spc="100" dirty="0">
                <a:solidFill>
                  <a:schemeClr val="tx1">
                    <a:lumMod val="85000"/>
                    <a:lumOff val="15000"/>
                  </a:schemeClr>
                </a:solidFill>
                <a:ea typeface="Playfair Display" panose="00000500000000000000" charset="0"/>
                <a:cs typeface="Playfair Display" panose="00000500000000000000" charset="0"/>
              </a:rPr>
              <a:t> </a:t>
            </a:r>
            <a:r>
              <a:rPr kumimoji="1" lang="zh-CN" altLang="en-US" spc="100" dirty="0">
                <a:solidFill>
                  <a:schemeClr val="tx1">
                    <a:lumMod val="85000"/>
                    <a:lumOff val="15000"/>
                  </a:schemeClr>
                </a:solidFill>
                <a:ea typeface="Playfair Display" panose="00000500000000000000" charset="0"/>
                <a:cs typeface="Playfair Display" panose="00000500000000000000" charset="0"/>
              </a:rPr>
              <a:t> </a:t>
            </a:r>
            <a:r>
              <a:rPr kumimoji="1" lang="en-US" altLang="en-US" spc="100" dirty="0">
                <a:solidFill>
                  <a:schemeClr val="tx1">
                    <a:lumMod val="85000"/>
                    <a:lumOff val="15000"/>
                  </a:schemeClr>
                </a:solidFill>
                <a:ea typeface="Playfair Display" panose="00000500000000000000" charset="0"/>
                <a:cs typeface="Playfair Display" panose="00000500000000000000" charset="0"/>
              </a:rPr>
              <a:t>Problem Definition (Formal)</a:t>
            </a:r>
            <a:endParaRPr kumimoji="1" lang="zh-CN" altLang="en-US" spc="100" dirty="0">
              <a:solidFill>
                <a:schemeClr val="tx1">
                  <a:lumMod val="85000"/>
                  <a:lumOff val="15000"/>
                </a:schemeClr>
              </a:solidFill>
              <a:ea typeface="Playfair Display" panose="00000500000000000000" charset="0"/>
              <a:cs typeface="Playfair Display" panose="00000500000000000000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699004" y="740129"/>
            <a:ext cx="5244596" cy="2616860"/>
            <a:chOff x="699004" y="854429"/>
            <a:chExt cx="5244596" cy="2616860"/>
          </a:xfrm>
        </p:grpSpPr>
        <p:sp>
          <p:nvSpPr>
            <p:cNvPr id="3" name="文本框 2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/>
            <p:cNvSpPr txBox="1"/>
            <p:nvPr/>
          </p:nvSpPr>
          <p:spPr>
            <a:xfrm>
              <a:off x="699004" y="854429"/>
              <a:ext cx="471119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lt"/>
                  <a:ea typeface="Josefin Sans" charset="0"/>
                  <a:cs typeface="Josefin Sans" charset="0"/>
                </a:rPr>
                <a:t>Input</a:t>
              </a:r>
              <a:endParaRPr kumimoji="1" lang="en-US" altLang="zh-CN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Josefin Sans" charset="0"/>
                <a:cs typeface="Josefin Sans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Rectangle 7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/>
                <p:cNvSpPr/>
                <p:nvPr/>
              </p:nvSpPr>
              <p:spPr>
                <a:xfrm>
                  <a:off x="789870" y="1342134"/>
                  <a:ext cx="5153730" cy="212915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285750" indent="-285750">
                    <a:lnSpc>
                      <a:spcPct val="110000"/>
                    </a:lnSpc>
                    <a:buFont typeface="Arial" panose="020B0604020202090204" pitchFamily="34" charset="0"/>
                    <a:buChar char="•"/>
                  </a:pPr>
                  <a:r>
                    <a:rPr lang="en-CA" altLang="zh-CN" dirty="0">
                      <a:ea typeface="Josefin Sans" charset="0"/>
                      <a:cs typeface="Josefin Sans" charset="0"/>
                    </a:rPr>
                    <a:t>An integer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CA" altLang="zh-CN" i="1" dirty="0">
                          <a:latin typeface="Cambria Math" panose="02040503050406030204" pitchFamily="18" charset="0"/>
                          <a:ea typeface="Josefin Sans" charset="0"/>
                          <a:cs typeface="Josefin Sans" charset="0"/>
                        </a:rPr>
                        <m:t>n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Josefin Sans" charset="0"/>
                          <a:cs typeface="Josefin Sans" charset="0"/>
                        </a:rPr>
                        <m:t>∈ </m:t>
                      </m:r>
                      <m:sSup>
                        <m:sSup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Josefin Sans" charset="0"/>
                            </a:rPr>
                          </m:ctrlPr>
                        </m:sSup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Josefin Sans" charset="0"/>
                            </a:rPr>
                            <m:t>ℤ</m:t>
                          </m:r>
                        </m:e>
                        <m:sup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Josefin Sans" charset="0"/>
                            </a:rPr>
                            <m:t>+</m:t>
                          </m:r>
                        </m:sup>
                      </m:sSup>
                    </m:oMath>
                  </a14:m>
                  <a:r>
                    <a:rPr lang="en-US" altLang="en-CA" dirty="0">
                      <a:ea typeface="Josefin Sans" charset="0"/>
                      <a:cs typeface="Josefin Sans" charset="0"/>
                    </a:rPr>
                    <a:t>,</a:t>
                  </a:r>
                  <a:r>
                    <a:rPr lang="en-CA" altLang="zh-CN" dirty="0">
                      <a:ea typeface="Josefin Sans" charset="0"/>
                      <a:cs typeface="Josefin Sans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ea typeface="Josefin Sans" charset="0"/>
                          <a:cs typeface="Josefin Sans" charset="0"/>
                        </a:rPr>
                        <m:t>3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≤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𝑛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≤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200</m:t>
                      </m:r>
                    </m:oMath>
                  </a14:m>
                  <a:r>
                    <a:rPr lang="en-CA" altLang="zh-CN" dirty="0">
                      <a:ea typeface="Josefin Sans" charset="0"/>
                      <a:cs typeface="Josefin Sans" charset="0"/>
                    </a:rPr>
                    <a:t>, indicating #(foxes).</a:t>
                  </a:r>
                  <a:endParaRPr lang="en-CA" altLang="zh-CN" dirty="0">
                    <a:ea typeface="Josefin Sans" charset="0"/>
                    <a:cs typeface="Josefin Sans" charset="0"/>
                  </a:endParaRPr>
                </a:p>
                <a:p>
                  <a:pPr marL="285750" indent="-285750">
                    <a:lnSpc>
                      <a:spcPct val="110000"/>
                    </a:lnSpc>
                    <a:buFont typeface="Arial" panose="020B0604020202090204" pitchFamily="34" charset="0"/>
                    <a:buChar char="•"/>
                  </a:pPr>
                  <a:r>
                    <a:rPr lang="en-US" dirty="0">
                      <a:ea typeface="Cambria Math" panose="02040503050406030204" pitchFamily="18" charset="0"/>
                      <a:cs typeface="Josefin Sans" charset="0"/>
                    </a:rPr>
                    <a:t>An array of integers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=[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Josefin Sans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Josefin Sans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Josefin Sans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Josefin Sans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Josefin Sans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Josefin Sans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, …,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Josefin Sans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Josefin Sans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Josefin Sans" charset="0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]</m:t>
                      </m:r>
                    </m:oMath>
                  </a14:m>
                  <a:r>
                    <a:rPr lang="en-US" dirty="0">
                      <a:ea typeface="Cambria Math" panose="02040503050406030204" pitchFamily="18" charset="0"/>
                      <a:cs typeface="Josefin Sans" charset="0"/>
                    </a:rPr>
                    <a:t>, where:</a:t>
                  </a:r>
                  <a:endParaRPr lang="en-US" dirty="0">
                    <a:ea typeface="Cambria Math" panose="02040503050406030204" pitchFamily="18" charset="0"/>
                    <a:cs typeface="Josefin Sans" charset="0"/>
                  </a:endParaRPr>
                </a:p>
                <a:p>
                  <a:pPr marL="742950" lvl="1" indent="-285750">
                    <a:lnSpc>
                      <a:spcPct val="110000"/>
                    </a:lnSpc>
                    <a:buFont typeface="Arial" panose="020B0604020202090204" pitchFamily="34" charset="0"/>
                    <a:buChar char="•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Josefin Sans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Josefin Sans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Josefin Sans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∈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Josefin Sans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Josefin Sans" charset="0"/>
                            </a:rPr>
                            <m:t>ℤ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Josefin Sans" charset="0"/>
                            </a:rPr>
                            <m:t>+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2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 ≤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Josefin Sans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Josefin Sans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Josefin Sans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 ≤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Josefin Sans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Josefin Sans" charset="0"/>
                            </a:rPr>
                            <m:t>10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Josefin Sans" charset="0"/>
                            </a:rPr>
                            <m:t>4</m:t>
                          </m:r>
                        </m:sup>
                      </m:sSup>
                    </m:oMath>
                  </a14:m>
                  <a:endParaRPr lang="en-US" dirty="0">
                    <a:ea typeface="Cambria Math" panose="02040503050406030204" pitchFamily="18" charset="0"/>
                    <a:cs typeface="Josefin Sans" charset="0"/>
                  </a:endParaRPr>
                </a:p>
                <a:p>
                  <a:pPr marL="285750" indent="-285750">
                    <a:lnSpc>
                      <a:spcPct val="110000"/>
                    </a:lnSpc>
                    <a:buFont typeface="Arial" panose="020B0604020202090204" pitchFamily="34" charset="0"/>
                    <a:buChar char="•"/>
                  </a:pPr>
                  <a:r>
                    <a:rPr lang="en-US" dirty="0">
                      <a:ea typeface="Cambria Math" panose="02040503050406030204" pitchFamily="18" charset="0"/>
                      <a:cs typeface="Josefin Sans" charset="0"/>
                    </a:rPr>
                    <a:t>Each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Josefin Sans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Josefin Sans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Josefin Sans" charset="0"/>
                            </a:rPr>
                            <m:t>𝑖</m:t>
                          </m:r>
                        </m:sub>
                      </m:sSub>
                    </m:oMath>
                  </a14:m>
                  <a:r>
                    <a:rPr lang="en-US" dirty="0">
                      <a:ea typeface="Cambria Math" panose="02040503050406030204" pitchFamily="18" charset="0"/>
                      <a:cs typeface="Josefin Sans" charset="0"/>
                    </a:rPr>
                    <a:t> is the </a:t>
                  </a:r>
                  <a:r>
                    <a:rPr lang="en-US" dirty="0">
                      <a:solidFill>
                        <a:srgbClr val="C00000"/>
                      </a:solidFill>
                      <a:ea typeface="Cambria Math" panose="02040503050406030204" pitchFamily="18" charset="0"/>
                      <a:cs typeface="Josefin Sans" charset="0"/>
                    </a:rPr>
                    <a:t>age of </a:t>
                  </a:r>
                  <a:r>
                    <a:rPr lang="en-US" dirty="0" err="1">
                      <a:solidFill>
                        <a:srgbClr val="C00000"/>
                      </a:solidFill>
                      <a:ea typeface="Cambria Math" panose="02040503050406030204" pitchFamily="18" charset="0"/>
                      <a:cs typeface="Josefin Sans" charset="0"/>
                    </a:rPr>
                    <a:t>i-th</a:t>
                  </a:r>
                  <a:r>
                    <a:rPr lang="en-US" dirty="0">
                      <a:solidFill>
                        <a:srgbClr val="C00000"/>
                      </a:solidFill>
                      <a:ea typeface="Cambria Math" panose="02040503050406030204" pitchFamily="18" charset="0"/>
                      <a:cs typeface="Josefin Sans" charset="0"/>
                    </a:rPr>
                    <a:t> fox</a:t>
                  </a:r>
                  <a:r>
                    <a:rPr lang="en-US" dirty="0">
                      <a:ea typeface="Cambria Math" panose="02040503050406030204" pitchFamily="18" charset="0"/>
                      <a:cs typeface="Josefin Sans" charset="0"/>
                    </a:rPr>
                    <a:t>. </a:t>
                  </a:r>
                  <a:endParaRPr lang="en-US" dirty="0">
                    <a:ea typeface="Cambria Math" panose="02040503050406030204" pitchFamily="18" charset="0"/>
                    <a:cs typeface="Josefin Sans" charset="0"/>
                  </a:endParaRPr>
                </a:p>
              </p:txBody>
            </p:sp>
          </mc:Choice>
          <mc:Fallback>
            <p:sp>
              <p:nvSpPr>
                <p:cNvPr id="7" name="Rectangle 7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9870" y="1342134"/>
                  <a:ext cx="5153730" cy="2129155"/>
                </a:xfrm>
                <a:prstGeom prst="rect">
                  <a:avLst/>
                </a:prstGeom>
                <a:blipFill rotWithShape="1">
                  <a:blip r:embed="rId1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" name="组合 7"/>
          <p:cNvGrpSpPr/>
          <p:nvPr/>
        </p:nvGrpSpPr>
        <p:grpSpPr>
          <a:xfrm>
            <a:off x="6096001" y="3356705"/>
            <a:ext cx="5306130" cy="2947554"/>
            <a:chOff x="699004" y="854429"/>
            <a:chExt cx="5244596" cy="2535614"/>
          </a:xfrm>
        </p:grpSpPr>
        <p:sp>
          <p:nvSpPr>
            <p:cNvPr id="9" name="文本框 8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/>
            <p:cNvSpPr txBox="1"/>
            <p:nvPr/>
          </p:nvSpPr>
          <p:spPr>
            <a:xfrm>
              <a:off x="699004" y="854429"/>
              <a:ext cx="471119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lt"/>
                  <a:ea typeface="Josefin Sans" charset="0"/>
                  <a:cs typeface="Josefin Sans" charset="0"/>
                </a:rPr>
                <a:t>Output</a:t>
              </a:r>
              <a:endParaRPr kumimoji="1" lang="en-US" altLang="zh-CN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Josefin Sans" charset="0"/>
                <a:cs typeface="Josefin Sans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Rectangle 7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/>
                <p:cNvSpPr/>
                <p:nvPr/>
              </p:nvSpPr>
              <p:spPr>
                <a:xfrm>
                  <a:off x="789870" y="1342134"/>
                  <a:ext cx="5153730" cy="2047909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285750" indent="-285750">
                    <a:lnSpc>
                      <a:spcPct val="110000"/>
                    </a:lnSpc>
                    <a:buFont typeface="Arial" panose="020B0604020202090204" pitchFamily="34" charset="0"/>
                    <a:buChar char="•"/>
                  </a:pPr>
                  <a:r>
                    <a:rPr lang="en-US" dirty="0">
                      <a:ea typeface="Cambria Math" panose="02040503050406030204" pitchFamily="18" charset="0"/>
                      <a:cs typeface="Josefin Sans" charset="0"/>
                    </a:rPr>
                    <a:t>Find such valid tables</a:t>
                  </a:r>
                  <a:r>
                    <a:rPr lang="zh-CN" altLang="en-US" dirty="0">
                      <a:ea typeface="Cambria Math" panose="02040503050406030204" pitchFamily="18" charset="0"/>
                      <a:cs typeface="Josefin Sans" charset="0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Josefin Sans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Josefin Sans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Josefin Sans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Josefin Sans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Josefin Sans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Josefin Sans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,…, 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Josefin Sans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Josefin Sans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Josefin Sans" charset="0"/>
                            </a:rPr>
                            <m:t>𝑚</m:t>
                          </m:r>
                        </m:sub>
                      </m:sSub>
                      <m:r>
                        <a:rPr lang="en-US" altLang="zh-CN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.</m:t>
                      </m:r>
                    </m:oMath>
                  </a14:m>
                  <a:endParaRPr lang="en-US" dirty="0">
                    <a:ea typeface="Cambria Math" panose="02040503050406030204" pitchFamily="18" charset="0"/>
                    <a:cs typeface="Josefin Sans" charset="0"/>
                  </a:endParaRPr>
                </a:p>
                <a:p>
                  <a:pPr marL="285750" indent="-285750">
                    <a:lnSpc>
                      <a:spcPct val="110000"/>
                    </a:lnSpc>
                    <a:buFont typeface="Arial" panose="020B0604020202090204" pitchFamily="34" charset="0"/>
                    <a:buChar char="•"/>
                  </a:pPr>
                  <a:r>
                    <a:rPr lang="en-US" dirty="0">
                      <a:ea typeface="Cambria Math" panose="02040503050406030204" pitchFamily="18" charset="0"/>
                      <a:cs typeface="Josefin Sans" charset="0"/>
                    </a:rPr>
                    <a:t>If such a construction exists:</a:t>
                  </a:r>
                  <a:endParaRPr lang="en-US" dirty="0">
                    <a:ea typeface="Cambria Math" panose="02040503050406030204" pitchFamily="18" charset="0"/>
                    <a:cs typeface="Josefin Sans" charset="0"/>
                  </a:endParaRPr>
                </a:p>
                <a:p>
                  <a:pPr marL="742950" lvl="1" indent="-285750">
                    <a:lnSpc>
                      <a:spcPct val="110000"/>
                    </a:lnSpc>
                    <a:buFont typeface="Arial" panose="020B0604020202090204" pitchFamily="34" charset="0"/>
                    <a:buChar char="•"/>
                  </a:pPr>
                  <a:r>
                    <a:rPr lang="en-US" dirty="0">
                      <a:ea typeface="Cambria Math" panose="02040503050406030204" pitchFamily="18" charset="0"/>
                      <a:cs typeface="Josefin Sans" charset="0"/>
                    </a:rPr>
                    <a:t>Output the number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𝑚</m:t>
                      </m:r>
                    </m:oMath>
                  </a14:m>
                  <a:r>
                    <a:rPr lang="en-US" dirty="0">
                      <a:ea typeface="Cambria Math" panose="02040503050406030204" pitchFamily="18" charset="0"/>
                      <a:cs typeface="Josefin Sans" charset="0"/>
                    </a:rPr>
                    <a:t>, and for each table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Josefin Sans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Josefin Sans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Josefin Sans" charset="0"/>
                            </a:rPr>
                            <m:t>𝑖</m:t>
                          </m:r>
                        </m:sub>
                      </m:sSub>
                    </m:oMath>
                  </a14:m>
                  <a:r>
                    <a:rPr lang="en-US" dirty="0">
                      <a:ea typeface="Cambria Math" panose="02040503050406030204" pitchFamily="18" charset="0"/>
                      <a:cs typeface="Josefin Sans" charset="0"/>
                    </a:rPr>
                    <a:t>, output the </a:t>
                  </a:r>
                  <a:r>
                    <a:rPr lang="en-US" dirty="0">
                      <a:solidFill>
                        <a:srgbClr val="C00000"/>
                      </a:solidFill>
                      <a:ea typeface="Cambria Math" panose="02040503050406030204" pitchFamily="18" charset="0"/>
                      <a:cs typeface="Josefin Sans" charset="0"/>
                    </a:rPr>
                    <a:t>list of fox indices in clockwise order</a:t>
                  </a:r>
                  <a:endParaRPr lang="en-US" dirty="0">
                    <a:solidFill>
                      <a:srgbClr val="C00000"/>
                    </a:solidFill>
                    <a:ea typeface="Cambria Math" panose="02040503050406030204" pitchFamily="18" charset="0"/>
                    <a:cs typeface="Josefin Sans" charset="0"/>
                  </a:endParaRPr>
                </a:p>
                <a:p>
                  <a:pPr marL="285750" indent="-285750">
                    <a:lnSpc>
                      <a:spcPct val="110000"/>
                    </a:lnSpc>
                    <a:buFont typeface="Arial" panose="020B0604020202090204" pitchFamily="34" charset="0"/>
                    <a:buChar char="•"/>
                  </a:pPr>
                  <a:r>
                    <a:rPr lang="en-US" dirty="0">
                      <a:ea typeface="Cambria Math" panose="02040503050406030204" pitchFamily="18" charset="0"/>
                      <a:cs typeface="Josefin Sans" charset="0"/>
                    </a:rPr>
                    <a:t>Otherwise:</a:t>
                  </a:r>
                  <a:endParaRPr lang="en-US" dirty="0">
                    <a:ea typeface="Cambria Math" panose="02040503050406030204" pitchFamily="18" charset="0"/>
                    <a:cs typeface="Josefin Sans" charset="0"/>
                  </a:endParaRPr>
                </a:p>
                <a:p>
                  <a:pPr marL="742950" lvl="1" indent="-285750">
                    <a:lnSpc>
                      <a:spcPct val="110000"/>
                    </a:lnSpc>
                    <a:buFont typeface="Arial" panose="020B0604020202090204" pitchFamily="34" charset="0"/>
                    <a:buChar char="•"/>
                  </a:pPr>
                  <a:r>
                    <a:rPr lang="en-US" dirty="0">
                      <a:ea typeface="Cambria Math" panose="02040503050406030204" pitchFamily="18" charset="0"/>
                      <a:cs typeface="Josefin Sans" charset="0"/>
                    </a:rPr>
                    <a:t>Output "</a:t>
                  </a:r>
                  <a:r>
                    <a:rPr lang="en-US" dirty="0">
                      <a:solidFill>
                        <a:srgbClr val="C00000"/>
                      </a:solidFill>
                      <a:ea typeface="Cambria Math" panose="02040503050406030204" pitchFamily="18" charset="0"/>
                      <a:cs typeface="Josefin Sans" charset="0"/>
                    </a:rPr>
                    <a:t>Impossible</a:t>
                  </a:r>
                  <a:r>
                    <a:rPr lang="en-US" dirty="0">
                      <a:ea typeface="Cambria Math" panose="02040503050406030204" pitchFamily="18" charset="0"/>
                      <a:cs typeface="Josefin Sans" charset="0"/>
                    </a:rPr>
                    <a:t>"</a:t>
                  </a:r>
                  <a:endParaRPr lang="en-US" dirty="0">
                    <a:ea typeface="Cambria Math" panose="02040503050406030204" pitchFamily="18" charset="0"/>
                    <a:cs typeface="Josefin Sans" charset="0"/>
                  </a:endParaRPr>
                </a:p>
              </p:txBody>
            </p:sp>
          </mc:Choice>
          <mc:Fallback>
            <p:sp>
              <p:nvSpPr>
                <p:cNvPr id="11" name="Rectangle 7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9870" y="1342134"/>
                  <a:ext cx="5153730" cy="2047909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8" name="图片 17" descr="图片包含 图形用户界面&#10;&#10;AI 生成的内容可能不正确。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761"/>
          <a:stretch>
            <a:fillRect/>
          </a:stretch>
        </p:blipFill>
        <p:spPr>
          <a:xfrm>
            <a:off x="793115" y="3505835"/>
            <a:ext cx="4064635" cy="241744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grpSp>
        <p:nvGrpSpPr>
          <p:cNvPr id="19" name="组合 18"/>
          <p:cNvGrpSpPr/>
          <p:nvPr/>
        </p:nvGrpSpPr>
        <p:grpSpPr>
          <a:xfrm>
            <a:off x="6157534" y="774419"/>
            <a:ext cx="5244596" cy="2326030"/>
            <a:chOff x="699004" y="854429"/>
            <a:chExt cx="5244596" cy="2326030"/>
          </a:xfrm>
        </p:grpSpPr>
        <p:sp>
          <p:nvSpPr>
            <p:cNvPr id="20" name="文本框 19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/>
            <p:cNvSpPr txBox="1"/>
            <p:nvPr/>
          </p:nvSpPr>
          <p:spPr>
            <a:xfrm>
              <a:off x="699004" y="854429"/>
              <a:ext cx="471119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lt"/>
                  <a:ea typeface="Josefin Sans" charset="0"/>
                  <a:cs typeface="Josefin Sans" charset="0"/>
                </a:rPr>
                <a:t>Definition of a Valid Table</a:t>
              </a:r>
              <a:endParaRPr kumimoji="1" lang="en-US" altLang="zh-CN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Josefin Sans" charset="0"/>
                <a:cs typeface="Josefin Sans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Rectangle 7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/>
                <p:cNvSpPr/>
                <p:nvPr/>
              </p:nvSpPr>
              <p:spPr>
                <a:xfrm>
                  <a:off x="789870" y="1342134"/>
                  <a:ext cx="5153730" cy="183832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285750" indent="-285750">
                    <a:lnSpc>
                      <a:spcPct val="110000"/>
                    </a:lnSpc>
                    <a:buFont typeface="Arial" panose="020B0604020202090204" pitchFamily="34" charset="0"/>
                    <a:buChar char="•"/>
                  </a:pPr>
                  <a:r>
                    <a:rPr lang="en-US" dirty="0">
                      <a:ea typeface="Cambria Math" panose="02040503050406030204" pitchFamily="18" charset="0"/>
                      <a:cs typeface="Josefin Sans" charset="0"/>
                    </a:rPr>
                    <a:t>A table is defined as an ordered cycle of indices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[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Josefin Sans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Josefin Sans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Josefin Sans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Josefin Sans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Josefin Sans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Josefin Sans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,…,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Josefin Sans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Josefin Sans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Josefin Sans" charset="0"/>
                            </a:rPr>
                            <m:t>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]</m:t>
                      </m:r>
                    </m:oMath>
                  </a14:m>
                  <a:r>
                    <a:rPr lang="en-US" dirty="0">
                      <a:ea typeface="Cambria Math" panose="02040503050406030204" pitchFamily="18" charset="0"/>
                      <a:cs typeface="Josefin Sans" charset="0"/>
                    </a:rPr>
                    <a:t>, where:</a:t>
                  </a:r>
                  <a:endParaRPr lang="en-US" dirty="0">
                    <a:ea typeface="Cambria Math" panose="02040503050406030204" pitchFamily="18" charset="0"/>
                    <a:cs typeface="Josefin Sans" charset="0"/>
                  </a:endParaRPr>
                </a:p>
                <a:p>
                  <a:pPr marL="742950" lvl="1" indent="-285750">
                    <a:lnSpc>
                      <a:spcPct val="110000"/>
                    </a:lnSpc>
                    <a:buFont typeface="Arial" panose="020B0604020202090204" pitchFamily="34" charset="0"/>
                    <a:buChar char="•"/>
                  </a:pP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 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3</m:t>
                      </m:r>
                    </m:oMath>
                  </a14:m>
                  <a:endParaRPr lang="en-US" b="0" dirty="0">
                    <a:ea typeface="Cambria Math" panose="02040503050406030204" pitchFamily="18" charset="0"/>
                    <a:cs typeface="Josefin Sans" charset="0"/>
                  </a:endParaRPr>
                </a:p>
                <a:p>
                  <a:pPr marL="742950" lvl="1" indent="-285750">
                    <a:lnSpc>
                      <a:spcPct val="110000"/>
                    </a:lnSpc>
                    <a:buFont typeface="Arial" panose="020B0604020202090204" pitchFamily="34" charset="0"/>
                    <a:buChar char="•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Josefin Sans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Josefin Sans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Josefin Sans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Josefin Sans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Josefin Sans" charset="0"/>
                            </a:rPr>
                            <m:t> 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Josefin Sans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Josefin Sans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Josefin Sans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Josefin Sans" charset="0"/>
                            </a:rPr>
                            <m:t>, 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Josefin Sans" charset="0"/>
                            </a:rPr>
                            <m:t>for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Josefin Sans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Josefin Sans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Josefin Sans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Josefin Sans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Josefin Sans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Josefin Sans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Josefin Sans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Josefin Sans" charset="0"/>
                            </a:rPr>
                            <m:t>, …,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Josefin Sans" charset="0"/>
                            </a:rPr>
                            <m:t>𝑛</m:t>
                          </m:r>
                        </m:e>
                      </m:d>
                    </m:oMath>
                  </a14:m>
                  <a:endParaRPr lang="en-US" dirty="0">
                    <a:ea typeface="Cambria Math" panose="02040503050406030204" pitchFamily="18" charset="0"/>
                    <a:cs typeface="Josefin Sans" charset="0"/>
                  </a:endParaRPr>
                </a:p>
                <a:p>
                  <a:pPr marL="742950" lvl="1" indent="-285750">
                    <a:lnSpc>
                      <a:spcPct val="110000"/>
                    </a:lnSpc>
                    <a:buFont typeface="Arial" panose="020B0604020202090204" pitchFamily="34" charset="0"/>
                    <a:buChar char="•"/>
                  </a:pPr>
                  <a14:m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∀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𝑖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Josefin Sans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Josefin Sans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Josefin Sans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Josefin Sans" charset="0"/>
                            </a:rPr>
                            <m:t>𝑘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,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Josefin Sans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Josefin Sans" charset="0"/>
                            </a:rPr>
                            <m:t>𝑎</m:t>
                          </m:r>
                        </m:e>
                        <m:sub>
                          <m:d>
                            <m:dPr>
                              <m:begChr m:val="{"/>
                              <m:endChr m:val="}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Josefin Sans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Josefin Sans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Josefin Sans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Josefin Sans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_{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Josefin Sans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Josefin Sans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Josefin Sans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Josefin Sans" charset="0"/>
                            </a:rPr>
                            <m:t> %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Josefin Sans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Josefin Sans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Josefin Sans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} </m:t>
                      </m:r>
                    </m:oMath>
                  </a14:m>
                  <a:r>
                    <a:rPr lang="en-US" dirty="0">
                      <a:ea typeface="Cambria Math" panose="02040503050406030204" pitchFamily="18" charset="0"/>
                      <a:cs typeface="Josefin Sans" charset="0"/>
                    </a:rPr>
                    <a:t>is prime</a:t>
                  </a:r>
                  <a:endParaRPr lang="en-US" dirty="0">
                    <a:ea typeface="Cambria Math" panose="02040503050406030204" pitchFamily="18" charset="0"/>
                    <a:cs typeface="Josefin Sans" charset="0"/>
                  </a:endParaRPr>
                </a:p>
              </p:txBody>
            </p:sp>
          </mc:Choice>
          <mc:Fallback>
            <p:sp>
              <p:nvSpPr>
                <p:cNvPr id="21" name="Rectangle 7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9870" y="1342134"/>
                  <a:ext cx="5153730" cy="1838325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7d195523061f1c0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 hidden="1"/>
          <p:cNvSpPr txBox="1"/>
          <p:nvPr/>
        </p:nvSpPr>
        <p:spPr>
          <a:xfrm>
            <a:off x="-355600" y="1803400"/>
            <a:ext cx="262251" cy="1016000"/>
          </a:xfrm>
          <a:prstGeom prst="rect">
            <a:avLst/>
          </a:prstGeom>
          <a:noFill/>
        </p:spPr>
        <p:txBody>
          <a:bodyPr vert="wordArtVert" rtlCol="0">
            <a:spAutoFit/>
          </a:bodyPr>
          <a:lstStyle/>
          <a:p>
            <a:r>
              <a:rPr lang="en-US" altLang="zh-CN" sz="100"/>
              <a:t>e7d195523061f1c01d60fa9f1cfcbfb3d7dea265119d71e15FBB43640B43E9A75E03FE54C774D5D4779ED45933E78901D3CB0E69E39D04A9E1E9B25CF060C4BCA4D072860494D0D8E683C2FE58414E15A257B8C98CAC931B2A91D95E391D8F56A6B197C339044743E4A827576812018FE092D8F796C38DC487F641821CDDB0736DD3EE0F684ACE40</a:t>
            </a:r>
            <a:endParaRPr lang="zh-CN" altLang="en-US" sz="100"/>
          </a:p>
        </p:txBody>
      </p:sp>
      <p:sp>
        <p:nvSpPr>
          <p:cNvPr id="10" name="文本框 9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/>
          <p:cNvSpPr txBox="1"/>
          <p:nvPr/>
        </p:nvSpPr>
        <p:spPr>
          <a:xfrm>
            <a:off x="192710" y="156742"/>
            <a:ext cx="5696461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en-US" spc="100" dirty="0">
                <a:solidFill>
                  <a:schemeClr val="tx1">
                    <a:lumMod val="85000"/>
                    <a:lumOff val="15000"/>
                  </a:schemeClr>
                </a:solidFill>
                <a:ea typeface="Playfair Display" panose="00000500000000000000" charset="0"/>
                <a:cs typeface="Playfair Display" panose="00000500000000000000" charset="0"/>
              </a:rPr>
              <a:t>Part.0</a:t>
            </a:r>
            <a:r>
              <a:rPr kumimoji="1" lang="en-US" altLang="zh-CN" spc="100" dirty="0">
                <a:solidFill>
                  <a:schemeClr val="tx1">
                    <a:lumMod val="85000"/>
                    <a:lumOff val="15000"/>
                  </a:schemeClr>
                </a:solidFill>
                <a:ea typeface="Playfair Display" panose="00000500000000000000" charset="0"/>
                <a:cs typeface="Playfair Display" panose="00000500000000000000" charset="0"/>
              </a:rPr>
              <a:t>2	Algorithm Intuition</a:t>
            </a:r>
            <a:endParaRPr kumimoji="1" lang="zh-CN" altLang="en-US" spc="100" dirty="0">
              <a:solidFill>
                <a:schemeClr val="tx1">
                  <a:lumMod val="85000"/>
                  <a:lumOff val="15000"/>
                </a:schemeClr>
              </a:solidFill>
              <a:ea typeface="Playfair Display" panose="00000500000000000000" charset="0"/>
              <a:cs typeface="Playfair Display" panose="00000500000000000000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31260" y="747504"/>
            <a:ext cx="5549900" cy="2173605"/>
            <a:chOff x="192710" y="667494"/>
            <a:chExt cx="5549900" cy="2173605"/>
          </a:xfrm>
        </p:grpSpPr>
        <p:sp>
          <p:nvSpPr>
            <p:cNvPr id="6" name="文本框 5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/>
            <p:cNvSpPr txBox="1"/>
            <p:nvPr/>
          </p:nvSpPr>
          <p:spPr>
            <a:xfrm>
              <a:off x="192710" y="667494"/>
              <a:ext cx="5549900" cy="11988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kumimoji="1" lang="en-US" altLang="zh-CN" sz="2400" b="1" spc="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Josefin Sans" charset="0"/>
                  <a:ea typeface="Josefin Sans" charset="0"/>
                  <a:cs typeface="Josefin Sans" charset="0"/>
                </a:rPr>
                <a:t>1.</a:t>
              </a:r>
              <a:r>
                <a:rPr kumimoji="1" lang="en-US" altLang="zh-CN" sz="2400" b="1" i="1" spc="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Josefin Sans" charset="0"/>
                  <a:ea typeface="Josefin Sans" charset="0"/>
                  <a:cs typeface="Josefin Sans" charset="0"/>
                </a:rPr>
                <a:t> </a:t>
              </a:r>
              <a:r>
                <a:rPr kumimoji="1" lang="en-US" altLang="en-US" sz="2400" b="1" spc="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Josefin Sans" charset="0"/>
                  <a:ea typeface="Josefin Sans" charset="0"/>
                  <a:cs typeface="Josefin Sans" charset="0"/>
                </a:rPr>
                <a:t>Every odd-aged fox must have two even-aged neighbors, and vice versa</a:t>
              </a:r>
              <a:endParaRPr kumimoji="1" lang="en-US" altLang="en-US" sz="2400" b="1" spc="100" dirty="0">
                <a:solidFill>
                  <a:schemeClr val="tx1">
                    <a:lumMod val="85000"/>
                    <a:lumOff val="15000"/>
                  </a:schemeClr>
                </a:solidFill>
                <a:latin typeface="Josefin Sans" charset="0"/>
                <a:ea typeface="Josefin Sans" charset="0"/>
                <a:cs typeface="Josefin Sans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Rectangle 7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/>
                <p:cNvSpPr/>
                <p:nvPr/>
              </p:nvSpPr>
              <p:spPr>
                <a:xfrm>
                  <a:off x="192710" y="1709529"/>
                  <a:ext cx="5395595" cy="113157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p>
                  <a:pPr marL="285750" indent="-285750" algn="l">
                    <a:lnSpc>
                      <a:spcPct val="150000"/>
                    </a:lnSpc>
                    <a:buFont typeface="Arial" panose="020B0604020202090204" pitchFamily="34" charset="0"/>
                    <a:buChar char="•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Josefin Sans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Josefin Sans" charset="0"/>
                            </a:rPr>
                            <m:t>𝑎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Josefin Sans" charset="0"/>
                            </a:rPr>
                            <m:t>𝑖</m:t>
                          </m:r>
                        </m:sub>
                      </m:sSub>
                      <m:r>
                        <a:rPr lang="en-US" i="1" smtClean="0">
                          <a:latin typeface="DejaVu Math TeX Gyre" panose="02000503000000000000" charset="0"/>
                          <a:ea typeface="Cambria Math" panose="02040503050406030204" pitchFamily="18" charset="0"/>
                          <a:cs typeface="DejaVu Math TeX Gyre" panose="02000503000000000000" charset="0"/>
                        </a:rPr>
                        <m:t>≥</m:t>
                      </m:r>
                      <m:r>
                        <a:rPr lang="en-US" i="1" smtClean="0">
                          <a:latin typeface="DejaVu Math TeX Gyre" panose="02000503000000000000" charset="0"/>
                          <a:ea typeface="Cambria Math" panose="02040503050406030204" pitchFamily="18" charset="0"/>
                          <a:cs typeface="DejaVu Math TeX Gyre" panose="02000503000000000000" charset="0"/>
                        </a:rPr>
                        <m:t>2</m:t>
                      </m:r>
                      <m:r>
                        <a:rPr lang="en-US" i="1" smtClean="0">
                          <a:latin typeface="DejaVu Math TeX Gyre" panose="02000503000000000000" charset="0"/>
                          <a:ea typeface="Cambria Math" panose="02040503050406030204" pitchFamily="18" charset="0"/>
                          <a:cs typeface="DejaVu Math TeX Gyre" panose="02000503000000000000" charset="0"/>
                        </a:rPr>
                        <m:t>, </m:t>
                      </m:r>
                      <m:r>
                        <a:rPr lang="en-US" i="1" smtClean="0">
                          <a:latin typeface="DejaVu Math TeX Gyre" panose="02000503000000000000" charset="0"/>
                          <a:ea typeface="Cambria Math" panose="02040503050406030204" pitchFamily="18" charset="0"/>
                          <a:cs typeface="DejaVu Math TeX Gyre" panose="02000503000000000000" charset="0"/>
                        </a:rPr>
                        <m:t>∀</m:t>
                      </m:r>
                      <m:r>
                        <a:rPr lang="en-US" i="1" smtClean="0">
                          <a:latin typeface="DejaVu Math TeX Gyre" panose="02000503000000000000" charset="0"/>
                          <a:ea typeface="Cambria Math" panose="02040503050406030204" pitchFamily="18" charset="0"/>
                          <a:cs typeface="DejaVu Math TeX Gyre" panose="02000503000000000000" charset="0"/>
                        </a:rPr>
                        <m:t>𝑖</m:t>
                      </m:r>
                      <m:r>
                        <a:rPr lang="en-US" i="1" smtClean="0">
                          <a:latin typeface="DejaVu Math TeX Gyre" panose="02000503000000000000" charset="0"/>
                          <a:ea typeface="Cambria Math" panose="02040503050406030204" pitchFamily="18" charset="0"/>
                          <a:cs typeface="DejaVu Math TeX Gyre" panose="02000503000000000000" charset="0"/>
                        </a:rPr>
                        <m:t>∈[</m:t>
                      </m:r>
                      <m:r>
                        <a:rPr lang="en-US" i="1" smtClean="0">
                          <a:latin typeface="DejaVu Math TeX Gyre" panose="02000503000000000000" charset="0"/>
                          <a:ea typeface="Cambria Math" panose="02040503050406030204" pitchFamily="18" charset="0"/>
                          <a:cs typeface="DejaVu Math TeX Gyre" panose="02000503000000000000" charset="0"/>
                        </a:rPr>
                        <m:t>𝑛</m:t>
                      </m:r>
                      <m:r>
                        <a:rPr lang="en-US" i="1" smtClean="0">
                          <a:latin typeface="DejaVu Math TeX Gyre" panose="02000503000000000000" charset="0"/>
                          <a:ea typeface="Cambria Math" panose="02040503050406030204" pitchFamily="18" charset="0"/>
                          <a:cs typeface="DejaVu Math TeX Gyre" panose="02000503000000000000" charset="0"/>
                        </a:rPr>
                        <m:t>]</m:t>
                      </m:r>
                      <m:r>
                        <a:rPr lang="en-US" i="1" smtClean="0">
                          <a:latin typeface="DejaVu Math TeX Gyre" panose="02000503000000000000" charset="0"/>
                          <a:ea typeface="Cambria Math" panose="02040503050406030204" pitchFamily="18" charset="0"/>
                          <a:cs typeface="DejaVu Math TeX Gyre" panose="02000503000000000000" charset="0"/>
                        </a:rPr>
                        <m:t> </m:t>
                      </m:r>
                      <m:r>
                        <a:rPr kumimoji="1" lang="en-US" altLang="en-US" spc="1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Josefin Sans" charset="0"/>
                          <a:ea typeface="Josefin Sans" charset="0"/>
                          <a:cs typeface="Josefin Sans" charset="0"/>
                          <a:sym typeface="+mn-ea"/>
                        </a:rPr>
                        <m:t>⇒</m:t>
                      </m:r>
                      <m:r>
                        <a:rPr kumimoji="1" lang="en-US" altLang="en-US" spc="1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Josefin Sans" charset="0"/>
                          <a:ea typeface="Josefin Sans" charset="0"/>
                          <a:cs typeface="Josefin Sans" charset="0"/>
                          <a:sym typeface="+mn-ea"/>
                        </a:rPr>
                        <m:t> 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Josefin Sans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Josefin Sans" charset="0"/>
                            </a:rPr>
                            <m:t>𝑎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Josefin Sans" charset="0"/>
                            </a:rPr>
                            <m:t>𝑖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+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Josefin Sans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Josefin Sans" charset="0"/>
                            </a:rPr>
                            <m:t>𝑎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Josefin Sans" charset="0"/>
                            </a:rPr>
                            <m:t>𝑗</m:t>
                          </m:r>
                        </m:sub>
                      </m:sSub>
                      <m:r>
                        <a:rPr lang="en-US" i="1" smtClean="0">
                          <a:latin typeface="DejaVu Math TeX Gyre" panose="02000503000000000000" charset="0"/>
                          <a:ea typeface="Cambria Math" panose="02040503050406030204" pitchFamily="18" charset="0"/>
                          <a:cs typeface="DejaVu Math TeX Gyre" panose="02000503000000000000" charset="0"/>
                        </a:rPr>
                        <m:t>≥</m:t>
                      </m:r>
                      <m:r>
                        <a:rPr lang="en-US" i="1" smtClean="0">
                          <a:latin typeface="DejaVu Math TeX Gyre" panose="02000503000000000000" charset="0"/>
                          <a:ea typeface="Cambria Math" panose="02040503050406030204" pitchFamily="18" charset="0"/>
                          <a:cs typeface="DejaVu Math TeX Gyre" panose="02000503000000000000" charset="0"/>
                        </a:rPr>
                        <m:t>4</m:t>
                      </m:r>
                      <m:r>
                        <a:rPr lang="en-US" i="1" smtClean="0">
                          <a:latin typeface="DejaVu Math TeX Gyre" panose="02000503000000000000" charset="0"/>
                          <a:ea typeface="Cambria Math" panose="02040503050406030204" pitchFamily="18" charset="0"/>
                          <a:cs typeface="DejaVu Math TeX Gyre" panose="02000503000000000000" charset="0"/>
                        </a:rPr>
                        <m:t>, </m:t>
                      </m:r>
                      <m:r>
                        <a:rPr lang="en-US" i="1" smtClean="0">
                          <a:latin typeface="DejaVu Math TeX Gyre" panose="02000503000000000000" charset="0"/>
                          <a:ea typeface="Cambria Math" panose="02040503050406030204" pitchFamily="18" charset="0"/>
                          <a:cs typeface="DejaVu Math TeX Gyre" panose="02000503000000000000" charset="0"/>
                        </a:rPr>
                        <m:t>∀</m:t>
                      </m:r>
                      <m:r>
                        <a:rPr lang="en-US" i="1" smtClean="0">
                          <a:latin typeface="DejaVu Math TeX Gyre" panose="02000503000000000000" charset="0"/>
                          <a:ea typeface="Cambria Math" panose="02040503050406030204" pitchFamily="18" charset="0"/>
                          <a:cs typeface="DejaVu Math TeX Gyre" panose="02000503000000000000" charset="0"/>
                        </a:rPr>
                        <m:t>𝑖</m:t>
                      </m:r>
                      <m:r>
                        <a:rPr lang="en-US" i="1" smtClean="0">
                          <a:latin typeface="DejaVu Math TeX Gyre" panose="02000503000000000000" charset="0"/>
                          <a:ea typeface="Cambria Math" panose="02040503050406030204" pitchFamily="18" charset="0"/>
                          <a:cs typeface="DejaVu Math TeX Gyre" panose="02000503000000000000" charset="0"/>
                        </a:rPr>
                        <m:t>,</m:t>
                      </m:r>
                      <m:r>
                        <a:rPr lang="en-US" i="1" smtClean="0">
                          <a:latin typeface="DejaVu Math TeX Gyre" panose="02000503000000000000" charset="0"/>
                          <a:ea typeface="Cambria Math" panose="02040503050406030204" pitchFamily="18" charset="0"/>
                          <a:cs typeface="DejaVu Math TeX Gyre" panose="02000503000000000000" charset="0"/>
                        </a:rPr>
                        <m:t>𝑗</m:t>
                      </m:r>
                      <m:r>
                        <a:rPr lang="en-US" i="1" smtClean="0">
                          <a:latin typeface="DejaVu Math TeX Gyre" panose="02000503000000000000" charset="0"/>
                          <a:ea typeface="Cambria Math" panose="02040503050406030204" pitchFamily="18" charset="0"/>
                          <a:cs typeface="DejaVu Math TeX Gyre" panose="02000503000000000000" charset="0"/>
                        </a:rPr>
                        <m:t>∈[</m:t>
                      </m:r>
                      <m:r>
                        <a:rPr lang="en-US" i="1" smtClean="0">
                          <a:latin typeface="DejaVu Math TeX Gyre" panose="02000503000000000000" charset="0"/>
                          <a:ea typeface="Cambria Math" panose="02040503050406030204" pitchFamily="18" charset="0"/>
                          <a:cs typeface="DejaVu Math TeX Gyre" panose="02000503000000000000" charset="0"/>
                        </a:rPr>
                        <m:t>𝑛</m:t>
                      </m:r>
                      <m:r>
                        <a:rPr lang="en-US" i="1" smtClean="0">
                          <a:latin typeface="DejaVu Math TeX Gyre" panose="02000503000000000000" charset="0"/>
                          <a:ea typeface="Cambria Math" panose="02040503050406030204" pitchFamily="18" charset="0"/>
                          <a:cs typeface="DejaVu Math TeX Gyre" panose="02000503000000000000" charset="0"/>
                        </a:rPr>
                        <m:t>]</m:t>
                      </m:r>
                    </m:oMath>
                  </a14:m>
                  <a:endParaRPr lang="en-US" i="1" smtClean="0">
                    <a:latin typeface="DejaVu Math TeX Gyre" panose="02000503000000000000" charset="0"/>
                    <a:ea typeface="Cambria Math" panose="02040503050406030204" pitchFamily="18" charset="0"/>
                    <a:cs typeface="DejaVu Math TeX Gyre" panose="02000503000000000000" charset="0"/>
                  </a:endParaRPr>
                </a:p>
                <a:p>
                  <a:pPr marL="285750" indent="-285750" algn="l">
                    <a:lnSpc>
                      <a:spcPct val="150000"/>
                    </a:lnSpc>
                    <a:buFont typeface="Arial" panose="020B0604020202090204" pitchFamily="34" charset="0"/>
                    <a:buChar char="•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Josefin Sans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Josefin Sans" charset="0"/>
                            </a:rPr>
                            <m:t>𝑎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Josefin Sans" charset="0"/>
                            </a:rPr>
                            <m:t>𝑖</m:t>
                          </m:r>
                        </m:sub>
                      </m:sSub>
                    </m:oMath>
                  </a14:m>
                  <a:r>
                    <a:rPr kumimoji="1" lang="en-US" altLang="zh-CN" spc="1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Josefin Sans" charset="0"/>
                      <a:ea typeface="Josefin Sans" charset="0"/>
                      <a:cs typeface="Josefin Sans" charset="0"/>
                      <a:sym typeface="+mn-ea"/>
                    </a:rPr>
                    <a:t>+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Josefin Sans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Josefin Sans" charset="0"/>
                            </a:rPr>
                            <m:t>𝑎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Josefin Sans" charset="0"/>
                            </a:rPr>
                            <m:t>𝑗</m:t>
                          </m:r>
                        </m:sub>
                      </m:sSub>
                    </m:oMath>
                  </a14:m>
                  <a:r>
                    <a:rPr kumimoji="1" lang="en-US" altLang="zh-CN" spc="1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Josefin Sans" charset="0"/>
                      <a:ea typeface="Josefin Sans" charset="0"/>
                      <a:cs typeface="Josefin Sans" charset="0"/>
                      <a:sym typeface="+mn-ea"/>
                    </a:rPr>
                    <a:t> is a prime </a:t>
                  </a:r>
                  <a:r>
                    <a:rPr kumimoji="1" lang="en-US" altLang="en-US" spc="1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Josefin Sans" charset="0"/>
                      <a:ea typeface="Josefin Sans" charset="0"/>
                      <a:cs typeface="Josefin Sans" charset="0"/>
                      <a:sym typeface="+mn-ea"/>
                    </a:rPr>
                    <a:t>⇒</a:t>
                  </a:r>
                  <a:r>
                    <a:rPr kumimoji="1" lang="en-US" altLang="zh-CN" spc="1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Josefin Sans" charset="0"/>
                      <a:ea typeface="Josefin Sans" charset="0"/>
                      <a:cs typeface="Josefin Sans" charset="0"/>
                      <a:sym typeface="+mn-ea"/>
                    </a:rPr>
                    <a:t> one odd, one even</a:t>
                  </a:r>
                  <a:endParaRPr lang="en-US" altLang="en-CA" i="0" u="none" strike="noStrike" dirty="0">
                    <a:solidFill>
                      <a:srgbClr val="000000"/>
                    </a:solidFill>
                    <a:effectLst/>
                  </a:endParaRPr>
                </a:p>
              </p:txBody>
            </p:sp>
          </mc:Choice>
          <mc:Fallback>
            <p:sp>
              <p:nvSpPr>
                <p:cNvPr id="18" name="Rectangle 7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2710" y="1709529"/>
                  <a:ext cx="5395595" cy="1131570"/>
                </a:xfrm>
                <a:prstGeom prst="rect">
                  <a:avLst/>
                </a:prstGeom>
                <a:blipFill rotWithShape="1">
                  <a:blip r:embed="rId1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" name="组合 1"/>
          <p:cNvGrpSpPr/>
          <p:nvPr/>
        </p:nvGrpSpPr>
        <p:grpSpPr>
          <a:xfrm>
            <a:off x="331260" y="3344019"/>
            <a:ext cx="5696585" cy="1735455"/>
            <a:chOff x="192710" y="667494"/>
            <a:chExt cx="5696585" cy="1735455"/>
          </a:xfrm>
        </p:grpSpPr>
        <p:sp>
          <p:nvSpPr>
            <p:cNvPr id="8" name="文本框 5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/>
            <p:cNvSpPr txBox="1"/>
            <p:nvPr/>
          </p:nvSpPr>
          <p:spPr>
            <a:xfrm>
              <a:off x="192710" y="667494"/>
              <a:ext cx="5696585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kumimoji="1" lang="en-US" altLang="zh-CN" sz="2400" b="1" spc="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Josefin Sans" charset="0"/>
                  <a:ea typeface="Josefin Sans" charset="0"/>
                  <a:cs typeface="Josefin Sans" charset="0"/>
                </a:rPr>
                <a:t>2.</a:t>
              </a:r>
              <a:r>
                <a:rPr kumimoji="1" lang="en-US" altLang="zh-CN" sz="2400" b="1" i="1" spc="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Josefin Sans" charset="0"/>
                  <a:ea typeface="Josefin Sans" charset="0"/>
                  <a:cs typeface="Josefin Sans" charset="0"/>
                </a:rPr>
                <a:t> </a:t>
              </a:r>
              <a:r>
                <a:rPr kumimoji="1" lang="en-US" altLang="zh-CN" sz="2400" b="1" spc="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Josefin Sans" charset="0"/>
                  <a:ea typeface="Josefin Sans" charset="0"/>
                  <a:cs typeface="Josefin Sans" charset="0"/>
                </a:rPr>
                <a:t>Bipartite graph matching </a:t>
              </a:r>
              <a:r>
                <a:rPr kumimoji="1" lang="en-US" altLang="en-US" sz="2400" b="1" spc="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Josefin Sans" charset="0"/>
                  <a:ea typeface="Josefin Sans" charset="0"/>
                  <a:cs typeface="Josefin Sans" charset="0"/>
                </a:rPr>
                <a:t>of degree constraint 2</a:t>
              </a:r>
              <a:endParaRPr kumimoji="1" lang="en-US" altLang="en-US" sz="2400" b="1" spc="100" dirty="0">
                <a:solidFill>
                  <a:schemeClr val="tx1">
                    <a:lumMod val="85000"/>
                    <a:lumOff val="15000"/>
                  </a:schemeClr>
                </a:solidFill>
                <a:latin typeface="Josefin Sans" charset="0"/>
                <a:ea typeface="Josefin Sans" charset="0"/>
                <a:cs typeface="Josefin Sans" charset="0"/>
              </a:endParaRPr>
            </a:p>
          </p:txBody>
        </p:sp>
        <p:sp>
          <p:nvSpPr>
            <p:cNvPr id="9" name="Rectangle 7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/>
            <p:cNvSpPr/>
            <p:nvPr/>
          </p:nvSpPr>
          <p:spPr>
            <a:xfrm>
              <a:off x="192710" y="1480929"/>
              <a:ext cx="5557520" cy="922020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marL="285750" indent="-285750" algn="l">
                <a:lnSpc>
                  <a:spcPct val="150000"/>
                </a:lnSpc>
                <a:buFont typeface="Arial" panose="020B0604020202090204" pitchFamily="34" charset="0"/>
                <a:buChar char="•"/>
              </a:pPr>
              <a:r>
                <a:rPr kumimoji="1" lang="en-US" altLang="zh-CN" spc="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Josefin Sans" charset="0"/>
                  <a:ea typeface="Josefin Sans" charset="0"/>
                  <a:cs typeface="Josefin Sans" charset="0"/>
                </a:rPr>
                <a:t>Left side: odd-aged foxes</a:t>
              </a:r>
              <a:endParaRPr kumimoji="1" lang="en-US" altLang="zh-CN" spc="100" dirty="0">
                <a:solidFill>
                  <a:schemeClr val="tx1">
                    <a:lumMod val="85000"/>
                    <a:lumOff val="15000"/>
                  </a:schemeClr>
                </a:solidFill>
                <a:latin typeface="Josefin Sans" charset="0"/>
                <a:ea typeface="Josefin Sans" charset="0"/>
                <a:cs typeface="Josefin Sans" charset="0"/>
              </a:endParaRPr>
            </a:p>
            <a:p>
              <a:pPr marL="285750" indent="-285750" algn="l">
                <a:lnSpc>
                  <a:spcPct val="150000"/>
                </a:lnSpc>
                <a:buFont typeface="Arial" panose="020B0604020202090204" pitchFamily="34" charset="0"/>
                <a:buChar char="•"/>
              </a:pPr>
              <a:r>
                <a:rPr kumimoji="1" lang="en-US" altLang="zh-CN" i="0" u="none" strike="noStrike" spc="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Josefin Sans" charset="0"/>
                  <a:ea typeface="Josefin Sans" charset="0"/>
                  <a:cs typeface="Josefin Sans" charset="0"/>
                </a:rPr>
                <a:t>Right side: even-aged foxes</a:t>
              </a:r>
              <a:endParaRPr kumimoji="1" lang="en-US" altLang="zh-CN" i="0" u="none" strike="noStrike" spc="100" dirty="0">
                <a:solidFill>
                  <a:schemeClr val="tx1">
                    <a:lumMod val="85000"/>
                    <a:lumOff val="15000"/>
                  </a:schemeClr>
                </a:solidFill>
                <a:latin typeface="Josefin Sans" charset="0"/>
                <a:ea typeface="Josefin Sans" charset="0"/>
                <a:cs typeface="Josefin Sans" charset="0"/>
              </a:endParaRPr>
            </a:p>
          </p:txBody>
        </p:sp>
      </p:grpSp>
      <p:grpSp>
        <p:nvGrpSpPr>
          <p:cNvPr id="11" name="组合 1"/>
          <p:cNvGrpSpPr/>
          <p:nvPr/>
        </p:nvGrpSpPr>
        <p:grpSpPr>
          <a:xfrm>
            <a:off x="6321215" y="742424"/>
            <a:ext cx="5696585" cy="2153285"/>
            <a:chOff x="192710" y="667494"/>
            <a:chExt cx="5696585" cy="2153285"/>
          </a:xfrm>
        </p:grpSpPr>
        <p:sp>
          <p:nvSpPr>
            <p:cNvPr id="12" name="文本框 5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/>
            <p:cNvSpPr txBox="1"/>
            <p:nvPr/>
          </p:nvSpPr>
          <p:spPr>
            <a:xfrm>
              <a:off x="192710" y="667494"/>
              <a:ext cx="5696585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kumimoji="1" lang="en-US" altLang="zh-CN" sz="2400" b="1" spc="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Josefin Sans" charset="0"/>
                  <a:ea typeface="Josefin Sans" charset="0"/>
                  <a:cs typeface="Josefin Sans" charset="0"/>
                </a:rPr>
                <a:t>3.</a:t>
              </a:r>
              <a:r>
                <a:rPr kumimoji="1" lang="en-US" altLang="zh-CN" sz="2400" b="1" i="1" spc="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Josefin Sans" charset="0"/>
                  <a:ea typeface="Josefin Sans" charset="0"/>
                  <a:cs typeface="Josefin Sans" charset="0"/>
                </a:rPr>
                <a:t> </a:t>
              </a:r>
              <a:r>
                <a:rPr kumimoji="1" lang="en-US" altLang="zh-CN" sz="2400" b="1" spc="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Josefin Sans" charset="0"/>
                  <a:ea typeface="Josefin Sans" charset="0"/>
                  <a:cs typeface="Josefin Sans" charset="0"/>
                </a:rPr>
                <a:t>Network flow construction </a:t>
              </a:r>
              <a:endParaRPr kumimoji="1" lang="en-US" altLang="en-US" sz="2400" b="1" spc="100" dirty="0">
                <a:solidFill>
                  <a:schemeClr val="tx1">
                    <a:lumMod val="85000"/>
                    <a:lumOff val="15000"/>
                  </a:schemeClr>
                </a:solidFill>
                <a:latin typeface="Josefin Sans" charset="0"/>
                <a:ea typeface="Josefin Sans" charset="0"/>
                <a:cs typeface="Josefin Sans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Rectangle 7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/>
                <p:cNvSpPr/>
                <p:nvPr/>
              </p:nvSpPr>
              <p:spPr>
                <a:xfrm>
                  <a:off x="192710" y="1105644"/>
                  <a:ext cx="5557520" cy="171513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p>
                  <a:pPr marL="285750" indent="-285750" algn="l">
                    <a:lnSpc>
                      <a:spcPct val="150000"/>
                    </a:lnSpc>
                    <a:buFont typeface="Arial" panose="020B0604020202090204" pitchFamily="34" charset="0"/>
                    <a:buChar char="•"/>
                  </a:pPr>
                  <a:r>
                    <a:rPr kumimoji="1" lang="en-US" altLang="zh-CN" spc="1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Josefin Sans" charset="0"/>
                      <a:ea typeface="Josefin Sans" charset="0"/>
                      <a:cs typeface="Josefin Sans" charset="0"/>
                    </a:rPr>
                    <a:t>Connect s to every odd-aged fox (cap. 2)</a:t>
                  </a:r>
                  <a:endParaRPr kumimoji="1" lang="en-US" altLang="zh-CN" spc="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Josefin Sans" charset="0"/>
                    <a:ea typeface="Josefin Sans" charset="0"/>
                    <a:cs typeface="Josefin Sans" charset="0"/>
                  </a:endParaRPr>
                </a:p>
                <a:p>
                  <a:pPr marL="285750" indent="-285750" algn="l" fontAlgn="auto">
                    <a:lnSpc>
                      <a:spcPct val="150000"/>
                    </a:lnSpc>
                    <a:spcAft>
                      <a:spcPts val="1200"/>
                    </a:spcAft>
                    <a:buFont typeface="Arial" panose="020B0604020202090204" pitchFamily="34" charset="0"/>
                    <a:buChar char="•"/>
                  </a:pPr>
                  <a:r>
                    <a:rPr kumimoji="1" lang="en-US" altLang="zh-CN" spc="1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Josefin Sans" charset="0"/>
                      <a:ea typeface="Josefin Sans" charset="0"/>
                      <a:cs typeface="Josefin Sans" charset="0"/>
                      <a:sym typeface="+mn-ea"/>
                    </a:rPr>
                    <a:t>Connect every even-aged fox to t (cap. 2)</a:t>
                  </a:r>
                  <a:endParaRPr kumimoji="1" lang="en-US" altLang="zh-CN" spc="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Josefin Sans" charset="0"/>
                    <a:ea typeface="Josefin Sans" charset="0"/>
                    <a:cs typeface="Josefin Sans" charset="0"/>
                    <a:sym typeface="+mn-ea"/>
                  </a:endParaRPr>
                </a:p>
                <a:p>
                  <a:pPr marL="285750" indent="-285750" algn="l" fontAlgn="auto">
                    <a:lnSpc>
                      <a:spcPct val="100000"/>
                    </a:lnSpc>
                    <a:buFont typeface="Arial" panose="020B0604020202090204" pitchFamily="34" charset="0"/>
                    <a:buChar char="•"/>
                  </a:pPr>
                  <a:r>
                    <a:rPr kumimoji="1" lang="en-US" altLang="zh-CN" spc="1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Josefin Sans" charset="0"/>
                      <a:ea typeface="Josefin Sans" charset="0"/>
                      <a:cs typeface="Josefin Sans" charset="0"/>
                      <a:sym typeface="+mn-ea"/>
                    </a:rPr>
                    <a:t>Connect every odd-aged fox i to every even-aged fox j if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Josefin Sans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Josefin Sans" charset="0"/>
                            </a:rPr>
                            <m:t>𝑎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Josefin Sans" charset="0"/>
                            </a:rPr>
                            <m:t>𝑖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+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Josefin Sans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Josefin Sans" charset="0"/>
                            </a:rPr>
                            <m:t>𝑎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Josefin Sans" charset="0"/>
                            </a:rPr>
                            <m:t>𝑗</m:t>
                          </m:r>
                        </m:sub>
                      </m:sSub>
                    </m:oMath>
                  </a14:m>
                  <a:r>
                    <a:rPr kumimoji="1" lang="en-US" altLang="zh-CN" spc="1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Josefin Sans" charset="0"/>
                      <a:ea typeface="Josefin Sans" charset="0"/>
                      <a:cs typeface="Josefin Sans" charset="0"/>
                      <a:sym typeface="+mn-ea"/>
                    </a:rPr>
                    <a:t> is prime (cap. 1)</a:t>
                  </a:r>
                  <a:endParaRPr kumimoji="1" lang="en-US" altLang="zh-CN" i="0" u="none" strike="noStrike" spc="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Josefin Sans" charset="0"/>
                    <a:ea typeface="Josefin Sans" charset="0"/>
                    <a:cs typeface="Josefin Sans" charset="0"/>
                  </a:endParaRPr>
                </a:p>
              </p:txBody>
            </p:sp>
          </mc:Choice>
          <mc:Fallback>
            <p:sp>
              <p:nvSpPr>
                <p:cNvPr id="13" name="Rectangle 7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2710" y="1105644"/>
                  <a:ext cx="5557520" cy="1715135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" name="组合 1"/>
          <p:cNvGrpSpPr/>
          <p:nvPr/>
        </p:nvGrpSpPr>
        <p:grpSpPr>
          <a:xfrm>
            <a:off x="6322485" y="3361164"/>
            <a:ext cx="5696585" cy="1360170"/>
            <a:chOff x="192710" y="667494"/>
            <a:chExt cx="5696585" cy="1360170"/>
          </a:xfrm>
        </p:grpSpPr>
        <p:sp>
          <p:nvSpPr>
            <p:cNvPr id="15" name="文本框 5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/>
            <p:cNvSpPr txBox="1"/>
            <p:nvPr/>
          </p:nvSpPr>
          <p:spPr>
            <a:xfrm>
              <a:off x="192710" y="667494"/>
              <a:ext cx="5696585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kumimoji="1" lang="en-US" altLang="zh-CN" sz="2400" b="1" spc="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Josefin Sans" charset="0"/>
                  <a:ea typeface="Josefin Sans" charset="0"/>
                  <a:cs typeface="Josefin Sans" charset="0"/>
                </a:rPr>
                <a:t>4.</a:t>
              </a:r>
              <a:r>
                <a:rPr kumimoji="1" lang="en-US" altLang="zh-CN" sz="2400" b="1" i="1" spc="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Josefin Sans" charset="0"/>
                  <a:ea typeface="Josefin Sans" charset="0"/>
                  <a:cs typeface="Josefin Sans" charset="0"/>
                </a:rPr>
                <a:t> </a:t>
              </a:r>
              <a:r>
                <a:rPr kumimoji="1" lang="en-US" altLang="en-US" sz="2400" b="1" spc="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Josefin Sans" charset="0"/>
                  <a:ea typeface="Josefin Sans" charset="0"/>
                  <a:cs typeface="Josefin Sans" charset="0"/>
                </a:rPr>
                <a:t>From </a:t>
              </a:r>
              <a:r>
                <a:rPr kumimoji="1" lang="en-US" altLang="en-US" sz="2400" b="1" spc="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Josefin Sans" charset="0"/>
                  <a:ea typeface="Josefin Sans" charset="0"/>
                  <a:cs typeface="Josefin Sans" charset="0"/>
                </a:rPr>
                <a:t>max-flow to seating</a:t>
              </a:r>
              <a:endParaRPr kumimoji="1" lang="en-US" altLang="en-US" sz="2400" b="1" spc="100" dirty="0">
                <a:solidFill>
                  <a:schemeClr val="tx1">
                    <a:lumMod val="85000"/>
                    <a:lumOff val="15000"/>
                  </a:schemeClr>
                </a:solidFill>
                <a:latin typeface="Josefin Sans" charset="0"/>
                <a:ea typeface="Josefin Sans" charset="0"/>
                <a:cs typeface="Josefin Sans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Rectangle 7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/>
                <p:cNvSpPr/>
                <p:nvPr/>
              </p:nvSpPr>
              <p:spPr>
                <a:xfrm>
                  <a:off x="192710" y="1105644"/>
                  <a:ext cx="5557520" cy="9220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p>
                  <a:pPr marL="285750" indent="-285750" algn="l">
                    <a:lnSpc>
                      <a:spcPct val="150000"/>
                    </a:lnSpc>
                    <a:buFont typeface="Arial" panose="020B0604020202090204" pitchFamily="34" charset="0"/>
                    <a:buChar char="•"/>
                  </a:pPr>
                  <a:r>
                    <a:rPr kumimoji="1" lang="en-US" altLang="zh-CN" spc="1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Josefin Sans" charset="0"/>
                      <a:ea typeface="Josefin Sans" charset="0"/>
                      <a:cs typeface="Josefin Sans" charset="0"/>
                    </a:rPr>
                    <a:t>Matching exists iff max-flow = </a:t>
                  </a:r>
                  <a14:m>
                    <m:oMath xmlns:m="http://schemas.openxmlformats.org/officeDocument/2006/math">
                      <m:r>
                        <a:rPr lang="en-US" i="1" smtClean="0">
                          <a:latin typeface="DejaVu Math TeX Gyre" panose="02000503000000000000" charset="0"/>
                          <a:ea typeface="Cambria Math" panose="02040503050406030204" pitchFamily="18" charset="0"/>
                          <a:cs typeface="DejaVu Math TeX Gyre" panose="02000503000000000000" charset="0"/>
                        </a:rPr>
                        <m:t>𝑛</m:t>
                      </m:r>
                    </m:oMath>
                  </a14:m>
                  <a:endParaRPr kumimoji="1" lang="en-US" altLang="zh-CN" spc="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Josefin Sans" charset="0"/>
                    <a:ea typeface="Josefin Sans" charset="0"/>
                    <a:cs typeface="Josefin Sans" charset="0"/>
                  </a:endParaRPr>
                </a:p>
                <a:p>
                  <a:pPr marL="285750" indent="-285750" algn="l" fontAlgn="auto">
                    <a:lnSpc>
                      <a:spcPct val="150000"/>
                    </a:lnSpc>
                    <a:spcAft>
                      <a:spcPts val="1200"/>
                    </a:spcAft>
                    <a:buFont typeface="Arial" panose="020B0604020202090204" pitchFamily="34" charset="0"/>
                    <a:buChar char="•"/>
                  </a:pPr>
                  <a:r>
                    <a:rPr kumimoji="1" lang="en-US" altLang="zh-CN" i="0" u="none" strike="noStrike" spc="1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Josefin Sans" charset="0"/>
                      <a:ea typeface="Josefin Sans" charset="0"/>
                      <a:cs typeface="Josefin Sans" charset="0"/>
                    </a:rPr>
                    <a:t>Each cycle corresponds to a table</a:t>
                  </a:r>
                  <a:endParaRPr kumimoji="1" lang="en-US" altLang="zh-CN" i="0" u="none" strike="noStrike" spc="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Josefin Sans" charset="0"/>
                    <a:ea typeface="Josefin Sans" charset="0"/>
                    <a:cs typeface="Josefin Sans" charset="0"/>
                  </a:endParaRPr>
                </a:p>
              </p:txBody>
            </p:sp>
          </mc:Choice>
          <mc:Fallback>
            <p:sp>
              <p:nvSpPr>
                <p:cNvPr id="16" name="Rectangle 7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2710" y="1105644"/>
                  <a:ext cx="5557520" cy="922020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22" name="图片 16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2743" y="5553788"/>
            <a:ext cx="4016731" cy="4105992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2743" y="5553788"/>
            <a:ext cx="4016731" cy="4105992"/>
          </a:xfrm>
          <a:prstGeom prst="rect">
            <a:avLst/>
          </a:prstGeom>
        </p:spPr>
      </p:pic>
      <p:sp>
        <p:nvSpPr>
          <p:cNvPr id="4" name="e7d195523061f1c0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 hidden="1"/>
          <p:cNvSpPr txBox="1"/>
          <p:nvPr/>
        </p:nvSpPr>
        <p:spPr>
          <a:xfrm>
            <a:off x="-355600" y="1803400"/>
            <a:ext cx="262251" cy="1016000"/>
          </a:xfrm>
          <a:prstGeom prst="rect">
            <a:avLst/>
          </a:prstGeom>
          <a:noFill/>
        </p:spPr>
        <p:txBody>
          <a:bodyPr vert="wordArtVert" rtlCol="0">
            <a:spAutoFit/>
          </a:bodyPr>
          <a:lstStyle/>
          <a:p>
            <a:r>
              <a:rPr lang="en-US" altLang="zh-CN" sz="100"/>
              <a:t>e7d195523061f1c01d60fa9f1cfcbfb3d7dea265119d71e15FBB43640B43E9A75E03FE54C774D5D4779ED45933E78901D3CB0E69E39D04A9E1E9B25CF060C4BCA4D072860494D0D8E683C2FE58414E15A257B8C98CAC931B2A91D95E391D8F56A6B197C339044743E4A827576812018FE092D8F796C38DC487F641821CDDB0736DD3EE0F684ACE40</a:t>
            </a:r>
            <a:endParaRPr lang="zh-CN" altLang="en-US" sz="100"/>
          </a:p>
        </p:txBody>
      </p:sp>
      <p:grpSp>
        <p:nvGrpSpPr>
          <p:cNvPr id="3" name="组合 2"/>
          <p:cNvGrpSpPr/>
          <p:nvPr/>
        </p:nvGrpSpPr>
        <p:grpSpPr>
          <a:xfrm>
            <a:off x="1151255" y="605264"/>
            <a:ext cx="5520688" cy="2583815"/>
            <a:chOff x="699004" y="854429"/>
            <a:chExt cx="4711195" cy="2735051"/>
          </a:xfrm>
        </p:grpSpPr>
        <p:sp>
          <p:nvSpPr>
            <p:cNvPr id="7" name="文本框 6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/>
            <p:cNvSpPr txBox="1"/>
            <p:nvPr/>
          </p:nvSpPr>
          <p:spPr>
            <a:xfrm>
              <a:off x="699004" y="854429"/>
              <a:ext cx="4711195" cy="5525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lt"/>
                  <a:ea typeface="Josefin Sans" charset="0"/>
                  <a:cs typeface="Josefin Sans" charset="0"/>
                </a:rPr>
                <a:t>Helper function</a:t>
              </a:r>
              <a:endParaRPr kumimoji="1"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Josefin Sans" charset="0"/>
                <a:cs typeface="Josefin Sans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Rectangle 7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/>
                <p:cNvSpPr/>
                <p:nvPr/>
              </p:nvSpPr>
              <p:spPr>
                <a:xfrm>
                  <a:off x="790042" y="1342423"/>
                  <a:ext cx="4459217" cy="2247057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>
                    <a:lnSpc>
                      <a:spcPct val="110000"/>
                    </a:lnSpc>
                  </a:pPr>
                  <a:r>
                    <a:rPr lang="en-US" sz="2000" dirty="0">
                      <a:ea typeface="Cambria Math" panose="02040503050406030204" pitchFamily="18" charset="0"/>
                      <a:cs typeface="Josefin Sans" charset="0"/>
                      <a:sym typeface="+mn-ea"/>
                    </a:rPr>
                    <a:t>IsPrime(x)</a:t>
                  </a:r>
                  <a:endParaRPr lang="en-US" sz="2000" dirty="0">
                    <a:ea typeface="Cambria Math" panose="02040503050406030204" pitchFamily="18" charset="0"/>
                    <a:cs typeface="Josefin Sans" charset="0"/>
                    <a:sym typeface="+mn-ea"/>
                  </a:endParaRPr>
                </a:p>
                <a:p>
                  <a:pPr lvl="0">
                    <a:lnSpc>
                      <a:spcPct val="110000"/>
                    </a:lnSpc>
                  </a:pPr>
                  <a:r>
                    <a:rPr lang="en-US" sz="2000" dirty="0">
                      <a:ea typeface="Cambria Math" panose="02040503050406030204" pitchFamily="18" charset="0"/>
                      <a:cs typeface="Josefin Sans" charset="0"/>
                      <a:sym typeface="+mn-ea"/>
                    </a:rPr>
                    <a:t>1.  Return false if </a:t>
                  </a:r>
                  <a14:m>
                    <m:oMath xmlns:m="http://schemas.openxmlformats.org/officeDocument/2006/math">
                      <m:r>
                        <a:rPr lang="en-US" sz="2000" i="1" dirty="0">
                          <a:latin typeface="DejaVu Math TeX Gyre" panose="02000503000000000000" charset="0"/>
                          <a:ea typeface="Cambria Math" panose="02040503050406030204" pitchFamily="18" charset="0"/>
                          <a:cs typeface="DejaVu Math TeX Gyre" panose="02000503000000000000" charset="0"/>
                          <a:sym typeface="+mn-ea"/>
                        </a:rPr>
                        <m:t>𝑥</m:t>
                      </m:r>
                      <m:r>
                        <a:rPr lang="en-US" sz="2000" i="1" dirty="0">
                          <a:latin typeface="DejaVu Math TeX Gyre" panose="02000503000000000000" charset="0"/>
                          <a:ea typeface="Cambria Math" panose="02040503050406030204" pitchFamily="18" charset="0"/>
                          <a:cs typeface="DejaVu Math TeX Gyre" panose="02000503000000000000" charset="0"/>
                          <a:sym typeface="+mn-ea"/>
                        </a:rPr>
                        <m:t>&lt;</m:t>
                      </m:r>
                      <m:r>
                        <a:rPr lang="en-US" sz="2000" i="1" dirty="0">
                          <a:latin typeface="DejaVu Math TeX Gyre" panose="02000503000000000000" charset="0"/>
                          <a:ea typeface="Cambria Math" panose="02040503050406030204" pitchFamily="18" charset="0"/>
                          <a:cs typeface="DejaVu Math TeX Gyre" panose="02000503000000000000" charset="0"/>
                          <a:sym typeface="+mn-ea"/>
                        </a:rPr>
                        <m:t>2</m:t>
                      </m:r>
                    </m:oMath>
                  </a14:m>
                  <a:endParaRPr lang="en-US" sz="2000" dirty="0">
                    <a:ea typeface="Cambria Math" panose="02040503050406030204" pitchFamily="18" charset="0"/>
                    <a:cs typeface="Josefin Sans" charset="0"/>
                    <a:sym typeface="+mn-ea"/>
                  </a:endParaRPr>
                </a:p>
                <a:p>
                  <a:pPr lvl="0">
                    <a:lnSpc>
                      <a:spcPct val="110000"/>
                    </a:lnSpc>
                  </a:pPr>
                  <a:r>
                    <a:rPr lang="en-US" sz="2000" dirty="0">
                      <a:ea typeface="Cambria Math" panose="02040503050406030204" pitchFamily="18" charset="0"/>
                      <a:cs typeface="Josefin Sans" charset="0"/>
                      <a:sym typeface="+mn-ea"/>
                    </a:rPr>
                    <a:t>2.  For </a:t>
                  </a:r>
                  <a14:m>
                    <m:oMath xmlns:m="http://schemas.openxmlformats.org/officeDocument/2006/math">
                      <m:r>
                        <a:rPr lang="en-US" sz="2000" i="1" dirty="0">
                          <a:latin typeface="DejaVu Math TeX Gyre" panose="02000503000000000000" charset="0"/>
                          <a:ea typeface="Cambria Math" panose="02040503050406030204" pitchFamily="18" charset="0"/>
                          <a:cs typeface="DejaVu Math TeX Gyre" panose="02000503000000000000" charset="0"/>
                          <a:sym typeface="+mn-ea"/>
                        </a:rPr>
                        <m:t>𝑖</m:t>
                      </m:r>
                      <m:r>
                        <a:rPr lang="en-US" sz="2000" i="1" dirty="0">
                          <a:latin typeface="DejaVu Math TeX Gyre" panose="02000503000000000000" charset="0"/>
                          <a:ea typeface="Cambria Math" panose="02040503050406030204" pitchFamily="18" charset="0"/>
                          <a:cs typeface="DejaVu Math TeX Gyre" panose="02000503000000000000" charset="0"/>
                          <a:sym typeface="+mn-ea"/>
                        </a:rPr>
                        <m:t>=</m:t>
                      </m:r>
                      <m:r>
                        <a:rPr lang="en-US" sz="2000" i="1" dirty="0">
                          <a:latin typeface="DejaVu Math TeX Gyre" panose="02000503000000000000" charset="0"/>
                          <a:ea typeface="Cambria Math" panose="02040503050406030204" pitchFamily="18" charset="0"/>
                          <a:cs typeface="DejaVu Math TeX Gyre" panose="02000503000000000000" charset="0"/>
                          <a:sym typeface="+mn-ea"/>
                        </a:rPr>
                        <m:t>2</m:t>
                      </m:r>
                      <m:r>
                        <a:rPr lang="en-US" sz="2000" i="1" dirty="0">
                          <a:latin typeface="DejaVu Math TeX Gyre" panose="02000503000000000000" charset="0"/>
                          <a:ea typeface="Cambria Math" panose="02040503050406030204" pitchFamily="18" charset="0"/>
                          <a:cs typeface="DejaVu Math TeX Gyre" panose="02000503000000000000" charset="0"/>
                          <a:sym typeface="+mn-ea"/>
                        </a:rPr>
                        <m:t> </m:t>
                      </m:r>
                    </m:oMath>
                  </a14:m>
                  <a:r>
                    <a:rPr lang="en-US" sz="2000" dirty="0">
                      <a:ea typeface="Cambria Math" panose="02040503050406030204" pitchFamily="18" charset="0"/>
                      <a:cs typeface="Josefin Sans" charset="0"/>
                      <a:sym typeface="+mn-ea"/>
                    </a:rPr>
                    <a:t>to </a:t>
                  </a:r>
                  <a14:m>
                    <m:oMath xmlns:m="http://schemas.openxmlformats.org/officeDocument/2006/math">
                      <m:d>
                        <m:dPr>
                          <m:begChr m:val="⌊"/>
                          <m:endChr m:val=""/>
                          <m:ctrlPr>
                            <a:rPr lang="en-US" sz="2000" i="1" dirty="0">
                              <a:latin typeface="DejaVu Math TeX Gyre" panose="02000503000000000000" charset="0"/>
                              <a:ea typeface="Cambria Math" panose="02040503050406030204" pitchFamily="18" charset="0"/>
                              <a:cs typeface="DejaVu Math TeX Gyre" panose="02000503000000000000" charset="0"/>
                              <a:sym typeface="+mn-ea"/>
                            </a:rPr>
                          </m:ctrlPr>
                        </m:dPr>
                        <m:e>
                          <m:r>
                            <a:rPr lang="en-US" sz="2000" i="1" dirty="0">
                              <a:latin typeface="DejaVu Math TeX Gyre" panose="02000503000000000000" charset="0"/>
                              <a:ea typeface="Cambria Math" panose="02040503050406030204" pitchFamily="18" charset="0"/>
                              <a:cs typeface="DejaVu Math TeX Gyre" panose="02000503000000000000" charset="0"/>
                              <a:sym typeface="+mn-ea"/>
                            </a:rPr>
                            <m:t>√</m:t>
                          </m:r>
                          <m:d>
                            <m:dPr>
                              <m:begChr m:val=""/>
                              <m:endChr m:val="⌋"/>
                              <m:ctrlPr>
                                <a:rPr lang="en-US" sz="2000" i="1" dirty="0">
                                  <a:latin typeface="DejaVu Math TeX Gyre" panose="02000503000000000000" charset="0"/>
                                  <a:ea typeface="Cambria Math" panose="02040503050406030204" pitchFamily="18" charset="0"/>
                                  <a:cs typeface="DejaVu Math TeX Gyre" panose="02000503000000000000" charset="0"/>
                                  <a:sym typeface="+mn-ea"/>
                                </a:rPr>
                              </m:ctrlPr>
                            </m:dPr>
                            <m:e>
                              <m:r>
                                <a:rPr lang="en-US" sz="2000" i="1" dirty="0">
                                  <a:latin typeface="DejaVu Math TeX Gyre" panose="02000503000000000000" charset="0"/>
                                  <a:ea typeface="Cambria Math" panose="02040503050406030204" pitchFamily="18" charset="0"/>
                                  <a:cs typeface="DejaVu Math TeX Gyre" panose="02000503000000000000" charset="0"/>
                                  <a:sym typeface="+mn-ea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000" i="1" dirty="0">
                              <a:latin typeface="DejaVu Math TeX Gyre" panose="02000503000000000000" charset="0"/>
                              <a:ea typeface="Cambria Math" panose="02040503050406030204" pitchFamily="18" charset="0"/>
                              <a:cs typeface="DejaVu Math TeX Gyre" panose="02000503000000000000" charset="0"/>
                              <a:sym typeface="+mn-ea"/>
                            </a:rPr>
                            <m:t> </m:t>
                          </m:r>
                        </m:e>
                      </m:d>
                    </m:oMath>
                  </a14:m>
                  <a:r>
                    <a:rPr lang="en-US" sz="2000" dirty="0">
                      <a:ea typeface="Cambria Math" panose="02040503050406030204" pitchFamily="18" charset="0"/>
                      <a:cs typeface="Josefin Sans" charset="0"/>
                      <a:sym typeface="+mn-ea"/>
                    </a:rPr>
                    <a:t>:</a:t>
                  </a:r>
                  <a:endParaRPr lang="en-US" sz="2000" dirty="0">
                    <a:ea typeface="Cambria Math" panose="02040503050406030204" pitchFamily="18" charset="0"/>
                    <a:cs typeface="Josefin Sans" charset="0"/>
                    <a:sym typeface="+mn-ea"/>
                  </a:endParaRPr>
                </a:p>
                <a:p>
                  <a:pPr lvl="0">
                    <a:lnSpc>
                      <a:spcPct val="110000"/>
                    </a:lnSpc>
                  </a:pPr>
                  <a:r>
                    <a:rPr lang="en-US" sz="2000" dirty="0">
                      <a:ea typeface="Cambria Math" panose="02040503050406030204" pitchFamily="18" charset="0"/>
                      <a:cs typeface="Josefin Sans" charset="0"/>
                      <a:sym typeface="+mn-ea"/>
                    </a:rPr>
                    <a:t>3.    if </a:t>
                  </a:r>
                  <a14:m>
                    <m:oMath xmlns:m="http://schemas.openxmlformats.org/officeDocument/2006/math">
                      <m:r>
                        <a:rPr lang="en-US" sz="2000" i="1" dirty="0">
                          <a:latin typeface="DejaVu Math TeX Gyre" panose="02000503000000000000" charset="0"/>
                          <a:ea typeface="Cambria Math" panose="02040503050406030204" pitchFamily="18" charset="0"/>
                          <a:cs typeface="DejaVu Math TeX Gyre" panose="02000503000000000000" charset="0"/>
                          <a:sym typeface="+mn-ea"/>
                        </a:rPr>
                        <m:t>𝑥</m:t>
                      </m:r>
                      <m:r>
                        <a:rPr lang="en-US" sz="2000" i="1" dirty="0">
                          <a:latin typeface="DejaVu Math TeX Gyre" panose="02000503000000000000" charset="0"/>
                          <a:ea typeface="Cambria Math" panose="02040503050406030204" pitchFamily="18" charset="0"/>
                          <a:cs typeface="DejaVu Math TeX Gyre" panose="02000503000000000000" charset="0"/>
                          <a:sym typeface="+mn-ea"/>
                        </a:rPr>
                        <m:t>%</m:t>
                      </m:r>
                      <m:r>
                        <a:rPr lang="en-US" sz="2000" i="1" dirty="0">
                          <a:latin typeface="DejaVu Math TeX Gyre" panose="02000503000000000000" charset="0"/>
                          <a:ea typeface="Cambria Math" panose="02040503050406030204" pitchFamily="18" charset="0"/>
                          <a:cs typeface="DejaVu Math TeX Gyre" panose="02000503000000000000" charset="0"/>
                          <a:sym typeface="+mn-ea"/>
                        </a:rPr>
                        <m:t>𝑖</m:t>
                      </m:r>
                      <m:r>
                        <a:rPr lang="en-US" sz="2000" i="1" dirty="0">
                          <a:latin typeface="DejaVu Math TeX Gyre" panose="02000503000000000000" charset="0"/>
                          <a:ea typeface="Cambria Math" panose="02040503050406030204" pitchFamily="18" charset="0"/>
                          <a:cs typeface="DejaVu Math TeX Gyre" panose="02000503000000000000" charset="0"/>
                          <a:sym typeface="+mn-ea"/>
                        </a:rPr>
                        <m:t>=</m:t>
                      </m:r>
                      <m:r>
                        <a:rPr lang="en-US" sz="2000" i="1" dirty="0">
                          <a:latin typeface="DejaVu Math TeX Gyre" panose="02000503000000000000" charset="0"/>
                          <a:ea typeface="Cambria Math" panose="02040503050406030204" pitchFamily="18" charset="0"/>
                          <a:cs typeface="DejaVu Math TeX Gyre" panose="02000503000000000000" charset="0"/>
                          <a:sym typeface="+mn-ea"/>
                        </a:rPr>
                        <m:t>0</m:t>
                      </m:r>
                    </m:oMath>
                  </a14:m>
                  <a:r>
                    <a:rPr lang="en-US" sz="2000" dirty="0">
                      <a:ea typeface="Cambria Math" panose="02040503050406030204" pitchFamily="18" charset="0"/>
                      <a:cs typeface="Josefin Sans" charset="0"/>
                    </a:rPr>
                    <a:t>:</a:t>
                  </a:r>
                  <a:endParaRPr lang="en-US" sz="2000" dirty="0">
                    <a:ea typeface="Cambria Math" panose="02040503050406030204" pitchFamily="18" charset="0"/>
                    <a:cs typeface="Josefin Sans" charset="0"/>
                  </a:endParaRPr>
                </a:p>
                <a:p>
                  <a:pPr lvl="0">
                    <a:lnSpc>
                      <a:spcPct val="110000"/>
                    </a:lnSpc>
                  </a:pPr>
                  <a:r>
                    <a:rPr lang="en-US" sz="2000" dirty="0">
                      <a:ea typeface="Cambria Math" panose="02040503050406030204" pitchFamily="18" charset="0"/>
                      <a:cs typeface="Josefin Sans" charset="0"/>
                    </a:rPr>
                    <a:t>4.      Return false</a:t>
                  </a:r>
                  <a:endParaRPr lang="en-US" sz="2000" dirty="0">
                    <a:ea typeface="Cambria Math" panose="02040503050406030204" pitchFamily="18" charset="0"/>
                    <a:cs typeface="Josefin Sans" charset="0"/>
                  </a:endParaRPr>
                </a:p>
                <a:p>
                  <a:pPr lvl="0">
                    <a:lnSpc>
                      <a:spcPct val="110000"/>
                    </a:lnSpc>
                  </a:pPr>
                  <a:r>
                    <a:rPr lang="en-US" sz="2000" dirty="0">
                      <a:ea typeface="Cambria Math" panose="02040503050406030204" pitchFamily="18" charset="0"/>
                      <a:cs typeface="Josefin Sans" charset="0"/>
                    </a:rPr>
                    <a:t>5.  Return true</a:t>
                  </a:r>
                  <a:endParaRPr lang="en-US" sz="2000" dirty="0">
                    <a:ea typeface="Cambria Math" panose="02040503050406030204" pitchFamily="18" charset="0"/>
                    <a:cs typeface="Josefin Sans" charset="0"/>
                  </a:endParaRPr>
                </a:p>
              </p:txBody>
            </p:sp>
          </mc:Choice>
          <mc:Fallback>
            <p:sp>
              <p:nvSpPr>
                <p:cNvPr id="8" name="Rectangle 7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0042" y="1342423"/>
                  <a:ext cx="4459217" cy="2247057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7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/>
              <p:cNvSpPr/>
              <p:nvPr/>
            </p:nvSpPr>
            <p:spPr>
              <a:xfrm>
                <a:off x="1257935" y="3524994"/>
                <a:ext cx="5225414" cy="49720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p>
                <a:pPr lvl="0">
                  <a:lnSpc>
                    <a:spcPct val="110000"/>
                  </a:lnSpc>
                </a:pPr>
                <a:r>
                  <a:rPr lang="en-US" sz="2400" b="1" dirty="0">
                    <a:ea typeface="Cambria Math" panose="02040503050406030204" pitchFamily="18" charset="0"/>
                    <a:cs typeface="Josefin Sans" charset="0"/>
                  </a:rPr>
                  <a:t>Runtime</a:t>
                </a:r>
                <a:r>
                  <a:rPr lang="en-US" sz="2400" dirty="0">
                    <a:ea typeface="Cambria Math" panose="02040503050406030204" pitchFamily="18" charset="0"/>
                    <a:cs typeface="Josefin Sans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DejaVu Math TeX Gyre" panose="02000503000000000000" charset="0"/>
                        <a:ea typeface="Cambria Math" panose="02040503050406030204" pitchFamily="18" charset="0"/>
                        <a:cs typeface="DejaVu Math TeX Gyre" panose="02000503000000000000" charset="0"/>
                      </a:rPr>
                      <m:t>𝑂</m:t>
                    </m:r>
                    <m:r>
                      <a:rPr lang="en-US" sz="2400" i="1" dirty="0">
                        <a:latin typeface="DejaVu Math TeX Gyre" panose="02000503000000000000" charset="0"/>
                        <a:ea typeface="Cambria Math" panose="02040503050406030204" pitchFamily="18" charset="0"/>
                        <a:cs typeface="DejaVu Math TeX Gyre" panose="02000503000000000000" charset="0"/>
                      </a:rPr>
                      <m:t>(</m:t>
                    </m:r>
                    <m:r>
                      <a:rPr lang="en-US" sz="2400" i="1" dirty="0">
                        <a:latin typeface="DejaVu Math TeX Gyre" panose="02000503000000000000" charset="0"/>
                        <a:ea typeface="Cambria Math" panose="02040503050406030204" pitchFamily="18" charset="0"/>
                        <a:cs typeface="DejaVu Math TeX Gyre" panose="02000503000000000000" charset="0"/>
                      </a:rPr>
                      <m:t>√</m:t>
                    </m:r>
                    <m:r>
                      <a:rPr lang="en-US" sz="2400" i="1" dirty="0">
                        <a:latin typeface="DejaVu Math TeX Gyre" panose="02000503000000000000" charset="0"/>
                        <a:ea typeface="Cambria Math" panose="02040503050406030204" pitchFamily="18" charset="0"/>
                        <a:cs typeface="DejaVu Math TeX Gyre" panose="02000503000000000000" charset="0"/>
                      </a:rPr>
                      <m:t>𝑥</m:t>
                    </m:r>
                    <m:r>
                      <a:rPr lang="en-US" sz="2400" i="1" dirty="0">
                        <a:latin typeface="DejaVu Math TeX Gyre" panose="02000503000000000000" charset="0"/>
                        <a:ea typeface="Cambria Math" panose="02040503050406030204" pitchFamily="18" charset="0"/>
                        <a:cs typeface="DejaVu Math TeX Gyre" panose="02000503000000000000" charset="0"/>
                      </a:rPr>
                      <m:t>)</m:t>
                    </m:r>
                  </m:oMath>
                </a14:m>
                <a:endParaRPr lang="en-US" sz="2400" dirty="0">
                  <a:ea typeface="Cambria Math" panose="02040503050406030204" pitchFamily="18" charset="0"/>
                  <a:cs typeface="Josefin Sans" charset="0"/>
                </a:endParaRPr>
              </a:p>
            </p:txBody>
          </p:sp>
        </mc:Choice>
        <mc:Fallback>
          <p:sp>
            <p:nvSpPr>
              <p:cNvPr id="2" name="Rectangle 7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7935" y="3524994"/>
                <a:ext cx="5225414" cy="497205"/>
              </a:xfrm>
              <a:prstGeom prst="rect">
                <a:avLst/>
              </a:prstGeom>
              <a:blipFill rotWithShape="1">
                <a:blip r:embed="rId3"/>
                <a:stretch>
                  <a:fillRect t="-22" r="12" b="2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4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/>
          <p:cNvSpPr txBox="1"/>
          <p:nvPr/>
        </p:nvSpPr>
        <p:spPr>
          <a:xfrm>
            <a:off x="192405" y="156845"/>
            <a:ext cx="6271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en-US" altLang="en-US" spc="100" dirty="0">
                <a:solidFill>
                  <a:schemeClr val="tx1">
                    <a:lumMod val="85000"/>
                    <a:lumOff val="15000"/>
                  </a:schemeClr>
                </a:solidFill>
                <a:ea typeface="Playfair Display" panose="00000500000000000000" charset="0"/>
                <a:cs typeface="Playfair Display" panose="00000500000000000000" charset="0"/>
              </a:rPr>
              <a:t>Part.0</a:t>
            </a:r>
            <a:r>
              <a:rPr kumimoji="1" lang="en-US" altLang="zh-CN" spc="100" dirty="0">
                <a:solidFill>
                  <a:schemeClr val="tx1">
                    <a:lumMod val="85000"/>
                    <a:lumOff val="15000"/>
                  </a:schemeClr>
                </a:solidFill>
                <a:ea typeface="Playfair Display" panose="00000500000000000000" charset="0"/>
                <a:cs typeface="Playfair Display" panose="00000500000000000000" charset="0"/>
              </a:rPr>
              <a:t>3</a:t>
            </a:r>
            <a:r>
              <a:rPr kumimoji="1" lang="en-US" altLang="en-US" spc="100" dirty="0">
                <a:solidFill>
                  <a:schemeClr val="tx1">
                    <a:lumMod val="85000"/>
                    <a:lumOff val="15000"/>
                  </a:schemeClr>
                </a:solidFill>
                <a:ea typeface="Playfair Display" panose="00000500000000000000" charset="0"/>
                <a:cs typeface="Playfair Display" panose="00000500000000000000" charset="0"/>
              </a:rPr>
              <a:t> </a:t>
            </a:r>
            <a:r>
              <a:rPr kumimoji="1" lang="zh-CN" altLang="en-US" spc="100" dirty="0">
                <a:solidFill>
                  <a:schemeClr val="tx1">
                    <a:lumMod val="85000"/>
                    <a:lumOff val="15000"/>
                  </a:schemeClr>
                </a:solidFill>
                <a:ea typeface="Playfair Display" panose="00000500000000000000" charset="0"/>
                <a:cs typeface="Playfair Display" panose="00000500000000000000" charset="0"/>
              </a:rPr>
              <a:t> </a:t>
            </a:r>
            <a:r>
              <a:rPr kumimoji="1" lang="en-US" altLang="en-US" spc="100" dirty="0">
                <a:solidFill>
                  <a:schemeClr val="tx1">
                    <a:lumMod val="85000"/>
                    <a:lumOff val="15000"/>
                  </a:schemeClr>
                </a:solidFill>
                <a:ea typeface="Playfair Display" panose="00000500000000000000" charset="0"/>
                <a:cs typeface="Playfair Display" panose="00000500000000000000" charset="0"/>
              </a:rPr>
              <a:t>Algorithm Description</a:t>
            </a:r>
            <a:r>
              <a:rPr kumimoji="1" lang="zh-CN" altLang="en-US" spc="100" dirty="0">
                <a:solidFill>
                  <a:schemeClr val="tx1">
                    <a:lumMod val="85000"/>
                    <a:lumOff val="15000"/>
                  </a:schemeClr>
                </a:solidFill>
                <a:ea typeface="Playfair Display" panose="00000500000000000000" charset="0"/>
                <a:cs typeface="Playfair Display" panose="00000500000000000000" charset="0"/>
              </a:rPr>
              <a:t> </a:t>
            </a:r>
            <a:r>
              <a:rPr kumimoji="1" lang="en-US" altLang="zh-CN" spc="100" dirty="0">
                <a:solidFill>
                  <a:schemeClr val="tx1">
                    <a:lumMod val="85000"/>
                    <a:lumOff val="15000"/>
                  </a:schemeClr>
                </a:solidFill>
                <a:ea typeface="Playfair Display" panose="00000500000000000000" charset="0"/>
                <a:cs typeface="Playfair Display" panose="00000500000000000000" charset="0"/>
              </a:rPr>
              <a:t>&amp;</a:t>
            </a:r>
            <a:r>
              <a:rPr kumimoji="1" lang="zh-CN" altLang="en-US" spc="100" dirty="0">
                <a:solidFill>
                  <a:schemeClr val="tx1">
                    <a:lumMod val="85000"/>
                    <a:lumOff val="15000"/>
                  </a:schemeClr>
                </a:solidFill>
                <a:ea typeface="Playfair Display" panose="00000500000000000000" charset="0"/>
                <a:cs typeface="Playfair Display" panose="00000500000000000000" charset="0"/>
              </a:rPr>
              <a:t> </a:t>
            </a:r>
            <a:r>
              <a:rPr kumimoji="1" lang="en-US" altLang="zh-CN" spc="100" dirty="0">
                <a:solidFill>
                  <a:schemeClr val="tx1">
                    <a:lumMod val="85000"/>
                    <a:lumOff val="15000"/>
                  </a:schemeClr>
                </a:solidFill>
                <a:ea typeface="Playfair Display" panose="00000500000000000000" charset="0"/>
                <a:cs typeface="Playfair Display" panose="00000500000000000000" charset="0"/>
              </a:rPr>
              <a:t>Time Complexity</a:t>
            </a:r>
            <a:endParaRPr kumimoji="1" lang="en-US" altLang="en-US" spc="100" dirty="0">
              <a:solidFill>
                <a:schemeClr val="tx1">
                  <a:lumMod val="85000"/>
                  <a:lumOff val="15000"/>
                </a:schemeClr>
              </a:solidFill>
              <a:ea typeface="Playfair Display" panose="00000500000000000000" charset="0"/>
              <a:cs typeface="Playfair Display" panose="00000500000000000000" charset="0"/>
            </a:endParaRPr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2743" y="5553788"/>
            <a:ext cx="4016731" cy="4105992"/>
          </a:xfrm>
          <a:prstGeom prst="rect">
            <a:avLst/>
          </a:prstGeom>
        </p:spPr>
      </p:pic>
      <p:sp>
        <p:nvSpPr>
          <p:cNvPr id="4" name="e7d195523061f1c0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 hidden="1"/>
          <p:cNvSpPr txBox="1"/>
          <p:nvPr/>
        </p:nvSpPr>
        <p:spPr>
          <a:xfrm>
            <a:off x="-355600" y="1803400"/>
            <a:ext cx="262251" cy="1016000"/>
          </a:xfrm>
          <a:prstGeom prst="rect">
            <a:avLst/>
          </a:prstGeom>
          <a:noFill/>
        </p:spPr>
        <p:txBody>
          <a:bodyPr vert="wordArtVert" rtlCol="0">
            <a:spAutoFit/>
          </a:bodyPr>
          <a:lstStyle/>
          <a:p>
            <a:r>
              <a:rPr lang="en-US" altLang="zh-CN" sz="100"/>
              <a:t>e7d195523061f1c01d60fa9f1cfcbfb3d7dea265119d71e15FBB43640B43E9A75E03FE54C774D5D4779ED45933E78901D3CB0E69E39D04A9E1E9B25CF060C4BCA4D072860494D0D8E683C2FE58414E15A257B8C98CAC931B2A91D95E391D8F56A6B197C339044743E4A827576812018FE092D8F796C38DC487F641821CDDB0736DD3EE0F684ACE40</a:t>
            </a:r>
            <a:endParaRPr lang="zh-CN" altLang="en-US" sz="100"/>
          </a:p>
        </p:txBody>
      </p:sp>
      <p:sp>
        <p:nvSpPr>
          <p:cNvPr id="5" name="文本框 4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/>
          <p:cNvSpPr txBox="1"/>
          <p:nvPr/>
        </p:nvSpPr>
        <p:spPr>
          <a:xfrm>
            <a:off x="192405" y="156845"/>
            <a:ext cx="6271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en-US" spc="100" dirty="0">
                <a:solidFill>
                  <a:schemeClr val="tx1">
                    <a:lumMod val="85000"/>
                    <a:lumOff val="15000"/>
                  </a:schemeClr>
                </a:solidFill>
                <a:ea typeface="Playfair Display" panose="00000500000000000000" charset="0"/>
                <a:cs typeface="Playfair Display" panose="00000500000000000000" charset="0"/>
              </a:rPr>
              <a:t>Part.0</a:t>
            </a:r>
            <a:r>
              <a:rPr kumimoji="1" lang="en-US" altLang="zh-CN" spc="100" dirty="0">
                <a:solidFill>
                  <a:schemeClr val="tx1">
                    <a:lumMod val="85000"/>
                    <a:lumOff val="15000"/>
                  </a:schemeClr>
                </a:solidFill>
                <a:ea typeface="Playfair Display" panose="00000500000000000000" charset="0"/>
                <a:cs typeface="Playfair Display" panose="00000500000000000000" charset="0"/>
              </a:rPr>
              <a:t>3</a:t>
            </a:r>
            <a:r>
              <a:rPr kumimoji="1" lang="en-US" altLang="en-US" spc="100" dirty="0">
                <a:solidFill>
                  <a:schemeClr val="tx1">
                    <a:lumMod val="85000"/>
                    <a:lumOff val="15000"/>
                  </a:schemeClr>
                </a:solidFill>
                <a:ea typeface="Playfair Display" panose="00000500000000000000" charset="0"/>
                <a:cs typeface="Playfair Display" panose="00000500000000000000" charset="0"/>
              </a:rPr>
              <a:t> </a:t>
            </a:r>
            <a:r>
              <a:rPr kumimoji="1" lang="zh-CN" altLang="en-US" spc="100" dirty="0">
                <a:solidFill>
                  <a:schemeClr val="tx1">
                    <a:lumMod val="85000"/>
                    <a:lumOff val="15000"/>
                  </a:schemeClr>
                </a:solidFill>
                <a:ea typeface="Playfair Display" panose="00000500000000000000" charset="0"/>
                <a:cs typeface="Playfair Display" panose="00000500000000000000" charset="0"/>
              </a:rPr>
              <a:t> </a:t>
            </a:r>
            <a:r>
              <a:rPr kumimoji="1" lang="en-US" altLang="en-US" spc="100" dirty="0">
                <a:solidFill>
                  <a:schemeClr val="tx1">
                    <a:lumMod val="85000"/>
                    <a:lumOff val="15000"/>
                  </a:schemeClr>
                </a:solidFill>
                <a:ea typeface="Playfair Display" panose="00000500000000000000" charset="0"/>
                <a:cs typeface="Playfair Display" panose="00000500000000000000" charset="0"/>
              </a:rPr>
              <a:t>Algorithm Description</a:t>
            </a:r>
            <a:r>
              <a:rPr kumimoji="1" lang="zh-CN" altLang="en-US" spc="100" dirty="0">
                <a:solidFill>
                  <a:schemeClr val="tx1">
                    <a:lumMod val="85000"/>
                    <a:lumOff val="15000"/>
                  </a:schemeClr>
                </a:solidFill>
                <a:ea typeface="Playfair Display" panose="00000500000000000000" charset="0"/>
                <a:cs typeface="Playfair Display" panose="00000500000000000000" charset="0"/>
              </a:rPr>
              <a:t> </a:t>
            </a:r>
            <a:r>
              <a:rPr kumimoji="1" lang="en-US" altLang="zh-CN" spc="100" dirty="0">
                <a:solidFill>
                  <a:schemeClr val="tx1">
                    <a:lumMod val="85000"/>
                    <a:lumOff val="15000"/>
                  </a:schemeClr>
                </a:solidFill>
                <a:ea typeface="Playfair Display" panose="00000500000000000000" charset="0"/>
                <a:cs typeface="Playfair Display" panose="00000500000000000000" charset="0"/>
              </a:rPr>
              <a:t>&amp;</a:t>
            </a:r>
            <a:r>
              <a:rPr kumimoji="1" lang="zh-CN" altLang="en-US" spc="100" dirty="0">
                <a:solidFill>
                  <a:schemeClr val="tx1">
                    <a:lumMod val="85000"/>
                    <a:lumOff val="15000"/>
                  </a:schemeClr>
                </a:solidFill>
                <a:ea typeface="Playfair Display" panose="00000500000000000000" charset="0"/>
                <a:cs typeface="Playfair Display" panose="00000500000000000000" charset="0"/>
              </a:rPr>
              <a:t> </a:t>
            </a:r>
            <a:r>
              <a:rPr kumimoji="1" lang="en-US" altLang="zh-CN" spc="100" dirty="0">
                <a:solidFill>
                  <a:schemeClr val="tx1">
                    <a:lumMod val="85000"/>
                    <a:lumOff val="15000"/>
                  </a:schemeClr>
                </a:solidFill>
                <a:ea typeface="Playfair Display" panose="00000500000000000000" charset="0"/>
                <a:cs typeface="Playfair Display" panose="00000500000000000000" charset="0"/>
              </a:rPr>
              <a:t>Time Complexity</a:t>
            </a:r>
            <a:endParaRPr kumimoji="1" lang="en-US" altLang="en-US" spc="100" dirty="0">
              <a:solidFill>
                <a:schemeClr val="tx1">
                  <a:lumMod val="85000"/>
                  <a:lumOff val="15000"/>
                </a:schemeClr>
              </a:solidFill>
              <a:ea typeface="Playfair Display" panose="00000500000000000000" charset="0"/>
              <a:cs typeface="Playfair Display" panose="00000500000000000000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556895" y="605264"/>
            <a:ext cx="5520688" cy="4984750"/>
            <a:chOff x="699004" y="854429"/>
            <a:chExt cx="4711195" cy="5276517"/>
          </a:xfrm>
        </p:grpSpPr>
        <p:sp>
          <p:nvSpPr>
            <p:cNvPr id="7" name="文本框 6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/>
            <p:cNvSpPr txBox="1"/>
            <p:nvPr/>
          </p:nvSpPr>
          <p:spPr>
            <a:xfrm>
              <a:off x="699004" y="854429"/>
              <a:ext cx="4711195" cy="4873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lt"/>
                  <a:ea typeface="Josefin Sans" charset="0"/>
                  <a:cs typeface="Josefin Sans" charset="0"/>
                </a:rPr>
                <a:t>Algorithm Pseudocode</a:t>
              </a:r>
              <a:endParaRPr kumimoji="1"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Josefin Sans" charset="0"/>
                <a:cs typeface="Josefin Sans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Rectangle 7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/>
                <p:cNvSpPr/>
                <p:nvPr/>
              </p:nvSpPr>
              <p:spPr>
                <a:xfrm>
                  <a:off x="790042" y="1342423"/>
                  <a:ext cx="4459217" cy="4788523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>
                    <a:lnSpc>
                      <a:spcPct val="110000"/>
                    </a:lnSpc>
                  </a:pPr>
                  <a:r>
                    <a:rPr lang="en-US" dirty="0">
                      <a:ea typeface="Cambria Math" panose="02040503050406030204" pitchFamily="18" charset="0"/>
                      <a:cs typeface="Josefin Sans" charset="0"/>
                      <a:sym typeface="+mn-ea"/>
                    </a:rPr>
                    <a:t>FoxAndDinner(n,A)</a:t>
                  </a:r>
                  <a:endParaRPr lang="en-US" dirty="0">
                    <a:ea typeface="Cambria Math" panose="02040503050406030204" pitchFamily="18" charset="0"/>
                    <a:cs typeface="Josefin Sans" charset="0"/>
                    <a:sym typeface="+mn-ea"/>
                  </a:endParaRPr>
                </a:p>
                <a:p>
                  <a:pPr lvl="0">
                    <a:lnSpc>
                      <a:spcPct val="110000"/>
                    </a:lnSpc>
                  </a:pPr>
                  <a:r>
                    <a:rPr lang="en-US" dirty="0">
                      <a:ea typeface="Cambria Math" panose="02040503050406030204" pitchFamily="18" charset="0"/>
                      <a:cs typeface="Josefin Sans" charset="0"/>
                      <a:sym typeface="+mn-ea"/>
                    </a:rPr>
                    <a:t>1.  </a:t>
                  </a:r>
                  <a14:m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𝑂𝐷𝐷</m:t>
                      </m:r>
                    </m:oMath>
                  </a14:m>
                  <a:r>
                    <a:rPr lang="en-US" dirty="0">
                      <a:ea typeface="Cambria Math" panose="02040503050406030204" pitchFamily="18" charset="0"/>
                      <a:cs typeface="Josefin Sans" charset="0"/>
                      <a:sym typeface="+mn-ea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← </m:t>
                      </m:r>
                    </m:oMath>
                  </a14:m>
                  <a:r>
                    <a:rPr lang="en-US" dirty="0">
                      <a:ea typeface="Cambria Math" panose="02040503050406030204" pitchFamily="18" charset="0"/>
                      <a:cs typeface="Josefin Sans" charset="0"/>
                      <a:sym typeface="+mn-ea"/>
                    </a:rPr>
                    <a:t>{</a:t>
                  </a:r>
                  <a14:m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 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𝑖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 </m:t>
                      </m:r>
                    </m:oMath>
                  </a14:m>
                  <a:r>
                    <a:rPr lang="en-US" dirty="0">
                      <a:ea typeface="Cambria Math" panose="02040503050406030204" pitchFamily="18" charset="0"/>
                      <a:cs typeface="Josefin Sans" charset="0"/>
                      <a:sym typeface="+mn-ea"/>
                    </a:rPr>
                    <a:t>| </a:t>
                  </a:r>
                  <a14:m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𝐴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[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𝑖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] </m:t>
                      </m:r>
                    </m:oMath>
                  </a14:m>
                  <a:r>
                    <a:rPr lang="en-US" dirty="0">
                      <a:ea typeface="Cambria Math" panose="02040503050406030204" pitchFamily="18" charset="0"/>
                      <a:cs typeface="Josefin Sans" charset="0"/>
                      <a:sym typeface="+mn-ea"/>
                    </a:rPr>
                    <a:t>is odd }</a:t>
                  </a:r>
                  <a:endParaRPr lang="en-US" dirty="0">
                    <a:ea typeface="Cambria Math" panose="02040503050406030204" pitchFamily="18" charset="0"/>
                    <a:cs typeface="Josefin Sans" charset="0"/>
                    <a:sym typeface="+mn-ea"/>
                  </a:endParaRPr>
                </a:p>
                <a:p>
                  <a:pPr lvl="0">
                    <a:lnSpc>
                      <a:spcPct val="110000"/>
                    </a:lnSpc>
                  </a:pPr>
                  <a:r>
                    <a:rPr lang="en-US" dirty="0">
                      <a:ea typeface="Cambria Math" panose="02040503050406030204" pitchFamily="18" charset="0"/>
                      <a:cs typeface="Josefin Sans" charset="0"/>
                      <a:sym typeface="+mn-ea"/>
                    </a:rPr>
                    <a:t>2.  </a:t>
                  </a:r>
                  <a14:m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𝐸𝑉𝐸𝑁</m:t>
                      </m:r>
                    </m:oMath>
                  </a14:m>
                  <a:r>
                    <a:rPr lang="en-US" dirty="0">
                      <a:ea typeface="Cambria Math" panose="02040503050406030204" pitchFamily="18" charset="0"/>
                      <a:cs typeface="Josefin Sans" charset="0"/>
                      <a:sym typeface="+mn-ea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←</m:t>
                      </m:r>
                    </m:oMath>
                  </a14:m>
                  <a:r>
                    <a:rPr lang="en-US" dirty="0">
                      <a:ea typeface="Cambria Math" panose="02040503050406030204" pitchFamily="18" charset="0"/>
                      <a:cs typeface="Josefin Sans" charset="0"/>
                      <a:sym typeface="+mn-ea"/>
                    </a:rPr>
                    <a:t> { </a:t>
                  </a:r>
                  <a14:m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𝑖</m:t>
                      </m:r>
                    </m:oMath>
                  </a14:m>
                  <a:r>
                    <a:rPr lang="en-US" dirty="0">
                      <a:ea typeface="Cambria Math" panose="02040503050406030204" pitchFamily="18" charset="0"/>
                      <a:cs typeface="Josefin Sans" charset="0"/>
                      <a:sym typeface="+mn-ea"/>
                    </a:rPr>
                    <a:t> | </a:t>
                  </a:r>
                  <a14:m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𝐴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[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𝑖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]</m:t>
                      </m:r>
                    </m:oMath>
                  </a14:m>
                  <a:r>
                    <a:rPr lang="en-US" dirty="0">
                      <a:ea typeface="Cambria Math" panose="02040503050406030204" pitchFamily="18" charset="0"/>
                      <a:cs typeface="Josefin Sans" charset="0"/>
                      <a:sym typeface="+mn-ea"/>
                    </a:rPr>
                    <a:t> is even }</a:t>
                  </a:r>
                  <a:endParaRPr lang="en-US" dirty="0">
                    <a:ea typeface="Cambria Math" panose="02040503050406030204" pitchFamily="18" charset="0"/>
                    <a:cs typeface="Josefin Sans" charset="0"/>
                  </a:endParaRPr>
                </a:p>
                <a:p>
                  <a:pPr lvl="0">
                    <a:lnSpc>
                      <a:spcPct val="110000"/>
                    </a:lnSpc>
                  </a:pPr>
                  <a:r>
                    <a:rPr lang="en-US" dirty="0">
                      <a:ea typeface="Cambria Math" panose="02040503050406030204" pitchFamily="18" charset="0"/>
                      <a:cs typeface="Josefin Sans" charset="0"/>
                    </a:rPr>
                    <a:t>3.  Return “Impossible” if </a:t>
                  </a:r>
                  <a14:m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|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𝑂𝐷𝐷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|</m:t>
                      </m:r>
                      <m:r>
                        <a:rPr lang="en-US" i="1" dirty="0" smtClean="0">
                          <a:latin typeface="DejaVu Math TeX Gyre" panose="02000503000000000000" charset="0"/>
                          <a:ea typeface="Cambria Math" panose="02040503050406030204" pitchFamily="18" charset="0"/>
                          <a:cs typeface="DejaVu Math TeX Gyre" panose="02000503000000000000" charset="0"/>
                        </a:rPr>
                        <m:t>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|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𝐸𝑉𝐸𝑁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|</m:t>
                      </m:r>
                    </m:oMath>
                  </a14:m>
                  <a:endParaRPr lang="en-US" dirty="0">
                    <a:ea typeface="Cambria Math" panose="02040503050406030204" pitchFamily="18" charset="0"/>
                    <a:cs typeface="Josefin Sans" charset="0"/>
                  </a:endParaRPr>
                </a:p>
                <a:p>
                  <a:pPr lvl="0">
                    <a:lnSpc>
                      <a:spcPct val="110000"/>
                    </a:lnSpc>
                  </a:pPr>
                  <a:r>
                    <a:rPr lang="en-US" dirty="0">
                      <a:ea typeface="Cambria Math" panose="02040503050406030204" pitchFamily="18" charset="0"/>
                      <a:cs typeface="Josefin Sans" charset="0"/>
                    </a:rPr>
                    <a:t>4.  For each u in </a:t>
                  </a:r>
                  <a14:m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𝑂𝐷𝐷</m:t>
                      </m:r>
                    </m:oMath>
                  </a14:m>
                  <a:r>
                    <a:rPr lang="en-US" dirty="0">
                      <a:ea typeface="Cambria Math" panose="02040503050406030204" pitchFamily="18" charset="0"/>
                      <a:cs typeface="Josefin Sans" charset="0"/>
                    </a:rPr>
                    <a:t>:</a:t>
                  </a:r>
                  <a:endParaRPr lang="en-US" dirty="0">
                    <a:ea typeface="Cambria Math" panose="02040503050406030204" pitchFamily="18" charset="0"/>
                    <a:cs typeface="Josefin Sans" charset="0"/>
                  </a:endParaRPr>
                </a:p>
                <a:p>
                  <a:pPr lvl="0">
                    <a:lnSpc>
                      <a:spcPct val="110000"/>
                    </a:lnSpc>
                  </a:pPr>
                  <a:r>
                    <a:rPr lang="en-US" dirty="0">
                      <a:ea typeface="Cambria Math" panose="02040503050406030204" pitchFamily="18" charset="0"/>
                      <a:cs typeface="Josefin Sans" charset="0"/>
                    </a:rPr>
                    <a:t>5.    For each v in </a:t>
                  </a:r>
                  <a14:m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𝐸𝑉𝐸𝑁</m:t>
                      </m:r>
                    </m:oMath>
                  </a14:m>
                  <a:r>
                    <a:rPr lang="en-US" dirty="0">
                      <a:ea typeface="Cambria Math" panose="02040503050406030204" pitchFamily="18" charset="0"/>
                      <a:cs typeface="Josefin Sans" charset="0"/>
                    </a:rPr>
                    <a:t>:</a:t>
                  </a:r>
                  <a:endParaRPr lang="en-US" dirty="0">
                    <a:ea typeface="Cambria Math" panose="02040503050406030204" pitchFamily="18" charset="0"/>
                    <a:cs typeface="Josefin Sans" charset="0"/>
                  </a:endParaRPr>
                </a:p>
                <a:p>
                  <a:pPr lvl="0">
                    <a:lnSpc>
                      <a:spcPct val="110000"/>
                    </a:lnSpc>
                  </a:pPr>
                  <a:r>
                    <a:rPr lang="en-US" dirty="0">
                      <a:ea typeface="Cambria Math" panose="02040503050406030204" pitchFamily="18" charset="0"/>
                      <a:cs typeface="Josefin Sans" charset="0"/>
                    </a:rPr>
                    <a:t>6.      If </a:t>
                  </a:r>
                  <a14:m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𝐼𝑠𝑃𝑟𝑖𝑚𝑒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(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𝐴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[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𝑢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] +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𝐴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[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𝑣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]) </m:t>
                      </m:r>
                    </m:oMath>
                  </a14:m>
                  <a:r>
                    <a:rPr lang="en-US" dirty="0">
                      <a:ea typeface="Cambria Math" panose="02040503050406030204" pitchFamily="18" charset="0"/>
                      <a:cs typeface="Josefin Sans" charset="0"/>
                    </a:rPr>
                    <a:t>:</a:t>
                  </a:r>
                  <a:endParaRPr lang="en-US" dirty="0">
                    <a:ea typeface="Cambria Math" panose="02040503050406030204" pitchFamily="18" charset="0"/>
                    <a:cs typeface="Josefin Sans" charset="0"/>
                  </a:endParaRPr>
                </a:p>
                <a:p>
                  <a:pPr lvl="0">
                    <a:lnSpc>
                      <a:spcPct val="110000"/>
                    </a:lnSpc>
                  </a:pPr>
                  <a:r>
                    <a:rPr lang="en-US" dirty="0">
                      <a:ea typeface="Cambria Math" panose="02040503050406030204" pitchFamily="18" charset="0"/>
                      <a:cs typeface="Josefin Sans" charset="0"/>
                    </a:rPr>
                    <a:t>7.        Add (u,v) to G with capacity 1</a:t>
                  </a:r>
                  <a:endParaRPr lang="en-US" dirty="0">
                    <a:ea typeface="Cambria Math" panose="02040503050406030204" pitchFamily="18" charset="0"/>
                    <a:cs typeface="Josefin Sans" charset="0"/>
                  </a:endParaRPr>
                </a:p>
                <a:p>
                  <a:pPr lvl="0">
                    <a:lnSpc>
                      <a:spcPct val="110000"/>
                    </a:lnSpc>
                  </a:pPr>
                  <a:r>
                    <a:rPr lang="en-US" dirty="0">
                      <a:ea typeface="Cambria Math" panose="02040503050406030204" pitchFamily="18" charset="0"/>
                      <a:cs typeface="Josefin Sans" charset="0"/>
                    </a:rPr>
                    <a:t>8.  For each </a:t>
                  </a:r>
                  <a14:m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𝑢</m:t>
                      </m:r>
                    </m:oMath>
                  </a14:m>
                  <a:r>
                    <a:rPr lang="en-US" dirty="0">
                      <a:ea typeface="Cambria Math" panose="02040503050406030204" pitchFamily="18" charset="0"/>
                      <a:cs typeface="Josefin Sans" charset="0"/>
                    </a:rPr>
                    <a:t> in </a:t>
                  </a:r>
                  <a14:m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𝑂𝐷𝐷</m:t>
                      </m:r>
                    </m:oMath>
                  </a14:m>
                  <a:r>
                    <a:rPr lang="en-US" dirty="0">
                      <a:ea typeface="Cambria Math" panose="02040503050406030204" pitchFamily="18" charset="0"/>
                      <a:cs typeface="Josefin Sans" charset="0"/>
                    </a:rPr>
                    <a:t>:</a:t>
                  </a:r>
                  <a:endParaRPr lang="en-US" dirty="0">
                    <a:ea typeface="Cambria Math" panose="02040503050406030204" pitchFamily="18" charset="0"/>
                    <a:cs typeface="Josefin Sans" charset="0"/>
                  </a:endParaRPr>
                </a:p>
                <a:p>
                  <a:pPr lvl="0">
                    <a:lnSpc>
                      <a:spcPct val="110000"/>
                    </a:lnSpc>
                  </a:pPr>
                  <a:r>
                    <a:rPr lang="en-US" dirty="0">
                      <a:ea typeface="Cambria Math" panose="02040503050406030204" pitchFamily="18" charset="0"/>
                      <a:cs typeface="Josefin Sans" charset="0"/>
                    </a:rPr>
                    <a:t>9.    Add (s,u) to G with capacity 2</a:t>
                  </a:r>
                  <a:endParaRPr lang="en-US" dirty="0">
                    <a:ea typeface="Cambria Math" panose="02040503050406030204" pitchFamily="18" charset="0"/>
                    <a:cs typeface="Josefin Sans" charset="0"/>
                  </a:endParaRPr>
                </a:p>
                <a:p>
                  <a:pPr lvl="0">
                    <a:lnSpc>
                      <a:spcPct val="110000"/>
                    </a:lnSpc>
                  </a:pPr>
                  <a:r>
                    <a:rPr lang="en-US" dirty="0">
                      <a:ea typeface="Cambria Math" panose="02040503050406030204" pitchFamily="18" charset="0"/>
                      <a:cs typeface="Josefin Sans" charset="0"/>
                    </a:rPr>
                    <a:t>10. For each </a:t>
                  </a:r>
                  <a14:m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𝑣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 </m:t>
                      </m:r>
                    </m:oMath>
                  </a14:m>
                  <a:r>
                    <a:rPr lang="en-US" dirty="0">
                      <a:ea typeface="Cambria Math" panose="02040503050406030204" pitchFamily="18" charset="0"/>
                      <a:cs typeface="Josefin Sans" charset="0"/>
                    </a:rPr>
                    <a:t>in </a:t>
                  </a:r>
                  <a14:m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𝐸𝑉𝐸𝑁</m:t>
                      </m:r>
                    </m:oMath>
                  </a14:m>
                  <a:r>
                    <a:rPr lang="en-US" dirty="0">
                      <a:ea typeface="Cambria Math" panose="02040503050406030204" pitchFamily="18" charset="0"/>
                      <a:cs typeface="Josefin Sans" charset="0"/>
                    </a:rPr>
                    <a:t>:</a:t>
                  </a:r>
                  <a:endParaRPr lang="en-US" dirty="0">
                    <a:ea typeface="Cambria Math" panose="02040503050406030204" pitchFamily="18" charset="0"/>
                    <a:cs typeface="Josefin Sans" charset="0"/>
                  </a:endParaRPr>
                </a:p>
                <a:p>
                  <a:pPr lvl="0">
                    <a:lnSpc>
                      <a:spcPct val="110000"/>
                    </a:lnSpc>
                  </a:pPr>
                  <a:r>
                    <a:rPr lang="en-US" dirty="0">
                      <a:ea typeface="Cambria Math" panose="02040503050406030204" pitchFamily="18" charset="0"/>
                      <a:cs typeface="Josefin Sans" charset="0"/>
                      <a:sym typeface="+mn-ea"/>
                    </a:rPr>
                    <a:t>11.   Add (v,t) to G with capacity 2</a:t>
                  </a:r>
                  <a:endParaRPr lang="en-US" dirty="0">
                    <a:ea typeface="Cambria Math" panose="02040503050406030204" pitchFamily="18" charset="0"/>
                    <a:cs typeface="Josefin Sans" charset="0"/>
                    <a:sym typeface="+mn-ea"/>
                  </a:endParaRPr>
                </a:p>
                <a:p>
                  <a:pPr lvl="0">
                    <a:lnSpc>
                      <a:spcPct val="110000"/>
                    </a:lnSpc>
                  </a:pPr>
                  <a:r>
                    <a:rPr lang="en-US" dirty="0">
                      <a:ea typeface="Cambria Math" panose="02040503050406030204" pitchFamily="18" charset="0"/>
                      <a:cs typeface="Josefin Sans" charset="0"/>
                      <a:sym typeface="+mn-ea"/>
                    </a:rPr>
                    <a:t>12. </a:t>
                  </a:r>
                  <a14:m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𝑚𝑎𝑥𝐹𝑙𝑜𝑤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 ←</m:t>
                      </m:r>
                    </m:oMath>
                  </a14:m>
                  <a:r>
                    <a:rPr lang="en-US" dirty="0">
                      <a:ea typeface="Cambria Math" panose="02040503050406030204" pitchFamily="18" charset="0"/>
                      <a:cs typeface="Josefin Sans" charset="0"/>
                      <a:sym typeface="+mn-ea"/>
                    </a:rPr>
                    <a:t> Ford_Fulkerson(G,c,s,t)</a:t>
                  </a:r>
                  <a:endParaRPr lang="en-US" dirty="0">
                    <a:ea typeface="Cambria Math" panose="02040503050406030204" pitchFamily="18" charset="0"/>
                    <a:cs typeface="Josefin Sans" charset="0"/>
                  </a:endParaRPr>
                </a:p>
              </p:txBody>
            </p:sp>
          </mc:Choice>
          <mc:Fallback>
            <p:sp>
              <p:nvSpPr>
                <p:cNvPr id="8" name="Rectangle 7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0042" y="1342423"/>
                  <a:ext cx="4459217" cy="4788523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 Box 8"/>
              <p:cNvSpPr txBox="1"/>
              <p:nvPr/>
            </p:nvSpPr>
            <p:spPr>
              <a:xfrm>
                <a:off x="6186805" y="789940"/>
                <a:ext cx="5608320" cy="26854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lvl="0">
                  <a:lnSpc>
                    <a:spcPct val="110000"/>
                  </a:lnSpc>
                </a:pPr>
                <a:r>
                  <a:rPr lang="en-US" dirty="0">
                    <a:ea typeface="Cambria Math" panose="02040503050406030204" pitchFamily="18" charset="0"/>
                    <a:cs typeface="Josefin Sans" charset="0"/>
                    <a:sym typeface="+mn-ea"/>
                  </a:rPr>
                  <a:t>13. If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</a:rPr>
                      <m:t>𝑚𝑎𝑥𝐹𝑙𝑜𝑤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</a:rPr>
                      <m:t> &lt; 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</a:rPr>
                      <m:t>𝑛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  <a:cs typeface="Josefin Sans" charset="0"/>
                    <a:sym typeface="+mn-ea"/>
                  </a:rPr>
                  <a:t>:</a:t>
                </a:r>
                <a:endParaRPr lang="en-US" dirty="0">
                  <a:ea typeface="Cambria Math" panose="02040503050406030204" pitchFamily="18" charset="0"/>
                  <a:cs typeface="Josefin Sans" charset="0"/>
                </a:endParaRPr>
              </a:p>
              <a:p>
                <a:pPr lvl="0">
                  <a:lnSpc>
                    <a:spcPct val="110000"/>
                  </a:lnSpc>
                </a:pPr>
                <a:r>
                  <a:rPr lang="en-US" dirty="0">
                    <a:ea typeface="Cambria Math" panose="02040503050406030204" pitchFamily="18" charset="0"/>
                    <a:cs typeface="Josefin Sans" charset="0"/>
                    <a:sym typeface="+mn-ea"/>
                  </a:rPr>
                  <a:t>14.     </a:t>
                </a:r>
                <a:r>
                  <a:rPr lang="en-US" dirty="0">
                    <a:ea typeface="Cambria Math" panose="02040503050406030204" pitchFamily="18" charset="0"/>
                    <a:cs typeface="Josefin Sans" charset="0"/>
                    <a:sym typeface="+mn-ea"/>
                  </a:rPr>
                  <a:t>Return “Impossible”</a:t>
                </a:r>
                <a:endParaRPr lang="en-US" dirty="0">
                  <a:ea typeface="Cambria Math" panose="02040503050406030204" pitchFamily="18" charset="0"/>
                  <a:cs typeface="Josefin Sans" charset="0"/>
                </a:endParaRPr>
              </a:p>
              <a:p>
                <a:pPr lvl="0">
                  <a:lnSpc>
                    <a:spcPct val="110000"/>
                  </a:lnSpc>
                </a:pPr>
                <a:r>
                  <a:rPr lang="en-US" dirty="0">
                    <a:ea typeface="Cambria Math" panose="02040503050406030204" pitchFamily="18" charset="0"/>
                    <a:cs typeface="Josefin Sans" charset="0"/>
                    <a:sym typeface="+mn-ea"/>
                  </a:rPr>
                  <a:t>15. For each u 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</a:rPr>
                      <m:t>𝑂𝐷𝐷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  <a:cs typeface="Josefin Sans" charset="0"/>
                    <a:sym typeface="+mn-ea"/>
                  </a:rPr>
                  <a:t>:</a:t>
                </a:r>
                <a:endParaRPr lang="en-US" dirty="0">
                  <a:ea typeface="Cambria Math" panose="02040503050406030204" pitchFamily="18" charset="0"/>
                  <a:cs typeface="Josefin Sans" charset="0"/>
                  <a:sym typeface="+mn-ea"/>
                </a:endParaRPr>
              </a:p>
              <a:p>
                <a:pPr lvl="0">
                  <a:lnSpc>
                    <a:spcPct val="110000"/>
                  </a:lnSpc>
                </a:pPr>
                <a:r>
                  <a:rPr lang="en-US" dirty="0">
                    <a:ea typeface="Cambria Math" panose="02040503050406030204" pitchFamily="18" charset="0"/>
                    <a:cs typeface="Josefin Sans" charset="0"/>
                    <a:sym typeface="+mn-ea"/>
                  </a:rPr>
                  <a:t>16.   For each v 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</a:rPr>
                      <m:t>𝐸𝑉𝐸𝑁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  <a:cs typeface="Josefin Sans" charset="0"/>
                    <a:sym typeface="+mn-ea"/>
                  </a:rPr>
                  <a:t>:</a:t>
                </a:r>
                <a:endParaRPr lang="en-US" dirty="0">
                  <a:ea typeface="Cambria Math" panose="02040503050406030204" pitchFamily="18" charset="0"/>
                  <a:cs typeface="Josefin Sans" charset="0"/>
                  <a:sym typeface="+mn-ea"/>
                </a:endParaRPr>
              </a:p>
              <a:p>
                <a:pPr lvl="0">
                  <a:lnSpc>
                    <a:spcPct val="110000"/>
                  </a:lnSpc>
                </a:pPr>
                <a:r>
                  <a:rPr lang="en-US" dirty="0">
                    <a:ea typeface="Cambria Math" panose="02040503050406030204" pitchFamily="18" charset="0"/>
                    <a:cs typeface="Josefin Sans" charset="0"/>
                    <a:sym typeface="+mn-ea"/>
                  </a:rPr>
                  <a:t>17.     </a:t>
                </a:r>
                <a:r>
                  <a:rPr lang="en-US" altLang="en-US" dirty="0">
                    <a:ea typeface="Cambria Math" panose="02040503050406030204" pitchFamily="18" charset="0"/>
                    <a:cs typeface="Josefin Sans" charset="0"/>
                  </a:rPr>
                  <a:t>Add (u,v) to G’ if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DejaVu Math TeX Gyre" panose="02000503000000000000" charset="0"/>
                        <a:ea typeface="Cambria Math" panose="02040503050406030204" pitchFamily="18" charset="0"/>
                        <a:cs typeface="DejaVu Math TeX Gyre" panose="02000503000000000000" charset="0"/>
                      </a:rPr>
                      <m:t>𝑓</m:t>
                    </m:r>
                    <m:r>
                      <a:rPr lang="en-US" i="1" dirty="0" smtClean="0">
                        <a:latin typeface="DejaVu Math TeX Gyre" panose="02000503000000000000" charset="0"/>
                        <a:ea typeface="Cambria Math" panose="02040503050406030204" pitchFamily="18" charset="0"/>
                        <a:cs typeface="DejaVu Math TeX Gyre" panose="02000503000000000000" charset="0"/>
                      </a:rPr>
                      <m:t>(</m:t>
                    </m:r>
                    <m:r>
                      <a:rPr lang="en-US" i="1" dirty="0" smtClean="0">
                        <a:latin typeface="DejaVu Math TeX Gyre" panose="02000503000000000000" charset="0"/>
                        <a:ea typeface="Cambria Math" panose="02040503050406030204" pitchFamily="18" charset="0"/>
                        <a:cs typeface="DejaVu Math TeX Gyre" panose="02000503000000000000" charset="0"/>
                      </a:rPr>
                      <m:t>𝑢</m:t>
                    </m:r>
                    <m:r>
                      <a:rPr lang="en-US" i="1" dirty="0" smtClean="0">
                        <a:latin typeface="DejaVu Math TeX Gyre" panose="02000503000000000000" charset="0"/>
                        <a:ea typeface="Cambria Math" panose="02040503050406030204" pitchFamily="18" charset="0"/>
                        <a:cs typeface="DejaVu Math TeX Gyre" panose="02000503000000000000" charset="0"/>
                      </a:rPr>
                      <m:t>,</m:t>
                    </m:r>
                    <m:r>
                      <a:rPr lang="en-US" i="1" dirty="0" smtClean="0">
                        <a:latin typeface="DejaVu Math TeX Gyre" panose="02000503000000000000" charset="0"/>
                        <a:ea typeface="Cambria Math" panose="02040503050406030204" pitchFamily="18" charset="0"/>
                        <a:cs typeface="DejaVu Math TeX Gyre" panose="02000503000000000000" charset="0"/>
                      </a:rPr>
                      <m:t>𝑣</m:t>
                    </m:r>
                    <m:r>
                      <a:rPr lang="en-US" i="1" dirty="0" smtClean="0">
                        <a:latin typeface="DejaVu Math TeX Gyre" panose="02000503000000000000" charset="0"/>
                        <a:ea typeface="Cambria Math" panose="02040503050406030204" pitchFamily="18" charset="0"/>
                        <a:cs typeface="DejaVu Math TeX Gyre" panose="02000503000000000000" charset="0"/>
                      </a:rPr>
                      <m:t>)</m:t>
                    </m:r>
                    <m:r>
                      <a:rPr lang="en-US" i="1" dirty="0" smtClean="0">
                        <a:latin typeface="DejaVu Math TeX Gyre" panose="02000503000000000000" charset="0"/>
                        <a:ea typeface="Cambria Math" panose="02040503050406030204" pitchFamily="18" charset="0"/>
                        <a:cs typeface="DejaVu Math TeX Gyre" panose="02000503000000000000" charset="0"/>
                      </a:rPr>
                      <m:t>&gt;</m:t>
                    </m:r>
                    <m:r>
                      <a:rPr lang="en-US" i="1" dirty="0" smtClean="0">
                        <a:latin typeface="DejaVu Math TeX Gyre" panose="02000503000000000000" charset="0"/>
                        <a:ea typeface="Cambria Math" panose="02040503050406030204" pitchFamily="18" charset="0"/>
                        <a:cs typeface="DejaVu Math TeX Gyre" panose="02000503000000000000" charset="0"/>
                      </a:rPr>
                      <m:t>0</m:t>
                    </m:r>
                  </m:oMath>
                </a14:m>
                <a:endParaRPr lang="en-US" altLang="en-US" dirty="0">
                  <a:ea typeface="Cambria Math" panose="02040503050406030204" pitchFamily="18" charset="0"/>
                  <a:cs typeface="Josefin Sans" charset="0"/>
                </a:endParaRPr>
              </a:p>
              <a:p>
                <a:pPr lvl="0">
                  <a:lnSpc>
                    <a:spcPct val="110000"/>
                  </a:lnSpc>
                </a:pPr>
                <a:r>
                  <a:rPr lang="en-US" dirty="0">
                    <a:ea typeface="Cambria Math" panose="02040503050406030204" pitchFamily="18" charset="0"/>
                    <a:cs typeface="Josefin Sans" charset="0"/>
                    <a:sym typeface="+mn-ea"/>
                  </a:rPr>
                  <a:t>18. </a:t>
                </a:r>
                <a:r>
                  <a:rPr lang="en-US" altLang="en-US" dirty="0">
                    <a:ea typeface="Cambria Math" panose="02040503050406030204" pitchFamily="18" charset="0"/>
                    <a:cs typeface="Josefin Sans" charset="0"/>
                    <a:sym typeface="+mn-ea"/>
                  </a:rPr>
                  <a:t>Use DFS to find all cycles in G’. Store the sequence of vertices of each cycle in S</a:t>
                </a:r>
                <a:endParaRPr lang="en-US" altLang="en-US" dirty="0">
                  <a:ea typeface="Cambria Math" panose="02040503050406030204" pitchFamily="18" charset="0"/>
                  <a:cs typeface="Josefin Sans" charset="0"/>
                  <a:sym typeface="+mn-ea"/>
                </a:endParaRPr>
              </a:p>
              <a:p>
                <a:pPr lvl="0">
                  <a:lnSpc>
                    <a:spcPct val="110000"/>
                  </a:lnSpc>
                </a:pPr>
                <a:r>
                  <a:rPr lang="en-US"/>
                  <a:t>19. Return S</a:t>
                </a:r>
                <a:endParaRPr lang="en-US"/>
              </a:p>
            </p:txBody>
          </p:sp>
        </mc:Choice>
        <mc:Fallback>
          <p:sp>
            <p:nvSpPr>
              <p:cNvPr id="9" name="Text 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6805" y="789940"/>
                <a:ext cx="5608320" cy="268541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 Box 1"/>
              <p:cNvSpPr txBox="1"/>
              <p:nvPr/>
            </p:nvSpPr>
            <p:spPr>
              <a:xfrm>
                <a:off x="6186805" y="3865245"/>
                <a:ext cx="4855210" cy="13690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sz="2400" b="1"/>
                  <a:t>Runtime</a:t>
                </a:r>
                <a:r>
                  <a:rPr lang="en-US" sz="2400"/>
                  <a:t>: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𝑂</m:t>
                    </m:r>
                    <m:r>
                      <a:rPr lang="en-US" sz="2400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(</m:t>
                    </m:r>
                    <m:sSup>
                      <m:sSupPr>
                        <m:ctrlPr>
                          <a:rPr lang="en-US" sz="24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𝑛</m:t>
                        </m:r>
                      </m:e>
                      <m:sup>
                        <m:r>
                          <a:rPr lang="en-US" sz="24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√</m:t>
                    </m:r>
                    <m:r>
                      <a:rPr lang="en-US" sz="2400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𝑚</m:t>
                    </m:r>
                    <m:r>
                      <a:rPr lang="en-US" sz="2400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+</m:t>
                    </m:r>
                    <m:sSup>
                      <m:sSupPr>
                        <m:ctrlPr>
                          <a:rPr lang="en-US" sz="24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𝑛</m:t>
                        </m:r>
                      </m:e>
                      <m:sup>
                        <m:r>
                          <a:rPr lang="en-US" sz="24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3</m:t>
                        </m:r>
                      </m:sup>
                    </m:sSup>
                    <m:r>
                      <a:rPr lang="en-US" sz="2400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)</m:t>
                    </m:r>
                  </m:oMath>
                </a14:m>
                <a:r>
                  <a:rPr lang="en-US" sz="2400"/>
                  <a:t>,where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𝑚</m:t>
                    </m:r>
                    <m:r>
                      <a:rPr lang="en-US" sz="2400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𝑚𝑎𝑥</m:t>
                        </m:r>
                      </m:e>
                      <m:sub>
                        <m:r>
                          <a:rPr lang="en-US" sz="24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𝑖</m:t>
                        </m:r>
                        <m:r>
                          <a:rPr lang="en-US" sz="24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∈[</m:t>
                        </m:r>
                        <m:r>
                          <a:rPr lang="en-US" sz="24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𝑛</m:t>
                        </m:r>
                        <m:r>
                          <a:rPr lang="en-US" sz="24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]</m:t>
                        </m:r>
                      </m:sub>
                    </m:sSub>
                    <m:r>
                      <a:rPr lang="en-US" sz="2400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𝑎</m:t>
                    </m:r>
                    <m:r>
                      <a:rPr lang="en-US" sz="2400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[</m:t>
                    </m:r>
                    <m:r>
                      <a:rPr lang="en-US" sz="2400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𝑖</m:t>
                    </m:r>
                    <m:r>
                      <a:rPr lang="en-US" sz="2400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]</m:t>
                    </m:r>
                  </m:oMath>
                </a14:m>
                <a:endParaRPr lang="en-US" sz="2000"/>
              </a:p>
              <a:p>
                <a:pPr indent="0" fontAlgn="auto">
                  <a:lnSpc>
                    <a:spcPct val="150000"/>
                  </a:lnSpc>
                </a:pPr>
                <a:r>
                  <a:rPr lang="en-US" sz="2000"/>
                  <a:t>Note that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𝑛</m:t>
                    </m:r>
                    <m:r>
                      <a:rPr lang="en-US" sz="2000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≤</m:t>
                    </m:r>
                    <m:r>
                      <a:rPr lang="en-US" sz="2000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200</m:t>
                    </m:r>
                  </m:oMath>
                </a14:m>
                <a:r>
                  <a:rPr lang="en-US" sz="2000"/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𝑚</m:t>
                    </m:r>
                    <m:r>
                      <a:rPr lang="en-US" sz="2000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≤</m:t>
                    </m:r>
                    <m:sSup>
                      <m:sSupPr>
                        <m:ctrlPr>
                          <a:rPr lang="en-US" sz="20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10</m:t>
                        </m:r>
                      </m:e>
                      <m:sup>
                        <m:r>
                          <a:rPr lang="en-US" sz="20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US" sz="2000"/>
                  <a:t>.</a:t>
                </a:r>
                <a:endParaRPr lang="en-US" sz="2000"/>
              </a:p>
            </p:txBody>
          </p:sp>
        </mc:Choice>
        <mc:Fallback>
          <p:sp>
            <p:nvSpPr>
              <p:cNvPr id="2" name="Text 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6805" y="3865245"/>
                <a:ext cx="4855210" cy="136906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2743" y="5553788"/>
            <a:ext cx="4016731" cy="4105992"/>
          </a:xfrm>
          <a:prstGeom prst="rect">
            <a:avLst/>
          </a:prstGeom>
        </p:spPr>
      </p:pic>
      <p:sp>
        <p:nvSpPr>
          <p:cNvPr id="4" name="e7d195523061f1c0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 hidden="1"/>
          <p:cNvSpPr txBox="1"/>
          <p:nvPr/>
        </p:nvSpPr>
        <p:spPr>
          <a:xfrm>
            <a:off x="-355600" y="1803400"/>
            <a:ext cx="262251" cy="1016000"/>
          </a:xfrm>
          <a:prstGeom prst="rect">
            <a:avLst/>
          </a:prstGeom>
          <a:noFill/>
        </p:spPr>
        <p:txBody>
          <a:bodyPr vert="wordArtVert" rtlCol="0">
            <a:spAutoFit/>
          </a:bodyPr>
          <a:lstStyle/>
          <a:p>
            <a:r>
              <a:rPr lang="en-US" altLang="zh-CN" sz="100"/>
              <a:t>e7d195523061f1c01d60fa9f1cfcbfb3d7dea265119d71e15FBB43640B43E9A75E03FE54C774D5D4779ED45933E78901D3CB0E69E39D04A9E1E9B25CF060C4BCA4D072860494D0D8E683C2FE58414E15A257B8C98CAC931B2A91D95E391D8F56A6B197C339044743E4A827576812018FE092D8F796C38DC487F641821CDDB0736DD3EE0F684ACE40</a:t>
            </a:r>
            <a:endParaRPr lang="zh-CN" altLang="en-US" sz="100"/>
          </a:p>
        </p:txBody>
      </p:sp>
      <p:grpSp>
        <p:nvGrpSpPr>
          <p:cNvPr id="3" name="组合 2"/>
          <p:cNvGrpSpPr/>
          <p:nvPr/>
        </p:nvGrpSpPr>
        <p:grpSpPr>
          <a:xfrm>
            <a:off x="591820" y="605264"/>
            <a:ext cx="5520688" cy="2583815"/>
            <a:chOff x="699004" y="854429"/>
            <a:chExt cx="4711195" cy="2735051"/>
          </a:xfrm>
        </p:grpSpPr>
        <p:sp>
          <p:nvSpPr>
            <p:cNvPr id="7" name="文本框 6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/>
            <p:cNvSpPr txBox="1"/>
            <p:nvPr/>
          </p:nvSpPr>
          <p:spPr>
            <a:xfrm>
              <a:off x="699004" y="854429"/>
              <a:ext cx="4711195" cy="5525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lt"/>
                  <a:ea typeface="Josefin Sans" charset="0"/>
                  <a:cs typeface="Josefin Sans" charset="0"/>
                </a:rPr>
                <a:t>Proof of Correctness</a:t>
              </a:r>
              <a:endParaRPr kumimoji="1"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Josefin Sans" charset="0"/>
                <a:cs typeface="Josefin Sans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Rectangle 7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/>
                <p:cNvSpPr/>
                <p:nvPr/>
              </p:nvSpPr>
              <p:spPr>
                <a:xfrm>
                  <a:off x="790042" y="1342423"/>
                  <a:ext cx="4459217" cy="2247057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>
                    <a:lnSpc>
                      <a:spcPct val="110000"/>
                    </a:lnSpc>
                  </a:pPr>
                  <a:r>
                    <a:rPr lang="en-US" sz="2000" dirty="0">
                      <a:ea typeface="Cambria Math" panose="02040503050406030204" pitchFamily="18" charset="0"/>
                      <a:cs typeface="Josefin Sans" charset="0"/>
                      <a:sym typeface="+mn-ea"/>
                    </a:rPr>
                    <a:t>IsPrime(x)</a:t>
                  </a:r>
                  <a:endParaRPr lang="en-US" sz="2000" dirty="0">
                    <a:ea typeface="Cambria Math" panose="02040503050406030204" pitchFamily="18" charset="0"/>
                    <a:cs typeface="Josefin Sans" charset="0"/>
                    <a:sym typeface="+mn-ea"/>
                  </a:endParaRPr>
                </a:p>
                <a:p>
                  <a:pPr lvl="0">
                    <a:lnSpc>
                      <a:spcPct val="110000"/>
                    </a:lnSpc>
                  </a:pPr>
                  <a:r>
                    <a:rPr lang="en-US" sz="2000" dirty="0">
                      <a:ea typeface="Cambria Math" panose="02040503050406030204" pitchFamily="18" charset="0"/>
                      <a:cs typeface="Josefin Sans" charset="0"/>
                      <a:sym typeface="+mn-ea"/>
                    </a:rPr>
                    <a:t>1.  Return false if </a:t>
                  </a:r>
                  <a14:m>
                    <m:oMath xmlns:m="http://schemas.openxmlformats.org/officeDocument/2006/math">
                      <m:r>
                        <a:rPr lang="en-US" sz="2000" i="1" dirty="0">
                          <a:latin typeface="DejaVu Math TeX Gyre" panose="02000503000000000000" charset="0"/>
                          <a:ea typeface="Cambria Math" panose="02040503050406030204" pitchFamily="18" charset="0"/>
                          <a:cs typeface="DejaVu Math TeX Gyre" panose="02000503000000000000" charset="0"/>
                          <a:sym typeface="+mn-ea"/>
                        </a:rPr>
                        <m:t>𝑥</m:t>
                      </m:r>
                      <m:r>
                        <a:rPr lang="en-US" sz="2000" i="1" dirty="0">
                          <a:latin typeface="DejaVu Math TeX Gyre" panose="02000503000000000000" charset="0"/>
                          <a:ea typeface="Cambria Math" panose="02040503050406030204" pitchFamily="18" charset="0"/>
                          <a:cs typeface="DejaVu Math TeX Gyre" panose="02000503000000000000" charset="0"/>
                          <a:sym typeface="+mn-ea"/>
                        </a:rPr>
                        <m:t>&lt;</m:t>
                      </m:r>
                      <m:r>
                        <a:rPr lang="en-US" sz="2000" i="1" dirty="0">
                          <a:latin typeface="DejaVu Math TeX Gyre" panose="02000503000000000000" charset="0"/>
                          <a:ea typeface="Cambria Math" panose="02040503050406030204" pitchFamily="18" charset="0"/>
                          <a:cs typeface="DejaVu Math TeX Gyre" panose="02000503000000000000" charset="0"/>
                          <a:sym typeface="+mn-ea"/>
                        </a:rPr>
                        <m:t>2</m:t>
                      </m:r>
                    </m:oMath>
                  </a14:m>
                  <a:endParaRPr lang="en-US" sz="2000" dirty="0">
                    <a:ea typeface="Cambria Math" panose="02040503050406030204" pitchFamily="18" charset="0"/>
                    <a:cs typeface="Josefin Sans" charset="0"/>
                    <a:sym typeface="+mn-ea"/>
                  </a:endParaRPr>
                </a:p>
                <a:p>
                  <a:pPr lvl="0">
                    <a:lnSpc>
                      <a:spcPct val="110000"/>
                    </a:lnSpc>
                  </a:pPr>
                  <a:r>
                    <a:rPr lang="en-US" sz="2000" dirty="0">
                      <a:ea typeface="Cambria Math" panose="02040503050406030204" pitchFamily="18" charset="0"/>
                      <a:cs typeface="Josefin Sans" charset="0"/>
                      <a:sym typeface="+mn-ea"/>
                    </a:rPr>
                    <a:t>2.  For </a:t>
                  </a:r>
                  <a14:m>
                    <m:oMath xmlns:m="http://schemas.openxmlformats.org/officeDocument/2006/math">
                      <m:r>
                        <a:rPr lang="en-US" sz="2000" i="1" dirty="0">
                          <a:latin typeface="DejaVu Math TeX Gyre" panose="02000503000000000000" charset="0"/>
                          <a:ea typeface="Cambria Math" panose="02040503050406030204" pitchFamily="18" charset="0"/>
                          <a:cs typeface="DejaVu Math TeX Gyre" panose="02000503000000000000" charset="0"/>
                          <a:sym typeface="+mn-ea"/>
                        </a:rPr>
                        <m:t>𝑖</m:t>
                      </m:r>
                      <m:r>
                        <a:rPr lang="en-US" sz="2000" i="1" dirty="0">
                          <a:latin typeface="DejaVu Math TeX Gyre" panose="02000503000000000000" charset="0"/>
                          <a:ea typeface="Cambria Math" panose="02040503050406030204" pitchFamily="18" charset="0"/>
                          <a:cs typeface="DejaVu Math TeX Gyre" panose="02000503000000000000" charset="0"/>
                          <a:sym typeface="+mn-ea"/>
                        </a:rPr>
                        <m:t>=</m:t>
                      </m:r>
                      <m:r>
                        <a:rPr lang="en-US" sz="2000" i="1" dirty="0">
                          <a:latin typeface="DejaVu Math TeX Gyre" panose="02000503000000000000" charset="0"/>
                          <a:ea typeface="Cambria Math" panose="02040503050406030204" pitchFamily="18" charset="0"/>
                          <a:cs typeface="DejaVu Math TeX Gyre" panose="02000503000000000000" charset="0"/>
                          <a:sym typeface="+mn-ea"/>
                        </a:rPr>
                        <m:t>2</m:t>
                      </m:r>
                      <m:r>
                        <a:rPr lang="en-US" sz="2000" i="1" dirty="0">
                          <a:latin typeface="DejaVu Math TeX Gyre" panose="02000503000000000000" charset="0"/>
                          <a:ea typeface="Cambria Math" panose="02040503050406030204" pitchFamily="18" charset="0"/>
                          <a:cs typeface="DejaVu Math TeX Gyre" panose="02000503000000000000" charset="0"/>
                          <a:sym typeface="+mn-ea"/>
                        </a:rPr>
                        <m:t> </m:t>
                      </m:r>
                    </m:oMath>
                  </a14:m>
                  <a:r>
                    <a:rPr lang="en-US" sz="2000" dirty="0">
                      <a:ea typeface="Cambria Math" panose="02040503050406030204" pitchFamily="18" charset="0"/>
                      <a:cs typeface="Josefin Sans" charset="0"/>
                      <a:sym typeface="+mn-ea"/>
                    </a:rPr>
                    <a:t>to </a:t>
                  </a:r>
                  <a14:m>
                    <m:oMath xmlns:m="http://schemas.openxmlformats.org/officeDocument/2006/math">
                      <m:d>
                        <m:dPr>
                          <m:begChr m:val="⌊"/>
                          <m:endChr m:val=""/>
                          <m:ctrlPr>
                            <a:rPr lang="en-US" sz="2000" i="1" dirty="0">
                              <a:latin typeface="DejaVu Math TeX Gyre" panose="02000503000000000000" charset="0"/>
                              <a:ea typeface="Cambria Math" panose="02040503050406030204" pitchFamily="18" charset="0"/>
                              <a:cs typeface="DejaVu Math TeX Gyre" panose="02000503000000000000" charset="0"/>
                              <a:sym typeface="+mn-ea"/>
                            </a:rPr>
                          </m:ctrlPr>
                        </m:dPr>
                        <m:e>
                          <m:r>
                            <a:rPr lang="en-US" sz="2000" i="1" dirty="0">
                              <a:latin typeface="DejaVu Math TeX Gyre" panose="02000503000000000000" charset="0"/>
                              <a:ea typeface="Cambria Math" panose="02040503050406030204" pitchFamily="18" charset="0"/>
                              <a:cs typeface="DejaVu Math TeX Gyre" panose="02000503000000000000" charset="0"/>
                              <a:sym typeface="+mn-ea"/>
                            </a:rPr>
                            <m:t>√</m:t>
                          </m:r>
                          <m:d>
                            <m:dPr>
                              <m:begChr m:val=""/>
                              <m:endChr m:val="⌋"/>
                              <m:ctrlPr>
                                <a:rPr lang="en-US" sz="2000" i="1" dirty="0">
                                  <a:latin typeface="DejaVu Math TeX Gyre" panose="02000503000000000000" charset="0"/>
                                  <a:ea typeface="Cambria Math" panose="02040503050406030204" pitchFamily="18" charset="0"/>
                                  <a:cs typeface="DejaVu Math TeX Gyre" panose="02000503000000000000" charset="0"/>
                                  <a:sym typeface="+mn-ea"/>
                                </a:rPr>
                              </m:ctrlPr>
                            </m:dPr>
                            <m:e>
                              <m:r>
                                <a:rPr lang="en-US" sz="2000" i="1" dirty="0">
                                  <a:latin typeface="DejaVu Math TeX Gyre" panose="02000503000000000000" charset="0"/>
                                  <a:ea typeface="Cambria Math" panose="02040503050406030204" pitchFamily="18" charset="0"/>
                                  <a:cs typeface="DejaVu Math TeX Gyre" panose="02000503000000000000" charset="0"/>
                                  <a:sym typeface="+mn-ea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000" i="1" dirty="0">
                              <a:latin typeface="DejaVu Math TeX Gyre" panose="02000503000000000000" charset="0"/>
                              <a:ea typeface="Cambria Math" panose="02040503050406030204" pitchFamily="18" charset="0"/>
                              <a:cs typeface="DejaVu Math TeX Gyre" panose="02000503000000000000" charset="0"/>
                              <a:sym typeface="+mn-ea"/>
                            </a:rPr>
                            <m:t> </m:t>
                          </m:r>
                        </m:e>
                      </m:d>
                    </m:oMath>
                  </a14:m>
                  <a:r>
                    <a:rPr lang="en-US" sz="2000" dirty="0">
                      <a:ea typeface="Cambria Math" panose="02040503050406030204" pitchFamily="18" charset="0"/>
                      <a:cs typeface="Josefin Sans" charset="0"/>
                      <a:sym typeface="+mn-ea"/>
                    </a:rPr>
                    <a:t>:</a:t>
                  </a:r>
                  <a:endParaRPr lang="en-US" sz="2000" dirty="0">
                    <a:ea typeface="Cambria Math" panose="02040503050406030204" pitchFamily="18" charset="0"/>
                    <a:cs typeface="Josefin Sans" charset="0"/>
                    <a:sym typeface="+mn-ea"/>
                  </a:endParaRPr>
                </a:p>
                <a:p>
                  <a:pPr lvl="0">
                    <a:lnSpc>
                      <a:spcPct val="110000"/>
                    </a:lnSpc>
                  </a:pPr>
                  <a:r>
                    <a:rPr lang="en-US" sz="2000" dirty="0">
                      <a:ea typeface="Cambria Math" panose="02040503050406030204" pitchFamily="18" charset="0"/>
                      <a:cs typeface="Josefin Sans" charset="0"/>
                      <a:sym typeface="+mn-ea"/>
                    </a:rPr>
                    <a:t>3.    if </a:t>
                  </a:r>
                  <a14:m>
                    <m:oMath xmlns:m="http://schemas.openxmlformats.org/officeDocument/2006/math">
                      <m:r>
                        <a:rPr lang="en-US" sz="2000" i="1" dirty="0">
                          <a:latin typeface="DejaVu Math TeX Gyre" panose="02000503000000000000" charset="0"/>
                          <a:ea typeface="Cambria Math" panose="02040503050406030204" pitchFamily="18" charset="0"/>
                          <a:cs typeface="DejaVu Math TeX Gyre" panose="02000503000000000000" charset="0"/>
                          <a:sym typeface="+mn-ea"/>
                        </a:rPr>
                        <m:t>𝑥</m:t>
                      </m:r>
                      <m:r>
                        <a:rPr lang="en-US" sz="2000" i="1" dirty="0">
                          <a:latin typeface="DejaVu Math TeX Gyre" panose="02000503000000000000" charset="0"/>
                          <a:ea typeface="Cambria Math" panose="02040503050406030204" pitchFamily="18" charset="0"/>
                          <a:cs typeface="DejaVu Math TeX Gyre" panose="02000503000000000000" charset="0"/>
                          <a:sym typeface="+mn-ea"/>
                        </a:rPr>
                        <m:t>%</m:t>
                      </m:r>
                      <m:r>
                        <a:rPr lang="en-US" sz="2000" i="1" dirty="0">
                          <a:latin typeface="DejaVu Math TeX Gyre" panose="02000503000000000000" charset="0"/>
                          <a:ea typeface="Cambria Math" panose="02040503050406030204" pitchFamily="18" charset="0"/>
                          <a:cs typeface="DejaVu Math TeX Gyre" panose="02000503000000000000" charset="0"/>
                          <a:sym typeface="+mn-ea"/>
                        </a:rPr>
                        <m:t>𝑖</m:t>
                      </m:r>
                      <m:r>
                        <a:rPr lang="en-US" sz="2000" i="1" dirty="0">
                          <a:latin typeface="DejaVu Math TeX Gyre" panose="02000503000000000000" charset="0"/>
                          <a:ea typeface="Cambria Math" panose="02040503050406030204" pitchFamily="18" charset="0"/>
                          <a:cs typeface="DejaVu Math TeX Gyre" panose="02000503000000000000" charset="0"/>
                          <a:sym typeface="+mn-ea"/>
                        </a:rPr>
                        <m:t>=</m:t>
                      </m:r>
                      <m:r>
                        <a:rPr lang="en-US" sz="2000" i="1" dirty="0">
                          <a:latin typeface="DejaVu Math TeX Gyre" panose="02000503000000000000" charset="0"/>
                          <a:ea typeface="Cambria Math" panose="02040503050406030204" pitchFamily="18" charset="0"/>
                          <a:cs typeface="DejaVu Math TeX Gyre" panose="02000503000000000000" charset="0"/>
                          <a:sym typeface="+mn-ea"/>
                        </a:rPr>
                        <m:t>0</m:t>
                      </m:r>
                    </m:oMath>
                  </a14:m>
                  <a:r>
                    <a:rPr lang="en-US" sz="2000" dirty="0">
                      <a:ea typeface="Cambria Math" panose="02040503050406030204" pitchFamily="18" charset="0"/>
                      <a:cs typeface="Josefin Sans" charset="0"/>
                    </a:rPr>
                    <a:t>:</a:t>
                  </a:r>
                  <a:endParaRPr lang="en-US" sz="2000" dirty="0">
                    <a:ea typeface="Cambria Math" panose="02040503050406030204" pitchFamily="18" charset="0"/>
                    <a:cs typeface="Josefin Sans" charset="0"/>
                  </a:endParaRPr>
                </a:p>
                <a:p>
                  <a:pPr lvl="0">
                    <a:lnSpc>
                      <a:spcPct val="110000"/>
                    </a:lnSpc>
                  </a:pPr>
                  <a:r>
                    <a:rPr lang="en-US" sz="2000" dirty="0">
                      <a:ea typeface="Cambria Math" panose="02040503050406030204" pitchFamily="18" charset="0"/>
                      <a:cs typeface="Josefin Sans" charset="0"/>
                    </a:rPr>
                    <a:t>4.      Return false</a:t>
                  </a:r>
                  <a:endParaRPr lang="en-US" sz="2000" dirty="0">
                    <a:ea typeface="Cambria Math" panose="02040503050406030204" pitchFamily="18" charset="0"/>
                    <a:cs typeface="Josefin Sans" charset="0"/>
                  </a:endParaRPr>
                </a:p>
                <a:p>
                  <a:pPr lvl="0">
                    <a:lnSpc>
                      <a:spcPct val="110000"/>
                    </a:lnSpc>
                  </a:pPr>
                  <a:r>
                    <a:rPr lang="en-US" sz="2000" dirty="0">
                      <a:ea typeface="Cambria Math" panose="02040503050406030204" pitchFamily="18" charset="0"/>
                      <a:cs typeface="Josefin Sans" charset="0"/>
                    </a:rPr>
                    <a:t>5.  Return true</a:t>
                  </a:r>
                  <a:endParaRPr lang="en-US" sz="2000" dirty="0">
                    <a:ea typeface="Cambria Math" panose="02040503050406030204" pitchFamily="18" charset="0"/>
                    <a:cs typeface="Josefin Sans" charset="0"/>
                  </a:endParaRPr>
                </a:p>
              </p:txBody>
            </p:sp>
          </mc:Choice>
          <mc:Fallback>
            <p:sp>
              <p:nvSpPr>
                <p:cNvPr id="8" name="Rectangle 7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0042" y="1342423"/>
                  <a:ext cx="4459217" cy="2247057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7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/>
              <p:cNvSpPr/>
              <p:nvPr/>
            </p:nvSpPr>
            <p:spPr>
              <a:xfrm>
                <a:off x="560705" y="3524885"/>
                <a:ext cx="4960620" cy="20681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p>
                <a:pPr lvl="0">
                  <a:lnSpc>
                    <a:spcPct val="110000"/>
                  </a:lnSpc>
                </a:pPr>
                <a:r>
                  <a:rPr lang="en-US" sz="2000" b="1" dirty="0">
                    <a:ea typeface="Cambria Math" panose="02040503050406030204" pitchFamily="18" charset="0"/>
                    <a:cs typeface="Josefin Sans" charset="0"/>
                  </a:rPr>
                  <a:t>Case 1: </a:t>
                </a:r>
                <a:r>
                  <a:rPr lang="en-US" sz="2000" b="1" dirty="0">
                    <a:ea typeface="Cambria Math" panose="02040503050406030204" pitchFamily="18" charset="0"/>
                    <a:cs typeface="Josefin Sans" charset="0"/>
                    <a:sym typeface="+mn-ea"/>
                  </a:rPr>
                  <a:t>IsPrime(x) returns false</a:t>
                </a:r>
                <a:endParaRPr lang="en-US" sz="2000" b="1" dirty="0">
                  <a:ea typeface="Cambria Math" panose="02040503050406030204" pitchFamily="18" charset="0"/>
                  <a:cs typeface="Josefin Sans" charset="0"/>
                  <a:sym typeface="+mn-ea"/>
                </a:endParaRPr>
              </a:p>
              <a:p>
                <a:pPr lvl="0">
                  <a:lnSpc>
                    <a:spcPct val="110000"/>
                  </a:lnSpc>
                </a:pPr>
                <a:r>
                  <a:rPr lang="en-US" dirty="0">
                    <a:ea typeface="Cambria Math" panose="02040503050406030204" pitchFamily="18" charset="0"/>
                    <a:cs typeface="Josefin Sans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DejaVu Math TeX Gyre" panose="02000503000000000000" charset="0"/>
                        <a:ea typeface="Cambria Math" panose="02040503050406030204" pitchFamily="18" charset="0"/>
                        <a:cs typeface="DejaVu Math TeX Gyre" panose="02000503000000000000" charset="0"/>
                      </a:rPr>
                      <m:t>𝑥</m:t>
                    </m:r>
                    <m:r>
                      <a:rPr lang="en-US" i="1" dirty="0">
                        <a:latin typeface="DejaVu Math TeX Gyre" panose="02000503000000000000" charset="0"/>
                        <a:ea typeface="Cambria Math" panose="02040503050406030204" pitchFamily="18" charset="0"/>
                        <a:cs typeface="DejaVu Math TeX Gyre" panose="02000503000000000000" charset="0"/>
                      </a:rPr>
                      <m:t>&lt;</m:t>
                    </m:r>
                    <m:r>
                      <a:rPr lang="en-US" i="1" dirty="0">
                        <a:latin typeface="DejaVu Math TeX Gyre" panose="02000503000000000000" charset="0"/>
                        <a:ea typeface="Cambria Math" panose="02040503050406030204" pitchFamily="18" charset="0"/>
                        <a:cs typeface="DejaVu Math TeX Gyre" panose="02000503000000000000" charset="0"/>
                      </a:rPr>
                      <m:t>2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  <a:cs typeface="Josefin Sans" charset="0"/>
                  </a:rPr>
                  <a:t>,then x is not a prime by definition.</a:t>
                </a:r>
                <a:endParaRPr lang="en-US" dirty="0">
                  <a:ea typeface="Cambria Math" panose="02040503050406030204" pitchFamily="18" charset="0"/>
                  <a:cs typeface="Josefin Sans" charset="0"/>
                </a:endParaRPr>
              </a:p>
              <a:p>
                <a:pPr lvl="0">
                  <a:lnSpc>
                    <a:spcPct val="110000"/>
                  </a:lnSpc>
                </a:pPr>
                <a:r>
                  <a:rPr lang="en-US" dirty="0">
                    <a:ea typeface="Cambria Math" panose="02040503050406030204" pitchFamily="18" charset="0"/>
                    <a:cs typeface="Josefin Sans" charset="0"/>
                  </a:rPr>
                  <a:t>Otherwise, for some integer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DejaVu Math TeX Gyre" panose="02000503000000000000" charset="0"/>
                        <a:ea typeface="Cambria Math" panose="02040503050406030204" pitchFamily="18" charset="0"/>
                        <a:cs typeface="DejaVu Math TeX Gyre" panose="02000503000000000000" charset="0"/>
                      </a:rPr>
                      <m:t>𝑖</m:t>
                    </m:r>
                    <m:r>
                      <a:rPr lang="en-US" i="1" dirty="0">
                        <a:latin typeface="DejaVu Math TeX Gyre" panose="02000503000000000000" charset="0"/>
                        <a:ea typeface="Cambria Math" panose="02040503050406030204" pitchFamily="18" charset="0"/>
                        <a:cs typeface="DejaVu Math TeX Gyre" panose="02000503000000000000" charset="0"/>
                      </a:rPr>
                      <m:t>∈[</m:t>
                    </m:r>
                    <m:r>
                      <a:rPr lang="en-US" i="1" dirty="0">
                        <a:latin typeface="DejaVu Math TeX Gyre" panose="02000503000000000000" charset="0"/>
                        <a:ea typeface="Cambria Math" panose="02040503050406030204" pitchFamily="18" charset="0"/>
                        <a:cs typeface="DejaVu Math TeX Gyre" panose="02000503000000000000" charset="0"/>
                      </a:rPr>
                      <m:t>2</m:t>
                    </m:r>
                    <m:r>
                      <a:rPr lang="en-US" i="1" dirty="0">
                        <a:latin typeface="DejaVu Math TeX Gyre" panose="02000503000000000000" charset="0"/>
                        <a:ea typeface="Cambria Math" panose="02040503050406030204" pitchFamily="18" charset="0"/>
                        <a:cs typeface="DejaVu Math TeX Gyre" panose="02000503000000000000" charset="0"/>
                      </a:rPr>
                      <m:t>,</m:t>
                    </m:r>
                    <m:d>
                      <m:dPr>
                        <m:begChr m:val="⌊"/>
                        <m:endChr m:val=""/>
                        <m:ctrlPr>
                          <a:rPr lang="en-US" i="1" dirty="0">
                            <a:latin typeface="DejaVu Math TeX Gyre" panose="02000503000000000000" charset="0"/>
                            <a:ea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DejaVu Math TeX Gyre" panose="02000503000000000000" charset="0"/>
                            <a:ea typeface="Cambria Math" panose="02040503050406030204" pitchFamily="18" charset="0"/>
                            <a:cs typeface="DejaVu Math TeX Gyre" panose="02000503000000000000" charset="0"/>
                          </a:rPr>
                          <m:t>√</m:t>
                        </m:r>
                      </m:e>
                    </m:d>
                    <m:d>
                      <m:dPr>
                        <m:begChr m:val=""/>
                        <m:endChr m:val="⌋"/>
                        <m:ctrlPr>
                          <a:rPr lang="en-US" i="1" dirty="0">
                            <a:latin typeface="DejaVu Math TeX Gyre" panose="02000503000000000000" charset="0"/>
                            <a:ea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DejaVu Math TeX Gyre" panose="02000503000000000000" charset="0"/>
                            <a:ea typeface="Cambria Math" panose="02040503050406030204" pitchFamily="18" charset="0"/>
                            <a:cs typeface="DejaVu Math TeX Gyre" panose="02000503000000000000" charset="0"/>
                          </a:rPr>
                          <m:t>𝑥</m:t>
                        </m:r>
                      </m:e>
                    </m:d>
                    <m:r>
                      <a:rPr lang="en-US" i="1" dirty="0">
                        <a:latin typeface="DejaVu Math TeX Gyre" panose="02000503000000000000" charset="0"/>
                        <a:ea typeface="Cambria Math" panose="02040503050406030204" pitchFamily="18" charset="0"/>
                        <a:cs typeface="DejaVu Math TeX Gyre" panose="02000503000000000000" charset="0"/>
                      </a:rPr>
                      <m:t>]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  <a:cs typeface="Josefin Sans" charset="0"/>
                  </a:rPr>
                  <a:t>,then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DejaVu Math TeX Gyre" panose="02000503000000000000" charset="0"/>
                        <a:ea typeface="Cambria Math" panose="02040503050406030204" pitchFamily="18" charset="0"/>
                        <a:cs typeface="DejaVu Math TeX Gyre" panose="02000503000000000000" charset="0"/>
                      </a:rPr>
                      <m:t>𝑥</m:t>
                    </m:r>
                    <m:r>
                      <a:rPr lang="en-US" i="1" dirty="0">
                        <a:latin typeface="DejaVu Math TeX Gyre" panose="02000503000000000000" charset="0"/>
                        <a:ea typeface="Cambria Math" panose="02040503050406030204" pitchFamily="18" charset="0"/>
                        <a:cs typeface="DejaVu Math TeX Gyre" panose="02000503000000000000" charset="0"/>
                      </a:rPr>
                      <m:t>=</m:t>
                    </m:r>
                    <m:r>
                      <a:rPr lang="en-US" i="1" dirty="0">
                        <a:latin typeface="DejaVu Math TeX Gyre" panose="02000503000000000000" charset="0"/>
                        <a:ea typeface="Cambria Math" panose="02040503050406030204" pitchFamily="18" charset="0"/>
                        <a:cs typeface="DejaVu Math TeX Gyre" panose="02000503000000000000" charset="0"/>
                      </a:rPr>
                      <m:t>𝑖</m:t>
                    </m:r>
                    <m:r>
                      <a:rPr lang="en-US" i="1" dirty="0">
                        <a:latin typeface="DejaVu Math TeX Gyre" panose="02000503000000000000" charset="0"/>
                        <a:ea typeface="Cambria Math" panose="02040503050406030204" pitchFamily="18" charset="0"/>
                        <a:cs typeface="DejaVu Math TeX Gyre" panose="02000503000000000000" charset="0"/>
                      </a:rPr>
                      <m:t>∙</m:t>
                    </m:r>
                    <m:r>
                      <a:rPr lang="en-US" i="1" dirty="0">
                        <a:latin typeface="DejaVu Math TeX Gyre" panose="02000503000000000000" charset="0"/>
                        <a:ea typeface="Cambria Math" panose="02040503050406030204" pitchFamily="18" charset="0"/>
                        <a:cs typeface="DejaVu Math TeX Gyre" panose="02000503000000000000" charset="0"/>
                      </a:rPr>
                      <m:t>𝑞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  <a:cs typeface="Josefin Sans" charset="0"/>
                  </a:rPr>
                  <a:t>, where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DejaVu Math TeX Gyre" panose="02000503000000000000" charset="0"/>
                        <a:ea typeface="Cambria Math" panose="02040503050406030204" pitchFamily="18" charset="0"/>
                        <a:cs typeface="DejaVu Math TeX Gyre" panose="02000503000000000000" charset="0"/>
                      </a:rPr>
                      <m:t>2</m:t>
                    </m:r>
                    <m:r>
                      <a:rPr lang="en-US" i="1" dirty="0">
                        <a:latin typeface="DejaVu Math TeX Gyre" panose="02000503000000000000" charset="0"/>
                        <a:ea typeface="Cambria Math" panose="02040503050406030204" pitchFamily="18" charset="0"/>
                        <a:cs typeface="DejaVu Math TeX Gyre" panose="02000503000000000000" charset="0"/>
                      </a:rPr>
                      <m:t>≤</m:t>
                    </m:r>
                    <m:r>
                      <a:rPr lang="en-US" i="1" dirty="0">
                        <a:latin typeface="DejaVu Math TeX Gyre" panose="02000503000000000000" charset="0"/>
                        <a:ea typeface="Cambria Math" panose="02040503050406030204" pitchFamily="18" charset="0"/>
                        <a:cs typeface="DejaVu Math TeX Gyre" panose="02000503000000000000" charset="0"/>
                      </a:rPr>
                      <m:t>√</m:t>
                    </m:r>
                    <m:r>
                      <a:rPr lang="en-US" i="1" dirty="0">
                        <a:latin typeface="DejaVu Math TeX Gyre" panose="02000503000000000000" charset="0"/>
                        <a:ea typeface="Cambria Math" panose="02040503050406030204" pitchFamily="18" charset="0"/>
                        <a:cs typeface="DejaVu Math TeX Gyre" panose="02000503000000000000" charset="0"/>
                      </a:rPr>
                      <m:t>𝑥</m:t>
                    </m:r>
                    <m:r>
                      <a:rPr lang="en-US" i="1" dirty="0">
                        <a:latin typeface="DejaVu Math TeX Gyre" panose="02000503000000000000" charset="0"/>
                        <a:ea typeface="Cambria Math" panose="02040503050406030204" pitchFamily="18" charset="0"/>
                        <a:cs typeface="DejaVu Math TeX Gyre" panose="02000503000000000000" charset="0"/>
                      </a:rPr>
                      <m:t>=</m:t>
                    </m:r>
                    <m:f>
                      <m:fPr>
                        <m:ctrlPr>
                          <a:rPr lang="en-US" i="1" dirty="0">
                            <a:latin typeface="DejaVu Math TeX Gyre" panose="02000503000000000000" charset="0"/>
                            <a:ea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DejaVu Math TeX Gyre" panose="02000503000000000000" charset="0"/>
                            <a:ea typeface="Cambria Math" panose="02040503050406030204" pitchFamily="18" charset="0"/>
                            <a:cs typeface="DejaVu Math TeX Gyre" panose="02000503000000000000" charset="0"/>
                          </a:rPr>
                          <m:t>𝑥</m:t>
                        </m:r>
                      </m:num>
                      <m:den>
                        <m:r>
                          <a:rPr lang="en-US" i="1" dirty="0">
                            <a:latin typeface="DejaVu Math TeX Gyre" panose="02000503000000000000" charset="0"/>
                            <a:ea typeface="Cambria Math" panose="02040503050406030204" pitchFamily="18" charset="0"/>
                            <a:cs typeface="DejaVu Math TeX Gyre" panose="02000503000000000000" charset="0"/>
                          </a:rPr>
                          <m:t>√</m:t>
                        </m:r>
                        <m:r>
                          <a:rPr lang="en-US" i="1" dirty="0">
                            <a:latin typeface="DejaVu Math TeX Gyre" panose="02000503000000000000" charset="0"/>
                            <a:ea typeface="Cambria Math" panose="02040503050406030204" pitchFamily="18" charset="0"/>
                            <a:cs typeface="DejaVu Math TeX Gyre" panose="02000503000000000000" charset="0"/>
                          </a:rPr>
                          <m:t>𝑥</m:t>
                        </m:r>
                      </m:den>
                    </m:f>
                    <m:r>
                      <a:rPr lang="en-US" i="1" dirty="0">
                        <a:latin typeface="DejaVu Math TeX Gyre" panose="02000503000000000000" charset="0"/>
                        <a:ea typeface="Cambria Math" panose="02040503050406030204" pitchFamily="18" charset="0"/>
                        <a:cs typeface="DejaVu Math TeX Gyre" panose="02000503000000000000" charset="0"/>
                      </a:rPr>
                      <m:t>≤</m:t>
                    </m:r>
                    <m:f>
                      <m:fPr>
                        <m:ctrlPr>
                          <a:rPr lang="en-US" i="1" dirty="0">
                            <a:latin typeface="DejaVu Math TeX Gyre" panose="02000503000000000000" charset="0"/>
                            <a:ea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DejaVu Math TeX Gyre" panose="02000503000000000000" charset="0"/>
                            <a:ea typeface="Cambria Math" panose="02040503050406030204" pitchFamily="18" charset="0"/>
                            <a:cs typeface="DejaVu Math TeX Gyre" panose="02000503000000000000" charset="0"/>
                          </a:rPr>
                          <m:t>𝑥</m:t>
                        </m:r>
                      </m:num>
                      <m:den>
                        <m:r>
                          <a:rPr lang="en-US" i="1" dirty="0">
                            <a:latin typeface="DejaVu Math TeX Gyre" panose="02000503000000000000" charset="0"/>
                            <a:ea typeface="Cambria Math" panose="02040503050406030204" pitchFamily="18" charset="0"/>
                            <a:cs typeface="DejaVu Math TeX Gyre" panose="02000503000000000000" charset="0"/>
                          </a:rPr>
                          <m:t>𝑖</m:t>
                        </m:r>
                      </m:den>
                    </m:f>
                    <m:r>
                      <a:rPr lang="en-US" i="1" dirty="0">
                        <a:latin typeface="DejaVu Math TeX Gyre" panose="02000503000000000000" charset="0"/>
                        <a:ea typeface="Cambria Math" panose="02040503050406030204" pitchFamily="18" charset="0"/>
                        <a:cs typeface="DejaVu Math TeX Gyre" panose="02000503000000000000" charset="0"/>
                      </a:rPr>
                      <m:t>=</m:t>
                    </m:r>
                    <m:r>
                      <a:rPr lang="en-US" i="1" dirty="0">
                        <a:latin typeface="DejaVu Math TeX Gyre" panose="02000503000000000000" charset="0"/>
                        <a:ea typeface="Cambria Math" panose="02040503050406030204" pitchFamily="18" charset="0"/>
                        <a:cs typeface="DejaVu Math TeX Gyre" panose="02000503000000000000" charset="0"/>
                      </a:rPr>
                      <m:t>𝑞</m:t>
                    </m:r>
                    <m:r>
                      <a:rPr lang="en-US" i="1" dirty="0">
                        <a:latin typeface="DejaVu Math TeX Gyre" panose="02000503000000000000" charset="0"/>
                        <a:ea typeface="Cambria Math" panose="02040503050406030204" pitchFamily="18" charset="0"/>
                        <a:cs typeface="DejaVu Math TeX Gyre" panose="02000503000000000000" charset="0"/>
                      </a:rPr>
                      <m:t>&lt;</m:t>
                    </m:r>
                    <m:r>
                      <a:rPr lang="en-US" i="1" dirty="0">
                        <a:latin typeface="DejaVu Math TeX Gyre" panose="02000503000000000000" charset="0"/>
                        <a:ea typeface="Cambria Math" panose="02040503050406030204" pitchFamily="18" charset="0"/>
                        <a:cs typeface="DejaVu Math TeX Gyre" panose="02000503000000000000" charset="0"/>
                      </a:rPr>
                      <m:t>𝑥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  <a:cs typeface="Josefin Sans" charset="0"/>
                  </a:rPr>
                  <a:t> and q is an integer. So, x is not a prime and returning false is correct.</a:t>
                </a:r>
                <a:endParaRPr lang="en-US" dirty="0">
                  <a:ea typeface="Cambria Math" panose="02040503050406030204" pitchFamily="18" charset="0"/>
                  <a:cs typeface="Josefin Sans" charset="0"/>
                </a:endParaRPr>
              </a:p>
            </p:txBody>
          </p:sp>
        </mc:Choice>
        <mc:Fallback>
          <p:sp>
            <p:nvSpPr>
              <p:cNvPr id="2" name="Rectangle 7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705" y="3524885"/>
                <a:ext cx="4960620" cy="206819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4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/>
          <p:cNvSpPr txBox="1"/>
          <p:nvPr/>
        </p:nvSpPr>
        <p:spPr>
          <a:xfrm>
            <a:off x="192710" y="156742"/>
            <a:ext cx="5696461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en-US" altLang="en-US" spc="100" dirty="0">
                <a:solidFill>
                  <a:schemeClr val="tx1">
                    <a:lumMod val="85000"/>
                    <a:lumOff val="15000"/>
                  </a:schemeClr>
                </a:solidFill>
                <a:ea typeface="Playfair Display" panose="00000500000000000000" charset="0"/>
                <a:cs typeface="Playfair Display" panose="00000500000000000000" charset="0"/>
              </a:rPr>
              <a:t>Part.04 </a:t>
            </a:r>
            <a:r>
              <a:rPr kumimoji="1" lang="zh-CN" altLang="en-US" spc="100" dirty="0">
                <a:solidFill>
                  <a:schemeClr val="tx1">
                    <a:lumMod val="85000"/>
                    <a:lumOff val="15000"/>
                  </a:schemeClr>
                </a:solidFill>
                <a:ea typeface="Playfair Display" panose="00000500000000000000" charset="0"/>
                <a:cs typeface="Playfair Display" panose="00000500000000000000" charset="0"/>
              </a:rPr>
              <a:t> </a:t>
            </a:r>
            <a:r>
              <a:rPr kumimoji="1"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Josefin Sans" charset="0"/>
                <a:ea typeface="Josefin Sans" charset="0"/>
                <a:cs typeface="Josefin Sans" charset="0"/>
                <a:sym typeface="+mn-ea"/>
              </a:rPr>
              <a:t>Proof of Correctness &amp; Time Analysis</a:t>
            </a:r>
            <a:endParaRPr kumimoji="1" lang="en-US" altLang="en-US" spc="100" dirty="0">
              <a:solidFill>
                <a:schemeClr val="tx1">
                  <a:lumMod val="85000"/>
                  <a:lumOff val="15000"/>
                </a:schemeClr>
              </a:solidFill>
              <a:ea typeface="Playfair Display" panose="00000500000000000000" charset="0"/>
              <a:cs typeface="Playfair Display" panose="00000500000000000000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tangle 7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/>
              <p:cNvSpPr/>
              <p:nvPr/>
            </p:nvSpPr>
            <p:spPr>
              <a:xfrm>
                <a:off x="6332220" y="605155"/>
                <a:ext cx="4960620" cy="3536950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p>
                <a:pPr lvl="0">
                  <a:lnSpc>
                    <a:spcPct val="110000"/>
                  </a:lnSpc>
                </a:pPr>
                <a:r>
                  <a:rPr lang="en-US" sz="2000" b="1" dirty="0">
                    <a:ea typeface="Cambria Math" panose="02040503050406030204" pitchFamily="18" charset="0"/>
                    <a:cs typeface="Josefin Sans" charset="0"/>
                  </a:rPr>
                  <a:t>Case 2: </a:t>
                </a:r>
                <a:r>
                  <a:rPr lang="en-US" sz="2000" b="1" dirty="0">
                    <a:ea typeface="Cambria Math" panose="02040503050406030204" pitchFamily="18" charset="0"/>
                    <a:cs typeface="Josefin Sans" charset="0"/>
                    <a:sym typeface="+mn-ea"/>
                  </a:rPr>
                  <a:t>IsPrime(x) returns true</a:t>
                </a:r>
                <a:endParaRPr lang="en-US" sz="2000" b="1" dirty="0">
                  <a:ea typeface="Cambria Math" panose="02040503050406030204" pitchFamily="18" charset="0"/>
                  <a:cs typeface="Josefin Sans" charset="0"/>
                  <a:sym typeface="+mn-ea"/>
                </a:endParaRPr>
              </a:p>
              <a:p>
                <a:pPr lvl="0">
                  <a:lnSpc>
                    <a:spcPct val="110000"/>
                  </a:lnSpc>
                </a:pPr>
                <a:r>
                  <a:rPr lang="en-US" b="1" dirty="0">
                    <a:ea typeface="Cambria Math" panose="02040503050406030204" pitchFamily="18" charset="0"/>
                    <a:cs typeface="Josefin Sans" charset="0"/>
                  </a:rPr>
                  <a:t>Proof by contradiction</a:t>
                </a:r>
                <a:r>
                  <a:rPr lang="en-US" dirty="0">
                    <a:ea typeface="Cambria Math" panose="02040503050406030204" pitchFamily="18" charset="0"/>
                    <a:cs typeface="Josefin Sans" charset="0"/>
                  </a:rPr>
                  <a:t>:</a:t>
                </a:r>
                <a:endParaRPr lang="en-US" dirty="0">
                  <a:ea typeface="Cambria Math" panose="02040503050406030204" pitchFamily="18" charset="0"/>
                  <a:cs typeface="Josefin Sans" charset="0"/>
                </a:endParaRPr>
              </a:p>
              <a:p>
                <a:pPr lvl="0">
                  <a:lnSpc>
                    <a:spcPct val="110000"/>
                  </a:lnSpc>
                </a:pPr>
                <a:r>
                  <a:rPr lang="en-US" dirty="0">
                    <a:ea typeface="Cambria Math" panose="02040503050406030204" pitchFamily="18" charset="0"/>
                    <a:cs typeface="Josefin Sans" charset="0"/>
                  </a:rPr>
                  <a:t>Suppose x is not prime, then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DejaVu Math TeX Gyre" panose="02000503000000000000" charset="0"/>
                        <a:ea typeface="Cambria Math" panose="02040503050406030204" pitchFamily="18" charset="0"/>
                        <a:cs typeface="DejaVu Math TeX Gyre" panose="02000503000000000000" charset="0"/>
                      </a:rPr>
                      <m:t>𝑥</m:t>
                    </m:r>
                    <m:r>
                      <a:rPr lang="en-US" i="1" dirty="0">
                        <a:latin typeface="DejaVu Math TeX Gyre" panose="02000503000000000000" charset="0"/>
                        <a:ea typeface="Cambria Math" panose="02040503050406030204" pitchFamily="18" charset="0"/>
                        <a:cs typeface="DejaVu Math TeX Gyre" panose="02000503000000000000" charset="0"/>
                      </a:rPr>
                      <m:t>=</m:t>
                    </m:r>
                    <m:r>
                      <a:rPr lang="en-US" i="1" dirty="0">
                        <a:latin typeface="DejaVu Math TeX Gyre" panose="02000503000000000000" charset="0"/>
                        <a:ea typeface="Cambria Math" panose="02040503050406030204" pitchFamily="18" charset="0"/>
                        <a:cs typeface="DejaVu Math TeX Gyre" panose="02000503000000000000" charset="0"/>
                      </a:rPr>
                      <m:t>𝑝</m:t>
                    </m:r>
                    <m:r>
                      <a:rPr lang="en-US" i="1" dirty="0">
                        <a:latin typeface="DejaVu Math TeX Gyre" panose="02000503000000000000" charset="0"/>
                        <a:ea typeface="Cambria Math" panose="02040503050406030204" pitchFamily="18" charset="0"/>
                        <a:cs typeface="DejaVu Math TeX Gyre" panose="02000503000000000000" charset="0"/>
                      </a:rPr>
                      <m:t>∙</m:t>
                    </m:r>
                    <m:r>
                      <a:rPr lang="en-US" i="1" dirty="0">
                        <a:latin typeface="DejaVu Math TeX Gyre" panose="02000503000000000000" charset="0"/>
                        <a:ea typeface="Cambria Math" panose="02040503050406030204" pitchFamily="18" charset="0"/>
                        <a:cs typeface="DejaVu Math TeX Gyre" panose="02000503000000000000" charset="0"/>
                      </a:rPr>
                      <m:t>𝑞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  <a:cs typeface="Josefin Sans" charset="0"/>
                  </a:rPr>
                  <a:t> where integers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DejaVu Math TeX Gyre" panose="02000503000000000000" charset="0"/>
                        <a:ea typeface="Cambria Math" panose="02040503050406030204" pitchFamily="18" charset="0"/>
                        <a:cs typeface="DejaVu Math TeX Gyre" panose="02000503000000000000" charset="0"/>
                      </a:rPr>
                      <m:t>𝑝</m:t>
                    </m:r>
                    <m:r>
                      <a:rPr lang="en-US" i="1" dirty="0">
                        <a:latin typeface="DejaVu Math TeX Gyre" panose="02000503000000000000" charset="0"/>
                        <a:ea typeface="Cambria Math" panose="02040503050406030204" pitchFamily="18" charset="0"/>
                        <a:cs typeface="DejaVu Math TeX Gyre" panose="02000503000000000000" charset="0"/>
                      </a:rPr>
                      <m:t>,</m:t>
                    </m:r>
                    <m:r>
                      <a:rPr lang="en-US" i="1" dirty="0">
                        <a:latin typeface="DejaVu Math TeX Gyre" panose="02000503000000000000" charset="0"/>
                        <a:ea typeface="Cambria Math" panose="02040503050406030204" pitchFamily="18" charset="0"/>
                        <a:cs typeface="DejaVu Math TeX Gyre" panose="02000503000000000000" charset="0"/>
                      </a:rPr>
                      <m:t>𝑞</m:t>
                    </m:r>
                    <m:r>
                      <a:rPr lang="en-US" i="1" dirty="0">
                        <a:latin typeface="DejaVu Math TeX Gyre" panose="02000503000000000000" charset="0"/>
                        <a:ea typeface="Cambria Math" panose="02040503050406030204" pitchFamily="18" charset="0"/>
                        <a:cs typeface="DejaVu Math TeX Gyre" panose="02000503000000000000" charset="0"/>
                      </a:rPr>
                      <m:t>&gt;</m:t>
                    </m:r>
                    <m:r>
                      <a:rPr lang="en-US" i="1" dirty="0">
                        <a:latin typeface="DejaVu Math TeX Gyre" panose="02000503000000000000" charset="0"/>
                        <a:ea typeface="Cambria Math" panose="02040503050406030204" pitchFamily="18" charset="0"/>
                        <a:cs typeface="DejaVu Math TeX Gyre" panose="02000503000000000000" charset="0"/>
                      </a:rPr>
                      <m:t>1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  <a:cs typeface="Josefin Sans" charset="0"/>
                  </a:rPr>
                  <a:t>.</a:t>
                </a:r>
                <a:endParaRPr lang="en-US" dirty="0">
                  <a:ea typeface="Cambria Math" panose="02040503050406030204" pitchFamily="18" charset="0"/>
                  <a:cs typeface="Josefin Sans" charset="0"/>
                </a:endParaRPr>
              </a:p>
              <a:p>
                <a:pPr lvl="0">
                  <a:lnSpc>
                    <a:spcPct val="110000"/>
                  </a:lnSpc>
                </a:pPr>
                <a:r>
                  <a:rPr lang="en-US" dirty="0">
                    <a:ea typeface="Cambria Math" panose="02040503050406030204" pitchFamily="18" charset="0"/>
                    <a:cs typeface="Josefin Sans" charset="0"/>
                  </a:rPr>
                  <a:t>Since IsPrime(x) returns true,</a:t>
                </a:r>
                <a14:m>
                  <m:oMath xmlns:m="http://schemas.openxmlformats.org/officeDocument/2006/math">
                    <m:r>
                      <a:rPr lang="en-US" i="1" dirty="0">
                        <a:latin typeface="DejaVu Math TeX Gyre" panose="02000503000000000000" charset="0"/>
                        <a:ea typeface="Cambria Math" panose="02040503050406030204" pitchFamily="18" charset="0"/>
                        <a:cs typeface="DejaVu Math TeX Gyre" panose="02000503000000000000" charset="0"/>
                      </a:rPr>
                      <m:t>𝑝</m:t>
                    </m:r>
                    <m:r>
                      <a:rPr lang="en-US" i="1" dirty="0">
                        <a:latin typeface="DejaVu Math TeX Gyre" panose="02000503000000000000" charset="0"/>
                        <a:ea typeface="Cambria Math" panose="02040503050406030204" pitchFamily="18" charset="0"/>
                        <a:cs typeface="DejaVu Math TeX Gyre" panose="02000503000000000000" charset="0"/>
                      </a:rPr>
                      <m:t>,</m:t>
                    </m:r>
                    <m:r>
                      <a:rPr lang="en-US" i="1" dirty="0">
                        <a:latin typeface="DejaVu Math TeX Gyre" panose="02000503000000000000" charset="0"/>
                        <a:ea typeface="Cambria Math" panose="02040503050406030204" pitchFamily="18" charset="0"/>
                        <a:cs typeface="DejaVu Math TeX Gyre" panose="02000503000000000000" charset="0"/>
                      </a:rPr>
                      <m:t>𝑞</m:t>
                    </m:r>
                    <m:r>
                      <a:rPr lang="en-US" i="1" dirty="0">
                        <a:latin typeface="DejaVu Math TeX Gyre" panose="02000503000000000000" charset="0"/>
                        <a:ea typeface="Cambria Math" panose="02040503050406030204" pitchFamily="18" charset="0"/>
                        <a:cs typeface="DejaVu Math TeX Gyre" panose="02000503000000000000" charset="0"/>
                      </a:rPr>
                      <m:t>≥</m:t>
                    </m:r>
                    <m:d>
                      <m:dPr>
                        <m:begChr m:val="⌊"/>
                        <m:endChr m:val=""/>
                        <m:ctrlPr>
                          <a:rPr lang="en-US" i="1" dirty="0">
                            <a:latin typeface="DejaVu Math TeX Gyre" panose="02000503000000000000" charset="0"/>
                            <a:ea typeface="Cambria Math" panose="02040503050406030204" pitchFamily="18" charset="0"/>
                            <a:cs typeface="DejaVu Math TeX Gyre" panose="02000503000000000000" charset="0"/>
                            <a:sym typeface="+mn-ea"/>
                          </a:rPr>
                        </m:ctrlPr>
                      </m:dPr>
                      <m:e>
                        <m:r>
                          <a:rPr lang="en-US" i="1" dirty="0">
                            <a:latin typeface="DejaVu Math TeX Gyre" panose="02000503000000000000" charset="0"/>
                            <a:ea typeface="Cambria Math" panose="02040503050406030204" pitchFamily="18" charset="0"/>
                            <a:cs typeface="DejaVu Math TeX Gyre" panose="02000503000000000000" charset="0"/>
                            <a:sym typeface="+mn-ea"/>
                          </a:rPr>
                          <m:t>√</m:t>
                        </m:r>
                        <m:d>
                          <m:dPr>
                            <m:begChr m:val=""/>
                            <m:endChr m:val="⌋"/>
                            <m:ctrlPr>
                              <a:rPr lang="en-US" i="1" dirty="0">
                                <a:latin typeface="DejaVu Math TeX Gyre" panose="02000503000000000000" charset="0"/>
                                <a:ea typeface="Cambria Math" panose="02040503050406030204" pitchFamily="18" charset="0"/>
                                <a:cs typeface="DejaVu Math TeX Gyre" panose="02000503000000000000" charset="0"/>
                                <a:sym typeface="+mn-ea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latin typeface="DejaVu Math TeX Gyre" panose="02000503000000000000" charset="0"/>
                                <a:ea typeface="Cambria Math" panose="02040503050406030204" pitchFamily="18" charset="0"/>
                                <a:cs typeface="DejaVu Math TeX Gyre" panose="02000503000000000000" charset="0"/>
                                <a:sym typeface="+mn-ea"/>
                              </a:rPr>
                              <m:t>𝑥</m:t>
                            </m:r>
                          </m:e>
                        </m:d>
                        <m:r>
                          <a:rPr lang="en-US" i="1" dirty="0">
                            <a:latin typeface="DejaVu Math TeX Gyre" panose="02000503000000000000" charset="0"/>
                            <a:ea typeface="Cambria Math" panose="02040503050406030204" pitchFamily="18" charset="0"/>
                            <a:cs typeface="DejaVu Math TeX Gyre" panose="02000503000000000000" charset="0"/>
                            <a:sym typeface="+mn-ea"/>
                          </a:rPr>
                          <m:t>+</m:t>
                        </m:r>
                        <m:r>
                          <a:rPr lang="en-US" i="1" dirty="0">
                            <a:latin typeface="DejaVu Math TeX Gyre" panose="02000503000000000000" charset="0"/>
                            <a:ea typeface="Cambria Math" panose="02040503050406030204" pitchFamily="18" charset="0"/>
                            <a:cs typeface="DejaVu Math TeX Gyre" panose="02000503000000000000" charset="0"/>
                            <a:sym typeface="+mn-ea"/>
                          </a:rPr>
                          <m:t>1</m:t>
                        </m:r>
                        <m:r>
                          <a:rPr lang="en-US" i="1" dirty="0">
                            <a:latin typeface="DejaVu Math TeX Gyre" panose="02000503000000000000" charset="0"/>
                            <a:ea typeface="Cambria Math" panose="02040503050406030204" pitchFamily="18" charset="0"/>
                            <a:cs typeface="DejaVu Math TeX Gyre" panose="02000503000000000000" charset="0"/>
                            <a:sym typeface="+mn-ea"/>
                          </a:rPr>
                          <m:t> </m:t>
                        </m:r>
                      </m:e>
                    </m:d>
                  </m:oMath>
                </a14:m>
                <a:r>
                  <a:rPr lang="en-US" i="1" dirty="0">
                    <a:latin typeface="DejaVu Math TeX Gyre" panose="02000503000000000000" charset="0"/>
                    <a:ea typeface="Cambria Math" panose="02040503050406030204" pitchFamily="18" charset="0"/>
                    <a:cs typeface="DejaVu Math TeX Gyre" panose="02000503000000000000" charset="0"/>
                    <a:sym typeface="+mn-ea"/>
                  </a:rPr>
                  <a:t>.</a:t>
                </a:r>
                <a:endParaRPr lang="en-US" i="1" dirty="0">
                  <a:latin typeface="DejaVu Math TeX Gyre" panose="02000503000000000000" charset="0"/>
                  <a:ea typeface="Cambria Math" panose="02040503050406030204" pitchFamily="18" charset="0"/>
                  <a:cs typeface="DejaVu Math TeX Gyre" panose="02000503000000000000" charset="0"/>
                  <a:sym typeface="+mn-ea"/>
                </a:endParaRPr>
              </a:p>
              <a:p>
                <a:pPr lvl="0">
                  <a:lnSpc>
                    <a:spcPct val="110000"/>
                  </a:lnSpc>
                </a:pPr>
                <a:r>
                  <a:rPr lang="en-US" dirty="0">
                    <a:ea typeface="Cambria Math" panose="02040503050406030204" pitchFamily="18" charset="0"/>
                    <a:cs typeface="Josefin Sans" charset="0"/>
                  </a:rPr>
                  <a:t>Then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DejaVu Math TeX Gyre" panose="02000503000000000000" charset="0"/>
                        <a:ea typeface="Cambria Math" panose="02040503050406030204" pitchFamily="18" charset="0"/>
                        <a:cs typeface="DejaVu Math TeX Gyre" panose="02000503000000000000" charset="0"/>
                        <a:sym typeface="+mn-ea"/>
                      </a:rPr>
                      <m:t>𝑝</m:t>
                    </m:r>
                    <m:r>
                      <a:rPr lang="en-US" i="1" dirty="0">
                        <a:latin typeface="DejaVu Math TeX Gyre" panose="02000503000000000000" charset="0"/>
                        <a:ea typeface="Cambria Math" panose="02040503050406030204" pitchFamily="18" charset="0"/>
                        <a:cs typeface="DejaVu Math TeX Gyre" panose="02000503000000000000" charset="0"/>
                        <a:sym typeface="+mn-ea"/>
                      </a:rPr>
                      <m:t>∙</m:t>
                    </m:r>
                    <m:r>
                      <a:rPr lang="en-US" i="1" dirty="0">
                        <a:latin typeface="DejaVu Math TeX Gyre" panose="02000503000000000000" charset="0"/>
                        <a:ea typeface="Cambria Math" panose="02040503050406030204" pitchFamily="18" charset="0"/>
                        <a:cs typeface="DejaVu Math TeX Gyre" panose="02000503000000000000" charset="0"/>
                        <a:sym typeface="+mn-ea"/>
                      </a:rPr>
                      <m:t>𝑞</m:t>
                    </m:r>
                    <m:r>
                      <a:rPr lang="en-US" i="1" dirty="0">
                        <a:latin typeface="DejaVu Math TeX Gyre" panose="02000503000000000000" charset="0"/>
                        <a:ea typeface="Cambria Math" panose="02040503050406030204" pitchFamily="18" charset="0"/>
                        <a:cs typeface="DejaVu Math TeX Gyre" panose="02000503000000000000" charset="0"/>
                        <a:sym typeface="+mn-ea"/>
                      </a:rPr>
                      <m:t>≥(</m:t>
                    </m:r>
                    <m:d>
                      <m:dPr>
                        <m:begChr m:val="⌊"/>
                        <m:endChr m:val=""/>
                        <m:ctrlPr>
                          <a:rPr lang="en-US" i="1" dirty="0">
                            <a:latin typeface="DejaVu Math TeX Gyre" panose="02000503000000000000" charset="0"/>
                            <a:ea typeface="Cambria Math" panose="02040503050406030204" pitchFamily="18" charset="0"/>
                            <a:cs typeface="DejaVu Math TeX Gyre" panose="02000503000000000000" charset="0"/>
                            <a:sym typeface="+mn-ea"/>
                          </a:rPr>
                        </m:ctrlPr>
                      </m:dPr>
                      <m:e>
                        <m:r>
                          <a:rPr lang="en-US" i="1" dirty="0">
                            <a:latin typeface="DejaVu Math TeX Gyre" panose="02000503000000000000" charset="0"/>
                            <a:ea typeface="Cambria Math" panose="02040503050406030204" pitchFamily="18" charset="0"/>
                            <a:cs typeface="DejaVu Math TeX Gyre" panose="02000503000000000000" charset="0"/>
                            <a:sym typeface="+mn-ea"/>
                          </a:rPr>
                          <m:t>√</m:t>
                        </m:r>
                        <m:d>
                          <m:dPr>
                            <m:begChr m:val=""/>
                            <m:endChr m:val="⌋"/>
                            <m:ctrlPr>
                              <a:rPr lang="en-US" i="1" dirty="0">
                                <a:latin typeface="DejaVu Math TeX Gyre" panose="02000503000000000000" charset="0"/>
                                <a:ea typeface="Cambria Math" panose="02040503050406030204" pitchFamily="18" charset="0"/>
                                <a:cs typeface="DejaVu Math TeX Gyre" panose="02000503000000000000" charset="0"/>
                                <a:sym typeface="+mn-ea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latin typeface="DejaVu Math TeX Gyre" panose="02000503000000000000" charset="0"/>
                                <a:ea typeface="Cambria Math" panose="02040503050406030204" pitchFamily="18" charset="0"/>
                                <a:cs typeface="DejaVu Math TeX Gyre" panose="02000503000000000000" charset="0"/>
                                <a:sym typeface="+mn-ea"/>
                              </a:rPr>
                              <m:t>𝑥</m:t>
                            </m:r>
                          </m:e>
                        </m:d>
                        <m:r>
                          <a:rPr lang="en-US" i="1" dirty="0">
                            <a:latin typeface="DejaVu Math TeX Gyre" panose="02000503000000000000" charset="0"/>
                            <a:ea typeface="Cambria Math" panose="02040503050406030204" pitchFamily="18" charset="0"/>
                            <a:cs typeface="DejaVu Math TeX Gyre" panose="02000503000000000000" charset="0"/>
                            <a:sym typeface="+mn-ea"/>
                          </a:rPr>
                          <m:t>+</m:t>
                        </m:r>
                        <m:r>
                          <a:rPr lang="en-US" i="1" dirty="0">
                            <a:latin typeface="DejaVu Math TeX Gyre" panose="02000503000000000000" charset="0"/>
                            <a:ea typeface="Cambria Math" panose="02040503050406030204" pitchFamily="18" charset="0"/>
                            <a:cs typeface="DejaVu Math TeX Gyre" panose="02000503000000000000" charset="0"/>
                            <a:sym typeface="+mn-ea"/>
                          </a:rPr>
                          <m:t>1</m:t>
                        </m:r>
                        <m:sSup>
                          <m:sSupPr>
                            <m:ctrlPr>
                              <a:rPr lang="en-US" i="1" dirty="0">
                                <a:latin typeface="DejaVu Math TeX Gyre" panose="02000503000000000000" charset="0"/>
                                <a:ea typeface="Cambria Math" panose="02040503050406030204" pitchFamily="18" charset="0"/>
                                <a:cs typeface="DejaVu Math TeX Gyre" panose="02000503000000000000" charset="0"/>
                                <a:sym typeface="+mn-ea"/>
                              </a:rPr>
                            </m:ctrlPr>
                          </m:sSupPr>
                          <m:e>
                            <m:r>
                              <a:rPr lang="en-US" i="1" dirty="0">
                                <a:latin typeface="DejaVu Math TeX Gyre" panose="02000503000000000000" charset="0"/>
                                <a:ea typeface="Cambria Math" panose="02040503050406030204" pitchFamily="18" charset="0"/>
                                <a:cs typeface="DejaVu Math TeX Gyre" panose="02000503000000000000" charset="0"/>
                                <a:sym typeface="+mn-ea"/>
                              </a:rPr>
                              <m:t>)</m:t>
                            </m:r>
                          </m:e>
                          <m:sup>
                            <m:r>
                              <a:rPr lang="en-US" i="1" dirty="0">
                                <a:latin typeface="DejaVu Math TeX Gyre" panose="02000503000000000000" charset="0"/>
                                <a:ea typeface="Cambria Math" panose="02040503050406030204" pitchFamily="18" charset="0"/>
                                <a:cs typeface="DejaVu Math TeX Gyre" panose="02000503000000000000" charset="0"/>
                                <a:sym typeface="+mn-ea"/>
                              </a:rPr>
                              <m:t>2</m:t>
                            </m:r>
                          </m:sup>
                        </m:sSup>
                        <m:r>
                          <a:rPr lang="en-US" i="1" dirty="0">
                            <a:latin typeface="DejaVu Math TeX Gyre" panose="02000503000000000000" charset="0"/>
                            <a:ea typeface="Cambria Math" panose="02040503050406030204" pitchFamily="18" charset="0"/>
                            <a:cs typeface="DejaVu Math TeX Gyre" panose="02000503000000000000" charset="0"/>
                            <a:sym typeface="+mn-ea"/>
                          </a:rPr>
                          <m:t>&gt;(√</m:t>
                        </m:r>
                        <m:r>
                          <a:rPr lang="en-US" i="1" dirty="0">
                            <a:latin typeface="DejaVu Math TeX Gyre" panose="02000503000000000000" charset="0"/>
                            <a:ea typeface="Cambria Math" panose="02040503050406030204" pitchFamily="18" charset="0"/>
                            <a:cs typeface="DejaVu Math TeX Gyre" panose="02000503000000000000" charset="0"/>
                            <a:sym typeface="+mn-ea"/>
                          </a:rPr>
                          <m:t>𝑥</m:t>
                        </m:r>
                        <m:sSup>
                          <m:sSupPr>
                            <m:ctrlPr>
                              <a:rPr lang="en-US" i="1" dirty="0">
                                <a:latin typeface="DejaVu Math TeX Gyre" panose="02000503000000000000" charset="0"/>
                                <a:ea typeface="Cambria Math" panose="02040503050406030204" pitchFamily="18" charset="0"/>
                                <a:cs typeface="DejaVu Math TeX Gyre" panose="02000503000000000000" charset="0"/>
                                <a:sym typeface="+mn-ea"/>
                              </a:rPr>
                            </m:ctrlPr>
                          </m:sSupPr>
                          <m:e>
                            <m:r>
                              <a:rPr lang="en-US" i="1" dirty="0">
                                <a:latin typeface="DejaVu Math TeX Gyre" panose="02000503000000000000" charset="0"/>
                                <a:ea typeface="Cambria Math" panose="02040503050406030204" pitchFamily="18" charset="0"/>
                                <a:cs typeface="DejaVu Math TeX Gyre" panose="02000503000000000000" charset="0"/>
                                <a:sym typeface="+mn-ea"/>
                              </a:rPr>
                              <m:t>)</m:t>
                            </m:r>
                          </m:e>
                          <m:sup>
                            <m:r>
                              <a:rPr lang="en-US" i="1" dirty="0">
                                <a:latin typeface="DejaVu Math TeX Gyre" panose="02000503000000000000" charset="0"/>
                                <a:ea typeface="Cambria Math" panose="02040503050406030204" pitchFamily="18" charset="0"/>
                                <a:cs typeface="DejaVu Math TeX Gyre" panose="02000503000000000000" charset="0"/>
                                <a:sym typeface="+mn-ea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i="1" dirty="0">
                        <a:latin typeface="DejaVu Math TeX Gyre" panose="02000503000000000000" charset="0"/>
                        <a:ea typeface="Cambria Math" panose="02040503050406030204" pitchFamily="18" charset="0"/>
                        <a:cs typeface="DejaVu Math TeX Gyre" panose="02000503000000000000" charset="0"/>
                        <a:sym typeface="+mn-ea"/>
                      </a:rPr>
                      <m:t>=</m:t>
                    </m:r>
                    <m:r>
                      <a:rPr lang="en-US" i="1" dirty="0">
                        <a:latin typeface="DejaVu Math TeX Gyre" panose="02000503000000000000" charset="0"/>
                        <a:ea typeface="Cambria Math" panose="02040503050406030204" pitchFamily="18" charset="0"/>
                        <a:cs typeface="DejaVu Math TeX Gyre" panose="02000503000000000000" charset="0"/>
                        <a:sym typeface="+mn-ea"/>
                      </a:rPr>
                      <m:t>𝑥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  <a:cs typeface="Josefin Sans" charset="0"/>
                  </a:rPr>
                  <a:t>, contradiction.</a:t>
                </a:r>
                <a:endParaRPr lang="en-US" dirty="0">
                  <a:ea typeface="Cambria Math" panose="02040503050406030204" pitchFamily="18" charset="0"/>
                  <a:cs typeface="Josefin Sans" charset="0"/>
                </a:endParaRPr>
              </a:p>
              <a:p>
                <a:pPr lvl="0">
                  <a:lnSpc>
                    <a:spcPct val="110000"/>
                  </a:lnSpc>
                </a:pPr>
                <a:endParaRPr lang="en-US" dirty="0">
                  <a:ea typeface="Cambria Math" panose="02040503050406030204" pitchFamily="18" charset="0"/>
                  <a:cs typeface="Josefin Sans" charset="0"/>
                </a:endParaRPr>
              </a:p>
              <a:p>
                <a:pPr lvl="0">
                  <a:lnSpc>
                    <a:spcPct val="110000"/>
                  </a:lnSpc>
                </a:pPr>
                <a:r>
                  <a:rPr lang="en-US" dirty="0">
                    <a:ea typeface="Cambria Math" panose="02040503050406030204" pitchFamily="18" charset="0"/>
                    <a:cs typeface="Josefin Sans" charset="0"/>
                  </a:rPr>
                  <a:t>Therefore, x is a prime and returning true is correct.</a:t>
                </a:r>
                <a:endParaRPr lang="en-US" dirty="0">
                  <a:ea typeface="Cambria Math" panose="02040503050406030204" pitchFamily="18" charset="0"/>
                  <a:cs typeface="Josefin Sans" charset="0"/>
                </a:endParaRPr>
              </a:p>
            </p:txBody>
          </p:sp>
        </mc:Choice>
        <mc:Fallback>
          <p:sp>
            <p:nvSpPr>
              <p:cNvPr id="10" name="Rectangle 7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2220" y="605155"/>
                <a:ext cx="4960620" cy="35369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7d195523061f1c0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 hidden="1"/>
          <p:cNvSpPr txBox="1"/>
          <p:nvPr/>
        </p:nvSpPr>
        <p:spPr>
          <a:xfrm>
            <a:off x="-355600" y="1803400"/>
            <a:ext cx="262251" cy="1016000"/>
          </a:xfrm>
          <a:prstGeom prst="rect">
            <a:avLst/>
          </a:prstGeom>
          <a:noFill/>
        </p:spPr>
        <p:txBody>
          <a:bodyPr vert="wordArtVert" rtlCol="0">
            <a:spAutoFit/>
          </a:bodyPr>
          <a:lstStyle/>
          <a:p>
            <a:r>
              <a:rPr lang="en-US" altLang="zh-CN" sz="100"/>
              <a:t>e7d195523061f1c01d60fa9f1cfcbfb3d7dea265119d71e15FBB43640B43E9A75E03FE54C774D5D4779ED45933E78901D3CB0E69E39D04A9E1E9B25CF060C4BCA4D072860494D0D8E683C2FE58414E15A257B8C98CAC931B2A91D95E391D8F56A6B197C339044743E4A827576812018FE092D8F796C38DC487F641821CDDB0736DD3EE0F684ACE40</a:t>
            </a:r>
            <a:endParaRPr lang="zh-CN" altLang="en-US" sz="100"/>
          </a:p>
        </p:txBody>
      </p:sp>
      <p:grpSp>
        <p:nvGrpSpPr>
          <p:cNvPr id="3" name="组合 2"/>
          <p:cNvGrpSpPr/>
          <p:nvPr/>
        </p:nvGrpSpPr>
        <p:grpSpPr>
          <a:xfrm>
            <a:off x="340360" y="570974"/>
            <a:ext cx="7762875" cy="925195"/>
            <a:chOff x="699004" y="818132"/>
            <a:chExt cx="6624612" cy="979349"/>
          </a:xfrm>
        </p:grpSpPr>
        <p:sp>
          <p:nvSpPr>
            <p:cNvPr id="7" name="文本框 6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/>
            <p:cNvSpPr txBox="1"/>
            <p:nvPr/>
          </p:nvSpPr>
          <p:spPr>
            <a:xfrm>
              <a:off x="699004" y="818132"/>
              <a:ext cx="6624612" cy="5525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lt"/>
                  <a:ea typeface="Josefin Sans" charset="0"/>
                  <a:cs typeface="Josefin Sans" charset="0"/>
                </a:rPr>
                <a:t>Proof of Correctness for </a:t>
              </a:r>
              <a:r>
                <a:rPr lang="en-US" sz="2800" dirty="0">
                  <a:ea typeface="Cambria Math" panose="02040503050406030204" pitchFamily="18" charset="0"/>
                  <a:cs typeface="Josefin Sans" charset="0"/>
                  <a:sym typeface="+mn-ea"/>
                </a:rPr>
                <a:t>FoxAndDinner(n,A)</a:t>
              </a:r>
              <a:r>
                <a:rPr kumimoji="1" lang="en-US" altLang="zh-CN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lt"/>
                  <a:ea typeface="Josefin Sans" charset="0"/>
                  <a:cs typeface="Josefin Sans" charset="0"/>
                </a:rPr>
                <a:t> </a:t>
              </a:r>
              <a:endParaRPr kumimoji="1"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Josefin Sans" charset="0"/>
                <a:cs typeface="Josefin Sans" charset="0"/>
              </a:endParaRPr>
            </a:p>
          </p:txBody>
        </p:sp>
        <p:sp>
          <p:nvSpPr>
            <p:cNvPr id="8" name="Rectangle 7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/>
            <p:cNvSpPr/>
            <p:nvPr/>
          </p:nvSpPr>
          <p:spPr>
            <a:xfrm>
              <a:off x="790042" y="1342423"/>
              <a:ext cx="4459217" cy="45505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lnSpc>
                  <a:spcPct val="110000"/>
                </a:lnSpc>
              </a:pPr>
              <a:endParaRPr lang="en-US" sz="2000" dirty="0">
                <a:ea typeface="Cambria Math" panose="02040503050406030204" pitchFamily="18" charset="0"/>
                <a:cs typeface="Josefin Sans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tangle 7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/>
              <p:cNvSpPr/>
              <p:nvPr/>
            </p:nvSpPr>
            <p:spPr>
              <a:xfrm>
                <a:off x="6480810" y="1725295"/>
                <a:ext cx="4960620" cy="5748020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p>
                <a:pPr marL="742950" lvl="1" indent="-285750">
                  <a:lnSpc>
                    <a:spcPct val="110000"/>
                  </a:lnSpc>
                  <a:buFont typeface="Arial" panose="020B0604020202090204" pitchFamily="34" charset="0"/>
                  <a:buChar char="•"/>
                </a:pPr>
                <a:r>
                  <a:rPr lang="en-US" dirty="0">
                    <a:ea typeface="Cambria Math" panose="02040503050406030204" pitchFamily="18" charset="0"/>
                    <a:cs typeface="Josefin Sans" charset="0"/>
                  </a:rPr>
                  <a:t>In G’, every vertex is in some cycle,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</a:rPr>
                      <m:t>𝑜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</a:rPr>
                      <m:t>/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</a:rPr>
                      <m:t>𝑤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  <a:cs typeface="Josefin Sans" charset="0"/>
                  </a:rPr>
                  <a:t> there would a vertex with degree 1</a:t>
                </a:r>
                <a:endParaRPr lang="en-US" dirty="0">
                  <a:ea typeface="Cambria Math" panose="02040503050406030204" pitchFamily="18" charset="0"/>
                  <a:cs typeface="Josefin Sans" charset="0"/>
                </a:endParaRPr>
              </a:p>
              <a:p>
                <a:pPr marL="742950" lvl="1" indent="-285750">
                  <a:lnSpc>
                    <a:spcPct val="110000"/>
                  </a:lnSpc>
                  <a:buFont typeface="Arial" panose="020B0604020202090204" pitchFamily="34" charset="0"/>
                  <a:buChar char="•"/>
                </a:pPr>
                <a:r>
                  <a:rPr lang="en-US" dirty="0">
                    <a:ea typeface="Cambria Math" panose="02040503050406030204" pitchFamily="18" charset="0"/>
                    <a:cs typeface="Josefin Sans" charset="0"/>
                  </a:rPr>
                  <a:t>In G’, every vertex is in exactly one cycle,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</a:rPr>
                      <m:t>𝑜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</a:rPr>
                      <m:t>/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</a:rPr>
                      <m:t>𝑤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  <a:cs typeface="Josefin Sans" charset="0"/>
                  </a:rPr>
                  <a:t> there would a vertex with degree more than 2</a:t>
                </a:r>
                <a:endParaRPr lang="en-US" dirty="0">
                  <a:ea typeface="Cambria Math" panose="02040503050406030204" pitchFamily="18" charset="0"/>
                  <a:cs typeface="Josefin Sans" charset="0"/>
                </a:endParaRPr>
              </a:p>
              <a:p>
                <a:pPr marL="285750" lvl="0" indent="-285750">
                  <a:lnSpc>
                    <a:spcPct val="110000"/>
                  </a:lnSpc>
                  <a:buFont typeface="Arial" panose="020B0604020202090204" pitchFamily="34" charset="0"/>
                  <a:buChar char="•"/>
                </a:pPr>
                <a:r>
                  <a:rPr lang="en-US" b="1" u="sng" dirty="0">
                    <a:ea typeface="Cambria Math" panose="02040503050406030204" pitchFamily="18" charset="0"/>
                    <a:cs typeface="Josefin Sans" charset="0"/>
                  </a:rPr>
                  <a:t>Show</a:t>
                </a:r>
                <a:r>
                  <a:rPr lang="en-US" b="1" dirty="0">
                    <a:ea typeface="Cambria Math" panose="02040503050406030204" pitchFamily="18" charset="0"/>
                    <a:cs typeface="Josefin Sans" charset="0"/>
                  </a:rPr>
                  <a:t>:Every cycle in G’ corresponds to a valid seating of a table</a:t>
                </a:r>
                <a:endParaRPr lang="en-US" dirty="0">
                  <a:ea typeface="Cambria Math" panose="02040503050406030204" pitchFamily="18" charset="0"/>
                  <a:cs typeface="Josefin Sans" charset="0"/>
                </a:endParaRPr>
              </a:p>
              <a:p>
                <a:pPr marL="742950" lvl="1" indent="-285750">
                  <a:lnSpc>
                    <a:spcPct val="110000"/>
                  </a:lnSpc>
                  <a:buFont typeface="Arial" panose="020B0604020202090204" pitchFamily="34" charset="0"/>
                  <a:buChar char="•"/>
                </a:pPr>
                <a:r>
                  <a:rPr lang="en-US" dirty="0">
                    <a:ea typeface="Cambria Math" panose="02040503050406030204" pitchFamily="18" charset="0"/>
                    <a:cs typeface="Josefin Sans" charset="0"/>
                  </a:rPr>
                  <a:t>In G,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𝑢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,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𝑣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)∈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𝐸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  <a:cs typeface="Josefin Sans" charset="0"/>
                  </a:rPr>
                  <a:t> only if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𝑎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[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𝑢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]+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𝑎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[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𝑣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]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  <a:cs typeface="Josefin Sans" charset="0"/>
                  </a:rPr>
                  <a:t> is prime </a:t>
                </a:r>
                <a14:m>
                  <m:oMath xmlns:m="http://schemas.openxmlformats.org/officeDocument/2006/math">
                    <m:r>
                      <a:rPr kumimoji="1" lang="en-US" altLang="en-US" spc="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Josefin Sans" charset="0"/>
                        <a:ea typeface="Josefin Sans" charset="0"/>
                        <a:cs typeface="Josefin Sans" charset="0"/>
                        <a:sym typeface="+mn-ea"/>
                      </a:rPr>
                      <m:t>⇒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𝑢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,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𝑣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)∈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𝐸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’</m:t>
                    </m:r>
                    <m:r>
                      <a:rPr kumimoji="1" lang="en-US" altLang="en-US" spc="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Josefin Sans" charset="0"/>
                        <a:ea typeface="Josefin Sans" charset="0"/>
                        <a:cs typeface="Josefin Sans" charset="0"/>
                        <a:sym typeface="+mn-ea"/>
                      </a:rPr>
                      <m:t> 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  <a:cs typeface="Josefin Sans" charset="0"/>
                  </a:rPr>
                  <a:t>only if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𝑎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[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𝑢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]+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𝑎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[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𝑣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]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  <a:cs typeface="Josefin Sans" charset="0"/>
                  </a:rPr>
                  <a:t> is prime </a:t>
                </a:r>
                <a14:m>
                  <m:oMath xmlns:m="http://schemas.openxmlformats.org/officeDocument/2006/math">
                    <m:r>
                      <a:rPr kumimoji="1" lang="en-US" altLang="en-US" spc="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Josefin Sans" charset="0"/>
                        <a:ea typeface="Josefin Sans" charset="0"/>
                        <a:cs typeface="Josefin Sans" charset="0"/>
                        <a:sym typeface="+mn-ea"/>
                      </a:rPr>
                      <m:t>⇒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  <a:cs typeface="Josefin Sans" charset="0"/>
                  </a:rPr>
                  <a:t> </a:t>
                </a:r>
                <a:r>
                  <a:rPr lang="en-US" dirty="0">
                    <a:ea typeface="Cambria Math" panose="02040503050406030204" pitchFamily="18" charset="0"/>
                    <a:cs typeface="Josefin Sans" charset="0"/>
                  </a:rPr>
                  <a:t>every two neighbours in any cycle of G’ have total age of a prime</a:t>
                </a:r>
                <a:endParaRPr lang="en-US" dirty="0">
                  <a:ea typeface="Cambria Math" panose="02040503050406030204" pitchFamily="18" charset="0"/>
                  <a:cs typeface="Josefin Sans" charset="0"/>
                </a:endParaRPr>
              </a:p>
              <a:p>
                <a:pPr marL="742950" lvl="1" indent="-285750">
                  <a:lnSpc>
                    <a:spcPct val="110000"/>
                  </a:lnSpc>
                  <a:buFont typeface="Arial" panose="020B0604020202090204" pitchFamily="34" charset="0"/>
                  <a:buChar char="•"/>
                </a:pPr>
                <a:r>
                  <a:rPr lang="en-US" dirty="0">
                    <a:ea typeface="Cambria Math" panose="02040503050406030204" pitchFamily="18" charset="0"/>
                    <a:cs typeface="Josefin Sans" charset="0"/>
                  </a:rPr>
                  <a:t>Since every two vertices have at most one edge between them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</a:rPr>
                      <m:t>𝑑𝑒𝑔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</a:rPr>
                      <m:t>𝑣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</a:rPr>
                      <m:t>)=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</a:rPr>
                      <m:t>2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</a:rPr>
                      <m:t>, ∀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</a:rPr>
                      <m:t>𝑣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</a:rPr>
                      <m:t>∈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</a:rPr>
                      <m:t>𝑉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</a:rPr>
                      <m:t>’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  <a:cs typeface="Josefin Sans" charset="0"/>
                  </a:rPr>
                  <a:t>, every cycle in G’ has size at least 3.</a:t>
                </a:r>
                <a:endParaRPr lang="en-US" dirty="0">
                  <a:ea typeface="Cambria Math" panose="02040503050406030204" pitchFamily="18" charset="0"/>
                  <a:cs typeface="Josefin Sans" charset="0"/>
                </a:endParaRPr>
              </a:p>
            </p:txBody>
          </p:sp>
        </mc:Choice>
        <mc:Fallback>
          <p:sp>
            <p:nvSpPr>
              <p:cNvPr id="10" name="Rectangle 7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0810" y="1725295"/>
                <a:ext cx="4960620" cy="574802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7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/>
              <p:cNvSpPr/>
              <p:nvPr/>
            </p:nvSpPr>
            <p:spPr>
              <a:xfrm>
                <a:off x="458470" y="1066165"/>
                <a:ext cx="5697220" cy="57645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p>
                <a:pPr lvl="0">
                  <a:lnSpc>
                    <a:spcPct val="110000"/>
                  </a:lnSpc>
                </a:pPr>
                <a:r>
                  <a:rPr lang="en-US" sz="2000" b="1" dirty="0">
                    <a:ea typeface="Cambria Math" panose="02040503050406030204" pitchFamily="18" charset="0"/>
                    <a:cs typeface="Josefin Sans" charset="0"/>
                  </a:rPr>
                  <a:t>Claim 1: </a:t>
                </a:r>
                <a:r>
                  <a:rPr lang="en-US" altLang="en-US" sz="2000" b="1" dirty="0">
                    <a:ea typeface="Cambria Math" panose="02040503050406030204" pitchFamily="18" charset="0"/>
                    <a:cs typeface="Josefin Sans" charset="0"/>
                  </a:rPr>
                  <a:t>If FoxAndDinner returns a collection of cycles S, then S is a valid seating.</a:t>
                </a:r>
                <a:endParaRPr lang="en-US" altLang="en-US" sz="2000" b="1" dirty="0">
                  <a:ea typeface="Cambria Math" panose="02040503050406030204" pitchFamily="18" charset="0"/>
                  <a:cs typeface="Josefin Sans" charset="0"/>
                </a:endParaRPr>
              </a:p>
              <a:p>
                <a:pPr marL="285750" lvl="0" indent="-285750">
                  <a:lnSpc>
                    <a:spcPct val="110000"/>
                  </a:lnSpc>
                  <a:buFont typeface="Arial" panose="020B0604020202090204" pitchFamily="34" charset="0"/>
                  <a:buChar char="•"/>
                </a:pPr>
                <a:r>
                  <a:rPr lang="en-US" altLang="en-US" b="1" u="sng" dirty="0">
                    <a:ea typeface="Cambria Math" panose="02040503050406030204" pitchFamily="18" charset="0"/>
                    <a:cs typeface="Josefin Sans" charset="0"/>
                  </a:rPr>
                  <a:t>Show</a:t>
                </a:r>
                <a:r>
                  <a:rPr lang="en-US" altLang="en-US" b="1" dirty="0">
                    <a:ea typeface="Cambria Math" panose="02040503050406030204" pitchFamily="18" charset="0"/>
                    <a:cs typeface="Josefin Sans" charset="0"/>
                  </a:rPr>
                  <a:t>: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</a:rPr>
                      <m:t>𝒎𝒂𝒙𝑭𝒍𝒐𝒘</m:t>
                    </m:r>
                    <m:r>
                      <a:rPr lang="en-US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</a:rPr>
                      <m:t>=</m:t>
                    </m:r>
                    <m:r>
                      <a:rPr lang="en-US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</a:rPr>
                      <m:t>𝒏</m:t>
                    </m:r>
                  </m:oMath>
                </a14:m>
                <a:endParaRPr lang="en-US" b="1" i="1" dirty="0" smtClean="0">
                  <a:latin typeface="Cambria Math" panose="02040503050406030204" pitchFamily="18" charset="0"/>
                  <a:ea typeface="Cambria Math" panose="02040503050406030204" pitchFamily="18" charset="0"/>
                  <a:cs typeface="Josefin Sans" charset="0"/>
                </a:endParaRPr>
              </a:p>
              <a:p>
                <a:pPr marL="742950" lvl="1" indent="-285750">
                  <a:lnSpc>
                    <a:spcPct val="110000"/>
                  </a:lnSpc>
                  <a:buFont typeface="Arial" panose="020B0604020202090204" pitchFamily="34" charset="0"/>
                  <a:buChar char="•"/>
                </a:pPr>
                <a:r>
                  <a:rPr lang="en-US" altLang="en-US" dirty="0">
                    <a:ea typeface="Cambria Math" panose="02040503050406030204" pitchFamily="18" charset="0"/>
                    <a:cs typeface="Josefin Sans" charset="0"/>
                  </a:rPr>
                  <a:t>After line 14, we have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</a:rPr>
                      <m:t>𝑚𝑎𝑥𝐹𝑙𝑜𝑤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</a:rPr>
                      <m:t>≥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</a:rPr>
                      <m:t>𝑛</m:t>
                    </m:r>
                  </m:oMath>
                </a14:m>
                <a:endParaRPr lang="en-US" i="1" dirty="0" smtClean="0">
                  <a:latin typeface="Cambria Math" panose="02040503050406030204" pitchFamily="18" charset="0"/>
                  <a:ea typeface="Cambria Math" panose="02040503050406030204" pitchFamily="18" charset="0"/>
                  <a:cs typeface="Josefin Sans" charset="0"/>
                </a:endParaRPr>
              </a:p>
              <a:p>
                <a:pPr marL="742950" lvl="1" indent="-285750">
                  <a:lnSpc>
                    <a:spcPct val="110000"/>
                  </a:lnSpc>
                  <a:buFont typeface="Arial" panose="020B0604020202090204" pitchFamily="34" charset="0"/>
                  <a:buChar char="•"/>
                </a:pPr>
                <a:r>
                  <a:rPr lang="en-US" altLang="en-US" dirty="0">
                    <a:ea typeface="Cambria Math" panose="02040503050406030204" pitchFamily="18" charset="0"/>
                    <a:cs typeface="Josefin Sans" charset="0"/>
                  </a:rPr>
                  <a:t>After line 3,we have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</a:rPr>
                      <m:t>|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</a:rPr>
                      <m:t>𝑂𝐷𝐷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</a:rPr>
                      <m:t>|=|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</a:rPr>
                      <m:t>𝐸𝑉𝐸𝑁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</a:rPr>
                      <m:t>|=</m:t>
                    </m:r>
                    <m:f>
                      <m:fPr>
                        <m:ctrlP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Josefin Sans" charset="0"/>
                          </a:rPr>
                        </m:ctrlPr>
                      </m:fPr>
                      <m:num>
                        <m: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Josefin Sans" charset="0"/>
                          </a:rPr>
                          <m:t>𝑛</m:t>
                        </m:r>
                      </m:num>
                      <m:den>
                        <m: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Josefin Sans" charset="0"/>
                          </a:rPr>
                          <m:t>2</m:t>
                        </m:r>
                      </m:den>
                    </m:f>
                  </m:oMath>
                </a14:m>
                <a:endParaRPr lang="en-US" i="1" dirty="0" smtClean="0">
                  <a:latin typeface="Cambria Math" panose="02040503050406030204" pitchFamily="18" charset="0"/>
                  <a:ea typeface="Cambria Math" panose="02040503050406030204" pitchFamily="18" charset="0"/>
                  <a:cs typeface="Josefin Sans" charset="0"/>
                </a:endParaRPr>
              </a:p>
              <a:p>
                <a:pPr marL="742950" lvl="1" indent="-285750">
                  <a:lnSpc>
                    <a:spcPct val="110000"/>
                  </a:lnSpc>
                  <a:buFont typeface="Arial" panose="020B0604020202090204" pitchFamily="34" charset="0"/>
                  <a:buChar char="•"/>
                </a:pPr>
                <a:r>
                  <a:rPr lang="en-US" altLang="en-US" dirty="0">
                    <a:ea typeface="Cambria Math" panose="02040503050406030204" pitchFamily="18" charset="0"/>
                    <a:cs typeface="Josefin Sans" charset="0"/>
                  </a:rPr>
                  <a:t>Total capacity out of s: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Josefin Sans" charset="0"/>
                          </a:rPr>
                        </m:ctrlPr>
                      </m:naryPr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Josefin Sans" charset="0"/>
                          </a:rPr>
                          <m:t>𝑢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Josefin Sans" charset="0"/>
                          </a:rPr>
                          <m:t>∈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Josefin Sans" charset="0"/>
                          </a:rPr>
                          <m:t>𝑂𝐷𝐷</m:t>
                        </m:r>
                      </m:sub>
                      <m:sup/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Josefin Sans" charset="0"/>
                          </a:rPr>
                          <m:t>𝑐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Josefin Sans" charset="0"/>
                          </a:rPr>
                          <m:t>(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Josefin Sans" charset="0"/>
                          </a:rPr>
                          <m:t>𝑠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Josefin Sans" charset="0"/>
                          </a:rPr>
                          <m:t>→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Josefin Sans" charset="0"/>
                          </a:rPr>
                          <m:t>𝑢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Josefin Sans" charset="0"/>
                          </a:rPr>
                          <m:t>)</m:t>
                        </m:r>
                      </m:e>
                    </m:nary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Josefin Sans" charset="0"/>
                          </a:rPr>
                        </m:ctrlPr>
                      </m:naryPr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Josefin Sans" charset="0"/>
                          </a:rPr>
                          <m:t>𝑢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Josefin Sans" charset="0"/>
                          </a:rPr>
                          <m:t>∈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Josefin Sans" charset="0"/>
                          </a:rPr>
                          <m:t>𝑂𝐷𝐷</m:t>
                        </m:r>
                      </m:sub>
                      <m:sup/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Josefin Sans" charset="0"/>
                          </a:rPr>
                          <m:t>2</m:t>
                        </m:r>
                      </m:e>
                    </m:nary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</a:rPr>
                      <m:t>2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</a:rPr>
                      <m:t>|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</a:rPr>
                      <m:t>𝑂𝐷𝐷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</a:rPr>
                      <m:t>|=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</a:rPr>
                      <m:t>   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⇒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 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</a:rPr>
                      <m:t>𝑚𝑎𝑥𝐹𝑙𝑜𝑤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</a:rPr>
                      <m:t>≤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</a:rPr>
                      <m:t>𝑛</m:t>
                    </m:r>
                  </m:oMath>
                </a14:m>
                <a:endParaRPr lang="en-US" i="1" dirty="0" smtClean="0">
                  <a:latin typeface="Cambria Math" panose="02040503050406030204" pitchFamily="18" charset="0"/>
                  <a:ea typeface="Cambria Math" panose="02040503050406030204" pitchFamily="18" charset="0"/>
                  <a:cs typeface="Josefin Sans" charset="0"/>
                </a:endParaRPr>
              </a:p>
              <a:p>
                <a:pPr marL="285750" lvl="0" indent="-285750" fontAlgn="auto">
                  <a:lnSpc>
                    <a:spcPct val="110000"/>
                  </a:lnSpc>
                  <a:spcBef>
                    <a:spcPts val="1200"/>
                  </a:spcBef>
                  <a:buFont typeface="Arial" panose="020B0604020202090204" pitchFamily="34" charset="0"/>
                  <a:buChar char="•"/>
                </a:pPr>
                <a:r>
                  <a:rPr lang="en-US" altLang="en-US" b="1" u="sng" dirty="0">
                    <a:ea typeface="Cambria Math" panose="02040503050406030204" pitchFamily="18" charset="0"/>
                    <a:cs typeface="Josefin Sans" charset="0"/>
                  </a:rPr>
                  <a:t>Show</a:t>
                </a:r>
                <a:r>
                  <a:rPr lang="en-US" altLang="en-US" b="1" dirty="0">
                    <a:ea typeface="Cambria Math" panose="02040503050406030204" pitchFamily="18" charset="0"/>
                    <a:cs typeface="Josefin Sans" charset="0"/>
                  </a:rPr>
                  <a:t>:In G’, every vertex is in exactly one cycle.</a:t>
                </a:r>
                <a:endParaRPr lang="en-US" altLang="en-US" dirty="0">
                  <a:ea typeface="Cambria Math" panose="02040503050406030204" pitchFamily="18" charset="0"/>
                  <a:cs typeface="Josefin Sans" charset="0"/>
                </a:endParaRPr>
              </a:p>
              <a:p>
                <a:pPr marL="742950" lvl="1" indent="-285750">
                  <a:lnSpc>
                    <a:spcPct val="110000"/>
                  </a:lnSpc>
                  <a:buFont typeface="Arial" panose="020B0604020202090204" pitchFamily="34" charset="0"/>
                  <a:buChar char="•"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Josefin Sans" charset="0"/>
                          </a:rPr>
                        </m:ctrlPr>
                      </m:naryPr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Josefin Sans" charset="0"/>
                          </a:rPr>
                          <m:t>𝑢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Josefin Sans" charset="0"/>
                          </a:rPr>
                          <m:t>∈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Josefin Sans" charset="0"/>
                          </a:rPr>
                          <m:t>𝑂𝐷𝐷</m:t>
                        </m:r>
                      </m:sub>
                      <m:sup/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Josefin Sans" charset="0"/>
                          </a:rPr>
                          <m:t>𝑐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Josefin Sans" charset="0"/>
                          </a:rPr>
                          <m:t>(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Josefin Sans" charset="0"/>
                          </a:rPr>
                          <m:t>𝑠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Josefin Sans" charset="0"/>
                          </a:rPr>
                          <m:t>→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Josefin Sans" charset="0"/>
                          </a:rPr>
                          <m:t>𝑢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Josefin Sans" charset="0"/>
                          </a:rPr>
                          <m:t>)</m:t>
                        </m:r>
                      </m:e>
                    </m:nary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</a:rPr>
                      <m:t>𝑚𝑎𝑥𝐹𝑙𝑜𝑤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</a:rPr>
                      <m:t> </m:t>
                    </m:r>
                  </m:oMath>
                </a14:m>
                <a:r>
                  <a:rPr lang="en-US" dirty="0" smtClean="0">
                    <a:ea typeface="Cambria Math" panose="02040503050406030204" pitchFamily="18" charset="0"/>
                    <a:cs typeface="+mn-lt"/>
                  </a:rPr>
                  <a:t> </a:t>
                </a:r>
                <a:r>
                  <a:rPr lang="en-US" dirty="0" smtClean="0">
                    <a:ea typeface="Cambria Math" panose="02040503050406030204" pitchFamily="18" charset="0"/>
                    <a:cs typeface="+mn-lt"/>
                  </a:rPr>
                  <a:t>AND  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</a:rPr>
                      <m:t>𝑐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</a:rPr>
                      <m:t>𝑠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</a:rPr>
                      <m:t>→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</a:rPr>
                      <m:t>𝑢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</a:rPr>
                      <m:t>)=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</a:rPr>
                      <m:t>2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</a:rPr>
                      <m:t>, ∀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𝑢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∈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</a:rPr>
                      <m:t>𝑂𝐷𝐷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</a:rPr>
                      <m:t> 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⇒</m:t>
                    </m:r>
                  </m:oMath>
                </a14:m>
                <a:r>
                  <a:rPr lang="en-US" i="1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Josefin Sans" charset="0"/>
                    <a:sym typeface="+mn-ea"/>
                  </a:rPr>
                  <a:t> </a:t>
                </a:r>
                <a:r>
                  <a:rPr lang="en-US" dirty="0" smtClean="0">
                    <a:ea typeface="Cambria Math" panose="02040503050406030204" pitchFamily="18" charset="0"/>
                    <a:cs typeface="+mn-lt"/>
                    <a:sym typeface="+mn-ea"/>
                  </a:rPr>
                  <a:t>every</a:t>
                </a:r>
                <a:r>
                  <a:rPr lang="en-US" i="1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Josefin Sans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𝑢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∈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</a:rPr>
                      <m:t>𝑂𝐷𝐷</m:t>
                    </m:r>
                  </m:oMath>
                </a14:m>
                <a:r>
                  <a:rPr lang="en-US" altLang="en-US" dirty="0">
                    <a:ea typeface="Cambria Math" panose="02040503050406030204" pitchFamily="18" charset="0"/>
                    <a:cs typeface="Josefin Sans" charset="0"/>
                    <a:sym typeface="+mn-ea"/>
                  </a:rPr>
                  <a:t> has exactly 2 units of flow into it</a:t>
                </a:r>
                <a:endParaRPr lang="en-US" i="1" dirty="0" smtClean="0">
                  <a:latin typeface="Cambria Math" panose="02040503050406030204" pitchFamily="18" charset="0"/>
                  <a:ea typeface="Cambria Math" panose="02040503050406030204" pitchFamily="18" charset="0"/>
                  <a:cs typeface="Josefin Sans" charset="0"/>
                </a:endParaRPr>
              </a:p>
              <a:p>
                <a:pPr marL="742950" lvl="1" indent="-285750">
                  <a:lnSpc>
                    <a:spcPct val="110000"/>
                  </a:lnSpc>
                  <a:buFont typeface="Arial" panose="020B0604020202090204" pitchFamily="34" charset="0"/>
                  <a:buChar char="•"/>
                </a:pPr>
                <a:r>
                  <a:rPr lang="en-US" dirty="0" smtClean="0">
                    <a:ea typeface="Cambria Math" panose="02040503050406030204" pitchFamily="18" charset="0"/>
                    <a:cs typeface="+mn-lt"/>
                    <a:sym typeface="+mn-ea"/>
                  </a:rPr>
                  <a:t>Similarly, every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𝑣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∈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</a:rPr>
                      <m:t>𝐸𝑉𝐸𝑁</m:t>
                    </m:r>
                  </m:oMath>
                </a14:m>
                <a:r>
                  <a:rPr lang="en-US" dirty="0" smtClean="0">
                    <a:ea typeface="Cambria Math" panose="02040503050406030204" pitchFamily="18" charset="0"/>
                    <a:cs typeface="+mn-lt"/>
                    <a:sym typeface="+mn-ea"/>
                  </a:rPr>
                  <a:t> has exactly 2 units of flow out of it</a:t>
                </a:r>
                <a:endParaRPr lang="en-US" dirty="0" smtClean="0">
                  <a:ea typeface="Cambria Math" panose="02040503050406030204" pitchFamily="18" charset="0"/>
                  <a:cs typeface="+mn-lt"/>
                  <a:sym typeface="+mn-ea"/>
                </a:endParaRPr>
              </a:p>
              <a:p>
                <a:pPr marL="742950" lvl="1" indent="-285750">
                  <a:lnSpc>
                    <a:spcPct val="110000"/>
                  </a:lnSpc>
                  <a:buFont typeface="Arial" panose="020B0604020202090204" pitchFamily="34" charset="0"/>
                  <a:buChar char="•"/>
                </a:pPr>
                <a:r>
                  <a:rPr lang="en-US" dirty="0" smtClean="0">
                    <a:ea typeface="Cambria Math" panose="02040503050406030204" pitchFamily="18" charset="0"/>
                    <a:cs typeface="+mn-lt"/>
                    <a:sym typeface="+mn-ea"/>
                  </a:rPr>
                  <a:t>Since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𝑐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𝑢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,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𝑣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)=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1</m:t>
                    </m:r>
                  </m:oMath>
                </a14:m>
                <a:r>
                  <a:rPr lang="en-US" dirty="0" smtClean="0">
                    <a:ea typeface="Cambria Math" panose="02040503050406030204" pitchFamily="18" charset="0"/>
                    <a:cs typeface="+mn-lt"/>
                    <a:sym typeface="+mn-ea"/>
                  </a:rPr>
                  <a:t>, every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𝑢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∈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</a:rPr>
                      <m:t>𝑂𝐷𝐷</m:t>
                    </m:r>
                  </m:oMath>
                </a14:m>
                <a:r>
                  <a:rPr lang="en-US" dirty="0" smtClean="0">
                    <a:ea typeface="Cambria Math" panose="02040503050406030204" pitchFamily="18" charset="0"/>
                    <a:cs typeface="+mn-lt"/>
                    <a:sym typeface="+mn-ea"/>
                  </a:rPr>
                  <a:t> is matched to exactly two vertices from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</a:rPr>
                      <m:t>𝐸𝑉𝐸𝑁</m:t>
                    </m:r>
                  </m:oMath>
                </a14:m>
                <a:r>
                  <a:rPr lang="en-US" dirty="0" smtClean="0">
                    <a:ea typeface="Cambria Math" panose="02040503050406030204" pitchFamily="18" charset="0"/>
                    <a:cs typeface="+mn-lt"/>
                    <a:sym typeface="+mn-ea"/>
                  </a:rPr>
                  <a:t> and vice versa  </a:t>
                </a:r>
                <a14:m>
                  <m:oMath xmlns:m="http://schemas.openxmlformats.org/officeDocument/2006/math">
                    <m:r>
                      <a:rPr kumimoji="1" lang="en-US" altLang="en-US" spc="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Josefin Sans" charset="0"/>
                        <a:ea typeface="Josefin Sans" charset="0"/>
                        <a:cs typeface="Josefin Sans" charset="0"/>
                        <a:sym typeface="+mn-ea"/>
                      </a:rPr>
                      <m:t>⇒</m:t>
                    </m:r>
                    <m:r>
                      <a:rPr kumimoji="1" lang="en-US" altLang="en-US" spc="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Josefin Sans" charset="0"/>
                        <a:ea typeface="Josefin Sans" charset="0"/>
                        <a:cs typeface="Josefin Sans" charset="0"/>
                        <a:sym typeface="+mn-ea"/>
                      </a:rPr>
                      <m:t> 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</a:rPr>
                      <m:t>𝑑𝑒𝑔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</a:rPr>
                      <m:t>𝑣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</a:rPr>
                      <m:t>)=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</a:rPr>
                      <m:t>2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</a:rPr>
                      <m:t>, 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</a:rPr>
                      <m:t>∀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</a:rPr>
                      <m:t>𝑣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</a:rPr>
                      <m:t>∈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</a:rPr>
                      <m:t>𝑉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</a:rPr>
                      <m:t>’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 </m:t>
                    </m:r>
                  </m:oMath>
                </a14:m>
                <a:endParaRPr lang="en-US" dirty="0" smtClean="0">
                  <a:ea typeface="Cambria Math" panose="02040503050406030204" pitchFamily="18" charset="0"/>
                  <a:cs typeface="+mn-lt"/>
                  <a:sym typeface="+mn-ea"/>
                </a:endParaRPr>
              </a:p>
            </p:txBody>
          </p:sp>
        </mc:Choice>
        <mc:Fallback>
          <p:sp>
            <p:nvSpPr>
              <p:cNvPr id="5" name="Rectangle 7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470" y="1066165"/>
                <a:ext cx="5697220" cy="576453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4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/>
          <p:cNvSpPr txBox="1"/>
          <p:nvPr/>
        </p:nvSpPr>
        <p:spPr>
          <a:xfrm>
            <a:off x="192710" y="156742"/>
            <a:ext cx="5696461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en-US" altLang="en-US" spc="100" dirty="0">
                <a:solidFill>
                  <a:schemeClr val="tx1">
                    <a:lumMod val="85000"/>
                    <a:lumOff val="15000"/>
                  </a:schemeClr>
                </a:solidFill>
                <a:ea typeface="Playfair Display" panose="00000500000000000000" charset="0"/>
                <a:cs typeface="Playfair Display" panose="00000500000000000000" charset="0"/>
              </a:rPr>
              <a:t>Part.04 </a:t>
            </a:r>
            <a:r>
              <a:rPr kumimoji="1" lang="zh-CN" altLang="en-US" spc="100" dirty="0">
                <a:solidFill>
                  <a:schemeClr val="tx1">
                    <a:lumMod val="85000"/>
                    <a:lumOff val="15000"/>
                  </a:schemeClr>
                </a:solidFill>
                <a:ea typeface="Playfair Display" panose="00000500000000000000" charset="0"/>
                <a:cs typeface="Playfair Display" panose="00000500000000000000" charset="0"/>
              </a:rPr>
              <a:t> </a:t>
            </a:r>
            <a:r>
              <a:rPr kumimoji="1"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Josefin Sans" charset="0"/>
                <a:ea typeface="Josefin Sans" charset="0"/>
                <a:cs typeface="Josefin Sans" charset="0"/>
                <a:sym typeface="+mn-ea"/>
              </a:rPr>
              <a:t>Proof of Correctness &amp; Time Analysis</a:t>
            </a:r>
            <a:endParaRPr kumimoji="1" lang="en-US" altLang="en-US" spc="100" dirty="0">
              <a:solidFill>
                <a:schemeClr val="tx1">
                  <a:lumMod val="85000"/>
                  <a:lumOff val="15000"/>
                </a:schemeClr>
              </a:solidFill>
              <a:ea typeface="Playfair Display" panose="00000500000000000000" charset="0"/>
              <a:cs typeface="Playfair Display" panose="00000500000000000000" charset="0"/>
            </a:endParaRPr>
          </a:p>
        </p:txBody>
      </p:sp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2743" y="5553788"/>
            <a:ext cx="4016731" cy="4105992"/>
          </a:xfrm>
          <a:prstGeom prst="rect">
            <a:avLst/>
          </a:prstGeom>
        </p:spPr>
      </p:pic>
      <p:sp>
        <p:nvSpPr>
          <p:cNvPr id="4" name="e7d195523061f1c0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 hidden="1"/>
          <p:cNvSpPr txBox="1"/>
          <p:nvPr/>
        </p:nvSpPr>
        <p:spPr>
          <a:xfrm>
            <a:off x="-355600" y="1803400"/>
            <a:ext cx="262251" cy="1016000"/>
          </a:xfrm>
          <a:prstGeom prst="rect">
            <a:avLst/>
          </a:prstGeom>
          <a:noFill/>
        </p:spPr>
        <p:txBody>
          <a:bodyPr vert="wordArtVert" rtlCol="0">
            <a:spAutoFit/>
          </a:bodyPr>
          <a:lstStyle/>
          <a:p>
            <a:r>
              <a:rPr lang="en-US" altLang="zh-CN" sz="100"/>
              <a:t>e7d195523061f1c01d60fa9f1cfcbfb3d7dea265119d71e15FBB43640B43E9A75E03FE54C774D5D4779ED45933E78901D3CB0E69E39D04A9E1E9B25CF060C4BCA4D072860494D0D8E683C2FE58414E15A257B8C98CAC931B2A91D95E391D8F56A6B197C339044743E4A827576812018FE092D8F796C38DC487F641821CDDB0736DD3EE0F684ACE40</a:t>
            </a:r>
            <a:endParaRPr lang="zh-CN" altLang="en-US" sz="100"/>
          </a:p>
        </p:txBody>
      </p:sp>
      <p:grpSp>
        <p:nvGrpSpPr>
          <p:cNvPr id="3" name="组合 2"/>
          <p:cNvGrpSpPr/>
          <p:nvPr/>
        </p:nvGrpSpPr>
        <p:grpSpPr>
          <a:xfrm>
            <a:off x="556895" y="605264"/>
            <a:ext cx="5520688" cy="4984750"/>
            <a:chOff x="699004" y="854429"/>
            <a:chExt cx="4711195" cy="5276517"/>
          </a:xfrm>
        </p:grpSpPr>
        <p:sp>
          <p:nvSpPr>
            <p:cNvPr id="7" name="文本框 6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/>
            <p:cNvSpPr txBox="1"/>
            <p:nvPr/>
          </p:nvSpPr>
          <p:spPr>
            <a:xfrm>
              <a:off x="699004" y="854429"/>
              <a:ext cx="4711195" cy="4873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lt"/>
                  <a:ea typeface="Josefin Sans" charset="0"/>
                  <a:cs typeface="Josefin Sans" charset="0"/>
                </a:rPr>
                <a:t>Algorithm Pseudocode</a:t>
              </a:r>
              <a:endParaRPr kumimoji="1"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Josefin Sans" charset="0"/>
                <a:cs typeface="Josefin Sans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Rectangle 7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/>
                <p:cNvSpPr/>
                <p:nvPr/>
              </p:nvSpPr>
              <p:spPr>
                <a:xfrm>
                  <a:off x="790042" y="1342423"/>
                  <a:ext cx="4459217" cy="4788523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>
                    <a:lnSpc>
                      <a:spcPct val="110000"/>
                    </a:lnSpc>
                  </a:pPr>
                  <a:r>
                    <a:rPr lang="en-US" dirty="0">
                      <a:ea typeface="Cambria Math" panose="02040503050406030204" pitchFamily="18" charset="0"/>
                      <a:cs typeface="Josefin Sans" charset="0"/>
                      <a:sym typeface="+mn-ea"/>
                    </a:rPr>
                    <a:t>FoxAndDinner(n,A)</a:t>
                  </a:r>
                  <a:endParaRPr lang="en-US" dirty="0">
                    <a:ea typeface="Cambria Math" panose="02040503050406030204" pitchFamily="18" charset="0"/>
                    <a:cs typeface="Josefin Sans" charset="0"/>
                    <a:sym typeface="+mn-ea"/>
                  </a:endParaRPr>
                </a:p>
                <a:p>
                  <a:pPr lvl="0">
                    <a:lnSpc>
                      <a:spcPct val="110000"/>
                    </a:lnSpc>
                  </a:pPr>
                  <a:r>
                    <a:rPr lang="en-US" dirty="0">
                      <a:ea typeface="Cambria Math" panose="02040503050406030204" pitchFamily="18" charset="0"/>
                      <a:cs typeface="Josefin Sans" charset="0"/>
                      <a:sym typeface="+mn-ea"/>
                    </a:rPr>
                    <a:t>1.  </a:t>
                  </a:r>
                  <a14:m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𝑂𝐷𝐷</m:t>
                      </m:r>
                    </m:oMath>
                  </a14:m>
                  <a:r>
                    <a:rPr lang="en-US" dirty="0">
                      <a:ea typeface="Cambria Math" panose="02040503050406030204" pitchFamily="18" charset="0"/>
                      <a:cs typeface="Josefin Sans" charset="0"/>
                      <a:sym typeface="+mn-ea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← </m:t>
                      </m:r>
                    </m:oMath>
                  </a14:m>
                  <a:r>
                    <a:rPr lang="en-US" dirty="0">
                      <a:ea typeface="Cambria Math" panose="02040503050406030204" pitchFamily="18" charset="0"/>
                      <a:cs typeface="Josefin Sans" charset="0"/>
                      <a:sym typeface="+mn-ea"/>
                    </a:rPr>
                    <a:t>{</a:t>
                  </a:r>
                  <a14:m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 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𝑖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 </m:t>
                      </m:r>
                    </m:oMath>
                  </a14:m>
                  <a:r>
                    <a:rPr lang="en-US" dirty="0">
                      <a:ea typeface="Cambria Math" panose="02040503050406030204" pitchFamily="18" charset="0"/>
                      <a:cs typeface="Josefin Sans" charset="0"/>
                      <a:sym typeface="+mn-ea"/>
                    </a:rPr>
                    <a:t>| </a:t>
                  </a:r>
                  <a14:m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𝐴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[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𝑖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] </m:t>
                      </m:r>
                    </m:oMath>
                  </a14:m>
                  <a:r>
                    <a:rPr lang="en-US" dirty="0">
                      <a:ea typeface="Cambria Math" panose="02040503050406030204" pitchFamily="18" charset="0"/>
                      <a:cs typeface="Josefin Sans" charset="0"/>
                      <a:sym typeface="+mn-ea"/>
                    </a:rPr>
                    <a:t>is odd }</a:t>
                  </a:r>
                  <a:endParaRPr lang="en-US" dirty="0">
                    <a:ea typeface="Cambria Math" panose="02040503050406030204" pitchFamily="18" charset="0"/>
                    <a:cs typeface="Josefin Sans" charset="0"/>
                    <a:sym typeface="+mn-ea"/>
                  </a:endParaRPr>
                </a:p>
                <a:p>
                  <a:pPr lvl="0">
                    <a:lnSpc>
                      <a:spcPct val="110000"/>
                    </a:lnSpc>
                  </a:pPr>
                  <a:r>
                    <a:rPr lang="en-US" dirty="0">
                      <a:ea typeface="Cambria Math" panose="02040503050406030204" pitchFamily="18" charset="0"/>
                      <a:cs typeface="Josefin Sans" charset="0"/>
                      <a:sym typeface="+mn-ea"/>
                    </a:rPr>
                    <a:t>2.  </a:t>
                  </a:r>
                  <a14:m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𝐸𝑉𝐸𝑁</m:t>
                      </m:r>
                    </m:oMath>
                  </a14:m>
                  <a:r>
                    <a:rPr lang="en-US" dirty="0">
                      <a:ea typeface="Cambria Math" panose="02040503050406030204" pitchFamily="18" charset="0"/>
                      <a:cs typeface="Josefin Sans" charset="0"/>
                      <a:sym typeface="+mn-ea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←</m:t>
                      </m:r>
                    </m:oMath>
                  </a14:m>
                  <a:r>
                    <a:rPr lang="en-US" dirty="0">
                      <a:ea typeface="Cambria Math" panose="02040503050406030204" pitchFamily="18" charset="0"/>
                      <a:cs typeface="Josefin Sans" charset="0"/>
                      <a:sym typeface="+mn-ea"/>
                    </a:rPr>
                    <a:t> { </a:t>
                  </a:r>
                  <a14:m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𝑖</m:t>
                      </m:r>
                    </m:oMath>
                  </a14:m>
                  <a:r>
                    <a:rPr lang="en-US" dirty="0">
                      <a:ea typeface="Cambria Math" panose="02040503050406030204" pitchFamily="18" charset="0"/>
                      <a:cs typeface="Josefin Sans" charset="0"/>
                      <a:sym typeface="+mn-ea"/>
                    </a:rPr>
                    <a:t> | </a:t>
                  </a:r>
                  <a14:m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𝐴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[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𝑖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]</m:t>
                      </m:r>
                    </m:oMath>
                  </a14:m>
                  <a:r>
                    <a:rPr lang="en-US" dirty="0">
                      <a:ea typeface="Cambria Math" panose="02040503050406030204" pitchFamily="18" charset="0"/>
                      <a:cs typeface="Josefin Sans" charset="0"/>
                      <a:sym typeface="+mn-ea"/>
                    </a:rPr>
                    <a:t> is even }</a:t>
                  </a:r>
                  <a:endParaRPr lang="en-US" dirty="0">
                    <a:ea typeface="Cambria Math" panose="02040503050406030204" pitchFamily="18" charset="0"/>
                    <a:cs typeface="Josefin Sans" charset="0"/>
                  </a:endParaRPr>
                </a:p>
                <a:p>
                  <a:pPr lvl="0">
                    <a:lnSpc>
                      <a:spcPct val="110000"/>
                    </a:lnSpc>
                  </a:pPr>
                  <a:r>
                    <a:rPr lang="en-US" dirty="0">
                      <a:ea typeface="Cambria Math" panose="02040503050406030204" pitchFamily="18" charset="0"/>
                      <a:cs typeface="Josefin Sans" charset="0"/>
                    </a:rPr>
                    <a:t>3.  Return “Impossible” if </a:t>
                  </a:r>
                  <a14:m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|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𝑂𝐷𝐷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|</m:t>
                      </m:r>
                      <m:r>
                        <a:rPr lang="en-US" i="1" dirty="0" smtClean="0">
                          <a:latin typeface="DejaVu Math TeX Gyre" panose="02000503000000000000" charset="0"/>
                          <a:ea typeface="Cambria Math" panose="02040503050406030204" pitchFamily="18" charset="0"/>
                          <a:cs typeface="DejaVu Math TeX Gyre" panose="02000503000000000000" charset="0"/>
                        </a:rPr>
                        <m:t>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|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𝐸𝑉𝐸𝑁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|</m:t>
                      </m:r>
                    </m:oMath>
                  </a14:m>
                  <a:endParaRPr lang="en-US" dirty="0">
                    <a:ea typeface="Cambria Math" panose="02040503050406030204" pitchFamily="18" charset="0"/>
                    <a:cs typeface="Josefin Sans" charset="0"/>
                  </a:endParaRPr>
                </a:p>
                <a:p>
                  <a:pPr lvl="0">
                    <a:lnSpc>
                      <a:spcPct val="110000"/>
                    </a:lnSpc>
                  </a:pPr>
                  <a:r>
                    <a:rPr lang="en-US" dirty="0">
                      <a:ea typeface="Cambria Math" panose="02040503050406030204" pitchFamily="18" charset="0"/>
                      <a:cs typeface="Josefin Sans" charset="0"/>
                    </a:rPr>
                    <a:t>4.  For each u in </a:t>
                  </a:r>
                  <a14:m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𝑂𝐷𝐷</m:t>
                      </m:r>
                    </m:oMath>
                  </a14:m>
                  <a:r>
                    <a:rPr lang="en-US" dirty="0">
                      <a:ea typeface="Cambria Math" panose="02040503050406030204" pitchFamily="18" charset="0"/>
                      <a:cs typeface="Josefin Sans" charset="0"/>
                    </a:rPr>
                    <a:t>:</a:t>
                  </a:r>
                  <a:endParaRPr lang="en-US" dirty="0">
                    <a:ea typeface="Cambria Math" panose="02040503050406030204" pitchFamily="18" charset="0"/>
                    <a:cs typeface="Josefin Sans" charset="0"/>
                  </a:endParaRPr>
                </a:p>
                <a:p>
                  <a:pPr lvl="0">
                    <a:lnSpc>
                      <a:spcPct val="110000"/>
                    </a:lnSpc>
                  </a:pPr>
                  <a:r>
                    <a:rPr lang="en-US" dirty="0">
                      <a:ea typeface="Cambria Math" panose="02040503050406030204" pitchFamily="18" charset="0"/>
                      <a:cs typeface="Josefin Sans" charset="0"/>
                    </a:rPr>
                    <a:t>5.    For each v in </a:t>
                  </a:r>
                  <a14:m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𝐸𝑉𝐸𝑁</m:t>
                      </m:r>
                    </m:oMath>
                  </a14:m>
                  <a:r>
                    <a:rPr lang="en-US" dirty="0">
                      <a:ea typeface="Cambria Math" panose="02040503050406030204" pitchFamily="18" charset="0"/>
                      <a:cs typeface="Josefin Sans" charset="0"/>
                    </a:rPr>
                    <a:t>:</a:t>
                  </a:r>
                  <a:endParaRPr lang="en-US" dirty="0">
                    <a:ea typeface="Cambria Math" panose="02040503050406030204" pitchFamily="18" charset="0"/>
                    <a:cs typeface="Josefin Sans" charset="0"/>
                  </a:endParaRPr>
                </a:p>
                <a:p>
                  <a:pPr lvl="0">
                    <a:lnSpc>
                      <a:spcPct val="110000"/>
                    </a:lnSpc>
                  </a:pPr>
                  <a:r>
                    <a:rPr lang="en-US" dirty="0">
                      <a:ea typeface="Cambria Math" panose="02040503050406030204" pitchFamily="18" charset="0"/>
                      <a:cs typeface="Josefin Sans" charset="0"/>
                    </a:rPr>
                    <a:t>6.      If </a:t>
                  </a:r>
                  <a14:m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𝐼𝑠𝑃𝑟𝑖𝑚𝑒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(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𝐴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[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𝑢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] +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𝐴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[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𝑣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]) </m:t>
                      </m:r>
                    </m:oMath>
                  </a14:m>
                  <a:r>
                    <a:rPr lang="en-US" dirty="0">
                      <a:ea typeface="Cambria Math" panose="02040503050406030204" pitchFamily="18" charset="0"/>
                      <a:cs typeface="Josefin Sans" charset="0"/>
                    </a:rPr>
                    <a:t>:</a:t>
                  </a:r>
                  <a:endParaRPr lang="en-US" dirty="0">
                    <a:ea typeface="Cambria Math" panose="02040503050406030204" pitchFamily="18" charset="0"/>
                    <a:cs typeface="Josefin Sans" charset="0"/>
                  </a:endParaRPr>
                </a:p>
                <a:p>
                  <a:pPr lvl="0">
                    <a:lnSpc>
                      <a:spcPct val="110000"/>
                    </a:lnSpc>
                  </a:pPr>
                  <a:r>
                    <a:rPr lang="en-US" dirty="0">
                      <a:ea typeface="Cambria Math" panose="02040503050406030204" pitchFamily="18" charset="0"/>
                      <a:cs typeface="Josefin Sans" charset="0"/>
                    </a:rPr>
                    <a:t>7.        Add (u,v) to G with capacity 1</a:t>
                  </a:r>
                  <a:endParaRPr lang="en-US" dirty="0">
                    <a:ea typeface="Cambria Math" panose="02040503050406030204" pitchFamily="18" charset="0"/>
                    <a:cs typeface="Josefin Sans" charset="0"/>
                  </a:endParaRPr>
                </a:p>
                <a:p>
                  <a:pPr lvl="0">
                    <a:lnSpc>
                      <a:spcPct val="110000"/>
                    </a:lnSpc>
                  </a:pPr>
                  <a:r>
                    <a:rPr lang="en-US" dirty="0">
                      <a:ea typeface="Cambria Math" panose="02040503050406030204" pitchFamily="18" charset="0"/>
                      <a:cs typeface="Josefin Sans" charset="0"/>
                    </a:rPr>
                    <a:t>8.  For each </a:t>
                  </a:r>
                  <a14:m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𝑢</m:t>
                      </m:r>
                    </m:oMath>
                  </a14:m>
                  <a:r>
                    <a:rPr lang="en-US" dirty="0">
                      <a:ea typeface="Cambria Math" panose="02040503050406030204" pitchFamily="18" charset="0"/>
                      <a:cs typeface="Josefin Sans" charset="0"/>
                    </a:rPr>
                    <a:t> in </a:t>
                  </a:r>
                  <a14:m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𝑂𝐷𝐷</m:t>
                      </m:r>
                    </m:oMath>
                  </a14:m>
                  <a:r>
                    <a:rPr lang="en-US" dirty="0">
                      <a:ea typeface="Cambria Math" panose="02040503050406030204" pitchFamily="18" charset="0"/>
                      <a:cs typeface="Josefin Sans" charset="0"/>
                    </a:rPr>
                    <a:t>:</a:t>
                  </a:r>
                  <a:endParaRPr lang="en-US" dirty="0">
                    <a:ea typeface="Cambria Math" panose="02040503050406030204" pitchFamily="18" charset="0"/>
                    <a:cs typeface="Josefin Sans" charset="0"/>
                  </a:endParaRPr>
                </a:p>
                <a:p>
                  <a:pPr lvl="0">
                    <a:lnSpc>
                      <a:spcPct val="110000"/>
                    </a:lnSpc>
                  </a:pPr>
                  <a:r>
                    <a:rPr lang="en-US" dirty="0">
                      <a:ea typeface="Cambria Math" panose="02040503050406030204" pitchFamily="18" charset="0"/>
                      <a:cs typeface="Josefin Sans" charset="0"/>
                    </a:rPr>
                    <a:t>9.    Add (s,u) to G with capacity 2</a:t>
                  </a:r>
                  <a:endParaRPr lang="en-US" dirty="0">
                    <a:ea typeface="Cambria Math" panose="02040503050406030204" pitchFamily="18" charset="0"/>
                    <a:cs typeface="Josefin Sans" charset="0"/>
                  </a:endParaRPr>
                </a:p>
                <a:p>
                  <a:pPr lvl="0">
                    <a:lnSpc>
                      <a:spcPct val="110000"/>
                    </a:lnSpc>
                  </a:pPr>
                  <a:r>
                    <a:rPr lang="en-US" dirty="0">
                      <a:ea typeface="Cambria Math" panose="02040503050406030204" pitchFamily="18" charset="0"/>
                      <a:cs typeface="Josefin Sans" charset="0"/>
                    </a:rPr>
                    <a:t>10. For each </a:t>
                  </a:r>
                  <a14:m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𝑣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 </m:t>
                      </m:r>
                    </m:oMath>
                  </a14:m>
                  <a:r>
                    <a:rPr lang="en-US" dirty="0">
                      <a:ea typeface="Cambria Math" panose="02040503050406030204" pitchFamily="18" charset="0"/>
                      <a:cs typeface="Josefin Sans" charset="0"/>
                    </a:rPr>
                    <a:t>in </a:t>
                  </a:r>
                  <a14:m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𝐸𝑉𝐸𝑁</m:t>
                      </m:r>
                    </m:oMath>
                  </a14:m>
                  <a:r>
                    <a:rPr lang="en-US" dirty="0">
                      <a:ea typeface="Cambria Math" panose="02040503050406030204" pitchFamily="18" charset="0"/>
                      <a:cs typeface="Josefin Sans" charset="0"/>
                    </a:rPr>
                    <a:t>:</a:t>
                  </a:r>
                  <a:endParaRPr lang="en-US" dirty="0">
                    <a:ea typeface="Cambria Math" panose="02040503050406030204" pitchFamily="18" charset="0"/>
                    <a:cs typeface="Josefin Sans" charset="0"/>
                  </a:endParaRPr>
                </a:p>
                <a:p>
                  <a:pPr lvl="0">
                    <a:lnSpc>
                      <a:spcPct val="110000"/>
                    </a:lnSpc>
                  </a:pPr>
                  <a:r>
                    <a:rPr lang="en-US" dirty="0">
                      <a:ea typeface="Cambria Math" panose="02040503050406030204" pitchFamily="18" charset="0"/>
                      <a:cs typeface="Josefin Sans" charset="0"/>
                      <a:sym typeface="+mn-ea"/>
                    </a:rPr>
                    <a:t>11.   Add (v,t) to G with capacity 2</a:t>
                  </a:r>
                  <a:endParaRPr lang="en-US" dirty="0">
                    <a:ea typeface="Cambria Math" panose="02040503050406030204" pitchFamily="18" charset="0"/>
                    <a:cs typeface="Josefin Sans" charset="0"/>
                    <a:sym typeface="+mn-ea"/>
                  </a:endParaRPr>
                </a:p>
                <a:p>
                  <a:pPr lvl="0">
                    <a:lnSpc>
                      <a:spcPct val="110000"/>
                    </a:lnSpc>
                  </a:pPr>
                  <a:r>
                    <a:rPr lang="en-US" dirty="0">
                      <a:ea typeface="Cambria Math" panose="02040503050406030204" pitchFamily="18" charset="0"/>
                      <a:cs typeface="Josefin Sans" charset="0"/>
                      <a:sym typeface="+mn-ea"/>
                    </a:rPr>
                    <a:t>12. </a:t>
                  </a:r>
                  <a14:m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𝑚𝑎𝑥𝐹𝑙𝑜𝑤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 ←</m:t>
                      </m:r>
                    </m:oMath>
                  </a14:m>
                  <a:r>
                    <a:rPr lang="en-US" dirty="0">
                      <a:ea typeface="Cambria Math" panose="02040503050406030204" pitchFamily="18" charset="0"/>
                      <a:cs typeface="Josefin Sans" charset="0"/>
                      <a:sym typeface="+mn-ea"/>
                    </a:rPr>
                    <a:t> Ford_Fulkerson(G,c,s,t)</a:t>
                  </a:r>
                  <a:endParaRPr lang="en-US" dirty="0">
                    <a:ea typeface="Cambria Math" panose="02040503050406030204" pitchFamily="18" charset="0"/>
                    <a:cs typeface="Josefin Sans" charset="0"/>
                  </a:endParaRPr>
                </a:p>
              </p:txBody>
            </p:sp>
          </mc:Choice>
          <mc:Fallback>
            <p:sp>
              <p:nvSpPr>
                <p:cNvPr id="8" name="Rectangle 7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0042" y="1342423"/>
                  <a:ext cx="4459217" cy="4788523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 Box 8"/>
              <p:cNvSpPr txBox="1"/>
              <p:nvPr/>
            </p:nvSpPr>
            <p:spPr>
              <a:xfrm>
                <a:off x="6186805" y="789940"/>
                <a:ext cx="5608320" cy="26854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lvl="0">
                  <a:lnSpc>
                    <a:spcPct val="110000"/>
                  </a:lnSpc>
                </a:pPr>
                <a:r>
                  <a:rPr lang="en-US" dirty="0">
                    <a:ea typeface="Cambria Math" panose="02040503050406030204" pitchFamily="18" charset="0"/>
                    <a:cs typeface="Josefin Sans" charset="0"/>
                    <a:sym typeface="+mn-ea"/>
                  </a:rPr>
                  <a:t>13. If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</a:rPr>
                      <m:t>𝑚𝑎𝑥𝐹𝑙𝑜𝑤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</a:rPr>
                      <m:t> &lt; 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</a:rPr>
                      <m:t>𝑛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  <a:cs typeface="Josefin Sans" charset="0"/>
                    <a:sym typeface="+mn-ea"/>
                  </a:rPr>
                  <a:t>:</a:t>
                </a:r>
                <a:endParaRPr lang="en-US" dirty="0">
                  <a:ea typeface="Cambria Math" panose="02040503050406030204" pitchFamily="18" charset="0"/>
                  <a:cs typeface="Josefin Sans" charset="0"/>
                </a:endParaRPr>
              </a:p>
              <a:p>
                <a:pPr lvl="0">
                  <a:lnSpc>
                    <a:spcPct val="110000"/>
                  </a:lnSpc>
                </a:pPr>
                <a:r>
                  <a:rPr lang="en-US" dirty="0">
                    <a:ea typeface="Cambria Math" panose="02040503050406030204" pitchFamily="18" charset="0"/>
                    <a:cs typeface="Josefin Sans" charset="0"/>
                    <a:sym typeface="+mn-ea"/>
                  </a:rPr>
                  <a:t>14.     </a:t>
                </a:r>
                <a:r>
                  <a:rPr lang="en-US" dirty="0">
                    <a:ea typeface="Cambria Math" panose="02040503050406030204" pitchFamily="18" charset="0"/>
                    <a:cs typeface="Josefin Sans" charset="0"/>
                    <a:sym typeface="+mn-ea"/>
                  </a:rPr>
                  <a:t>Return “Impossible”</a:t>
                </a:r>
                <a:endParaRPr lang="en-US" dirty="0">
                  <a:ea typeface="Cambria Math" panose="02040503050406030204" pitchFamily="18" charset="0"/>
                  <a:cs typeface="Josefin Sans" charset="0"/>
                </a:endParaRPr>
              </a:p>
              <a:p>
                <a:pPr lvl="0">
                  <a:lnSpc>
                    <a:spcPct val="110000"/>
                  </a:lnSpc>
                </a:pPr>
                <a:r>
                  <a:rPr lang="en-US" dirty="0">
                    <a:ea typeface="Cambria Math" panose="02040503050406030204" pitchFamily="18" charset="0"/>
                    <a:cs typeface="Josefin Sans" charset="0"/>
                    <a:sym typeface="+mn-ea"/>
                  </a:rPr>
                  <a:t>15. For each u 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</a:rPr>
                      <m:t>𝑂𝐷𝐷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  <a:cs typeface="Josefin Sans" charset="0"/>
                    <a:sym typeface="+mn-ea"/>
                  </a:rPr>
                  <a:t>:</a:t>
                </a:r>
                <a:endParaRPr lang="en-US" dirty="0">
                  <a:ea typeface="Cambria Math" panose="02040503050406030204" pitchFamily="18" charset="0"/>
                  <a:cs typeface="Josefin Sans" charset="0"/>
                  <a:sym typeface="+mn-ea"/>
                </a:endParaRPr>
              </a:p>
              <a:p>
                <a:pPr lvl="0">
                  <a:lnSpc>
                    <a:spcPct val="110000"/>
                  </a:lnSpc>
                </a:pPr>
                <a:r>
                  <a:rPr lang="en-US" dirty="0">
                    <a:ea typeface="Cambria Math" panose="02040503050406030204" pitchFamily="18" charset="0"/>
                    <a:cs typeface="Josefin Sans" charset="0"/>
                    <a:sym typeface="+mn-ea"/>
                  </a:rPr>
                  <a:t>16.   For each v 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</a:rPr>
                      <m:t>𝐸𝑉𝐸𝑁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  <a:cs typeface="Josefin Sans" charset="0"/>
                    <a:sym typeface="+mn-ea"/>
                  </a:rPr>
                  <a:t>:</a:t>
                </a:r>
                <a:endParaRPr lang="en-US" dirty="0">
                  <a:ea typeface="Cambria Math" panose="02040503050406030204" pitchFamily="18" charset="0"/>
                  <a:cs typeface="Josefin Sans" charset="0"/>
                  <a:sym typeface="+mn-ea"/>
                </a:endParaRPr>
              </a:p>
              <a:p>
                <a:pPr lvl="0">
                  <a:lnSpc>
                    <a:spcPct val="110000"/>
                  </a:lnSpc>
                </a:pPr>
                <a:r>
                  <a:rPr lang="en-US" dirty="0">
                    <a:ea typeface="Cambria Math" panose="02040503050406030204" pitchFamily="18" charset="0"/>
                    <a:cs typeface="Josefin Sans" charset="0"/>
                    <a:sym typeface="+mn-ea"/>
                  </a:rPr>
                  <a:t>17.     </a:t>
                </a:r>
                <a:r>
                  <a:rPr lang="en-US" altLang="en-US" dirty="0">
                    <a:ea typeface="Cambria Math" panose="02040503050406030204" pitchFamily="18" charset="0"/>
                    <a:cs typeface="Josefin Sans" charset="0"/>
                  </a:rPr>
                  <a:t>Add (u,v) to G’ if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DejaVu Math TeX Gyre" panose="02000503000000000000" charset="0"/>
                        <a:ea typeface="Cambria Math" panose="02040503050406030204" pitchFamily="18" charset="0"/>
                        <a:cs typeface="DejaVu Math TeX Gyre" panose="02000503000000000000" charset="0"/>
                      </a:rPr>
                      <m:t>𝑓</m:t>
                    </m:r>
                    <m:r>
                      <a:rPr lang="en-US" i="1" dirty="0" smtClean="0">
                        <a:latin typeface="DejaVu Math TeX Gyre" panose="02000503000000000000" charset="0"/>
                        <a:ea typeface="Cambria Math" panose="02040503050406030204" pitchFamily="18" charset="0"/>
                        <a:cs typeface="DejaVu Math TeX Gyre" panose="02000503000000000000" charset="0"/>
                      </a:rPr>
                      <m:t>(</m:t>
                    </m:r>
                    <m:r>
                      <a:rPr lang="en-US" i="1" dirty="0" smtClean="0">
                        <a:latin typeface="DejaVu Math TeX Gyre" panose="02000503000000000000" charset="0"/>
                        <a:ea typeface="Cambria Math" panose="02040503050406030204" pitchFamily="18" charset="0"/>
                        <a:cs typeface="DejaVu Math TeX Gyre" panose="02000503000000000000" charset="0"/>
                      </a:rPr>
                      <m:t>𝑢</m:t>
                    </m:r>
                    <m:r>
                      <a:rPr lang="en-US" i="1" dirty="0" smtClean="0">
                        <a:latin typeface="DejaVu Math TeX Gyre" panose="02000503000000000000" charset="0"/>
                        <a:ea typeface="Cambria Math" panose="02040503050406030204" pitchFamily="18" charset="0"/>
                        <a:cs typeface="DejaVu Math TeX Gyre" panose="02000503000000000000" charset="0"/>
                      </a:rPr>
                      <m:t>,</m:t>
                    </m:r>
                    <m:r>
                      <a:rPr lang="en-US" i="1" dirty="0" smtClean="0">
                        <a:latin typeface="DejaVu Math TeX Gyre" panose="02000503000000000000" charset="0"/>
                        <a:ea typeface="Cambria Math" panose="02040503050406030204" pitchFamily="18" charset="0"/>
                        <a:cs typeface="DejaVu Math TeX Gyre" panose="02000503000000000000" charset="0"/>
                      </a:rPr>
                      <m:t>𝑣</m:t>
                    </m:r>
                    <m:r>
                      <a:rPr lang="en-US" i="1" dirty="0" smtClean="0">
                        <a:latin typeface="DejaVu Math TeX Gyre" panose="02000503000000000000" charset="0"/>
                        <a:ea typeface="Cambria Math" panose="02040503050406030204" pitchFamily="18" charset="0"/>
                        <a:cs typeface="DejaVu Math TeX Gyre" panose="02000503000000000000" charset="0"/>
                      </a:rPr>
                      <m:t>)</m:t>
                    </m:r>
                    <m:r>
                      <a:rPr lang="en-US" i="1" dirty="0" smtClean="0">
                        <a:latin typeface="DejaVu Math TeX Gyre" panose="02000503000000000000" charset="0"/>
                        <a:ea typeface="Cambria Math" panose="02040503050406030204" pitchFamily="18" charset="0"/>
                        <a:cs typeface="DejaVu Math TeX Gyre" panose="02000503000000000000" charset="0"/>
                      </a:rPr>
                      <m:t>&gt;</m:t>
                    </m:r>
                    <m:r>
                      <a:rPr lang="en-US" i="1" dirty="0" smtClean="0">
                        <a:latin typeface="DejaVu Math TeX Gyre" panose="02000503000000000000" charset="0"/>
                        <a:ea typeface="Cambria Math" panose="02040503050406030204" pitchFamily="18" charset="0"/>
                        <a:cs typeface="DejaVu Math TeX Gyre" panose="02000503000000000000" charset="0"/>
                      </a:rPr>
                      <m:t>0</m:t>
                    </m:r>
                  </m:oMath>
                </a14:m>
                <a:endParaRPr lang="en-US" altLang="en-US" dirty="0">
                  <a:ea typeface="Cambria Math" panose="02040503050406030204" pitchFamily="18" charset="0"/>
                  <a:cs typeface="Josefin Sans" charset="0"/>
                </a:endParaRPr>
              </a:p>
              <a:p>
                <a:pPr lvl="0">
                  <a:lnSpc>
                    <a:spcPct val="110000"/>
                  </a:lnSpc>
                </a:pPr>
                <a:r>
                  <a:rPr lang="en-US" dirty="0">
                    <a:ea typeface="Cambria Math" panose="02040503050406030204" pitchFamily="18" charset="0"/>
                    <a:cs typeface="Josefin Sans" charset="0"/>
                    <a:sym typeface="+mn-ea"/>
                  </a:rPr>
                  <a:t>18. </a:t>
                </a:r>
                <a:r>
                  <a:rPr lang="en-US" altLang="en-US" dirty="0">
                    <a:ea typeface="Cambria Math" panose="02040503050406030204" pitchFamily="18" charset="0"/>
                    <a:cs typeface="Josefin Sans" charset="0"/>
                    <a:sym typeface="+mn-ea"/>
                  </a:rPr>
                  <a:t>Use DFS to find all cycles in G’. Store the sequence of vertices of each cycle in S</a:t>
                </a:r>
                <a:endParaRPr lang="en-US" altLang="en-US" dirty="0">
                  <a:ea typeface="Cambria Math" panose="02040503050406030204" pitchFamily="18" charset="0"/>
                  <a:cs typeface="Josefin Sans" charset="0"/>
                  <a:sym typeface="+mn-ea"/>
                </a:endParaRPr>
              </a:p>
              <a:p>
                <a:pPr lvl="0">
                  <a:lnSpc>
                    <a:spcPct val="110000"/>
                  </a:lnSpc>
                </a:pPr>
                <a:r>
                  <a:rPr lang="en-US"/>
                  <a:t>19. Return S</a:t>
                </a:r>
                <a:endParaRPr lang="en-US"/>
              </a:p>
            </p:txBody>
          </p:sp>
        </mc:Choice>
        <mc:Fallback>
          <p:sp>
            <p:nvSpPr>
              <p:cNvPr id="9" name="Text 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6805" y="789940"/>
                <a:ext cx="5608320" cy="268541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4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/>
          <p:cNvSpPr txBox="1"/>
          <p:nvPr/>
        </p:nvSpPr>
        <p:spPr>
          <a:xfrm>
            <a:off x="192710" y="156742"/>
            <a:ext cx="5696461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en-US" altLang="en-US" spc="100" dirty="0">
                <a:solidFill>
                  <a:schemeClr val="tx1">
                    <a:lumMod val="85000"/>
                    <a:lumOff val="15000"/>
                  </a:schemeClr>
                </a:solidFill>
                <a:ea typeface="Playfair Display" panose="00000500000000000000" charset="0"/>
                <a:cs typeface="Playfair Display" panose="00000500000000000000" charset="0"/>
              </a:rPr>
              <a:t>Part.04 </a:t>
            </a:r>
            <a:r>
              <a:rPr kumimoji="1" lang="zh-CN" altLang="en-US" spc="100" dirty="0">
                <a:solidFill>
                  <a:schemeClr val="tx1">
                    <a:lumMod val="85000"/>
                    <a:lumOff val="15000"/>
                  </a:schemeClr>
                </a:solidFill>
                <a:ea typeface="Playfair Display" panose="00000500000000000000" charset="0"/>
                <a:cs typeface="Playfair Display" panose="00000500000000000000" charset="0"/>
              </a:rPr>
              <a:t> </a:t>
            </a:r>
            <a:r>
              <a:rPr kumimoji="1"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Josefin Sans" charset="0"/>
                <a:ea typeface="Josefin Sans" charset="0"/>
                <a:cs typeface="Josefin Sans" charset="0"/>
                <a:sym typeface="+mn-ea"/>
              </a:rPr>
              <a:t>Proof of Correctness &amp; Time Analysis</a:t>
            </a:r>
            <a:endParaRPr kumimoji="1" lang="en-US" altLang="en-US" spc="100" dirty="0">
              <a:solidFill>
                <a:schemeClr val="tx1">
                  <a:lumMod val="85000"/>
                  <a:lumOff val="15000"/>
                </a:schemeClr>
              </a:solidFill>
              <a:ea typeface="Playfair Display" panose="00000500000000000000" charset="0"/>
              <a:cs typeface="Playfair Display" panose="00000500000000000000" charset="0"/>
            </a:endParaRPr>
          </a:p>
        </p:txBody>
      </p:sp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7d195523061f1c0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 hidden="1"/>
          <p:cNvSpPr txBox="1"/>
          <p:nvPr/>
        </p:nvSpPr>
        <p:spPr>
          <a:xfrm>
            <a:off x="-355600" y="1803400"/>
            <a:ext cx="262251" cy="1016000"/>
          </a:xfrm>
          <a:prstGeom prst="rect">
            <a:avLst/>
          </a:prstGeom>
          <a:noFill/>
        </p:spPr>
        <p:txBody>
          <a:bodyPr vert="wordArtVert" rtlCol="0">
            <a:spAutoFit/>
          </a:bodyPr>
          <a:lstStyle/>
          <a:p>
            <a:r>
              <a:rPr lang="en-US" altLang="zh-CN" sz="100"/>
              <a:t>e7d195523061f1c01d60fa9f1cfcbfb3d7dea265119d71e15FBB43640B43E9A75E03FE54C774D5D4779ED45933E78901D3CB0E69E39D04A9E1E9B25CF060C4BCA4D072860494D0D8E683C2FE58414E15A257B8C98CAC931B2A91D95E391D8F56A6B197C339044743E4A827576812018FE092D8F796C38DC487F641821CDDB0736DD3EE0F684ACE40</a:t>
            </a:r>
            <a:endParaRPr lang="zh-CN" altLang="en-US" sz="100"/>
          </a:p>
        </p:txBody>
      </p:sp>
      <p:grpSp>
        <p:nvGrpSpPr>
          <p:cNvPr id="3" name="组合 2"/>
          <p:cNvGrpSpPr/>
          <p:nvPr/>
        </p:nvGrpSpPr>
        <p:grpSpPr>
          <a:xfrm>
            <a:off x="340360" y="570974"/>
            <a:ext cx="8432165" cy="925195"/>
            <a:chOff x="699004" y="818132"/>
            <a:chExt cx="7195765" cy="979349"/>
          </a:xfrm>
        </p:grpSpPr>
        <p:sp>
          <p:nvSpPr>
            <p:cNvPr id="7" name="文本框 6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/>
            <p:cNvSpPr txBox="1"/>
            <p:nvPr/>
          </p:nvSpPr>
          <p:spPr>
            <a:xfrm>
              <a:off x="699004" y="818132"/>
              <a:ext cx="7195765" cy="5525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lt"/>
                  <a:ea typeface="Josefin Sans" charset="0"/>
                  <a:cs typeface="Josefin Sans" charset="0"/>
                </a:rPr>
                <a:t>Proof of Correctness for </a:t>
              </a:r>
              <a:r>
                <a:rPr lang="en-US" sz="2800" dirty="0">
                  <a:ea typeface="Cambria Math" panose="02040503050406030204" pitchFamily="18" charset="0"/>
                  <a:cs typeface="Josefin Sans" charset="0"/>
                  <a:sym typeface="+mn-ea"/>
                </a:rPr>
                <a:t>FoxAndDinner(n,A) (cont’d)</a:t>
              </a:r>
              <a:r>
                <a:rPr kumimoji="1" lang="en-US" altLang="zh-CN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lt"/>
                  <a:ea typeface="Josefin Sans" charset="0"/>
                  <a:cs typeface="Josefin Sans" charset="0"/>
                </a:rPr>
                <a:t> </a:t>
              </a:r>
              <a:endParaRPr kumimoji="1"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Josefin Sans" charset="0"/>
                <a:cs typeface="Josefin Sans" charset="0"/>
              </a:endParaRPr>
            </a:p>
          </p:txBody>
        </p:sp>
        <p:sp>
          <p:nvSpPr>
            <p:cNvPr id="8" name="Rectangle 7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/>
            <p:cNvSpPr/>
            <p:nvPr/>
          </p:nvSpPr>
          <p:spPr>
            <a:xfrm>
              <a:off x="790042" y="1342423"/>
              <a:ext cx="4459217" cy="45505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lnSpc>
                  <a:spcPct val="110000"/>
                </a:lnSpc>
              </a:pPr>
              <a:endParaRPr lang="en-US" sz="2000" dirty="0">
                <a:ea typeface="Cambria Math" panose="02040503050406030204" pitchFamily="18" charset="0"/>
                <a:cs typeface="Josefin Sans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tangle 7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/>
              <p:cNvSpPr/>
              <p:nvPr/>
            </p:nvSpPr>
            <p:spPr>
              <a:xfrm>
                <a:off x="6697980" y="1748155"/>
                <a:ext cx="5225415" cy="5748020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p>
                <a:pPr marL="285750" lvl="0" indent="-285750">
                  <a:lnSpc>
                    <a:spcPct val="110000"/>
                  </a:lnSpc>
                  <a:buFont typeface="Arial" panose="020B0604020202090204" pitchFamily="34" charset="0"/>
                  <a:buChar char="•"/>
                </a:pPr>
                <a:r>
                  <a:rPr lang="en-US" b="1" u="sng" dirty="0" smtClean="0">
                    <a:ea typeface="Cambria Math" panose="02040503050406030204" pitchFamily="18" charset="0"/>
                    <a:cs typeface="+mn-lt"/>
                    <a:sym typeface="+mn-ea"/>
                  </a:rPr>
                  <a:t>Show</a:t>
                </a:r>
                <a:r>
                  <a:rPr lang="en-US" b="1" dirty="0" smtClean="0">
                    <a:ea typeface="Cambria Math" panose="02040503050406030204" pitchFamily="18" charset="0"/>
                    <a:cs typeface="+mn-lt"/>
                    <a:sym typeface="+mn-ea"/>
                  </a:rPr>
                  <a:t>: f’ is a valid flow</a:t>
                </a:r>
                <a:endParaRPr lang="en-US" dirty="0" smtClean="0">
                  <a:ea typeface="Cambria Math" panose="02040503050406030204" pitchFamily="18" charset="0"/>
                  <a:cs typeface="+mn-lt"/>
                  <a:sym typeface="+mn-ea"/>
                </a:endParaRPr>
              </a:p>
              <a:p>
                <a:pPr marL="742950" lvl="1" indent="-285750">
                  <a:lnSpc>
                    <a:spcPct val="110000"/>
                  </a:lnSpc>
                  <a:buFont typeface="Arial" panose="020B060402020209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𝑓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’(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𝑒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)≤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𝑐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’(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𝑒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), ∀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𝑒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∈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𝐸</m:t>
                    </m:r>
                  </m:oMath>
                </a14:m>
                <a:endParaRPr lang="en-US" i="1" dirty="0" smtClean="0">
                  <a:latin typeface="Cambria Math" panose="02040503050406030204" pitchFamily="18" charset="0"/>
                  <a:ea typeface="Cambria Math" panose="02040503050406030204" pitchFamily="18" charset="0"/>
                  <a:cs typeface="Josefin Sans" charset="0"/>
                  <a:sym typeface="+mn-ea"/>
                </a:endParaRPr>
              </a:p>
              <a:p>
                <a:pPr marL="742950" lvl="1" indent="-285750">
                  <a:lnSpc>
                    <a:spcPct val="110000"/>
                  </a:lnSpc>
                  <a:buFont typeface="Arial" panose="020B0604020202090204" pitchFamily="34" charset="0"/>
                  <a:buChar char="•"/>
                </a:pPr>
                <a:r>
                  <a:rPr lang="en-US" dirty="0" smtClean="0">
                    <a:ea typeface="Cambria Math" panose="02040503050406030204" pitchFamily="18" charset="0"/>
                    <a:cs typeface="+mn-lt"/>
                    <a:sym typeface="+mn-ea"/>
                  </a:rPr>
                  <a:t>Since every fox has two neighbors AND </a:t>
                </a:r>
                <a:r>
                  <a:rPr lang="en-US" dirty="0" smtClean="0">
                    <a:solidFill>
                      <a:schemeClr val="accent1"/>
                    </a:solidFill>
                    <a:ea typeface="Cambria Math" panose="02040503050406030204" pitchFamily="18" charset="0"/>
                    <a:cs typeface="+mn-lt"/>
                    <a:sym typeface="+mn-ea"/>
                  </a:rPr>
                  <a:t>(*)</a:t>
                </a:r>
                <a:r>
                  <a:rPr lang="en-US" dirty="0" smtClean="0">
                    <a:ea typeface="Cambria Math" panose="02040503050406030204" pitchFamily="18" charset="0"/>
                    <a:cs typeface="+mn-lt"/>
                    <a:sym typeface="+mn-ea"/>
                  </a:rPr>
                  <a:t>,  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∀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𝑣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∈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𝑉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\{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𝑠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,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𝑡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}, </m:t>
                    </m:r>
                  </m:oMath>
                </a14:m>
                <a:r>
                  <a:rPr lang="en-US" i="1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Josefin Sans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Josefin Sans" charset="0"/>
                            <a:sym typeface="+mn-ea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Josefin Sans" charset="0"/>
                            <a:sym typeface="+mn-ea"/>
                          </a:rPr>
                          <m:t>𝑓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Josefin Sans" charset="0"/>
                            <a:sym typeface="+mn-ea"/>
                          </a:rPr>
                          <m:t>𝑖𝑛</m:t>
                        </m:r>
                      </m:sup>
                    </m:sSup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𝑣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)=</m:t>
                    </m:r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Josefin Sans" charset="0"/>
                            <a:sym typeface="+mn-ea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Josefin Sans" charset="0"/>
                            <a:sym typeface="+mn-ea"/>
                          </a:rPr>
                          <m:t>𝑓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Josefin Sans" charset="0"/>
                            <a:sym typeface="+mn-ea"/>
                          </a:rPr>
                          <m:t>𝑜𝑢𝑡</m:t>
                        </m:r>
                      </m:sup>
                    </m:sSup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𝑣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)</m:t>
                    </m:r>
                  </m:oMath>
                </a14:m>
                <a:endParaRPr lang="en-US" i="1" dirty="0" smtClean="0">
                  <a:latin typeface="Cambria Math" panose="02040503050406030204" pitchFamily="18" charset="0"/>
                  <a:ea typeface="Cambria Math" panose="02040503050406030204" pitchFamily="18" charset="0"/>
                  <a:cs typeface="Josefin Sans" charset="0"/>
                  <a:sym typeface="+mn-ea"/>
                </a:endParaRPr>
              </a:p>
              <a:p>
                <a:pPr marL="285750" lvl="0" indent="-285750">
                  <a:lnSpc>
                    <a:spcPct val="110000"/>
                  </a:lnSpc>
                  <a:buFont typeface="Arial" panose="020B060402020209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⊽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(</m:t>
                    </m:r>
                    <m:r>
                      <m:rPr>
                        <m:sty m:val="p"/>
                      </m:rP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f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’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)=</m:t>
                    </m:r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Josefin Sans" charset="0"/>
                            <a:sym typeface="+mn-ea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Josefin Sans" charset="0"/>
                            <a:sym typeface="+mn-ea"/>
                          </a:rPr>
                          <m:t>𝑓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Josefin Sans" charset="0"/>
                            <a:sym typeface="+mn-ea"/>
                          </a:rPr>
                          <m:t>’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Josefin Sans" charset="0"/>
                            <a:sym typeface="+mn-ea"/>
                          </a:rPr>
                          <m:t>𝑜𝑢𝑡</m:t>
                        </m:r>
                      </m:sup>
                    </m:sSup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𝑠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)=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2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|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𝑂𝐷𝐷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|=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𝑛</m:t>
                    </m:r>
                  </m:oMath>
                </a14:m>
                <a:r>
                  <a:rPr lang="en-US" dirty="0" smtClean="0">
                    <a:ea typeface="Cambria Math" panose="02040503050406030204" pitchFamily="18" charset="0"/>
                    <a:cs typeface="+mn-lt"/>
                    <a:sym typeface="+mn-ea"/>
                  </a:rPr>
                  <a:t>, so max flow have value at least n. Since Ford-Fulkerson returns a max flow,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</a:rPr>
                      <m:t>𝑚𝑎𝑥𝐹𝑙𝑜𝑤</m:t>
                    </m:r>
                  </m:oMath>
                </a14:m>
                <a:r>
                  <a:rPr lang="en-US" i="1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Josefin Sans" charset="0"/>
                  </a:rPr>
                  <a:t> </a:t>
                </a:r>
                <a:r>
                  <a:rPr lang="en-US" dirty="0" smtClean="0">
                    <a:ea typeface="Cambria Math" panose="02040503050406030204" pitchFamily="18" charset="0"/>
                    <a:cs typeface="+mn-lt"/>
                    <a:sym typeface="+mn-ea"/>
                  </a:rPr>
                  <a:t>obtained on line 12 is at least n. Hence,</a:t>
                </a:r>
                <a:r>
                  <a:rPr lang="en-US" altLang="en-US" b="1" dirty="0">
                    <a:ea typeface="Cambria Math" panose="02040503050406030204" pitchFamily="18" charset="0"/>
                    <a:cs typeface="Josefin Sans" charset="0"/>
                    <a:sym typeface="+mn-ea"/>
                  </a:rPr>
                  <a:t>FoxAndDinner </a:t>
                </a:r>
                <a:r>
                  <a:rPr lang="en-US" altLang="en-US" dirty="0">
                    <a:ea typeface="Cambria Math" panose="02040503050406030204" pitchFamily="18" charset="0"/>
                    <a:cs typeface="Josefin Sans" charset="0"/>
                    <a:sym typeface="+mn-ea"/>
                  </a:rPr>
                  <a:t>does not enter the “if” branch on line 13 and runs till line 19 without returning “Impossible”. </a:t>
                </a:r>
                <a:endParaRPr lang="en-US" i="1" dirty="0" smtClean="0">
                  <a:latin typeface="Cambria Math" panose="02040503050406030204" pitchFamily="18" charset="0"/>
                  <a:ea typeface="Cambria Math" panose="02040503050406030204" pitchFamily="18" charset="0"/>
                  <a:cs typeface="Josefin Sans" charset="0"/>
                </a:endParaRPr>
              </a:p>
            </p:txBody>
          </p:sp>
        </mc:Choice>
        <mc:Fallback>
          <p:sp>
            <p:nvSpPr>
              <p:cNvPr id="10" name="Rectangle 7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7980" y="1748155"/>
                <a:ext cx="5225415" cy="574802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7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/>
              <p:cNvSpPr/>
              <p:nvPr/>
            </p:nvSpPr>
            <p:spPr>
              <a:xfrm>
                <a:off x="458470" y="1237615"/>
                <a:ext cx="6017895" cy="41636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p>
                <a:pPr lvl="0">
                  <a:lnSpc>
                    <a:spcPct val="110000"/>
                  </a:lnSpc>
                </a:pPr>
                <a:r>
                  <a:rPr lang="en-US" sz="2000" b="1" dirty="0">
                    <a:ea typeface="Cambria Math" panose="02040503050406030204" pitchFamily="18" charset="0"/>
                    <a:cs typeface="Josefin Sans" charset="0"/>
                  </a:rPr>
                  <a:t>Claim 2: </a:t>
                </a:r>
                <a:r>
                  <a:rPr lang="en-US" altLang="en-US" sz="2000" b="1" dirty="0">
                    <a:ea typeface="Cambria Math" panose="02040503050406030204" pitchFamily="18" charset="0"/>
                    <a:cs typeface="Josefin Sans" charset="0"/>
                  </a:rPr>
                  <a:t>If there exists a valid seating, </a:t>
                </a:r>
                <a:r>
                  <a:rPr lang="en-US" altLang="en-US" sz="2000" b="1" dirty="0">
                    <a:ea typeface="Cambria Math" panose="02040503050406030204" pitchFamily="18" charset="0"/>
                    <a:cs typeface="Josefin Sans" charset="0"/>
                    <a:sym typeface="+mn-ea"/>
                  </a:rPr>
                  <a:t>FoxAndDinner finds </a:t>
                </a:r>
                <a:r>
                  <a:rPr lang="en-US" altLang="en-US" sz="2000" b="1" dirty="0">
                    <a:ea typeface="Cambria Math" panose="02040503050406030204" pitchFamily="18" charset="0"/>
                    <a:cs typeface="Josefin Sans" charset="0"/>
                  </a:rPr>
                  <a:t>one (i.e. does not return “Impossible”)</a:t>
                </a:r>
                <a:endParaRPr lang="en-US" altLang="en-US" sz="2000" b="1" dirty="0">
                  <a:ea typeface="Cambria Math" panose="02040503050406030204" pitchFamily="18" charset="0"/>
                  <a:cs typeface="Josefin Sans" charset="0"/>
                </a:endParaRPr>
              </a:p>
              <a:p>
                <a:pPr marL="285750" lvl="0" indent="-285750">
                  <a:lnSpc>
                    <a:spcPct val="110000"/>
                  </a:lnSpc>
                  <a:buFont typeface="Arial" panose="020B0604020202090204" pitchFamily="34" charset="0"/>
                  <a:buChar char="•"/>
                </a:pPr>
                <a:r>
                  <a:rPr lang="en-US" dirty="0" smtClean="0">
                    <a:ea typeface="Cambria Math" panose="02040503050406030204" pitchFamily="18" charset="0"/>
                    <a:cs typeface="+mn-lt"/>
                    <a:sym typeface="+mn-ea"/>
                  </a:rPr>
                  <a:t>Since there is a valid seating,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|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𝑂𝐷𝐷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|=|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𝐸𝑉𝐸𝑁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|</m:t>
                    </m:r>
                  </m:oMath>
                </a14:m>
                <a:r>
                  <a:rPr lang="en-US" dirty="0" smtClean="0">
                    <a:ea typeface="Cambria Math" panose="02040503050406030204" pitchFamily="18" charset="0"/>
                    <a:cs typeface="+mn-lt"/>
                    <a:sym typeface="+mn-ea"/>
                  </a:rPr>
                  <a:t>, because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</a:rPr>
                      <m:t>𝑜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</a:rPr>
                      <m:t>/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</a:rPr>
                      <m:t>𝑤</m:t>
                    </m:r>
                  </m:oMath>
                </a14:m>
                <a:r>
                  <a:rPr lang="en-US" dirty="0" smtClean="0">
                    <a:ea typeface="Cambria Math" panose="02040503050406030204" pitchFamily="18" charset="0"/>
                    <a:cs typeface="+mn-lt"/>
                    <a:sym typeface="+mn-ea"/>
                  </a:rPr>
                  <a:t> there would be two foxes with age of the same parity sitting together. Hence, line 3 passes.</a:t>
                </a:r>
                <a:endParaRPr lang="en-US" dirty="0" smtClean="0">
                  <a:ea typeface="Cambria Math" panose="02040503050406030204" pitchFamily="18" charset="0"/>
                  <a:cs typeface="+mn-lt"/>
                  <a:sym typeface="+mn-ea"/>
                </a:endParaRPr>
              </a:p>
              <a:p>
                <a:pPr marL="285750" lvl="0" indent="-285750">
                  <a:lnSpc>
                    <a:spcPct val="110000"/>
                  </a:lnSpc>
                  <a:buFont typeface="Arial" panose="020B0604020202090204" pitchFamily="34" charset="0"/>
                  <a:buChar char="•"/>
                </a:pPr>
                <a:r>
                  <a:rPr lang="en-US" dirty="0" smtClean="0">
                    <a:ea typeface="Cambria Math" panose="02040503050406030204" pitchFamily="18" charset="0"/>
                    <a:cs typeface="+mn-lt"/>
                    <a:sym typeface="+mn-ea"/>
                  </a:rPr>
                  <a:t>Consider the following flow f’:</a:t>
                </a:r>
                <a:endParaRPr lang="en-US" dirty="0" smtClean="0">
                  <a:ea typeface="Cambria Math" panose="02040503050406030204" pitchFamily="18" charset="0"/>
                  <a:cs typeface="+mn-lt"/>
                  <a:sym typeface="+mn-ea"/>
                </a:endParaRPr>
              </a:p>
              <a:p>
                <a:pPr marL="742950" lvl="1" indent="-285750">
                  <a:lnSpc>
                    <a:spcPct val="110000"/>
                  </a:lnSpc>
                  <a:buFont typeface="Arial" panose="020B060402020209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𝑓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’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𝑠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,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𝑢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)=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2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, 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∀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𝑢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∈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𝑂𝐷𝐷</m:t>
                    </m:r>
                  </m:oMath>
                </a14:m>
                <a:endParaRPr lang="en-US" i="1" dirty="0" smtClean="0">
                  <a:latin typeface="Cambria Math" panose="02040503050406030204" pitchFamily="18" charset="0"/>
                  <a:ea typeface="Cambria Math" panose="02040503050406030204" pitchFamily="18" charset="0"/>
                  <a:cs typeface="Josefin Sans" charset="0"/>
                  <a:sym typeface="+mn-ea"/>
                </a:endParaRPr>
              </a:p>
              <a:p>
                <a:pPr marL="742950" lvl="1" indent="-285750">
                  <a:lnSpc>
                    <a:spcPct val="110000"/>
                  </a:lnSpc>
                  <a:buFont typeface="Arial" panose="020B060402020209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𝑓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’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𝑣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,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𝑡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)=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2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, ∀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𝑣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∈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𝐸𝑉𝐸𝑁</m:t>
                    </m:r>
                  </m:oMath>
                </a14:m>
                <a:endParaRPr lang="en-US" i="1" dirty="0" smtClean="0">
                  <a:latin typeface="Cambria Math" panose="02040503050406030204" pitchFamily="18" charset="0"/>
                  <a:ea typeface="Cambria Math" panose="02040503050406030204" pitchFamily="18" charset="0"/>
                  <a:cs typeface="Josefin Sans" charset="0"/>
                  <a:sym typeface="+mn-ea"/>
                </a:endParaRPr>
              </a:p>
              <a:p>
                <a:pPr marL="742950" lvl="1" indent="-285750">
                  <a:lnSpc>
                    <a:spcPct val="110000"/>
                  </a:lnSpc>
                  <a:buFont typeface="Arial" panose="020B060402020209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𝑓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’(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𝑢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,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𝑣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)=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1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 </m:t>
                    </m:r>
                  </m:oMath>
                </a14:m>
                <a:r>
                  <a:rPr lang="en-US" dirty="0" smtClean="0">
                    <a:ea typeface="Cambria Math" panose="02040503050406030204" pitchFamily="18" charset="0"/>
                    <a:cs typeface="+mn-lt"/>
                    <a:sym typeface="+mn-ea"/>
                  </a:rPr>
                  <a:t>iff u and v are adjacent in the seating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, ∀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𝑢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∈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𝑂𝐷𝐷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, ∀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𝑣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∈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  <a:sym typeface="+mn-ea"/>
                      </a:rPr>
                      <m:t>𝐸𝑉𝐸𝑁</m:t>
                    </m:r>
                  </m:oMath>
                </a14:m>
                <a:endParaRPr lang="en-US" i="1" dirty="0" smtClean="0">
                  <a:latin typeface="Cambria Math" panose="02040503050406030204" pitchFamily="18" charset="0"/>
                  <a:ea typeface="Cambria Math" panose="02040503050406030204" pitchFamily="18" charset="0"/>
                  <a:cs typeface="Josefin Sans" charset="0"/>
                  <a:sym typeface="+mn-ea"/>
                </a:endParaRPr>
              </a:p>
              <a:p>
                <a:pPr marL="285750" lvl="0" indent="-285750">
                  <a:lnSpc>
                    <a:spcPct val="110000"/>
                  </a:lnSpc>
                  <a:buFont typeface="Arial" panose="020B0604020202090204" pitchFamily="34" charset="0"/>
                  <a:buChar char="•"/>
                </a:pPr>
                <a:endParaRPr lang="en-US" i="1" dirty="0" smtClean="0">
                  <a:latin typeface="Cambria Math" panose="02040503050406030204" pitchFamily="18" charset="0"/>
                  <a:ea typeface="Cambria Math" panose="02040503050406030204" pitchFamily="18" charset="0"/>
                  <a:cs typeface="Josefin Sans" charset="0"/>
                  <a:sym typeface="+mn-ea"/>
                </a:endParaRPr>
              </a:p>
            </p:txBody>
          </p:sp>
        </mc:Choice>
        <mc:Fallback>
          <p:sp>
            <p:nvSpPr>
              <p:cNvPr id="5" name="Rectangle 7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470" y="1237615"/>
                <a:ext cx="6017895" cy="416369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ight Brace 8"/>
          <p:cNvSpPr/>
          <p:nvPr/>
        </p:nvSpPr>
        <p:spPr>
          <a:xfrm>
            <a:off x="3683635" y="3661410"/>
            <a:ext cx="205105" cy="62484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1" name="Text Box 10"/>
          <p:cNvSpPr txBox="1"/>
          <p:nvPr/>
        </p:nvSpPr>
        <p:spPr>
          <a:xfrm>
            <a:off x="3885565" y="3801745"/>
            <a:ext cx="6692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solidFill>
                  <a:schemeClr val="accent1"/>
                </a:solidFill>
              </a:rPr>
              <a:t>(*)</a:t>
            </a:r>
            <a:endParaRPr lang="en-US">
              <a:solidFill>
                <a:schemeClr val="accent1"/>
              </a:solidFill>
            </a:endParaRPr>
          </a:p>
        </p:txBody>
      </p:sp>
      <p:sp>
        <p:nvSpPr>
          <p:cNvPr id="12" name="文本框 4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/>
          <p:cNvSpPr txBox="1"/>
          <p:nvPr/>
        </p:nvSpPr>
        <p:spPr>
          <a:xfrm>
            <a:off x="192710" y="156742"/>
            <a:ext cx="5696461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en-US" altLang="en-US" spc="100" dirty="0">
                <a:solidFill>
                  <a:schemeClr val="tx1">
                    <a:lumMod val="85000"/>
                    <a:lumOff val="15000"/>
                  </a:schemeClr>
                </a:solidFill>
                <a:ea typeface="Playfair Display" panose="00000500000000000000" charset="0"/>
                <a:cs typeface="Playfair Display" panose="00000500000000000000" charset="0"/>
              </a:rPr>
              <a:t>Part.04 </a:t>
            </a:r>
            <a:r>
              <a:rPr kumimoji="1" lang="zh-CN" altLang="en-US" spc="100" dirty="0">
                <a:solidFill>
                  <a:schemeClr val="tx1">
                    <a:lumMod val="85000"/>
                    <a:lumOff val="15000"/>
                  </a:schemeClr>
                </a:solidFill>
                <a:ea typeface="Playfair Display" panose="00000500000000000000" charset="0"/>
                <a:cs typeface="Playfair Display" panose="00000500000000000000" charset="0"/>
              </a:rPr>
              <a:t> </a:t>
            </a:r>
            <a:r>
              <a:rPr kumimoji="1"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Josefin Sans" charset="0"/>
                <a:ea typeface="Josefin Sans" charset="0"/>
                <a:cs typeface="Josefin Sans" charset="0"/>
                <a:sym typeface="+mn-ea"/>
              </a:rPr>
              <a:t>Proof of Correctness &amp; Time Analysis</a:t>
            </a:r>
            <a:endParaRPr kumimoji="1" lang="en-US" altLang="en-US" spc="100" dirty="0">
              <a:solidFill>
                <a:schemeClr val="tx1">
                  <a:lumMod val="85000"/>
                  <a:lumOff val="15000"/>
                </a:schemeClr>
              </a:solidFill>
              <a:ea typeface="Playfair Display" panose="00000500000000000000" charset="0"/>
              <a:cs typeface="Playfair Display" panose="00000500000000000000" charset="0"/>
            </a:endParaRPr>
          </a:p>
        </p:txBody>
      </p:sp>
    </p:spTree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2743" y="5553788"/>
            <a:ext cx="4016731" cy="4105992"/>
          </a:xfrm>
          <a:prstGeom prst="rect">
            <a:avLst/>
          </a:prstGeom>
        </p:spPr>
      </p:pic>
      <p:sp>
        <p:nvSpPr>
          <p:cNvPr id="4" name="e7d195523061f1c0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 hidden="1"/>
          <p:cNvSpPr txBox="1"/>
          <p:nvPr/>
        </p:nvSpPr>
        <p:spPr>
          <a:xfrm>
            <a:off x="-355600" y="1803400"/>
            <a:ext cx="262251" cy="1016000"/>
          </a:xfrm>
          <a:prstGeom prst="rect">
            <a:avLst/>
          </a:prstGeom>
          <a:noFill/>
        </p:spPr>
        <p:txBody>
          <a:bodyPr vert="wordArtVert" rtlCol="0">
            <a:spAutoFit/>
          </a:bodyPr>
          <a:lstStyle/>
          <a:p>
            <a:r>
              <a:rPr lang="en-US" altLang="zh-CN" sz="100"/>
              <a:t>e7d195523061f1c01d60fa9f1cfcbfb3d7dea265119d71e15FBB43640B43E9A75E03FE54C774D5D4779ED45933E78901D3CB0E69E39D04A9E1E9B25CF060C4BCA4D072860494D0D8E683C2FE58414E15A257B8C98CAC931B2A91D95E391D8F56A6B197C339044743E4A827576812018FE092D8F796C38DC487F641821CDDB0736DD3EE0F684ACE40</a:t>
            </a:r>
            <a:endParaRPr lang="zh-CN" altLang="en-US" sz="100"/>
          </a:p>
        </p:txBody>
      </p:sp>
      <p:grpSp>
        <p:nvGrpSpPr>
          <p:cNvPr id="3" name="组合 2"/>
          <p:cNvGrpSpPr/>
          <p:nvPr/>
        </p:nvGrpSpPr>
        <p:grpSpPr>
          <a:xfrm>
            <a:off x="1151255" y="605264"/>
            <a:ext cx="5520688" cy="2583815"/>
            <a:chOff x="699004" y="854429"/>
            <a:chExt cx="4711195" cy="2735051"/>
          </a:xfrm>
        </p:grpSpPr>
        <p:sp>
          <p:nvSpPr>
            <p:cNvPr id="7" name="文本框 6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/>
            <p:cNvSpPr txBox="1"/>
            <p:nvPr/>
          </p:nvSpPr>
          <p:spPr>
            <a:xfrm>
              <a:off x="699004" y="854429"/>
              <a:ext cx="4711195" cy="5525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lt"/>
                  <a:ea typeface="Josefin Sans" charset="0"/>
                  <a:cs typeface="Josefin Sans" charset="0"/>
                </a:rPr>
                <a:t>Time Complexity Analysis</a:t>
              </a:r>
              <a:endParaRPr kumimoji="1"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Josefin Sans" charset="0"/>
                <a:cs typeface="Josefin Sans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Rectangle 7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/>
                <p:cNvSpPr/>
                <p:nvPr/>
              </p:nvSpPr>
              <p:spPr>
                <a:xfrm>
                  <a:off x="790042" y="1342423"/>
                  <a:ext cx="4459217" cy="2247057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>
                    <a:lnSpc>
                      <a:spcPct val="110000"/>
                    </a:lnSpc>
                  </a:pPr>
                  <a:r>
                    <a:rPr lang="en-US" sz="2000" dirty="0">
                      <a:ea typeface="Cambria Math" panose="02040503050406030204" pitchFamily="18" charset="0"/>
                      <a:cs typeface="Josefin Sans" charset="0"/>
                      <a:sym typeface="+mn-ea"/>
                    </a:rPr>
                    <a:t>IsPrime(x)</a:t>
                  </a:r>
                  <a:endParaRPr lang="en-US" sz="2000" dirty="0">
                    <a:ea typeface="Cambria Math" panose="02040503050406030204" pitchFamily="18" charset="0"/>
                    <a:cs typeface="Josefin Sans" charset="0"/>
                    <a:sym typeface="+mn-ea"/>
                  </a:endParaRPr>
                </a:p>
                <a:p>
                  <a:pPr lvl="0">
                    <a:lnSpc>
                      <a:spcPct val="110000"/>
                    </a:lnSpc>
                  </a:pPr>
                  <a:r>
                    <a:rPr lang="en-US" sz="2000" dirty="0">
                      <a:ea typeface="Cambria Math" panose="02040503050406030204" pitchFamily="18" charset="0"/>
                      <a:cs typeface="Josefin Sans" charset="0"/>
                      <a:sym typeface="+mn-ea"/>
                    </a:rPr>
                    <a:t>1.  Return false if </a:t>
                  </a:r>
                  <a14:m>
                    <m:oMath xmlns:m="http://schemas.openxmlformats.org/officeDocument/2006/math">
                      <m:r>
                        <a:rPr lang="en-US" sz="2000" i="1" dirty="0">
                          <a:latin typeface="DejaVu Math TeX Gyre" panose="02000503000000000000" charset="0"/>
                          <a:ea typeface="Cambria Math" panose="02040503050406030204" pitchFamily="18" charset="0"/>
                          <a:cs typeface="DejaVu Math TeX Gyre" panose="02000503000000000000" charset="0"/>
                          <a:sym typeface="+mn-ea"/>
                        </a:rPr>
                        <m:t>𝑥</m:t>
                      </m:r>
                      <m:r>
                        <a:rPr lang="en-US" sz="2000" i="1" dirty="0">
                          <a:latin typeface="DejaVu Math TeX Gyre" panose="02000503000000000000" charset="0"/>
                          <a:ea typeface="Cambria Math" panose="02040503050406030204" pitchFamily="18" charset="0"/>
                          <a:cs typeface="DejaVu Math TeX Gyre" panose="02000503000000000000" charset="0"/>
                          <a:sym typeface="+mn-ea"/>
                        </a:rPr>
                        <m:t>&lt;</m:t>
                      </m:r>
                      <m:r>
                        <a:rPr lang="en-US" sz="2000" i="1" dirty="0">
                          <a:latin typeface="DejaVu Math TeX Gyre" panose="02000503000000000000" charset="0"/>
                          <a:ea typeface="Cambria Math" panose="02040503050406030204" pitchFamily="18" charset="0"/>
                          <a:cs typeface="DejaVu Math TeX Gyre" panose="02000503000000000000" charset="0"/>
                          <a:sym typeface="+mn-ea"/>
                        </a:rPr>
                        <m:t>2</m:t>
                      </m:r>
                    </m:oMath>
                  </a14:m>
                  <a:endParaRPr lang="en-US" sz="2000" dirty="0">
                    <a:ea typeface="Cambria Math" panose="02040503050406030204" pitchFamily="18" charset="0"/>
                    <a:cs typeface="Josefin Sans" charset="0"/>
                    <a:sym typeface="+mn-ea"/>
                  </a:endParaRPr>
                </a:p>
                <a:p>
                  <a:pPr lvl="0">
                    <a:lnSpc>
                      <a:spcPct val="110000"/>
                    </a:lnSpc>
                  </a:pPr>
                  <a:r>
                    <a:rPr lang="en-US" sz="2000" dirty="0">
                      <a:ea typeface="Cambria Math" panose="02040503050406030204" pitchFamily="18" charset="0"/>
                      <a:cs typeface="Josefin Sans" charset="0"/>
                      <a:sym typeface="+mn-ea"/>
                    </a:rPr>
                    <a:t>2.  For </a:t>
                  </a:r>
                  <a14:m>
                    <m:oMath xmlns:m="http://schemas.openxmlformats.org/officeDocument/2006/math">
                      <m:r>
                        <a:rPr lang="en-US" sz="2000" i="1" dirty="0">
                          <a:latin typeface="DejaVu Math TeX Gyre" panose="02000503000000000000" charset="0"/>
                          <a:ea typeface="Cambria Math" panose="02040503050406030204" pitchFamily="18" charset="0"/>
                          <a:cs typeface="DejaVu Math TeX Gyre" panose="02000503000000000000" charset="0"/>
                          <a:sym typeface="+mn-ea"/>
                        </a:rPr>
                        <m:t>𝑖</m:t>
                      </m:r>
                      <m:r>
                        <a:rPr lang="en-US" sz="2000" i="1" dirty="0">
                          <a:latin typeface="DejaVu Math TeX Gyre" panose="02000503000000000000" charset="0"/>
                          <a:ea typeface="Cambria Math" panose="02040503050406030204" pitchFamily="18" charset="0"/>
                          <a:cs typeface="DejaVu Math TeX Gyre" panose="02000503000000000000" charset="0"/>
                          <a:sym typeface="+mn-ea"/>
                        </a:rPr>
                        <m:t>=</m:t>
                      </m:r>
                      <m:r>
                        <a:rPr lang="en-US" sz="2000" i="1" dirty="0">
                          <a:latin typeface="DejaVu Math TeX Gyre" panose="02000503000000000000" charset="0"/>
                          <a:ea typeface="Cambria Math" panose="02040503050406030204" pitchFamily="18" charset="0"/>
                          <a:cs typeface="DejaVu Math TeX Gyre" panose="02000503000000000000" charset="0"/>
                          <a:sym typeface="+mn-ea"/>
                        </a:rPr>
                        <m:t>2</m:t>
                      </m:r>
                      <m:r>
                        <a:rPr lang="en-US" sz="2000" i="1" dirty="0">
                          <a:latin typeface="DejaVu Math TeX Gyre" panose="02000503000000000000" charset="0"/>
                          <a:ea typeface="Cambria Math" panose="02040503050406030204" pitchFamily="18" charset="0"/>
                          <a:cs typeface="DejaVu Math TeX Gyre" panose="02000503000000000000" charset="0"/>
                          <a:sym typeface="+mn-ea"/>
                        </a:rPr>
                        <m:t> </m:t>
                      </m:r>
                    </m:oMath>
                  </a14:m>
                  <a:r>
                    <a:rPr lang="en-US" sz="2000" dirty="0">
                      <a:ea typeface="Cambria Math" panose="02040503050406030204" pitchFamily="18" charset="0"/>
                      <a:cs typeface="Josefin Sans" charset="0"/>
                      <a:sym typeface="+mn-ea"/>
                    </a:rPr>
                    <a:t>to </a:t>
                  </a:r>
                  <a14:m>
                    <m:oMath xmlns:m="http://schemas.openxmlformats.org/officeDocument/2006/math">
                      <m:d>
                        <m:dPr>
                          <m:begChr m:val="⌊"/>
                          <m:endChr m:val=""/>
                          <m:ctrlPr>
                            <a:rPr lang="en-US" sz="2000" i="1" dirty="0">
                              <a:latin typeface="DejaVu Math TeX Gyre" panose="02000503000000000000" charset="0"/>
                              <a:ea typeface="Cambria Math" panose="02040503050406030204" pitchFamily="18" charset="0"/>
                              <a:cs typeface="DejaVu Math TeX Gyre" panose="02000503000000000000" charset="0"/>
                              <a:sym typeface="+mn-ea"/>
                            </a:rPr>
                          </m:ctrlPr>
                        </m:dPr>
                        <m:e>
                          <m:r>
                            <a:rPr lang="en-US" sz="2000" i="1" dirty="0">
                              <a:latin typeface="DejaVu Math TeX Gyre" panose="02000503000000000000" charset="0"/>
                              <a:ea typeface="Cambria Math" panose="02040503050406030204" pitchFamily="18" charset="0"/>
                              <a:cs typeface="DejaVu Math TeX Gyre" panose="02000503000000000000" charset="0"/>
                              <a:sym typeface="+mn-ea"/>
                            </a:rPr>
                            <m:t>√</m:t>
                          </m:r>
                          <m:d>
                            <m:dPr>
                              <m:begChr m:val=""/>
                              <m:endChr m:val="⌋"/>
                              <m:ctrlPr>
                                <a:rPr lang="en-US" sz="2000" i="1" dirty="0">
                                  <a:latin typeface="DejaVu Math TeX Gyre" panose="02000503000000000000" charset="0"/>
                                  <a:ea typeface="Cambria Math" panose="02040503050406030204" pitchFamily="18" charset="0"/>
                                  <a:cs typeface="DejaVu Math TeX Gyre" panose="02000503000000000000" charset="0"/>
                                  <a:sym typeface="+mn-ea"/>
                                </a:rPr>
                              </m:ctrlPr>
                            </m:dPr>
                            <m:e>
                              <m:r>
                                <a:rPr lang="en-US" sz="2000" i="1" dirty="0">
                                  <a:latin typeface="DejaVu Math TeX Gyre" panose="02000503000000000000" charset="0"/>
                                  <a:ea typeface="Cambria Math" panose="02040503050406030204" pitchFamily="18" charset="0"/>
                                  <a:cs typeface="DejaVu Math TeX Gyre" panose="02000503000000000000" charset="0"/>
                                  <a:sym typeface="+mn-ea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000" i="1" dirty="0">
                              <a:latin typeface="DejaVu Math TeX Gyre" panose="02000503000000000000" charset="0"/>
                              <a:ea typeface="Cambria Math" panose="02040503050406030204" pitchFamily="18" charset="0"/>
                              <a:cs typeface="DejaVu Math TeX Gyre" panose="02000503000000000000" charset="0"/>
                              <a:sym typeface="+mn-ea"/>
                            </a:rPr>
                            <m:t> </m:t>
                          </m:r>
                        </m:e>
                      </m:d>
                    </m:oMath>
                  </a14:m>
                  <a:r>
                    <a:rPr lang="en-US" sz="2000" dirty="0">
                      <a:ea typeface="Cambria Math" panose="02040503050406030204" pitchFamily="18" charset="0"/>
                      <a:cs typeface="Josefin Sans" charset="0"/>
                      <a:sym typeface="+mn-ea"/>
                    </a:rPr>
                    <a:t>:</a:t>
                  </a:r>
                  <a:endParaRPr lang="en-US" sz="2000" dirty="0">
                    <a:ea typeface="Cambria Math" panose="02040503050406030204" pitchFamily="18" charset="0"/>
                    <a:cs typeface="Josefin Sans" charset="0"/>
                    <a:sym typeface="+mn-ea"/>
                  </a:endParaRPr>
                </a:p>
                <a:p>
                  <a:pPr lvl="0">
                    <a:lnSpc>
                      <a:spcPct val="110000"/>
                    </a:lnSpc>
                  </a:pPr>
                  <a:r>
                    <a:rPr lang="en-US" sz="2000" dirty="0">
                      <a:ea typeface="Cambria Math" panose="02040503050406030204" pitchFamily="18" charset="0"/>
                      <a:cs typeface="Josefin Sans" charset="0"/>
                      <a:sym typeface="+mn-ea"/>
                    </a:rPr>
                    <a:t>3.    if </a:t>
                  </a:r>
                  <a14:m>
                    <m:oMath xmlns:m="http://schemas.openxmlformats.org/officeDocument/2006/math">
                      <m:r>
                        <a:rPr lang="en-US" sz="2000" i="1" dirty="0">
                          <a:latin typeface="DejaVu Math TeX Gyre" panose="02000503000000000000" charset="0"/>
                          <a:ea typeface="Cambria Math" panose="02040503050406030204" pitchFamily="18" charset="0"/>
                          <a:cs typeface="DejaVu Math TeX Gyre" panose="02000503000000000000" charset="0"/>
                          <a:sym typeface="+mn-ea"/>
                        </a:rPr>
                        <m:t>𝑥</m:t>
                      </m:r>
                      <m:r>
                        <a:rPr lang="en-US" sz="2000" i="1" dirty="0">
                          <a:latin typeface="DejaVu Math TeX Gyre" panose="02000503000000000000" charset="0"/>
                          <a:ea typeface="Cambria Math" panose="02040503050406030204" pitchFamily="18" charset="0"/>
                          <a:cs typeface="DejaVu Math TeX Gyre" panose="02000503000000000000" charset="0"/>
                          <a:sym typeface="+mn-ea"/>
                        </a:rPr>
                        <m:t>%</m:t>
                      </m:r>
                      <m:r>
                        <a:rPr lang="en-US" sz="2000" i="1" dirty="0">
                          <a:latin typeface="DejaVu Math TeX Gyre" panose="02000503000000000000" charset="0"/>
                          <a:ea typeface="Cambria Math" panose="02040503050406030204" pitchFamily="18" charset="0"/>
                          <a:cs typeface="DejaVu Math TeX Gyre" panose="02000503000000000000" charset="0"/>
                          <a:sym typeface="+mn-ea"/>
                        </a:rPr>
                        <m:t>𝑖</m:t>
                      </m:r>
                      <m:r>
                        <a:rPr lang="en-US" sz="2000" i="1" dirty="0">
                          <a:latin typeface="DejaVu Math TeX Gyre" panose="02000503000000000000" charset="0"/>
                          <a:ea typeface="Cambria Math" panose="02040503050406030204" pitchFamily="18" charset="0"/>
                          <a:cs typeface="DejaVu Math TeX Gyre" panose="02000503000000000000" charset="0"/>
                          <a:sym typeface="+mn-ea"/>
                        </a:rPr>
                        <m:t>=</m:t>
                      </m:r>
                      <m:r>
                        <a:rPr lang="en-US" sz="2000" i="1" dirty="0">
                          <a:latin typeface="DejaVu Math TeX Gyre" panose="02000503000000000000" charset="0"/>
                          <a:ea typeface="Cambria Math" panose="02040503050406030204" pitchFamily="18" charset="0"/>
                          <a:cs typeface="DejaVu Math TeX Gyre" panose="02000503000000000000" charset="0"/>
                          <a:sym typeface="+mn-ea"/>
                        </a:rPr>
                        <m:t>0</m:t>
                      </m:r>
                    </m:oMath>
                  </a14:m>
                  <a:r>
                    <a:rPr lang="en-US" sz="2000" dirty="0">
                      <a:ea typeface="Cambria Math" panose="02040503050406030204" pitchFamily="18" charset="0"/>
                      <a:cs typeface="Josefin Sans" charset="0"/>
                    </a:rPr>
                    <a:t>:</a:t>
                  </a:r>
                  <a:endParaRPr lang="en-US" sz="2000" dirty="0">
                    <a:ea typeface="Cambria Math" panose="02040503050406030204" pitchFamily="18" charset="0"/>
                    <a:cs typeface="Josefin Sans" charset="0"/>
                  </a:endParaRPr>
                </a:p>
                <a:p>
                  <a:pPr lvl="0">
                    <a:lnSpc>
                      <a:spcPct val="110000"/>
                    </a:lnSpc>
                  </a:pPr>
                  <a:r>
                    <a:rPr lang="en-US" sz="2000" dirty="0">
                      <a:ea typeface="Cambria Math" panose="02040503050406030204" pitchFamily="18" charset="0"/>
                      <a:cs typeface="Josefin Sans" charset="0"/>
                    </a:rPr>
                    <a:t>4.      Return false</a:t>
                  </a:r>
                  <a:endParaRPr lang="en-US" sz="2000" dirty="0">
                    <a:ea typeface="Cambria Math" panose="02040503050406030204" pitchFamily="18" charset="0"/>
                    <a:cs typeface="Josefin Sans" charset="0"/>
                  </a:endParaRPr>
                </a:p>
                <a:p>
                  <a:pPr lvl="0">
                    <a:lnSpc>
                      <a:spcPct val="110000"/>
                    </a:lnSpc>
                  </a:pPr>
                  <a:r>
                    <a:rPr lang="en-US" sz="2000" dirty="0">
                      <a:ea typeface="Cambria Math" panose="02040503050406030204" pitchFamily="18" charset="0"/>
                      <a:cs typeface="Josefin Sans" charset="0"/>
                    </a:rPr>
                    <a:t>5.  Return true</a:t>
                  </a:r>
                  <a:endParaRPr lang="en-US" sz="2000" dirty="0">
                    <a:ea typeface="Cambria Math" panose="02040503050406030204" pitchFamily="18" charset="0"/>
                    <a:cs typeface="Josefin Sans" charset="0"/>
                  </a:endParaRPr>
                </a:p>
              </p:txBody>
            </p:sp>
          </mc:Choice>
          <mc:Fallback>
            <p:sp>
              <p:nvSpPr>
                <p:cNvPr id="8" name="Rectangle 7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0042" y="1342423"/>
                  <a:ext cx="4459217" cy="2247057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7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/>
              <p:cNvSpPr/>
              <p:nvPr/>
            </p:nvSpPr>
            <p:spPr>
              <a:xfrm>
                <a:off x="1257935" y="3524994"/>
                <a:ext cx="5225414" cy="49720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p>
                <a:pPr lvl="0">
                  <a:lnSpc>
                    <a:spcPct val="110000"/>
                  </a:lnSpc>
                </a:pPr>
                <a:r>
                  <a:rPr lang="en-US" sz="2400" b="1" dirty="0">
                    <a:ea typeface="Cambria Math" panose="02040503050406030204" pitchFamily="18" charset="0"/>
                    <a:cs typeface="Josefin Sans" charset="0"/>
                  </a:rPr>
                  <a:t>Runtime</a:t>
                </a:r>
                <a:r>
                  <a:rPr lang="en-US" sz="2400" dirty="0">
                    <a:ea typeface="Cambria Math" panose="02040503050406030204" pitchFamily="18" charset="0"/>
                    <a:cs typeface="Josefin Sans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DejaVu Math TeX Gyre" panose="02000503000000000000" charset="0"/>
                        <a:ea typeface="Cambria Math" panose="02040503050406030204" pitchFamily="18" charset="0"/>
                        <a:cs typeface="DejaVu Math TeX Gyre" panose="02000503000000000000" charset="0"/>
                      </a:rPr>
                      <m:t>𝑂</m:t>
                    </m:r>
                    <m:r>
                      <a:rPr lang="en-US" sz="2400" i="1" dirty="0">
                        <a:latin typeface="DejaVu Math TeX Gyre" panose="02000503000000000000" charset="0"/>
                        <a:ea typeface="Cambria Math" panose="02040503050406030204" pitchFamily="18" charset="0"/>
                        <a:cs typeface="DejaVu Math TeX Gyre" panose="02000503000000000000" charset="0"/>
                      </a:rPr>
                      <m:t>(</m:t>
                    </m:r>
                    <m:r>
                      <a:rPr lang="en-US" sz="2400" i="1" dirty="0">
                        <a:latin typeface="DejaVu Math TeX Gyre" panose="02000503000000000000" charset="0"/>
                        <a:ea typeface="Cambria Math" panose="02040503050406030204" pitchFamily="18" charset="0"/>
                        <a:cs typeface="DejaVu Math TeX Gyre" panose="02000503000000000000" charset="0"/>
                      </a:rPr>
                      <m:t>√</m:t>
                    </m:r>
                    <m:r>
                      <a:rPr lang="en-US" sz="2400" i="1" dirty="0">
                        <a:latin typeface="DejaVu Math TeX Gyre" panose="02000503000000000000" charset="0"/>
                        <a:ea typeface="Cambria Math" panose="02040503050406030204" pitchFamily="18" charset="0"/>
                        <a:cs typeface="DejaVu Math TeX Gyre" panose="02000503000000000000" charset="0"/>
                      </a:rPr>
                      <m:t>𝑥</m:t>
                    </m:r>
                    <m:r>
                      <a:rPr lang="en-US" sz="2400" i="1" dirty="0">
                        <a:latin typeface="DejaVu Math TeX Gyre" panose="02000503000000000000" charset="0"/>
                        <a:ea typeface="Cambria Math" panose="02040503050406030204" pitchFamily="18" charset="0"/>
                        <a:cs typeface="DejaVu Math TeX Gyre" panose="02000503000000000000" charset="0"/>
                      </a:rPr>
                      <m:t>)</m:t>
                    </m:r>
                  </m:oMath>
                </a14:m>
                <a:endParaRPr lang="en-US" sz="2400" dirty="0">
                  <a:ea typeface="Cambria Math" panose="02040503050406030204" pitchFamily="18" charset="0"/>
                  <a:cs typeface="Josefin Sans" charset="0"/>
                </a:endParaRPr>
              </a:p>
            </p:txBody>
          </p:sp>
        </mc:Choice>
        <mc:Fallback>
          <p:sp>
            <p:nvSpPr>
              <p:cNvPr id="2" name="Rectangle 7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7935" y="3524994"/>
                <a:ext cx="5225414" cy="497205"/>
              </a:xfrm>
              <a:prstGeom prst="rect">
                <a:avLst/>
              </a:prstGeom>
              <a:blipFill rotWithShape="1">
                <a:blip r:embed="rId3"/>
                <a:stretch>
                  <a:fillRect t="-22" r="12" b="2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/>
          <p:nvPr/>
        </p:nvCxnSpPr>
        <p:spPr>
          <a:xfrm flipH="1">
            <a:off x="4354195" y="1995170"/>
            <a:ext cx="8102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 Box 9"/>
              <p:cNvSpPr txBox="1"/>
              <p:nvPr/>
            </p:nvSpPr>
            <p:spPr>
              <a:xfrm>
                <a:off x="5244465" y="1785620"/>
                <a:ext cx="2376805" cy="3987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1"/>
                        </a:solidFill>
                        <a:latin typeface="DejaVu Math TeX Gyre" panose="02000503000000000000" charset="0"/>
                        <a:cs typeface="DejaVu Math TeX Gyre" panose="02000503000000000000" charset="0"/>
                      </a:rPr>
                      <m:t>𝑂</m:t>
                    </m:r>
                    <m:r>
                      <a:rPr lang="en-US" sz="2000" i="1">
                        <a:solidFill>
                          <a:schemeClr val="accent1"/>
                        </a:solidFill>
                        <a:latin typeface="DejaVu Math TeX Gyre" panose="02000503000000000000" charset="0"/>
                        <a:cs typeface="DejaVu Math TeX Gyre" panose="02000503000000000000" charset="0"/>
                      </a:rPr>
                      <m:t>(</m:t>
                    </m:r>
                    <m:r>
                      <a:rPr lang="en-US" sz="2000" i="1">
                        <a:solidFill>
                          <a:schemeClr val="accent1"/>
                        </a:solidFill>
                        <a:latin typeface="DejaVu Math TeX Gyre" panose="02000503000000000000" charset="0"/>
                        <a:cs typeface="DejaVu Math TeX Gyre" panose="02000503000000000000" charset="0"/>
                      </a:rPr>
                      <m:t>√</m:t>
                    </m:r>
                    <m:r>
                      <a:rPr lang="en-US" sz="2000" i="1">
                        <a:solidFill>
                          <a:schemeClr val="accent1"/>
                        </a:solidFill>
                        <a:latin typeface="DejaVu Math TeX Gyre" panose="02000503000000000000" charset="0"/>
                        <a:cs typeface="DejaVu Math TeX Gyre" panose="02000503000000000000" charset="0"/>
                      </a:rPr>
                      <m:t>𝑥</m:t>
                    </m:r>
                    <m:r>
                      <a:rPr lang="en-US" sz="2000" i="1">
                        <a:solidFill>
                          <a:schemeClr val="accent1"/>
                        </a:solidFill>
                        <a:latin typeface="DejaVu Math TeX Gyre" panose="02000503000000000000" charset="0"/>
                        <a:cs typeface="DejaVu Math TeX Gyre" panose="02000503000000000000" charset="0"/>
                      </a:rPr>
                      <m:t>)</m:t>
                    </m:r>
                  </m:oMath>
                </a14:m>
                <a:r>
                  <a:rPr lang="en-US" sz="2000">
                    <a:solidFill>
                      <a:schemeClr val="accent1"/>
                    </a:solidFill>
                  </a:rPr>
                  <a:t> iterations</a:t>
                </a:r>
                <a:endParaRPr lang="en-US" sz="200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10" name="Text 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4465" y="1785620"/>
                <a:ext cx="2376805" cy="39878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ight Brace 10"/>
          <p:cNvSpPr/>
          <p:nvPr/>
        </p:nvSpPr>
        <p:spPr>
          <a:xfrm>
            <a:off x="3751580" y="2184400"/>
            <a:ext cx="156845" cy="63500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 Box 11"/>
              <p:cNvSpPr txBox="1"/>
              <p:nvPr/>
            </p:nvSpPr>
            <p:spPr>
              <a:xfrm>
                <a:off x="4106545" y="2302510"/>
                <a:ext cx="2376805" cy="3987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1"/>
                        </a:solidFill>
                        <a:latin typeface="DejaVu Math TeX Gyre" panose="02000503000000000000" charset="0"/>
                        <a:cs typeface="DejaVu Math TeX Gyre" panose="02000503000000000000" charset="0"/>
                      </a:rPr>
                      <m:t>𝑂</m:t>
                    </m:r>
                    <m:r>
                      <a:rPr lang="en-US" sz="2000" i="1">
                        <a:solidFill>
                          <a:schemeClr val="accent1"/>
                        </a:solidFill>
                        <a:latin typeface="DejaVu Math TeX Gyre" panose="02000503000000000000" charset="0"/>
                        <a:cs typeface="DejaVu Math TeX Gyre" panose="02000503000000000000" charset="0"/>
                      </a:rPr>
                      <m:t>(</m:t>
                    </m:r>
                    <m:r>
                      <a:rPr lang="en-US" sz="2000" i="1">
                        <a:solidFill>
                          <a:schemeClr val="accent1"/>
                        </a:solidFill>
                        <a:latin typeface="DejaVu Math TeX Gyre" panose="02000503000000000000" charset="0"/>
                        <a:cs typeface="DejaVu Math TeX Gyre" panose="02000503000000000000" charset="0"/>
                      </a:rPr>
                      <m:t>1</m:t>
                    </m:r>
                    <m:r>
                      <a:rPr lang="en-US" sz="2000" i="1">
                        <a:solidFill>
                          <a:schemeClr val="accent1"/>
                        </a:solidFill>
                        <a:latin typeface="DejaVu Math TeX Gyre" panose="02000503000000000000" charset="0"/>
                        <a:cs typeface="DejaVu Math TeX Gyre" panose="02000503000000000000" charset="0"/>
                      </a:rPr>
                      <m:t>)</m:t>
                    </m:r>
                  </m:oMath>
                </a14:m>
                <a:r>
                  <a:rPr lang="en-US" sz="2000">
                    <a:solidFill>
                      <a:schemeClr val="accent1"/>
                    </a:solidFill>
                  </a:rPr>
                  <a:t> </a:t>
                </a:r>
                <a:r>
                  <a:rPr lang="en-US" sz="2000">
                    <a:solidFill>
                      <a:schemeClr val="accent1"/>
                    </a:solidFill>
                  </a:rPr>
                  <a:t>operations</a:t>
                </a:r>
                <a:endParaRPr lang="en-US" sz="200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12" name="Text 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6545" y="2302510"/>
                <a:ext cx="2376805" cy="39878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本框 4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/>
          <p:cNvSpPr txBox="1"/>
          <p:nvPr/>
        </p:nvSpPr>
        <p:spPr>
          <a:xfrm>
            <a:off x="192710" y="156742"/>
            <a:ext cx="5696461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en-US" altLang="en-US" spc="100" dirty="0">
                <a:solidFill>
                  <a:schemeClr val="tx1">
                    <a:lumMod val="85000"/>
                    <a:lumOff val="15000"/>
                  </a:schemeClr>
                </a:solidFill>
                <a:ea typeface="Playfair Display" panose="00000500000000000000" charset="0"/>
                <a:cs typeface="Playfair Display" panose="00000500000000000000" charset="0"/>
              </a:rPr>
              <a:t>Part.04 </a:t>
            </a:r>
            <a:r>
              <a:rPr kumimoji="1" lang="zh-CN" altLang="en-US" spc="100" dirty="0">
                <a:solidFill>
                  <a:schemeClr val="tx1">
                    <a:lumMod val="85000"/>
                    <a:lumOff val="15000"/>
                  </a:schemeClr>
                </a:solidFill>
                <a:ea typeface="Playfair Display" panose="00000500000000000000" charset="0"/>
                <a:cs typeface="Playfair Display" panose="00000500000000000000" charset="0"/>
              </a:rPr>
              <a:t> </a:t>
            </a:r>
            <a:r>
              <a:rPr kumimoji="1"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Josefin Sans" charset="0"/>
                <a:ea typeface="Josefin Sans" charset="0"/>
                <a:cs typeface="Josefin Sans" charset="0"/>
                <a:sym typeface="+mn-ea"/>
              </a:rPr>
              <a:t>Proof of Correctness &amp; Time Analysis</a:t>
            </a:r>
            <a:endParaRPr kumimoji="1" lang="en-US" altLang="en-US" spc="100" dirty="0">
              <a:solidFill>
                <a:schemeClr val="tx1">
                  <a:lumMod val="85000"/>
                  <a:lumOff val="15000"/>
                </a:schemeClr>
              </a:solidFill>
              <a:ea typeface="Playfair Display" panose="00000500000000000000" charset="0"/>
              <a:cs typeface="Playfair Display" panose="00000500000000000000" charset="0"/>
            </a:endParaRPr>
          </a:p>
        </p:txBody>
      </p:sp>
    </p:spTree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7d195523061f1c0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 hidden="1"/>
          <p:cNvSpPr txBox="1"/>
          <p:nvPr/>
        </p:nvSpPr>
        <p:spPr>
          <a:xfrm>
            <a:off x="-355600" y="1803400"/>
            <a:ext cx="262251" cy="1016000"/>
          </a:xfrm>
          <a:prstGeom prst="rect">
            <a:avLst/>
          </a:prstGeom>
          <a:noFill/>
        </p:spPr>
        <p:txBody>
          <a:bodyPr vert="wordArtVert" rtlCol="0">
            <a:spAutoFit/>
          </a:bodyPr>
          <a:lstStyle/>
          <a:p>
            <a:r>
              <a:rPr lang="en-US" altLang="zh-CN" sz="100"/>
              <a:t>e7d195523061f1c01d60fa9f1cfcbfb3d7dea265119d71e15FBB43640B43E9A75E03FE54C774D5D4779ED45933E78901D3CB0E69E39D04A9E1E9B25CF060C4BCA4D072860494D0D8E683C2FE58414E15A257B8C98CAC931B2A91D95E391D8F56A6B197C339044743E4A827576812018FE092D8F796C38DC487F641821CDDB0736DD3EE0F684ACE40</a:t>
            </a:r>
            <a:endParaRPr lang="zh-CN" altLang="en-US" sz="100"/>
          </a:p>
        </p:txBody>
      </p:sp>
      <p:grpSp>
        <p:nvGrpSpPr>
          <p:cNvPr id="3" name="组合 2"/>
          <p:cNvGrpSpPr/>
          <p:nvPr/>
        </p:nvGrpSpPr>
        <p:grpSpPr>
          <a:xfrm>
            <a:off x="556895" y="605264"/>
            <a:ext cx="5520688" cy="4984750"/>
            <a:chOff x="699004" y="854429"/>
            <a:chExt cx="4711195" cy="5276517"/>
          </a:xfrm>
        </p:grpSpPr>
        <p:sp>
          <p:nvSpPr>
            <p:cNvPr id="7" name="文本框 6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/>
            <p:cNvSpPr txBox="1"/>
            <p:nvPr/>
          </p:nvSpPr>
          <p:spPr>
            <a:xfrm>
              <a:off x="699004" y="854429"/>
              <a:ext cx="4711195" cy="4873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lt"/>
                  <a:ea typeface="Josefin Sans" charset="0"/>
                  <a:cs typeface="Josefin Sans" charset="0"/>
                  <a:sym typeface="+mn-ea"/>
                </a:rPr>
                <a:t>Time Complexity Analysis</a:t>
              </a:r>
              <a:endParaRPr kumimoji="1"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Josefin Sans" charset="0"/>
                <a:cs typeface="Josefin Sans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Rectangle 7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/>
                <p:cNvSpPr/>
                <p:nvPr/>
              </p:nvSpPr>
              <p:spPr>
                <a:xfrm>
                  <a:off x="790042" y="1342423"/>
                  <a:ext cx="4459217" cy="4788523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>
                    <a:lnSpc>
                      <a:spcPct val="110000"/>
                    </a:lnSpc>
                  </a:pPr>
                  <a:r>
                    <a:rPr lang="en-US" dirty="0">
                      <a:ea typeface="Cambria Math" panose="02040503050406030204" pitchFamily="18" charset="0"/>
                      <a:cs typeface="Josefin Sans" charset="0"/>
                      <a:sym typeface="+mn-ea"/>
                    </a:rPr>
                    <a:t>FoxAndDinner(n,A)</a:t>
                  </a:r>
                  <a:endParaRPr lang="en-US" dirty="0">
                    <a:ea typeface="Cambria Math" panose="02040503050406030204" pitchFamily="18" charset="0"/>
                    <a:cs typeface="Josefin Sans" charset="0"/>
                    <a:sym typeface="+mn-ea"/>
                  </a:endParaRPr>
                </a:p>
                <a:p>
                  <a:pPr lvl="0">
                    <a:lnSpc>
                      <a:spcPct val="110000"/>
                    </a:lnSpc>
                  </a:pPr>
                  <a:r>
                    <a:rPr lang="en-US" dirty="0">
                      <a:ea typeface="Cambria Math" panose="02040503050406030204" pitchFamily="18" charset="0"/>
                      <a:cs typeface="Josefin Sans" charset="0"/>
                      <a:sym typeface="+mn-ea"/>
                    </a:rPr>
                    <a:t>1.  </a:t>
                  </a:r>
                  <a14:m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𝑂𝐷𝐷</m:t>
                      </m:r>
                    </m:oMath>
                  </a14:m>
                  <a:r>
                    <a:rPr lang="en-US" dirty="0">
                      <a:ea typeface="Cambria Math" panose="02040503050406030204" pitchFamily="18" charset="0"/>
                      <a:cs typeface="Josefin Sans" charset="0"/>
                      <a:sym typeface="+mn-ea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← </m:t>
                      </m:r>
                    </m:oMath>
                  </a14:m>
                  <a:r>
                    <a:rPr lang="en-US" dirty="0">
                      <a:ea typeface="Cambria Math" panose="02040503050406030204" pitchFamily="18" charset="0"/>
                      <a:cs typeface="Josefin Sans" charset="0"/>
                      <a:sym typeface="+mn-ea"/>
                    </a:rPr>
                    <a:t>{</a:t>
                  </a:r>
                  <a14:m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 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𝑖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 </m:t>
                      </m:r>
                    </m:oMath>
                  </a14:m>
                  <a:r>
                    <a:rPr lang="en-US" dirty="0">
                      <a:ea typeface="Cambria Math" panose="02040503050406030204" pitchFamily="18" charset="0"/>
                      <a:cs typeface="Josefin Sans" charset="0"/>
                      <a:sym typeface="+mn-ea"/>
                    </a:rPr>
                    <a:t>| </a:t>
                  </a:r>
                  <a14:m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𝐴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[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𝑖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] </m:t>
                      </m:r>
                    </m:oMath>
                  </a14:m>
                  <a:r>
                    <a:rPr lang="en-US" dirty="0">
                      <a:ea typeface="Cambria Math" panose="02040503050406030204" pitchFamily="18" charset="0"/>
                      <a:cs typeface="Josefin Sans" charset="0"/>
                      <a:sym typeface="+mn-ea"/>
                    </a:rPr>
                    <a:t>is odd }</a:t>
                  </a:r>
                  <a:endParaRPr lang="en-US" dirty="0">
                    <a:ea typeface="Cambria Math" panose="02040503050406030204" pitchFamily="18" charset="0"/>
                    <a:cs typeface="Josefin Sans" charset="0"/>
                    <a:sym typeface="+mn-ea"/>
                  </a:endParaRPr>
                </a:p>
                <a:p>
                  <a:pPr lvl="0">
                    <a:lnSpc>
                      <a:spcPct val="110000"/>
                    </a:lnSpc>
                  </a:pPr>
                  <a:r>
                    <a:rPr lang="en-US" dirty="0">
                      <a:ea typeface="Cambria Math" panose="02040503050406030204" pitchFamily="18" charset="0"/>
                      <a:cs typeface="Josefin Sans" charset="0"/>
                      <a:sym typeface="+mn-ea"/>
                    </a:rPr>
                    <a:t>2.  </a:t>
                  </a:r>
                  <a14:m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𝐸𝑉𝐸𝑁</m:t>
                      </m:r>
                    </m:oMath>
                  </a14:m>
                  <a:r>
                    <a:rPr lang="en-US" dirty="0">
                      <a:ea typeface="Cambria Math" panose="02040503050406030204" pitchFamily="18" charset="0"/>
                      <a:cs typeface="Josefin Sans" charset="0"/>
                      <a:sym typeface="+mn-ea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←</m:t>
                      </m:r>
                    </m:oMath>
                  </a14:m>
                  <a:r>
                    <a:rPr lang="en-US" dirty="0">
                      <a:ea typeface="Cambria Math" panose="02040503050406030204" pitchFamily="18" charset="0"/>
                      <a:cs typeface="Josefin Sans" charset="0"/>
                      <a:sym typeface="+mn-ea"/>
                    </a:rPr>
                    <a:t> { </a:t>
                  </a:r>
                  <a14:m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𝑖</m:t>
                      </m:r>
                    </m:oMath>
                  </a14:m>
                  <a:r>
                    <a:rPr lang="en-US" dirty="0">
                      <a:ea typeface="Cambria Math" panose="02040503050406030204" pitchFamily="18" charset="0"/>
                      <a:cs typeface="Josefin Sans" charset="0"/>
                      <a:sym typeface="+mn-ea"/>
                    </a:rPr>
                    <a:t> | </a:t>
                  </a:r>
                  <a14:m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𝐴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[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𝑖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]</m:t>
                      </m:r>
                    </m:oMath>
                  </a14:m>
                  <a:r>
                    <a:rPr lang="en-US" dirty="0">
                      <a:ea typeface="Cambria Math" panose="02040503050406030204" pitchFamily="18" charset="0"/>
                      <a:cs typeface="Josefin Sans" charset="0"/>
                      <a:sym typeface="+mn-ea"/>
                    </a:rPr>
                    <a:t> is even }</a:t>
                  </a:r>
                  <a:endParaRPr lang="en-US" dirty="0">
                    <a:ea typeface="Cambria Math" panose="02040503050406030204" pitchFamily="18" charset="0"/>
                    <a:cs typeface="Josefin Sans" charset="0"/>
                  </a:endParaRPr>
                </a:p>
                <a:p>
                  <a:pPr lvl="0">
                    <a:lnSpc>
                      <a:spcPct val="110000"/>
                    </a:lnSpc>
                  </a:pPr>
                  <a:r>
                    <a:rPr lang="en-US" dirty="0">
                      <a:ea typeface="Cambria Math" panose="02040503050406030204" pitchFamily="18" charset="0"/>
                      <a:cs typeface="Josefin Sans" charset="0"/>
                    </a:rPr>
                    <a:t>3.  Return “Impossible” if </a:t>
                  </a:r>
                  <a14:m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|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𝑂𝐷𝐷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|</m:t>
                      </m:r>
                      <m:r>
                        <a:rPr lang="en-US" i="1" dirty="0" smtClean="0">
                          <a:latin typeface="DejaVu Math TeX Gyre" panose="02000503000000000000" charset="0"/>
                          <a:ea typeface="Cambria Math" panose="02040503050406030204" pitchFamily="18" charset="0"/>
                          <a:cs typeface="DejaVu Math TeX Gyre" panose="02000503000000000000" charset="0"/>
                        </a:rPr>
                        <m:t>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|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𝐸𝑉𝐸𝑁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|</m:t>
                      </m:r>
                    </m:oMath>
                  </a14:m>
                  <a:endParaRPr lang="en-US" dirty="0">
                    <a:ea typeface="Cambria Math" panose="02040503050406030204" pitchFamily="18" charset="0"/>
                    <a:cs typeface="Josefin Sans" charset="0"/>
                  </a:endParaRPr>
                </a:p>
                <a:p>
                  <a:pPr lvl="0">
                    <a:lnSpc>
                      <a:spcPct val="110000"/>
                    </a:lnSpc>
                  </a:pPr>
                  <a:r>
                    <a:rPr lang="en-US" dirty="0">
                      <a:ea typeface="Cambria Math" panose="02040503050406030204" pitchFamily="18" charset="0"/>
                      <a:cs typeface="Josefin Sans" charset="0"/>
                    </a:rPr>
                    <a:t>4.  For each u in </a:t>
                  </a:r>
                  <a14:m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𝑂𝐷𝐷</m:t>
                      </m:r>
                    </m:oMath>
                  </a14:m>
                  <a:r>
                    <a:rPr lang="en-US" dirty="0">
                      <a:ea typeface="Cambria Math" panose="02040503050406030204" pitchFamily="18" charset="0"/>
                      <a:cs typeface="Josefin Sans" charset="0"/>
                    </a:rPr>
                    <a:t>:</a:t>
                  </a:r>
                  <a:endParaRPr lang="en-US" dirty="0">
                    <a:ea typeface="Cambria Math" panose="02040503050406030204" pitchFamily="18" charset="0"/>
                    <a:cs typeface="Josefin Sans" charset="0"/>
                  </a:endParaRPr>
                </a:p>
                <a:p>
                  <a:pPr lvl="0">
                    <a:lnSpc>
                      <a:spcPct val="110000"/>
                    </a:lnSpc>
                  </a:pPr>
                  <a:r>
                    <a:rPr lang="en-US" dirty="0">
                      <a:ea typeface="Cambria Math" panose="02040503050406030204" pitchFamily="18" charset="0"/>
                      <a:cs typeface="Josefin Sans" charset="0"/>
                    </a:rPr>
                    <a:t>5.    For each v in </a:t>
                  </a:r>
                  <a14:m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𝐸𝑉𝐸𝑁</m:t>
                      </m:r>
                    </m:oMath>
                  </a14:m>
                  <a:r>
                    <a:rPr lang="en-US" dirty="0">
                      <a:ea typeface="Cambria Math" panose="02040503050406030204" pitchFamily="18" charset="0"/>
                      <a:cs typeface="Josefin Sans" charset="0"/>
                    </a:rPr>
                    <a:t>:</a:t>
                  </a:r>
                  <a:endParaRPr lang="en-US" dirty="0">
                    <a:ea typeface="Cambria Math" panose="02040503050406030204" pitchFamily="18" charset="0"/>
                    <a:cs typeface="Josefin Sans" charset="0"/>
                  </a:endParaRPr>
                </a:p>
                <a:p>
                  <a:pPr lvl="0">
                    <a:lnSpc>
                      <a:spcPct val="110000"/>
                    </a:lnSpc>
                  </a:pPr>
                  <a:r>
                    <a:rPr lang="en-US" dirty="0">
                      <a:ea typeface="Cambria Math" panose="02040503050406030204" pitchFamily="18" charset="0"/>
                      <a:cs typeface="Josefin Sans" charset="0"/>
                    </a:rPr>
                    <a:t>6.      If </a:t>
                  </a:r>
                  <a14:m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𝐼𝑠𝑃𝑟𝑖𝑚𝑒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(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𝐴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[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𝑢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] +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𝐴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[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𝑣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]) </m:t>
                      </m:r>
                    </m:oMath>
                  </a14:m>
                  <a:r>
                    <a:rPr lang="en-US" dirty="0">
                      <a:ea typeface="Cambria Math" panose="02040503050406030204" pitchFamily="18" charset="0"/>
                      <a:cs typeface="Josefin Sans" charset="0"/>
                    </a:rPr>
                    <a:t>:</a:t>
                  </a:r>
                  <a:endParaRPr lang="en-US" dirty="0">
                    <a:ea typeface="Cambria Math" panose="02040503050406030204" pitchFamily="18" charset="0"/>
                    <a:cs typeface="Josefin Sans" charset="0"/>
                  </a:endParaRPr>
                </a:p>
                <a:p>
                  <a:pPr lvl="0">
                    <a:lnSpc>
                      <a:spcPct val="110000"/>
                    </a:lnSpc>
                  </a:pPr>
                  <a:r>
                    <a:rPr lang="en-US" dirty="0">
                      <a:ea typeface="Cambria Math" panose="02040503050406030204" pitchFamily="18" charset="0"/>
                      <a:cs typeface="Josefin Sans" charset="0"/>
                    </a:rPr>
                    <a:t>7.        Add (u,v) to G with capacity 1</a:t>
                  </a:r>
                  <a:endParaRPr lang="en-US" dirty="0">
                    <a:ea typeface="Cambria Math" panose="02040503050406030204" pitchFamily="18" charset="0"/>
                    <a:cs typeface="Josefin Sans" charset="0"/>
                  </a:endParaRPr>
                </a:p>
                <a:p>
                  <a:pPr lvl="0">
                    <a:lnSpc>
                      <a:spcPct val="110000"/>
                    </a:lnSpc>
                  </a:pPr>
                  <a:r>
                    <a:rPr lang="en-US" dirty="0">
                      <a:ea typeface="Cambria Math" panose="02040503050406030204" pitchFamily="18" charset="0"/>
                      <a:cs typeface="Josefin Sans" charset="0"/>
                    </a:rPr>
                    <a:t>8.  For each </a:t>
                  </a:r>
                  <a14:m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𝑢</m:t>
                      </m:r>
                    </m:oMath>
                  </a14:m>
                  <a:r>
                    <a:rPr lang="en-US" dirty="0">
                      <a:ea typeface="Cambria Math" panose="02040503050406030204" pitchFamily="18" charset="0"/>
                      <a:cs typeface="Josefin Sans" charset="0"/>
                    </a:rPr>
                    <a:t> in </a:t>
                  </a:r>
                  <a14:m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𝑂𝐷𝐷</m:t>
                      </m:r>
                    </m:oMath>
                  </a14:m>
                  <a:r>
                    <a:rPr lang="en-US" dirty="0">
                      <a:ea typeface="Cambria Math" panose="02040503050406030204" pitchFamily="18" charset="0"/>
                      <a:cs typeface="Josefin Sans" charset="0"/>
                    </a:rPr>
                    <a:t>:</a:t>
                  </a:r>
                  <a:endParaRPr lang="en-US" dirty="0">
                    <a:ea typeface="Cambria Math" panose="02040503050406030204" pitchFamily="18" charset="0"/>
                    <a:cs typeface="Josefin Sans" charset="0"/>
                  </a:endParaRPr>
                </a:p>
                <a:p>
                  <a:pPr lvl="0">
                    <a:lnSpc>
                      <a:spcPct val="110000"/>
                    </a:lnSpc>
                  </a:pPr>
                  <a:r>
                    <a:rPr lang="en-US" dirty="0">
                      <a:ea typeface="Cambria Math" panose="02040503050406030204" pitchFamily="18" charset="0"/>
                      <a:cs typeface="Josefin Sans" charset="0"/>
                    </a:rPr>
                    <a:t>9.    Add (s,u) to G with capacity 2</a:t>
                  </a:r>
                  <a:endParaRPr lang="en-US" dirty="0">
                    <a:ea typeface="Cambria Math" panose="02040503050406030204" pitchFamily="18" charset="0"/>
                    <a:cs typeface="Josefin Sans" charset="0"/>
                  </a:endParaRPr>
                </a:p>
                <a:p>
                  <a:pPr lvl="0">
                    <a:lnSpc>
                      <a:spcPct val="110000"/>
                    </a:lnSpc>
                  </a:pPr>
                  <a:r>
                    <a:rPr lang="en-US" dirty="0">
                      <a:ea typeface="Cambria Math" panose="02040503050406030204" pitchFamily="18" charset="0"/>
                      <a:cs typeface="Josefin Sans" charset="0"/>
                    </a:rPr>
                    <a:t>10. For each </a:t>
                  </a:r>
                  <a14:m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𝑣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 </m:t>
                      </m:r>
                    </m:oMath>
                  </a14:m>
                  <a:r>
                    <a:rPr lang="en-US" dirty="0">
                      <a:ea typeface="Cambria Math" panose="02040503050406030204" pitchFamily="18" charset="0"/>
                      <a:cs typeface="Josefin Sans" charset="0"/>
                    </a:rPr>
                    <a:t>in </a:t>
                  </a:r>
                  <a14:m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𝐸𝑉𝐸𝑁</m:t>
                      </m:r>
                    </m:oMath>
                  </a14:m>
                  <a:r>
                    <a:rPr lang="en-US" dirty="0">
                      <a:ea typeface="Cambria Math" panose="02040503050406030204" pitchFamily="18" charset="0"/>
                      <a:cs typeface="Josefin Sans" charset="0"/>
                    </a:rPr>
                    <a:t>:</a:t>
                  </a:r>
                  <a:endParaRPr lang="en-US" dirty="0">
                    <a:ea typeface="Cambria Math" panose="02040503050406030204" pitchFamily="18" charset="0"/>
                    <a:cs typeface="Josefin Sans" charset="0"/>
                  </a:endParaRPr>
                </a:p>
                <a:p>
                  <a:pPr lvl="0">
                    <a:lnSpc>
                      <a:spcPct val="110000"/>
                    </a:lnSpc>
                  </a:pPr>
                  <a:r>
                    <a:rPr lang="en-US" dirty="0">
                      <a:ea typeface="Cambria Math" panose="02040503050406030204" pitchFamily="18" charset="0"/>
                      <a:cs typeface="Josefin Sans" charset="0"/>
                      <a:sym typeface="+mn-ea"/>
                    </a:rPr>
                    <a:t>11.   Add (v,t) to G with capacity 2</a:t>
                  </a:r>
                  <a:endParaRPr lang="en-US" dirty="0">
                    <a:ea typeface="Cambria Math" panose="02040503050406030204" pitchFamily="18" charset="0"/>
                    <a:cs typeface="Josefin Sans" charset="0"/>
                    <a:sym typeface="+mn-ea"/>
                  </a:endParaRPr>
                </a:p>
                <a:p>
                  <a:pPr lvl="0">
                    <a:lnSpc>
                      <a:spcPct val="110000"/>
                    </a:lnSpc>
                  </a:pPr>
                  <a:r>
                    <a:rPr lang="en-US" dirty="0">
                      <a:ea typeface="Cambria Math" panose="02040503050406030204" pitchFamily="18" charset="0"/>
                      <a:cs typeface="Josefin Sans" charset="0"/>
                      <a:sym typeface="+mn-ea"/>
                    </a:rPr>
                    <a:t>12. </a:t>
                  </a:r>
                  <a14:m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𝑚𝑎𝑥𝐹𝑙𝑜𝑤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Josefin Sans" charset="0"/>
                        </a:rPr>
                        <m:t> ←</m:t>
                      </m:r>
                    </m:oMath>
                  </a14:m>
                  <a:r>
                    <a:rPr lang="en-US" dirty="0">
                      <a:ea typeface="Cambria Math" panose="02040503050406030204" pitchFamily="18" charset="0"/>
                      <a:cs typeface="Josefin Sans" charset="0"/>
                      <a:sym typeface="+mn-ea"/>
                    </a:rPr>
                    <a:t> Ford_Fulkerson(G,c,s,t)</a:t>
                  </a:r>
                  <a:endParaRPr lang="en-US" dirty="0">
                    <a:ea typeface="Cambria Math" panose="02040503050406030204" pitchFamily="18" charset="0"/>
                    <a:cs typeface="Josefin Sans" charset="0"/>
                  </a:endParaRPr>
                </a:p>
              </p:txBody>
            </p:sp>
          </mc:Choice>
          <mc:Fallback>
            <p:sp>
              <p:nvSpPr>
                <p:cNvPr id="8" name="Rectangle 7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0042" y="1342423"/>
                  <a:ext cx="4459217" cy="4788523"/>
                </a:xfrm>
                <a:prstGeom prst="rect">
                  <a:avLst/>
                </a:prstGeom>
                <a:blipFill rotWithShape="1">
                  <a:blip r:embed="rId1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 Box 8"/>
              <p:cNvSpPr txBox="1"/>
              <p:nvPr/>
            </p:nvSpPr>
            <p:spPr>
              <a:xfrm>
                <a:off x="6186805" y="789940"/>
                <a:ext cx="5608320" cy="26854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lvl="0">
                  <a:lnSpc>
                    <a:spcPct val="110000"/>
                  </a:lnSpc>
                </a:pPr>
                <a:r>
                  <a:rPr lang="en-US" dirty="0">
                    <a:ea typeface="Cambria Math" panose="02040503050406030204" pitchFamily="18" charset="0"/>
                    <a:cs typeface="Josefin Sans" charset="0"/>
                    <a:sym typeface="+mn-ea"/>
                  </a:rPr>
                  <a:t>13. If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</a:rPr>
                      <m:t>𝑚𝑎𝑥𝐹𝑙𝑜𝑤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</a:rPr>
                      <m:t> &lt; 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</a:rPr>
                      <m:t>𝑛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  <a:cs typeface="Josefin Sans" charset="0"/>
                    <a:sym typeface="+mn-ea"/>
                  </a:rPr>
                  <a:t>:</a:t>
                </a:r>
                <a:endParaRPr lang="en-US" dirty="0">
                  <a:ea typeface="Cambria Math" panose="02040503050406030204" pitchFamily="18" charset="0"/>
                  <a:cs typeface="Josefin Sans" charset="0"/>
                </a:endParaRPr>
              </a:p>
              <a:p>
                <a:pPr lvl="0">
                  <a:lnSpc>
                    <a:spcPct val="110000"/>
                  </a:lnSpc>
                </a:pPr>
                <a:r>
                  <a:rPr lang="en-US" dirty="0">
                    <a:ea typeface="Cambria Math" panose="02040503050406030204" pitchFamily="18" charset="0"/>
                    <a:cs typeface="Josefin Sans" charset="0"/>
                    <a:sym typeface="+mn-ea"/>
                  </a:rPr>
                  <a:t>14.     </a:t>
                </a:r>
                <a:r>
                  <a:rPr lang="en-US" dirty="0">
                    <a:ea typeface="Cambria Math" panose="02040503050406030204" pitchFamily="18" charset="0"/>
                    <a:cs typeface="Josefin Sans" charset="0"/>
                    <a:sym typeface="+mn-ea"/>
                  </a:rPr>
                  <a:t>Return “Impossible”</a:t>
                </a:r>
                <a:endParaRPr lang="en-US" dirty="0">
                  <a:ea typeface="Cambria Math" panose="02040503050406030204" pitchFamily="18" charset="0"/>
                  <a:cs typeface="Josefin Sans" charset="0"/>
                </a:endParaRPr>
              </a:p>
              <a:p>
                <a:pPr lvl="0">
                  <a:lnSpc>
                    <a:spcPct val="110000"/>
                  </a:lnSpc>
                </a:pPr>
                <a:r>
                  <a:rPr lang="en-US" dirty="0">
                    <a:ea typeface="Cambria Math" panose="02040503050406030204" pitchFamily="18" charset="0"/>
                    <a:cs typeface="Josefin Sans" charset="0"/>
                    <a:sym typeface="+mn-ea"/>
                  </a:rPr>
                  <a:t>15. For each u 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</a:rPr>
                      <m:t>𝑂𝐷𝐷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  <a:cs typeface="Josefin Sans" charset="0"/>
                    <a:sym typeface="+mn-ea"/>
                  </a:rPr>
                  <a:t>:</a:t>
                </a:r>
                <a:endParaRPr lang="en-US" dirty="0">
                  <a:ea typeface="Cambria Math" panose="02040503050406030204" pitchFamily="18" charset="0"/>
                  <a:cs typeface="Josefin Sans" charset="0"/>
                  <a:sym typeface="+mn-ea"/>
                </a:endParaRPr>
              </a:p>
              <a:p>
                <a:pPr lvl="0">
                  <a:lnSpc>
                    <a:spcPct val="110000"/>
                  </a:lnSpc>
                </a:pPr>
                <a:r>
                  <a:rPr lang="en-US" dirty="0">
                    <a:ea typeface="Cambria Math" panose="02040503050406030204" pitchFamily="18" charset="0"/>
                    <a:cs typeface="Josefin Sans" charset="0"/>
                    <a:sym typeface="+mn-ea"/>
                  </a:rPr>
                  <a:t>16.   For each v 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Josefin Sans" charset="0"/>
                      </a:rPr>
                      <m:t>𝐸𝑉𝐸𝑁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  <a:cs typeface="Josefin Sans" charset="0"/>
                    <a:sym typeface="+mn-ea"/>
                  </a:rPr>
                  <a:t>:</a:t>
                </a:r>
                <a:endParaRPr lang="en-US" dirty="0">
                  <a:ea typeface="Cambria Math" panose="02040503050406030204" pitchFamily="18" charset="0"/>
                  <a:cs typeface="Josefin Sans" charset="0"/>
                  <a:sym typeface="+mn-ea"/>
                </a:endParaRPr>
              </a:p>
              <a:p>
                <a:pPr lvl="0">
                  <a:lnSpc>
                    <a:spcPct val="110000"/>
                  </a:lnSpc>
                </a:pPr>
                <a:r>
                  <a:rPr lang="en-US" dirty="0">
                    <a:ea typeface="Cambria Math" panose="02040503050406030204" pitchFamily="18" charset="0"/>
                    <a:cs typeface="Josefin Sans" charset="0"/>
                    <a:sym typeface="+mn-ea"/>
                  </a:rPr>
                  <a:t>17.     </a:t>
                </a:r>
                <a:r>
                  <a:rPr lang="en-US" altLang="en-US" dirty="0">
                    <a:ea typeface="Cambria Math" panose="02040503050406030204" pitchFamily="18" charset="0"/>
                    <a:cs typeface="Josefin Sans" charset="0"/>
                  </a:rPr>
                  <a:t>Add (u,v) to G’ if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DejaVu Math TeX Gyre" panose="02000503000000000000" charset="0"/>
                        <a:ea typeface="Cambria Math" panose="02040503050406030204" pitchFamily="18" charset="0"/>
                        <a:cs typeface="DejaVu Math TeX Gyre" panose="02000503000000000000" charset="0"/>
                      </a:rPr>
                      <m:t>𝑓</m:t>
                    </m:r>
                    <m:r>
                      <a:rPr lang="en-US" i="1" dirty="0" smtClean="0">
                        <a:latin typeface="DejaVu Math TeX Gyre" panose="02000503000000000000" charset="0"/>
                        <a:ea typeface="Cambria Math" panose="02040503050406030204" pitchFamily="18" charset="0"/>
                        <a:cs typeface="DejaVu Math TeX Gyre" panose="02000503000000000000" charset="0"/>
                      </a:rPr>
                      <m:t>(</m:t>
                    </m:r>
                    <m:r>
                      <a:rPr lang="en-US" i="1" dirty="0" smtClean="0">
                        <a:latin typeface="DejaVu Math TeX Gyre" panose="02000503000000000000" charset="0"/>
                        <a:ea typeface="Cambria Math" panose="02040503050406030204" pitchFamily="18" charset="0"/>
                        <a:cs typeface="DejaVu Math TeX Gyre" panose="02000503000000000000" charset="0"/>
                      </a:rPr>
                      <m:t>𝑢</m:t>
                    </m:r>
                    <m:r>
                      <a:rPr lang="en-US" i="1" dirty="0" smtClean="0">
                        <a:latin typeface="DejaVu Math TeX Gyre" panose="02000503000000000000" charset="0"/>
                        <a:ea typeface="Cambria Math" panose="02040503050406030204" pitchFamily="18" charset="0"/>
                        <a:cs typeface="DejaVu Math TeX Gyre" panose="02000503000000000000" charset="0"/>
                      </a:rPr>
                      <m:t>,</m:t>
                    </m:r>
                    <m:r>
                      <a:rPr lang="en-US" i="1" dirty="0" smtClean="0">
                        <a:latin typeface="DejaVu Math TeX Gyre" panose="02000503000000000000" charset="0"/>
                        <a:ea typeface="Cambria Math" panose="02040503050406030204" pitchFamily="18" charset="0"/>
                        <a:cs typeface="DejaVu Math TeX Gyre" panose="02000503000000000000" charset="0"/>
                      </a:rPr>
                      <m:t>𝑣</m:t>
                    </m:r>
                    <m:r>
                      <a:rPr lang="en-US" i="1" dirty="0" smtClean="0">
                        <a:latin typeface="DejaVu Math TeX Gyre" panose="02000503000000000000" charset="0"/>
                        <a:ea typeface="Cambria Math" panose="02040503050406030204" pitchFamily="18" charset="0"/>
                        <a:cs typeface="DejaVu Math TeX Gyre" panose="02000503000000000000" charset="0"/>
                      </a:rPr>
                      <m:t>)</m:t>
                    </m:r>
                    <m:r>
                      <a:rPr lang="en-US" i="1" dirty="0" smtClean="0">
                        <a:latin typeface="DejaVu Math TeX Gyre" panose="02000503000000000000" charset="0"/>
                        <a:ea typeface="Cambria Math" panose="02040503050406030204" pitchFamily="18" charset="0"/>
                        <a:cs typeface="DejaVu Math TeX Gyre" panose="02000503000000000000" charset="0"/>
                      </a:rPr>
                      <m:t>&gt;</m:t>
                    </m:r>
                    <m:r>
                      <a:rPr lang="en-US" i="1" dirty="0" smtClean="0">
                        <a:latin typeface="DejaVu Math TeX Gyre" panose="02000503000000000000" charset="0"/>
                        <a:ea typeface="Cambria Math" panose="02040503050406030204" pitchFamily="18" charset="0"/>
                        <a:cs typeface="DejaVu Math TeX Gyre" panose="02000503000000000000" charset="0"/>
                      </a:rPr>
                      <m:t>0</m:t>
                    </m:r>
                  </m:oMath>
                </a14:m>
                <a:endParaRPr lang="en-US" altLang="en-US" dirty="0">
                  <a:ea typeface="Cambria Math" panose="02040503050406030204" pitchFamily="18" charset="0"/>
                  <a:cs typeface="Josefin Sans" charset="0"/>
                </a:endParaRPr>
              </a:p>
              <a:p>
                <a:pPr lvl="0">
                  <a:lnSpc>
                    <a:spcPct val="110000"/>
                  </a:lnSpc>
                </a:pPr>
                <a:r>
                  <a:rPr lang="en-US" dirty="0">
                    <a:ea typeface="Cambria Math" panose="02040503050406030204" pitchFamily="18" charset="0"/>
                    <a:cs typeface="Josefin Sans" charset="0"/>
                    <a:sym typeface="+mn-ea"/>
                  </a:rPr>
                  <a:t>18. </a:t>
                </a:r>
                <a:r>
                  <a:rPr lang="en-US" altLang="en-US" dirty="0">
                    <a:ea typeface="Cambria Math" panose="02040503050406030204" pitchFamily="18" charset="0"/>
                    <a:cs typeface="Josefin Sans" charset="0"/>
                    <a:sym typeface="+mn-ea"/>
                  </a:rPr>
                  <a:t>Use DFS to find all cycles in G’. Store the sequence of vertices of each cycle in S</a:t>
                </a:r>
                <a:endParaRPr lang="en-US" altLang="en-US" dirty="0">
                  <a:ea typeface="Cambria Math" panose="02040503050406030204" pitchFamily="18" charset="0"/>
                  <a:cs typeface="Josefin Sans" charset="0"/>
                  <a:sym typeface="+mn-ea"/>
                </a:endParaRPr>
              </a:p>
              <a:p>
                <a:pPr lvl="0">
                  <a:lnSpc>
                    <a:spcPct val="110000"/>
                  </a:lnSpc>
                </a:pPr>
                <a:r>
                  <a:rPr lang="en-US"/>
                  <a:t>19. Return S</a:t>
                </a:r>
                <a:endParaRPr lang="en-US"/>
              </a:p>
            </p:txBody>
          </p:sp>
        </mc:Choice>
        <mc:Fallback>
          <p:sp>
            <p:nvSpPr>
              <p:cNvPr id="9" name="Text 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6805" y="789940"/>
                <a:ext cx="5608320" cy="268541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Straight Arrow Connector 1"/>
          <p:cNvCxnSpPr/>
          <p:nvPr/>
        </p:nvCxnSpPr>
        <p:spPr>
          <a:xfrm flipH="1">
            <a:off x="3388995" y="2681605"/>
            <a:ext cx="46228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 Box 9"/>
              <p:cNvSpPr txBox="1"/>
              <p:nvPr/>
            </p:nvSpPr>
            <p:spPr>
              <a:xfrm>
                <a:off x="3864610" y="2507615"/>
                <a:ext cx="1699260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1"/>
                        </a:solidFill>
                        <a:latin typeface="DejaVu Math TeX Gyre" panose="02000503000000000000" charset="0"/>
                        <a:cs typeface="DejaVu Math TeX Gyre" panose="02000503000000000000" charset="0"/>
                      </a:rPr>
                      <m:t>𝑂</m:t>
                    </m:r>
                    <m:r>
                      <a:rPr lang="en-US" i="1">
                        <a:solidFill>
                          <a:schemeClr val="accent1"/>
                        </a:solidFill>
                        <a:latin typeface="DejaVu Math TeX Gyre" panose="02000503000000000000" charset="0"/>
                        <a:cs typeface="DejaVu Math TeX Gyre" panose="02000503000000000000" charset="0"/>
                      </a:rPr>
                      <m:t>(</m:t>
                    </m:r>
                    <m:r>
                      <a:rPr lang="en-US" i="1">
                        <a:solidFill>
                          <a:schemeClr val="accent1"/>
                        </a:solidFill>
                        <a:latin typeface="DejaVu Math TeX Gyre" panose="02000503000000000000" charset="0"/>
                        <a:cs typeface="DejaVu Math TeX Gyre" panose="02000503000000000000" charset="0"/>
                      </a:rPr>
                      <m:t>𝑛</m:t>
                    </m:r>
                    <m:r>
                      <a:rPr lang="en-US" i="1">
                        <a:solidFill>
                          <a:schemeClr val="accent1"/>
                        </a:solidFill>
                        <a:latin typeface="DejaVu Math TeX Gyre" panose="02000503000000000000" charset="0"/>
                        <a:cs typeface="DejaVu Math TeX Gyre" panose="02000503000000000000" charset="0"/>
                      </a:rPr>
                      <m:t>)</m:t>
                    </m:r>
                  </m:oMath>
                </a14:m>
                <a:r>
                  <a:rPr lang="en-US">
                    <a:solidFill>
                      <a:schemeClr val="accent1"/>
                    </a:solidFill>
                  </a:rPr>
                  <a:t> iterations</a:t>
                </a:r>
                <a:endParaRPr lang="en-US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10" name="Text 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4610" y="2507615"/>
                <a:ext cx="1699260" cy="36830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/>
          <p:cNvCxnSpPr/>
          <p:nvPr/>
        </p:nvCxnSpPr>
        <p:spPr>
          <a:xfrm flipH="1">
            <a:off x="3676015" y="3037205"/>
            <a:ext cx="46228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 Box 10"/>
              <p:cNvSpPr txBox="1"/>
              <p:nvPr/>
            </p:nvSpPr>
            <p:spPr>
              <a:xfrm>
                <a:off x="4151630" y="2863215"/>
                <a:ext cx="1699260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1"/>
                        </a:solidFill>
                        <a:latin typeface="DejaVu Math TeX Gyre" panose="02000503000000000000" charset="0"/>
                        <a:cs typeface="DejaVu Math TeX Gyre" panose="02000503000000000000" charset="0"/>
                      </a:rPr>
                      <m:t>𝑂</m:t>
                    </m:r>
                    <m:r>
                      <a:rPr lang="en-US" i="1">
                        <a:solidFill>
                          <a:schemeClr val="accent1"/>
                        </a:solidFill>
                        <a:latin typeface="DejaVu Math TeX Gyre" panose="02000503000000000000" charset="0"/>
                        <a:cs typeface="DejaVu Math TeX Gyre" panose="02000503000000000000" charset="0"/>
                      </a:rPr>
                      <m:t>(</m:t>
                    </m:r>
                    <m:r>
                      <a:rPr lang="en-US" i="1">
                        <a:solidFill>
                          <a:schemeClr val="accent1"/>
                        </a:solidFill>
                        <a:latin typeface="DejaVu Math TeX Gyre" panose="02000503000000000000" charset="0"/>
                        <a:cs typeface="DejaVu Math TeX Gyre" panose="02000503000000000000" charset="0"/>
                      </a:rPr>
                      <m:t>𝑛</m:t>
                    </m:r>
                    <m:r>
                      <a:rPr lang="en-US" i="1">
                        <a:solidFill>
                          <a:schemeClr val="accent1"/>
                        </a:solidFill>
                        <a:latin typeface="DejaVu Math TeX Gyre" panose="02000503000000000000" charset="0"/>
                        <a:cs typeface="DejaVu Math TeX Gyre" panose="02000503000000000000" charset="0"/>
                      </a:rPr>
                      <m:t>)</m:t>
                    </m:r>
                  </m:oMath>
                </a14:m>
                <a:r>
                  <a:rPr lang="en-US">
                    <a:solidFill>
                      <a:schemeClr val="accent1"/>
                    </a:solidFill>
                  </a:rPr>
                  <a:t> iterations</a:t>
                </a:r>
                <a:endParaRPr lang="en-US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11" name="Text 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1630" y="2863215"/>
                <a:ext cx="1699260" cy="36830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ight Brace 11"/>
          <p:cNvSpPr/>
          <p:nvPr/>
        </p:nvSpPr>
        <p:spPr>
          <a:xfrm>
            <a:off x="5100320" y="1408430"/>
            <a:ext cx="247015" cy="111061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 Box 12"/>
              <p:cNvSpPr txBox="1"/>
              <p:nvPr/>
            </p:nvSpPr>
            <p:spPr>
              <a:xfrm>
                <a:off x="5378450" y="1779905"/>
                <a:ext cx="686435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1"/>
                        </a:solidFill>
                        <a:latin typeface="DejaVu Math TeX Gyre" panose="02000503000000000000" charset="0"/>
                        <a:cs typeface="DejaVu Math TeX Gyre" panose="02000503000000000000" charset="0"/>
                      </a:rPr>
                      <m:t>𝑂</m:t>
                    </m:r>
                    <m:r>
                      <a:rPr lang="en-US" i="1">
                        <a:solidFill>
                          <a:schemeClr val="accent1"/>
                        </a:solidFill>
                        <a:latin typeface="DejaVu Math TeX Gyre" panose="02000503000000000000" charset="0"/>
                        <a:cs typeface="DejaVu Math TeX Gyre" panose="02000503000000000000" charset="0"/>
                      </a:rPr>
                      <m:t>(</m:t>
                    </m:r>
                    <m:r>
                      <a:rPr lang="en-US" i="1">
                        <a:solidFill>
                          <a:schemeClr val="accent1"/>
                        </a:solidFill>
                        <a:latin typeface="DejaVu Math TeX Gyre" panose="02000503000000000000" charset="0"/>
                        <a:cs typeface="DejaVu Math TeX Gyre" panose="02000503000000000000" charset="0"/>
                      </a:rPr>
                      <m:t>𝑛</m:t>
                    </m:r>
                    <m:r>
                      <a:rPr lang="en-US" i="1">
                        <a:solidFill>
                          <a:schemeClr val="accent1"/>
                        </a:solidFill>
                        <a:latin typeface="DejaVu Math TeX Gyre" panose="02000503000000000000" charset="0"/>
                        <a:cs typeface="DejaVu Math TeX Gyre" panose="02000503000000000000" charset="0"/>
                      </a:rPr>
                      <m:t>)</m:t>
                    </m:r>
                  </m:oMath>
                </a14:m>
                <a:r>
                  <a:rPr lang="en-US">
                    <a:solidFill>
                      <a:schemeClr val="accent1"/>
                    </a:solidFill>
                  </a:rPr>
                  <a:t> </a:t>
                </a:r>
                <a:endParaRPr lang="en-US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13" name="Text 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8450" y="1779905"/>
                <a:ext cx="686435" cy="36830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 Box 13"/>
              <p:cNvSpPr txBox="1"/>
              <p:nvPr/>
            </p:nvSpPr>
            <p:spPr>
              <a:xfrm>
                <a:off x="6426835" y="3979545"/>
                <a:ext cx="4855210" cy="13690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sz="2400" b="1"/>
                  <a:t>Runtime</a:t>
                </a:r>
                <a:r>
                  <a:rPr lang="en-US" sz="2400"/>
                  <a:t>: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𝑂</m:t>
                    </m:r>
                    <m:r>
                      <a:rPr lang="en-US" sz="2400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(</m:t>
                    </m:r>
                    <m:sSup>
                      <m:sSupPr>
                        <m:ctrlPr>
                          <a:rPr lang="en-US" sz="24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𝑛</m:t>
                        </m:r>
                      </m:e>
                      <m:sup>
                        <m:r>
                          <a:rPr lang="en-US" sz="24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√</m:t>
                    </m:r>
                    <m:r>
                      <a:rPr lang="en-US" sz="2400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𝑚</m:t>
                    </m:r>
                    <m:r>
                      <a:rPr lang="en-US" sz="2400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+</m:t>
                    </m:r>
                    <m:sSup>
                      <m:sSupPr>
                        <m:ctrlPr>
                          <a:rPr lang="en-US" sz="24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𝑛</m:t>
                        </m:r>
                      </m:e>
                      <m:sup>
                        <m:r>
                          <a:rPr lang="en-US" sz="24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3</m:t>
                        </m:r>
                      </m:sup>
                    </m:sSup>
                    <m:r>
                      <a:rPr lang="en-US" sz="2400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)</m:t>
                    </m:r>
                  </m:oMath>
                </a14:m>
                <a:r>
                  <a:rPr lang="en-US" sz="2400"/>
                  <a:t>,where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𝑚</m:t>
                    </m:r>
                    <m:r>
                      <a:rPr lang="en-US" sz="2400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𝑚𝑎𝑥</m:t>
                        </m:r>
                      </m:e>
                      <m:sub>
                        <m:r>
                          <a:rPr lang="en-US" sz="24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𝑖</m:t>
                        </m:r>
                        <m:r>
                          <a:rPr lang="en-US" sz="24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∈[</m:t>
                        </m:r>
                        <m:r>
                          <a:rPr lang="en-US" sz="24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𝑛</m:t>
                        </m:r>
                        <m:r>
                          <a:rPr lang="en-US" sz="24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]</m:t>
                        </m:r>
                      </m:sub>
                    </m:sSub>
                    <m:r>
                      <a:rPr lang="en-US" sz="2400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𝑎</m:t>
                    </m:r>
                    <m:r>
                      <a:rPr lang="en-US" sz="2400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[</m:t>
                    </m:r>
                    <m:r>
                      <a:rPr lang="en-US" sz="2400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𝑖</m:t>
                    </m:r>
                    <m:r>
                      <a:rPr lang="en-US" sz="2400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]</m:t>
                    </m:r>
                  </m:oMath>
                </a14:m>
                <a:endParaRPr lang="en-US" sz="2000"/>
              </a:p>
              <a:p>
                <a:pPr indent="0" fontAlgn="auto">
                  <a:lnSpc>
                    <a:spcPct val="150000"/>
                  </a:lnSpc>
                </a:pPr>
                <a:r>
                  <a:rPr lang="en-US" sz="2000"/>
                  <a:t>Note that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𝑛</m:t>
                    </m:r>
                    <m:r>
                      <a:rPr lang="en-US" sz="2000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≤</m:t>
                    </m:r>
                    <m:r>
                      <a:rPr lang="en-US" sz="2000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200</m:t>
                    </m:r>
                  </m:oMath>
                </a14:m>
                <a:r>
                  <a:rPr lang="en-US" sz="2000"/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𝑚</m:t>
                    </m:r>
                    <m:r>
                      <a:rPr lang="en-US" sz="2000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≤</m:t>
                    </m:r>
                    <m:sSup>
                      <m:sSupPr>
                        <m:ctrlPr>
                          <a:rPr lang="en-US" sz="20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10</m:t>
                        </m:r>
                      </m:e>
                      <m:sup>
                        <m:r>
                          <a:rPr lang="en-US" sz="20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US" sz="2000"/>
                  <a:t>.</a:t>
                </a:r>
                <a:endParaRPr lang="en-US" sz="2000"/>
              </a:p>
            </p:txBody>
          </p:sp>
        </mc:Choice>
        <mc:Fallback>
          <p:sp>
            <p:nvSpPr>
              <p:cNvPr id="14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6835" y="3979545"/>
                <a:ext cx="4855210" cy="136906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/>
          <p:nvPr/>
        </p:nvCxnSpPr>
        <p:spPr>
          <a:xfrm flipH="1">
            <a:off x="4396105" y="3409315"/>
            <a:ext cx="46228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 Box 15"/>
              <p:cNvSpPr txBox="1"/>
              <p:nvPr/>
            </p:nvSpPr>
            <p:spPr>
              <a:xfrm>
                <a:off x="4871720" y="3235325"/>
                <a:ext cx="1019810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1"/>
                        </a:solidFill>
                        <a:latin typeface="DejaVu Math TeX Gyre" panose="02000503000000000000" charset="0"/>
                        <a:cs typeface="DejaVu Math TeX Gyre" panose="02000503000000000000" charset="0"/>
                      </a:rPr>
                      <m:t>𝑂</m:t>
                    </m:r>
                    <m:r>
                      <a:rPr lang="en-US" i="1">
                        <a:solidFill>
                          <a:schemeClr val="accent1"/>
                        </a:solidFill>
                        <a:latin typeface="DejaVu Math TeX Gyre" panose="02000503000000000000" charset="0"/>
                        <a:cs typeface="DejaVu Math TeX Gyre" panose="02000503000000000000" charset="0"/>
                      </a:rPr>
                      <m:t>(√</m:t>
                    </m:r>
                    <m:r>
                      <a:rPr lang="en-US" i="1">
                        <a:solidFill>
                          <a:schemeClr val="accent1"/>
                        </a:solidFill>
                        <a:latin typeface="DejaVu Math TeX Gyre" panose="02000503000000000000" charset="0"/>
                        <a:cs typeface="DejaVu Math TeX Gyre" panose="02000503000000000000" charset="0"/>
                      </a:rPr>
                      <m:t>𝑚</m:t>
                    </m:r>
                    <m:r>
                      <a:rPr lang="en-US" i="1">
                        <a:solidFill>
                          <a:schemeClr val="accent1"/>
                        </a:solidFill>
                        <a:latin typeface="DejaVu Math TeX Gyre" panose="02000503000000000000" charset="0"/>
                        <a:cs typeface="DejaVu Math TeX Gyre" panose="02000503000000000000" charset="0"/>
                      </a:rPr>
                      <m:t>)</m:t>
                    </m:r>
                  </m:oMath>
                </a14:m>
                <a:r>
                  <a:rPr lang="en-US">
                    <a:solidFill>
                      <a:schemeClr val="accent1"/>
                    </a:solidFill>
                  </a:rPr>
                  <a:t> </a:t>
                </a:r>
                <a:endParaRPr lang="en-US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16" name="Text 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1720" y="3235325"/>
                <a:ext cx="1019810" cy="36830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ight Brace 17"/>
          <p:cNvSpPr/>
          <p:nvPr/>
        </p:nvSpPr>
        <p:spPr>
          <a:xfrm>
            <a:off x="4680585" y="3960495"/>
            <a:ext cx="247015" cy="113347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 Box 18"/>
              <p:cNvSpPr txBox="1"/>
              <p:nvPr/>
            </p:nvSpPr>
            <p:spPr>
              <a:xfrm>
                <a:off x="4958715" y="4363720"/>
                <a:ext cx="686435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1"/>
                        </a:solidFill>
                        <a:latin typeface="DejaVu Math TeX Gyre" panose="02000503000000000000" charset="0"/>
                        <a:cs typeface="DejaVu Math TeX Gyre" panose="02000503000000000000" charset="0"/>
                      </a:rPr>
                      <m:t>𝑂</m:t>
                    </m:r>
                    <m:r>
                      <a:rPr lang="en-US" i="1">
                        <a:solidFill>
                          <a:schemeClr val="accent1"/>
                        </a:solidFill>
                        <a:latin typeface="DejaVu Math TeX Gyre" panose="02000503000000000000" charset="0"/>
                        <a:cs typeface="DejaVu Math TeX Gyre" panose="02000503000000000000" charset="0"/>
                      </a:rPr>
                      <m:t>(</m:t>
                    </m:r>
                    <m:r>
                      <a:rPr lang="en-US" i="1">
                        <a:solidFill>
                          <a:schemeClr val="accent1"/>
                        </a:solidFill>
                        <a:latin typeface="DejaVu Math TeX Gyre" panose="02000503000000000000" charset="0"/>
                        <a:cs typeface="DejaVu Math TeX Gyre" panose="02000503000000000000" charset="0"/>
                      </a:rPr>
                      <m:t>𝑛</m:t>
                    </m:r>
                    <m:r>
                      <a:rPr lang="en-US" i="1">
                        <a:solidFill>
                          <a:schemeClr val="accent1"/>
                        </a:solidFill>
                        <a:latin typeface="DejaVu Math TeX Gyre" panose="02000503000000000000" charset="0"/>
                        <a:cs typeface="DejaVu Math TeX Gyre" panose="02000503000000000000" charset="0"/>
                      </a:rPr>
                      <m:t>)</m:t>
                    </m:r>
                  </m:oMath>
                </a14:m>
                <a:r>
                  <a:rPr lang="en-US">
                    <a:solidFill>
                      <a:schemeClr val="accent1"/>
                    </a:solidFill>
                  </a:rPr>
                  <a:t> </a:t>
                </a:r>
                <a:endParaRPr lang="en-US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19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8715" y="4363720"/>
                <a:ext cx="686435" cy="36830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/>
          <p:cNvCxnSpPr/>
          <p:nvPr/>
        </p:nvCxnSpPr>
        <p:spPr>
          <a:xfrm flipV="1">
            <a:off x="3276600" y="5487035"/>
            <a:ext cx="0" cy="4521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 Box 20"/>
              <p:cNvSpPr txBox="1"/>
              <p:nvPr/>
            </p:nvSpPr>
            <p:spPr>
              <a:xfrm>
                <a:off x="431800" y="5955030"/>
                <a:ext cx="6332855" cy="3886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>
                    <a:solidFill>
                      <a:schemeClr val="accent1"/>
                    </a:solidFill>
                    <a:latin typeface="DejaVu Math TeX Gyre" panose="02000503000000000000" charset="0"/>
                    <a:cs typeface="DejaVu Math TeX Gyre" panose="02000503000000000000" charset="0"/>
                  </a:rPr>
                  <a:t>Naive implementation: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1"/>
                        </a:solidFill>
                        <a:latin typeface="DejaVu Math TeX Gyre" panose="02000503000000000000" charset="0"/>
                        <a:cs typeface="DejaVu Math TeX Gyre" panose="02000503000000000000" charset="0"/>
                      </a:rPr>
                      <m:t>𝑂</m:t>
                    </m:r>
                    <m:r>
                      <a:rPr lang="en-US" i="1">
                        <a:solidFill>
                          <a:schemeClr val="accent1"/>
                        </a:solidFill>
                        <a:latin typeface="DejaVu Math TeX Gyre" panose="02000503000000000000" charset="0"/>
                        <a:cs typeface="DejaVu Math TeX Gyre" panose="02000503000000000000" charset="0"/>
                      </a:rPr>
                      <m:t>(|</m:t>
                    </m:r>
                    <m:r>
                      <a:rPr lang="en-US" i="1">
                        <a:solidFill>
                          <a:schemeClr val="accent1"/>
                        </a:solidFill>
                        <a:latin typeface="DejaVu Math TeX Gyre" panose="02000503000000000000" charset="0"/>
                        <a:cs typeface="DejaVu Math TeX Gyre" panose="02000503000000000000" charset="0"/>
                      </a:rPr>
                      <m:t>𝐸</m:t>
                    </m:r>
                    <m:r>
                      <a:rPr lang="en-US" i="1">
                        <a:solidFill>
                          <a:schemeClr val="accent1"/>
                        </a:solidFill>
                        <a:latin typeface="DejaVu Math TeX Gyre" panose="02000503000000000000" charset="0"/>
                        <a:cs typeface="DejaVu Math TeX Gyre" panose="02000503000000000000" charset="0"/>
                      </a:rPr>
                      <m:t>|∙</m:t>
                    </m:r>
                    <m:r>
                      <a:rPr lang="en-US" i="1">
                        <a:solidFill>
                          <a:schemeClr val="accent1"/>
                        </a:solidFill>
                        <a:latin typeface="DejaVu Math TeX Gyre" panose="02000503000000000000" charset="0"/>
                        <a:cs typeface="DejaVu Math TeX Gyre" panose="02000503000000000000" charset="0"/>
                      </a:rPr>
                      <m:t>𝐶</m:t>
                    </m:r>
                    <m:r>
                      <a:rPr lang="en-US" i="1">
                        <a:solidFill>
                          <a:schemeClr val="accent1"/>
                        </a:solidFill>
                        <a:latin typeface="DejaVu Math TeX Gyre" panose="02000503000000000000" charset="0"/>
                        <a:cs typeface="DejaVu Math TeX Gyre" panose="02000503000000000000" charset="0"/>
                      </a:rPr>
                      <m:t>)=</m:t>
                    </m:r>
                    <m:r>
                      <a:rPr lang="en-US" i="1">
                        <a:solidFill>
                          <a:schemeClr val="accent1"/>
                        </a:solidFill>
                        <a:latin typeface="DejaVu Math TeX Gyre" panose="02000503000000000000" charset="0"/>
                        <a:cs typeface="DejaVu Math TeX Gyre" panose="02000503000000000000" charset="0"/>
                      </a:rPr>
                      <m:t>𝑂</m:t>
                    </m:r>
                    <m:r>
                      <a:rPr lang="en-US" i="1">
                        <a:solidFill>
                          <a:schemeClr val="accent1"/>
                        </a:solidFill>
                        <a:latin typeface="DejaVu Math TeX Gyre" panose="02000503000000000000" charset="0"/>
                        <a:cs typeface="DejaVu Math TeX Gyre" panose="02000503000000000000" charset="0"/>
                      </a:rPr>
                      <m:t>(</m:t>
                    </m:r>
                    <m:sSup>
                      <m:sSupPr>
                        <m:ctrlPr>
                          <a:rPr lang="en-US" i="1">
                            <a:solidFill>
                              <a:schemeClr val="accent1"/>
                            </a:solidFill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accent1"/>
                            </a:solidFill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𝑛</m:t>
                        </m:r>
                      </m:e>
                      <m:sup>
                        <m:r>
                          <a:rPr lang="en-US" i="1">
                            <a:solidFill>
                              <a:schemeClr val="accent1"/>
                            </a:solidFill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solidFill>
                          <a:schemeClr val="accent1"/>
                        </a:solidFill>
                        <a:latin typeface="DejaVu Math TeX Gyre" panose="02000503000000000000" charset="0"/>
                        <a:cs typeface="DejaVu Math TeX Gyre" panose="02000503000000000000" charset="0"/>
                      </a:rPr>
                      <m:t>∙</m:t>
                    </m:r>
                    <m:r>
                      <a:rPr lang="en-US" i="1">
                        <a:solidFill>
                          <a:schemeClr val="accent1"/>
                        </a:solidFill>
                        <a:latin typeface="DejaVu Math TeX Gyre" panose="02000503000000000000" charset="0"/>
                        <a:cs typeface="DejaVu Math TeX Gyre" panose="02000503000000000000" charset="0"/>
                      </a:rPr>
                      <m:t>𝑛</m:t>
                    </m:r>
                    <m:r>
                      <a:rPr lang="en-US" i="1">
                        <a:solidFill>
                          <a:schemeClr val="accent1"/>
                        </a:solidFill>
                        <a:latin typeface="DejaVu Math TeX Gyre" panose="02000503000000000000" charset="0"/>
                        <a:cs typeface="DejaVu Math TeX Gyre" panose="02000503000000000000" charset="0"/>
                      </a:rPr>
                      <m:t>)=</m:t>
                    </m:r>
                    <m:r>
                      <a:rPr lang="en-US" i="1">
                        <a:solidFill>
                          <a:schemeClr val="accent1"/>
                        </a:solidFill>
                        <a:latin typeface="DejaVu Math TeX Gyre" panose="02000503000000000000" charset="0"/>
                        <a:cs typeface="DejaVu Math TeX Gyre" panose="02000503000000000000" charset="0"/>
                      </a:rPr>
                      <m:t>𝑂</m:t>
                    </m:r>
                    <m:r>
                      <a:rPr lang="en-US" i="1">
                        <a:solidFill>
                          <a:schemeClr val="accent1"/>
                        </a:solidFill>
                        <a:latin typeface="DejaVu Math TeX Gyre" panose="02000503000000000000" charset="0"/>
                        <a:cs typeface="DejaVu Math TeX Gyre" panose="02000503000000000000" charset="0"/>
                      </a:rPr>
                      <m:t>(</m:t>
                    </m:r>
                    <m:sSup>
                      <m:sSupPr>
                        <m:ctrlPr>
                          <a:rPr lang="en-US" i="1">
                            <a:solidFill>
                              <a:schemeClr val="accent1"/>
                            </a:solidFill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accent1"/>
                            </a:solidFill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𝑛</m:t>
                        </m:r>
                      </m:e>
                      <m:sup>
                        <m:r>
                          <a:rPr lang="en-US" i="1">
                            <a:solidFill>
                              <a:schemeClr val="accent1"/>
                            </a:solidFill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3</m:t>
                        </m:r>
                      </m:sup>
                    </m:sSup>
                    <m:r>
                      <a:rPr lang="en-US" i="1">
                        <a:solidFill>
                          <a:schemeClr val="accent1"/>
                        </a:solidFill>
                        <a:latin typeface="DejaVu Math TeX Gyre" panose="02000503000000000000" charset="0"/>
                        <a:cs typeface="DejaVu Math TeX Gyre" panose="02000503000000000000" charset="0"/>
                      </a:rPr>
                      <m:t>)</m:t>
                    </m:r>
                  </m:oMath>
                </a14:m>
                <a:r>
                  <a:rPr lang="en-US">
                    <a:solidFill>
                      <a:schemeClr val="accent1"/>
                    </a:solidFill>
                    <a:sym typeface="+mn-ea"/>
                  </a:rPr>
                  <a:t>  </a:t>
                </a:r>
                <a:endParaRPr lang="en-US"/>
              </a:p>
            </p:txBody>
          </p:sp>
        </mc:Choice>
        <mc:Fallback>
          <p:sp>
            <p:nvSpPr>
              <p:cNvPr id="21" name="Text 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800" y="5955030"/>
                <a:ext cx="6332855" cy="388620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ight Brace 21"/>
          <p:cNvSpPr/>
          <p:nvPr/>
        </p:nvSpPr>
        <p:spPr>
          <a:xfrm>
            <a:off x="9104630" y="789940"/>
            <a:ext cx="247015" cy="74993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 Box 22"/>
              <p:cNvSpPr txBox="1"/>
              <p:nvPr/>
            </p:nvSpPr>
            <p:spPr>
              <a:xfrm>
                <a:off x="9351645" y="980440"/>
                <a:ext cx="686435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1"/>
                        </a:solidFill>
                        <a:latin typeface="DejaVu Math TeX Gyre" panose="02000503000000000000" charset="0"/>
                        <a:cs typeface="DejaVu Math TeX Gyre" panose="02000503000000000000" charset="0"/>
                      </a:rPr>
                      <m:t>𝑂</m:t>
                    </m:r>
                    <m:r>
                      <a:rPr lang="en-US" i="1">
                        <a:solidFill>
                          <a:schemeClr val="accent1"/>
                        </a:solidFill>
                        <a:latin typeface="DejaVu Math TeX Gyre" panose="02000503000000000000" charset="0"/>
                        <a:cs typeface="DejaVu Math TeX Gyre" panose="02000503000000000000" charset="0"/>
                      </a:rPr>
                      <m:t>(</m:t>
                    </m:r>
                    <m:r>
                      <a:rPr lang="en-US" i="1">
                        <a:solidFill>
                          <a:schemeClr val="accent1"/>
                        </a:solidFill>
                        <a:latin typeface="DejaVu Math TeX Gyre" panose="02000503000000000000" charset="0"/>
                        <a:cs typeface="DejaVu Math TeX Gyre" panose="02000503000000000000" charset="0"/>
                      </a:rPr>
                      <m:t>1</m:t>
                    </m:r>
                    <m:r>
                      <a:rPr lang="en-US" i="1">
                        <a:solidFill>
                          <a:schemeClr val="accent1"/>
                        </a:solidFill>
                        <a:latin typeface="DejaVu Math TeX Gyre" panose="02000503000000000000" charset="0"/>
                        <a:cs typeface="DejaVu Math TeX Gyre" panose="02000503000000000000" charset="0"/>
                      </a:rPr>
                      <m:t>)</m:t>
                    </m:r>
                  </m:oMath>
                </a14:m>
                <a:r>
                  <a:rPr lang="en-US">
                    <a:solidFill>
                      <a:schemeClr val="accent1"/>
                    </a:solidFill>
                  </a:rPr>
                  <a:t> </a:t>
                </a:r>
                <a:endParaRPr lang="en-US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23" name="Text 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1645" y="980440"/>
                <a:ext cx="686435" cy="368300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/>
          <p:cNvCxnSpPr/>
          <p:nvPr/>
        </p:nvCxnSpPr>
        <p:spPr>
          <a:xfrm flipH="1">
            <a:off x="8876030" y="1725295"/>
            <a:ext cx="46228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 Box 24"/>
              <p:cNvSpPr txBox="1"/>
              <p:nvPr/>
            </p:nvSpPr>
            <p:spPr>
              <a:xfrm>
                <a:off x="9351645" y="1551305"/>
                <a:ext cx="1699260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1"/>
                        </a:solidFill>
                        <a:latin typeface="DejaVu Math TeX Gyre" panose="02000503000000000000" charset="0"/>
                        <a:cs typeface="DejaVu Math TeX Gyre" panose="02000503000000000000" charset="0"/>
                      </a:rPr>
                      <m:t>𝑂</m:t>
                    </m:r>
                    <m:r>
                      <a:rPr lang="en-US" i="1">
                        <a:solidFill>
                          <a:schemeClr val="accent1"/>
                        </a:solidFill>
                        <a:latin typeface="DejaVu Math TeX Gyre" panose="02000503000000000000" charset="0"/>
                        <a:cs typeface="DejaVu Math TeX Gyre" panose="02000503000000000000" charset="0"/>
                      </a:rPr>
                      <m:t>(</m:t>
                    </m:r>
                    <m:r>
                      <a:rPr lang="en-US" i="1">
                        <a:solidFill>
                          <a:schemeClr val="accent1"/>
                        </a:solidFill>
                        <a:latin typeface="DejaVu Math TeX Gyre" panose="02000503000000000000" charset="0"/>
                        <a:cs typeface="DejaVu Math TeX Gyre" panose="02000503000000000000" charset="0"/>
                      </a:rPr>
                      <m:t>𝑛</m:t>
                    </m:r>
                    <m:r>
                      <a:rPr lang="en-US" i="1">
                        <a:solidFill>
                          <a:schemeClr val="accent1"/>
                        </a:solidFill>
                        <a:latin typeface="DejaVu Math TeX Gyre" panose="02000503000000000000" charset="0"/>
                        <a:cs typeface="DejaVu Math TeX Gyre" panose="02000503000000000000" charset="0"/>
                      </a:rPr>
                      <m:t>)</m:t>
                    </m:r>
                  </m:oMath>
                </a14:m>
                <a:r>
                  <a:rPr lang="en-US">
                    <a:solidFill>
                      <a:schemeClr val="accent1"/>
                    </a:solidFill>
                  </a:rPr>
                  <a:t> iterations</a:t>
                </a:r>
                <a:endParaRPr lang="en-US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25" name="Text 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1645" y="1551305"/>
                <a:ext cx="1699260" cy="36830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Arrow Connector 25"/>
          <p:cNvCxnSpPr/>
          <p:nvPr/>
        </p:nvCxnSpPr>
        <p:spPr>
          <a:xfrm flipH="1">
            <a:off x="9163050" y="2080895"/>
            <a:ext cx="46228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 Box 26"/>
              <p:cNvSpPr txBox="1"/>
              <p:nvPr/>
            </p:nvSpPr>
            <p:spPr>
              <a:xfrm>
                <a:off x="9638665" y="1906905"/>
                <a:ext cx="1699260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1"/>
                        </a:solidFill>
                        <a:latin typeface="DejaVu Math TeX Gyre" panose="02000503000000000000" charset="0"/>
                        <a:cs typeface="DejaVu Math TeX Gyre" panose="02000503000000000000" charset="0"/>
                      </a:rPr>
                      <m:t>𝑂</m:t>
                    </m:r>
                    <m:r>
                      <a:rPr lang="en-US" i="1">
                        <a:solidFill>
                          <a:schemeClr val="accent1"/>
                        </a:solidFill>
                        <a:latin typeface="DejaVu Math TeX Gyre" panose="02000503000000000000" charset="0"/>
                        <a:cs typeface="DejaVu Math TeX Gyre" panose="02000503000000000000" charset="0"/>
                      </a:rPr>
                      <m:t>(</m:t>
                    </m:r>
                    <m:r>
                      <a:rPr lang="en-US" i="1">
                        <a:solidFill>
                          <a:schemeClr val="accent1"/>
                        </a:solidFill>
                        <a:latin typeface="DejaVu Math TeX Gyre" panose="02000503000000000000" charset="0"/>
                        <a:cs typeface="DejaVu Math TeX Gyre" panose="02000503000000000000" charset="0"/>
                      </a:rPr>
                      <m:t>𝑛</m:t>
                    </m:r>
                    <m:r>
                      <a:rPr lang="en-US" i="1">
                        <a:solidFill>
                          <a:schemeClr val="accent1"/>
                        </a:solidFill>
                        <a:latin typeface="DejaVu Math TeX Gyre" panose="02000503000000000000" charset="0"/>
                        <a:cs typeface="DejaVu Math TeX Gyre" panose="02000503000000000000" charset="0"/>
                      </a:rPr>
                      <m:t>)</m:t>
                    </m:r>
                  </m:oMath>
                </a14:m>
                <a:r>
                  <a:rPr lang="en-US">
                    <a:solidFill>
                      <a:schemeClr val="accent1"/>
                    </a:solidFill>
                  </a:rPr>
                  <a:t> iterations</a:t>
                </a:r>
                <a:endParaRPr lang="en-US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27" name="Text 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8665" y="1906905"/>
                <a:ext cx="1699260" cy="36830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/>
          <p:cNvCxnSpPr/>
          <p:nvPr/>
        </p:nvCxnSpPr>
        <p:spPr>
          <a:xfrm flipH="1">
            <a:off x="10500360" y="2362200"/>
            <a:ext cx="46228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 Box 28"/>
              <p:cNvSpPr txBox="1"/>
              <p:nvPr/>
            </p:nvSpPr>
            <p:spPr>
              <a:xfrm>
                <a:off x="10975975" y="2188210"/>
                <a:ext cx="1019810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1"/>
                        </a:solidFill>
                        <a:latin typeface="DejaVu Math TeX Gyre" panose="02000503000000000000" charset="0"/>
                        <a:cs typeface="DejaVu Math TeX Gyre" panose="02000503000000000000" charset="0"/>
                      </a:rPr>
                      <m:t>𝑂</m:t>
                    </m:r>
                    <m:r>
                      <a:rPr lang="en-US" i="1">
                        <a:solidFill>
                          <a:schemeClr val="accent1"/>
                        </a:solidFill>
                        <a:latin typeface="DejaVu Math TeX Gyre" panose="02000503000000000000" charset="0"/>
                        <a:cs typeface="DejaVu Math TeX Gyre" panose="02000503000000000000" charset="0"/>
                      </a:rPr>
                      <m:t>(</m:t>
                    </m:r>
                    <m:r>
                      <a:rPr lang="en-US" i="1">
                        <a:solidFill>
                          <a:schemeClr val="accent1"/>
                        </a:solidFill>
                        <a:latin typeface="DejaVu Math TeX Gyre" panose="02000503000000000000" charset="0"/>
                        <a:cs typeface="DejaVu Math TeX Gyre" panose="02000503000000000000" charset="0"/>
                      </a:rPr>
                      <m:t>1</m:t>
                    </m:r>
                    <m:r>
                      <a:rPr lang="en-US" i="1">
                        <a:solidFill>
                          <a:schemeClr val="accent1"/>
                        </a:solidFill>
                        <a:latin typeface="DejaVu Math TeX Gyre" panose="02000503000000000000" charset="0"/>
                        <a:cs typeface="DejaVu Math TeX Gyre" panose="02000503000000000000" charset="0"/>
                      </a:rPr>
                      <m:t>)</m:t>
                    </m:r>
                  </m:oMath>
                </a14:m>
                <a:r>
                  <a:rPr lang="en-US">
                    <a:solidFill>
                      <a:schemeClr val="accent1"/>
                    </a:solidFill>
                  </a:rPr>
                  <a:t> </a:t>
                </a:r>
                <a:endParaRPr lang="en-US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29" name="Text 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75975" y="2188210"/>
                <a:ext cx="1019810" cy="368300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Arrow Connector 29"/>
          <p:cNvCxnSpPr/>
          <p:nvPr/>
        </p:nvCxnSpPr>
        <p:spPr>
          <a:xfrm flipH="1">
            <a:off x="5100320" y="3698240"/>
            <a:ext cx="46228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 Box 30"/>
              <p:cNvSpPr txBox="1"/>
              <p:nvPr/>
            </p:nvSpPr>
            <p:spPr>
              <a:xfrm>
                <a:off x="5575935" y="3524250"/>
                <a:ext cx="1019810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1"/>
                        </a:solidFill>
                        <a:latin typeface="DejaVu Math TeX Gyre" panose="02000503000000000000" charset="0"/>
                        <a:cs typeface="DejaVu Math TeX Gyre" panose="02000503000000000000" charset="0"/>
                      </a:rPr>
                      <m:t>𝑂</m:t>
                    </m:r>
                    <m:r>
                      <a:rPr lang="en-US" i="1">
                        <a:solidFill>
                          <a:schemeClr val="accent1"/>
                        </a:solidFill>
                        <a:latin typeface="DejaVu Math TeX Gyre" panose="02000503000000000000" charset="0"/>
                        <a:cs typeface="DejaVu Math TeX Gyre" panose="02000503000000000000" charset="0"/>
                      </a:rPr>
                      <m:t>(</m:t>
                    </m:r>
                    <m:r>
                      <a:rPr lang="en-US" i="1">
                        <a:solidFill>
                          <a:schemeClr val="accent1"/>
                        </a:solidFill>
                        <a:latin typeface="DejaVu Math TeX Gyre" panose="02000503000000000000" charset="0"/>
                        <a:cs typeface="DejaVu Math TeX Gyre" panose="02000503000000000000" charset="0"/>
                      </a:rPr>
                      <m:t>1</m:t>
                    </m:r>
                    <m:r>
                      <a:rPr lang="en-US" i="1">
                        <a:solidFill>
                          <a:schemeClr val="accent1"/>
                        </a:solidFill>
                        <a:latin typeface="DejaVu Math TeX Gyre" panose="02000503000000000000" charset="0"/>
                        <a:cs typeface="DejaVu Math TeX Gyre" panose="02000503000000000000" charset="0"/>
                      </a:rPr>
                      <m:t>)</m:t>
                    </m:r>
                  </m:oMath>
                </a14:m>
                <a:r>
                  <a:rPr lang="en-US">
                    <a:solidFill>
                      <a:schemeClr val="accent1"/>
                    </a:solidFill>
                  </a:rPr>
                  <a:t> </a:t>
                </a:r>
                <a:endParaRPr lang="en-US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31" name="Text 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5935" y="3524250"/>
                <a:ext cx="1019810" cy="368300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 Box 32"/>
              <p:cNvSpPr txBox="1"/>
              <p:nvPr/>
            </p:nvSpPr>
            <p:spPr>
              <a:xfrm>
                <a:off x="8147685" y="3329940"/>
                <a:ext cx="3887470" cy="3879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1"/>
                        </a:solidFill>
                        <a:latin typeface="DejaVu Math TeX Gyre" panose="02000503000000000000" charset="0"/>
                        <a:cs typeface="DejaVu Math TeX Gyre" panose="02000503000000000000" charset="0"/>
                      </a:rPr>
                      <m:t>𝑂</m:t>
                    </m:r>
                    <m:r>
                      <a:rPr lang="en-US" i="1">
                        <a:solidFill>
                          <a:schemeClr val="accent1"/>
                        </a:solidFill>
                        <a:latin typeface="DejaVu Math TeX Gyre" panose="02000503000000000000" charset="0"/>
                        <a:cs typeface="DejaVu Math TeX Gyre" panose="02000503000000000000" charset="0"/>
                      </a:rPr>
                      <m:t>(|</m:t>
                    </m:r>
                    <m:r>
                      <a:rPr lang="en-US" i="1">
                        <a:solidFill>
                          <a:schemeClr val="accent1"/>
                        </a:solidFill>
                        <a:latin typeface="DejaVu Math TeX Gyre" panose="02000503000000000000" charset="0"/>
                        <a:cs typeface="DejaVu Math TeX Gyre" panose="02000503000000000000" charset="0"/>
                      </a:rPr>
                      <m:t>𝑉</m:t>
                    </m:r>
                    <m:r>
                      <a:rPr lang="en-US" i="1">
                        <a:solidFill>
                          <a:schemeClr val="accent1"/>
                        </a:solidFill>
                        <a:latin typeface="DejaVu Math TeX Gyre" panose="02000503000000000000" charset="0"/>
                        <a:cs typeface="DejaVu Math TeX Gyre" panose="02000503000000000000" charset="0"/>
                      </a:rPr>
                      <m:t>|+|</m:t>
                    </m:r>
                    <m:r>
                      <a:rPr lang="en-US" i="1">
                        <a:solidFill>
                          <a:schemeClr val="accent1"/>
                        </a:solidFill>
                        <a:latin typeface="DejaVu Math TeX Gyre" panose="02000503000000000000" charset="0"/>
                        <a:cs typeface="DejaVu Math TeX Gyre" panose="02000503000000000000" charset="0"/>
                      </a:rPr>
                      <m:t>𝐸</m:t>
                    </m:r>
                    <m:r>
                      <a:rPr lang="en-US" i="1">
                        <a:solidFill>
                          <a:schemeClr val="accent1"/>
                        </a:solidFill>
                        <a:latin typeface="DejaVu Math TeX Gyre" panose="02000503000000000000" charset="0"/>
                        <a:cs typeface="DejaVu Math TeX Gyre" panose="02000503000000000000" charset="0"/>
                      </a:rPr>
                      <m:t>|</m:t>
                    </m:r>
                    <m:r>
                      <a:rPr lang="en-US" i="1">
                        <a:solidFill>
                          <a:schemeClr val="accent1"/>
                        </a:solidFill>
                        <a:latin typeface="DejaVu Math TeX Gyre" panose="02000503000000000000" charset="0"/>
                        <a:cs typeface="DejaVu Math TeX Gyre" panose="02000503000000000000" charset="0"/>
                      </a:rPr>
                      <m:t>)=</m:t>
                    </m:r>
                    <m:r>
                      <a:rPr lang="en-US" i="1">
                        <a:solidFill>
                          <a:schemeClr val="accent1"/>
                        </a:solidFill>
                        <a:latin typeface="DejaVu Math TeX Gyre" panose="02000503000000000000" charset="0"/>
                        <a:cs typeface="DejaVu Math TeX Gyre" panose="02000503000000000000" charset="0"/>
                      </a:rPr>
                      <m:t>𝑂</m:t>
                    </m:r>
                    <m:r>
                      <a:rPr lang="en-US" i="1">
                        <a:solidFill>
                          <a:schemeClr val="accent1"/>
                        </a:solidFill>
                        <a:latin typeface="DejaVu Math TeX Gyre" panose="02000503000000000000" charset="0"/>
                        <a:cs typeface="DejaVu Math TeX Gyre" panose="02000503000000000000" charset="0"/>
                      </a:rPr>
                      <m:t>(</m:t>
                    </m:r>
                    <m:r>
                      <a:rPr lang="en-US" i="1">
                        <a:solidFill>
                          <a:schemeClr val="accent1"/>
                        </a:solidFill>
                        <a:latin typeface="DejaVu Math TeX Gyre" panose="02000503000000000000" charset="0"/>
                        <a:cs typeface="DejaVu Math TeX Gyre" panose="02000503000000000000" charset="0"/>
                      </a:rPr>
                      <m:t>𝑛</m:t>
                    </m:r>
                    <m:r>
                      <a:rPr lang="en-US" i="1">
                        <a:solidFill>
                          <a:schemeClr val="accent1"/>
                        </a:solidFill>
                        <a:latin typeface="DejaVu Math TeX Gyre" panose="02000503000000000000" charset="0"/>
                        <a:cs typeface="DejaVu Math TeX Gyre" panose="02000503000000000000" charset="0"/>
                      </a:rPr>
                      <m:t>+</m:t>
                    </m:r>
                    <m:sSup>
                      <m:sSupPr>
                        <m:ctrlPr>
                          <a:rPr lang="en-US" i="1">
                            <a:solidFill>
                              <a:schemeClr val="accent1"/>
                            </a:solidFill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accent1"/>
                            </a:solidFill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𝑛</m:t>
                        </m:r>
                      </m:e>
                      <m:sup>
                        <m:r>
                          <a:rPr lang="en-US" i="1">
                            <a:solidFill>
                              <a:schemeClr val="accent1"/>
                            </a:solidFill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solidFill>
                          <a:schemeClr val="accent1"/>
                        </a:solidFill>
                        <a:latin typeface="DejaVu Math TeX Gyre" panose="02000503000000000000" charset="0"/>
                        <a:cs typeface="DejaVu Math TeX Gyre" panose="02000503000000000000" charset="0"/>
                      </a:rPr>
                      <m:t>)=</m:t>
                    </m:r>
                    <m:r>
                      <a:rPr lang="en-US" i="1">
                        <a:solidFill>
                          <a:schemeClr val="accent1"/>
                        </a:solidFill>
                        <a:latin typeface="DejaVu Math TeX Gyre" panose="02000503000000000000" charset="0"/>
                        <a:cs typeface="DejaVu Math TeX Gyre" panose="02000503000000000000" charset="0"/>
                      </a:rPr>
                      <m:t>𝑂</m:t>
                    </m:r>
                    <m:r>
                      <a:rPr lang="en-US" i="1">
                        <a:solidFill>
                          <a:schemeClr val="accent1"/>
                        </a:solidFill>
                        <a:latin typeface="DejaVu Math TeX Gyre" panose="02000503000000000000" charset="0"/>
                        <a:cs typeface="DejaVu Math TeX Gyre" panose="02000503000000000000" charset="0"/>
                      </a:rPr>
                      <m:t>(</m:t>
                    </m:r>
                    <m:sSup>
                      <m:sSupPr>
                        <m:ctrlPr>
                          <a:rPr lang="en-US" i="1">
                            <a:solidFill>
                              <a:schemeClr val="accent1"/>
                            </a:solidFill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accent1"/>
                            </a:solidFill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𝑛</m:t>
                        </m:r>
                      </m:e>
                      <m:sup>
                        <m:r>
                          <a:rPr lang="en-US" i="1">
                            <a:solidFill>
                              <a:schemeClr val="accent1"/>
                            </a:solidFill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solidFill>
                          <a:schemeClr val="accent1"/>
                        </a:solidFill>
                        <a:latin typeface="DejaVu Math TeX Gyre" panose="02000503000000000000" charset="0"/>
                        <a:cs typeface="DejaVu Math TeX Gyre" panose="02000503000000000000" charset="0"/>
                      </a:rPr>
                      <m:t>)</m:t>
                    </m:r>
                  </m:oMath>
                </a14:m>
                <a:r>
                  <a:rPr lang="en-US">
                    <a:solidFill>
                      <a:schemeClr val="accent1"/>
                    </a:solidFill>
                  </a:rPr>
                  <a:t> </a:t>
                </a:r>
                <a:endParaRPr lang="en-US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33" name="Text 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7685" y="3329940"/>
                <a:ext cx="3887470" cy="387985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文本框 4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/>
          <p:cNvSpPr txBox="1"/>
          <p:nvPr/>
        </p:nvSpPr>
        <p:spPr>
          <a:xfrm>
            <a:off x="192710" y="156742"/>
            <a:ext cx="5696461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en-US" altLang="en-US" spc="100" dirty="0">
                <a:solidFill>
                  <a:schemeClr val="tx1">
                    <a:lumMod val="85000"/>
                    <a:lumOff val="15000"/>
                  </a:schemeClr>
                </a:solidFill>
                <a:ea typeface="Playfair Display" panose="00000500000000000000" charset="0"/>
                <a:cs typeface="Playfair Display" panose="00000500000000000000" charset="0"/>
              </a:rPr>
              <a:t>Part.04 </a:t>
            </a:r>
            <a:r>
              <a:rPr kumimoji="1" lang="zh-CN" altLang="en-US" spc="100" dirty="0">
                <a:solidFill>
                  <a:schemeClr val="tx1">
                    <a:lumMod val="85000"/>
                    <a:lumOff val="15000"/>
                  </a:schemeClr>
                </a:solidFill>
                <a:ea typeface="Playfair Display" panose="00000500000000000000" charset="0"/>
                <a:cs typeface="Playfair Display" panose="00000500000000000000" charset="0"/>
              </a:rPr>
              <a:t> </a:t>
            </a:r>
            <a:r>
              <a:rPr kumimoji="1"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Josefin Sans" charset="0"/>
                <a:ea typeface="Josefin Sans" charset="0"/>
                <a:cs typeface="Josefin Sans" charset="0"/>
                <a:sym typeface="+mn-ea"/>
              </a:rPr>
              <a:t>Proof of Correctness &amp; Time Analysis</a:t>
            </a:r>
            <a:endParaRPr kumimoji="1" lang="en-US" altLang="en-US" spc="100" dirty="0">
              <a:solidFill>
                <a:schemeClr val="tx1">
                  <a:lumMod val="85000"/>
                  <a:lumOff val="15000"/>
                </a:schemeClr>
              </a:solidFill>
              <a:ea typeface="Playfair Display" panose="00000500000000000000" charset="0"/>
              <a:cs typeface="Playfair Display" panose="00000500000000000000" charset="0"/>
            </a:endParaRPr>
          </a:p>
        </p:txBody>
      </p:sp>
      <p:cxnSp>
        <p:nvCxnSpPr>
          <p:cNvPr id="36" name="Straight Arrow Connector 35"/>
          <p:cNvCxnSpPr/>
          <p:nvPr/>
        </p:nvCxnSpPr>
        <p:spPr>
          <a:xfrm flipH="1" flipV="1">
            <a:off x="10362565" y="2898775"/>
            <a:ext cx="331470" cy="4114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/>
          <p:cNvSpPr/>
          <p:nvPr/>
        </p:nvSpPr>
        <p:spPr>
          <a:xfrm>
            <a:off x="839788" y="944563"/>
            <a:ext cx="10512425" cy="50768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文本框 8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/>
          <p:cNvSpPr txBox="1"/>
          <p:nvPr/>
        </p:nvSpPr>
        <p:spPr>
          <a:xfrm>
            <a:off x="10820134" y="6239592"/>
            <a:ext cx="659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en-US" sz="1400" spc="100">
                <a:solidFill>
                  <a:schemeClr val="tx1">
                    <a:lumMod val="85000"/>
                    <a:lumOff val="15000"/>
                  </a:schemeClr>
                </a:solidFill>
                <a:latin typeface="Playfair Display" panose="00000500000000000000" charset="0"/>
                <a:ea typeface="Playfair Display" panose="00000500000000000000" charset="0"/>
                <a:cs typeface="Playfair Display" panose="00000500000000000000" charset="0"/>
              </a:rPr>
              <a:t>19</a:t>
            </a:r>
            <a:endParaRPr kumimoji="1" lang="zh-CN" altLang="en-US" sz="1400" spc="100">
              <a:solidFill>
                <a:schemeClr val="tx1">
                  <a:lumMod val="85000"/>
                  <a:lumOff val="15000"/>
                </a:schemeClr>
              </a:solidFill>
              <a:latin typeface="Playfair Display" panose="00000500000000000000" charset="0"/>
              <a:ea typeface="Playfair Display" panose="00000500000000000000" charset="0"/>
              <a:cs typeface="Playfair Display" panose="00000500000000000000" charset="0"/>
            </a:endParaRPr>
          </a:p>
        </p:txBody>
      </p:sp>
      <p:pic>
        <p:nvPicPr>
          <p:cNvPr id="10" name="图片 9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24250" y="1422400"/>
            <a:ext cx="2376488" cy="2376488"/>
          </a:xfrm>
          <a:prstGeom prst="rect">
            <a:avLst/>
          </a:prstGeom>
        </p:spPr>
      </p:pic>
      <p:pic>
        <p:nvPicPr>
          <p:cNvPr id="11" name="图片 10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2494" y="1354985"/>
            <a:ext cx="4248150" cy="4342554"/>
          </a:xfrm>
          <a:prstGeom prst="rect">
            <a:avLst/>
          </a:prstGeom>
        </p:spPr>
      </p:pic>
      <p:sp>
        <p:nvSpPr>
          <p:cNvPr id="13" name="文本框 12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/>
          <p:cNvSpPr txBox="1"/>
          <p:nvPr/>
        </p:nvSpPr>
        <p:spPr>
          <a:xfrm>
            <a:off x="471867" y="2911442"/>
            <a:ext cx="542887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en-US" sz="6000" b="1" spc="800" dirty="0">
                <a:solidFill>
                  <a:schemeClr val="tx1">
                    <a:lumMod val="85000"/>
                    <a:lumOff val="15000"/>
                  </a:schemeClr>
                </a:solidFill>
                <a:latin typeface="Josefin Sans" charset="0"/>
                <a:ea typeface="Josefin Sans" charset="0"/>
                <a:cs typeface="Josefin Sans" charset="0"/>
              </a:rPr>
              <a:t>Thanks</a:t>
            </a:r>
            <a:endParaRPr kumimoji="1" lang="zh-CN" altLang="en-US" sz="6000" b="1" spc="800" dirty="0">
              <a:solidFill>
                <a:schemeClr val="tx1">
                  <a:lumMod val="85000"/>
                  <a:lumOff val="15000"/>
                </a:schemeClr>
              </a:solidFill>
              <a:latin typeface="Josefin Sans" charset="0"/>
              <a:ea typeface="Josefin Sans" charset="0"/>
              <a:cs typeface="Josefin Sans" charset="0"/>
            </a:endParaRPr>
          </a:p>
        </p:txBody>
      </p:sp>
      <p:sp>
        <p:nvSpPr>
          <p:cNvPr id="18" name="矩形 17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/>
          <p:cNvSpPr/>
          <p:nvPr/>
        </p:nvSpPr>
        <p:spPr>
          <a:xfrm>
            <a:off x="10633076" y="4941889"/>
            <a:ext cx="1150938" cy="1511300"/>
          </a:xfrm>
          <a:prstGeom prst="rect">
            <a:avLst/>
          </a:prstGeom>
          <a:pattFill prst="wdUpDiag">
            <a:fgClr>
              <a:schemeClr val="bg2">
                <a:lumMod val="1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e7d195523061f1c0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 hidden="1"/>
          <p:cNvSpPr txBox="1"/>
          <p:nvPr/>
        </p:nvSpPr>
        <p:spPr>
          <a:xfrm>
            <a:off x="-355600" y="1803400"/>
            <a:ext cx="262251" cy="1016000"/>
          </a:xfrm>
          <a:prstGeom prst="rect">
            <a:avLst/>
          </a:prstGeom>
          <a:noFill/>
        </p:spPr>
        <p:txBody>
          <a:bodyPr vert="wordArtVert" rtlCol="0">
            <a:spAutoFit/>
          </a:bodyPr>
          <a:lstStyle/>
          <a:p>
            <a:r>
              <a:rPr lang="en-US" altLang="zh-CN" sz="100"/>
              <a:t>e7d195523061f1c01d60fa9f1cfcbfb3d7dea265119d71e15FBB43640B43E9A75E03FE54C774D5D4779ED45933E78901D3CB0E69E39D04A9E1E9B25CF060C4BCA4D072860494D0D8E683C2FE58414E15A257B8C98CAC931B2A91D95E391D8F56A6B197C339044743E4A827576812018FE092D8F796C38DC487F641821CDDB0736DD3EE0F684ACE40</a:t>
            </a:r>
            <a:endParaRPr lang="zh-CN" altLang="en-US" sz="100"/>
          </a:p>
        </p:txBody>
      </p:sp>
      <p:sp>
        <p:nvSpPr>
          <p:cNvPr id="2" name="文本框 1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/>
          <p:cNvSpPr txBox="1"/>
          <p:nvPr/>
        </p:nvSpPr>
        <p:spPr>
          <a:xfrm>
            <a:off x="1481588" y="3987751"/>
            <a:ext cx="3230906" cy="810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en-US" altLang="en-US" spc="200" dirty="0">
                <a:solidFill>
                  <a:schemeClr val="tx1">
                    <a:lumMod val="85000"/>
                    <a:lumOff val="15000"/>
                  </a:schemeClr>
                </a:solidFill>
                <a:latin typeface="Corbel" panose="020B0503020204020204" pitchFamily="34" charset="0"/>
                <a:ea typeface="Josefin Sans" charset="0"/>
                <a:cs typeface="Times New Roman" panose="02020503050405090304" pitchFamily="18" charset="0"/>
              </a:rPr>
              <a:t>Changze Wu &amp;&amp; Yucheng Cheng</a:t>
            </a:r>
            <a:endParaRPr kumimoji="1" lang="zh-CN" altLang="en-US" spc="200" dirty="0">
              <a:solidFill>
                <a:schemeClr val="tx1">
                  <a:lumMod val="85000"/>
                  <a:lumOff val="15000"/>
                </a:schemeClr>
              </a:solidFill>
              <a:latin typeface="Corbel" panose="020B0503020204020204" pitchFamily="34" charset="0"/>
              <a:ea typeface="Josefin Sans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/>
          <p:cNvSpPr txBox="1"/>
          <p:nvPr/>
        </p:nvSpPr>
        <p:spPr>
          <a:xfrm>
            <a:off x="286606" y="296560"/>
            <a:ext cx="50610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en-US" sz="2400" b="1" spc="1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503050405090304" pitchFamily="18" charset="0"/>
                <a:ea typeface="Josefin Sans" charset="0"/>
                <a:cs typeface="Times New Roman" panose="02020503050405090304" pitchFamily="18" charset="0"/>
              </a:rPr>
              <a:t>Reference:</a:t>
            </a:r>
            <a:endParaRPr kumimoji="1" lang="zh-CN" altLang="en-US" sz="2400" b="1" spc="1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503050405090304" pitchFamily="18" charset="0"/>
              <a:ea typeface="Josefin Sans" charset="0"/>
              <a:cs typeface="Times New Roman" panose="02020503050405090304" pitchFamily="18" charset="0"/>
            </a:endParaRPr>
          </a:p>
        </p:txBody>
      </p:sp>
      <p:sp>
        <p:nvSpPr>
          <p:cNvPr id="5" name="Rectangle 7" descr="e7d195523061f1c01d60fa9f1cfcbfb3d7dea265119d71e15FBB43640B43E9A75E03FE54C774D5D4779ED45933E78901D3CB0E69E39D04A9E1E9B25CF060C4BCA4D072860494D0D8E683C2FE58414E15A257B8C98CAC931B2A91D95E391D8F56A6B197C339044743E4A827576812018FE092D8F796C38DC487F641821CDDB0736DD3EE0F684ACE40"/>
          <p:cNvSpPr/>
          <p:nvPr/>
        </p:nvSpPr>
        <p:spPr>
          <a:xfrm>
            <a:off x="391884" y="841195"/>
            <a:ext cx="11582402" cy="1476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CA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Problem Statement: </a:t>
            </a:r>
            <a:r>
              <a:rPr lang="en-CA" altLang="zh-CN" dirty="0">
                <a:latin typeface="Times New Roman" panose="02020503050405090304" pitchFamily="18" charset="0"/>
                <a:cs typeface="Times New Roman" panose="02020503050405090304" pitchFamily="18" charset="0"/>
                <a:hlinkClick r:id="rId1"/>
              </a:rPr>
              <a:t>https://codeforces.com/contest/510/problem/E</a:t>
            </a:r>
            <a:endParaRPr lang="en-CA" altLang="zh-CN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CA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Solution Explanation: </a:t>
            </a:r>
            <a:r>
              <a:rPr lang="en-CA" altLang="zh-CN" dirty="0">
                <a:latin typeface="Times New Roman" panose="02020503050405090304" pitchFamily="18" charset="0"/>
                <a:cs typeface="Times New Roman" panose="02020503050405090304" pitchFamily="18" charset="0"/>
                <a:hlinkClick r:id="rId2"/>
              </a:rPr>
              <a:t>https://codeforces.com/blog/entry/16173</a:t>
            </a:r>
            <a:r>
              <a:rPr lang="en-CA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 (section “510E</a:t>
            </a: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CA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- Fox And Dinner / 512C - Fox And Dinner”)</a:t>
            </a:r>
            <a:endParaRPr lang="en-CA" altLang="zh-CN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CA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Ford-Fulkerson Algorithm: Slide for lecture 8 of </a:t>
            </a:r>
            <a:r>
              <a:rPr lang="en-US" altLang="en-CA" dirty="0">
                <a:latin typeface="Times New Roman" panose="02020503050405090304" pitchFamily="18" charset="0"/>
                <a:cs typeface="Times New Roman" panose="02020503050405090304" pitchFamily="18" charset="0"/>
              </a:rPr>
              <a:t>CSCC73</a:t>
            </a:r>
            <a:r>
              <a:rPr lang="en-CA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endParaRPr lang="en-CA" altLang="zh-CN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CA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Primality test: </a:t>
            </a:r>
            <a:r>
              <a:rPr lang="en-CA" altLang="zh-CN" dirty="0">
                <a:latin typeface="Times New Roman" panose="02020503050405090304" pitchFamily="18" charset="0"/>
                <a:cs typeface="Times New Roman" panose="02020503050405090304" pitchFamily="18" charset="0"/>
                <a:hlinkClick r:id="rId3"/>
              </a:rPr>
              <a:t>https://en.wikipedia.org/wiki/Primality_test#Heuristic_tests</a:t>
            </a:r>
            <a:r>
              <a:rPr lang="en-US" altLang="en-CA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CA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(section “Simple methods”)</a:t>
            </a:r>
            <a:endParaRPr lang="en-CA" altLang="zh-CN" dirty="0"/>
          </a:p>
        </p:txBody>
      </p:sp>
    </p:spTree>
  </p:cSld>
  <p:clrMapOvr>
    <a:masterClrMapping/>
  </p:clrMapOvr>
  <p:transition spd="slow">
    <p:fade/>
  </p:transition>
</p:sld>
</file>

<file path=ppt/tags/tag1.xml><?xml version="1.0" encoding="utf-8"?>
<p:tagLst xmlns:p="http://schemas.openxmlformats.org/presentationml/2006/main">
  <p:tag name="AS_NET" val="4.0.30319.42000"/>
  <p:tag name="AS_OS" val="Microsoft Windows NT 6.1.7601 Service Pack 1"/>
  <p:tag name="AS_RELEASE_DATE" val="2022.11.14"/>
  <p:tag name="AS_TITLE" val="Aspose.Slides for .NET 4.0 Client Profile"/>
  <p:tag name="AS_VERSION" val="22.11"/>
  <p:tag name="COMMONDATA" val="eyJoZGlkIjoiMmMxNzY4NzliODJmOGYzMWEyZDdkODA0MWI0NTdiODcifQ==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DengXian Light"/>
        <a:cs typeface="Arial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DengXian"/>
        <a:cs typeface="Arial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第一PPT，www.1ppt.com 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第一PPT，www.1ppt.com 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等线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等线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</Template>
  <TotalTime>0</TotalTime>
  <Words>12344</Words>
  <Application>WPS Slides</Application>
  <PresentationFormat>宽屏</PresentationFormat>
  <Paragraphs>330</Paragraphs>
  <Slides>15</Slides>
  <Notes>9</Notes>
  <HiddenSlides>1</HiddenSlides>
  <MMClips>0</MMClips>
  <ScaleCrop>false</ScaleCrop>
  <HeadingPairs>
    <vt:vector size="6" baseType="variant">
      <vt:variant>
        <vt:lpstr>已用的字体</vt:lpstr>
      </vt:variant>
      <vt:variant>
        <vt:i4>27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15</vt:i4>
      </vt:variant>
    </vt:vector>
  </HeadingPairs>
  <TitlesOfParts>
    <vt:vector size="45" baseType="lpstr">
      <vt:lpstr>Arial</vt:lpstr>
      <vt:lpstr>宋体</vt:lpstr>
      <vt:lpstr>Wingdings</vt:lpstr>
      <vt:lpstr>Arial</vt:lpstr>
      <vt:lpstr>微软雅黑</vt:lpstr>
      <vt:lpstr>汉仪旗黑</vt:lpstr>
      <vt:lpstr>Wingdings</vt:lpstr>
      <vt:lpstr>Corbel</vt:lpstr>
      <vt:lpstr>苹方-简</vt:lpstr>
      <vt:lpstr>Josefin Sans</vt:lpstr>
      <vt:lpstr>Times New Roman</vt:lpstr>
      <vt:lpstr>Aharoni</vt:lpstr>
      <vt:lpstr>Thonburi</vt:lpstr>
      <vt:lpstr>Playfair Display</vt:lpstr>
      <vt:lpstr>Cambria Math</vt:lpstr>
      <vt:lpstr>DejaVu Math TeX Gyre</vt:lpstr>
      <vt:lpstr>DengXian</vt:lpstr>
      <vt:lpstr>汉仪中等线KW</vt:lpstr>
      <vt:lpstr>宋体</vt:lpstr>
      <vt:lpstr>Arial Unicode MS</vt:lpstr>
      <vt:lpstr>DengXian Light</vt:lpstr>
      <vt:lpstr>等线</vt:lpstr>
      <vt:lpstr>Calibri</vt:lpstr>
      <vt:lpstr>Helvetica Neue</vt:lpstr>
      <vt:lpstr>Kingsoft Math</vt:lpstr>
      <vt:lpstr>Aharoni</vt:lpstr>
      <vt:lpstr>汉仪书宋二KW</vt:lpstr>
      <vt:lpstr>第一PPT，www.1ppt.com</vt:lpstr>
      <vt:lpstr>第一PPT，www.1ppt.com </vt:lpstr>
      <vt:lpstr>第一PPT，www.1ppt.com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第一PPT，www.1ppt.com</Company>
  <LinksUpToDate>false</LinksUpToDate>
  <SharedDoc>false</SharedDoc>
  <HyperlinksChanged>false</HyperlinksChanged>
  <AppVersion>14.0000</AppVersion>
  <Manager>第一PPT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高端英文</dc:title>
  <dc:creator>第一PPT</dc:creator>
  <cp:keywords>www.1ppt.com</cp:keywords>
  <dc:description>www.1ppt.com</dc:description>
  <cp:lastModifiedBy>OImonster</cp:lastModifiedBy>
  <cp:revision>172</cp:revision>
  <dcterms:created xsi:type="dcterms:W3CDTF">2025-04-20T22:32:41Z</dcterms:created>
  <dcterms:modified xsi:type="dcterms:W3CDTF">2025-04-20T22:32:41Z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AD1C7D4F6A53E33C14320468C437DFF6_43</vt:lpwstr>
  </property>
  <property fmtid="{D5CDD505-2E9C-101B-9397-08002B2CF9AE}" pid="3" name="KSOProductBuildVer">
    <vt:lpwstr>1033-7.3.1.8967</vt:lpwstr>
  </property>
</Properties>
</file>